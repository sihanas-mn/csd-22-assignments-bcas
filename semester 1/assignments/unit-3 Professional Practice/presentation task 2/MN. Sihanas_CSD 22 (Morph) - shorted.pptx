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0" r:id="rId3"/>
    <p:sldId id="271" r:id="rId4"/>
    <p:sldId id="274" r:id="rId5"/>
    <p:sldId id="275" r:id="rId6"/>
    <p:sldId id="276" r:id="rId7"/>
    <p:sldId id="278" r:id="rId8"/>
    <p:sldId id="279" r:id="rId9"/>
    <p:sldId id="270" r:id="rId10"/>
    <p:sldId id="268" r:id="rId11"/>
    <p:sldId id="267" r:id="rId12"/>
    <p:sldId id="259" r:id="rId13"/>
    <p:sldId id="265" r:id="rId14"/>
    <p:sldId id="258" r:id="rId15"/>
    <p:sldId id="261" r:id="rId16"/>
    <p:sldId id="263" r:id="rId17"/>
    <p:sldId id="264" r:id="rId18"/>
    <p:sldId id="260" r:id="rId19"/>
    <p:sldId id="281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5" orient="horz" pos="864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181717"/>
    <a:srgbClr val="767171"/>
    <a:srgbClr val="FFFFFF"/>
    <a:srgbClr val="FFDE75"/>
    <a:srgbClr val="C5C5C5"/>
    <a:srgbClr val="A3A2A2"/>
    <a:srgbClr val="FFC000"/>
    <a:srgbClr val="3A3A3A"/>
    <a:srgbClr val="FF5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226" autoAdjust="0"/>
  </p:normalViewPr>
  <p:slideViewPr>
    <p:cSldViewPr snapToGrid="0" showGuides="1">
      <p:cViewPr varScale="1">
        <p:scale>
          <a:sx n="53" d="100"/>
          <a:sy n="53" d="100"/>
        </p:scale>
        <p:origin x="1338" y="66"/>
      </p:cViewPr>
      <p:guideLst>
        <p:guide pos="3840"/>
        <p:guide orient="horz" pos="864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FBCFF19B-0E97-4392-9726-63FD32A30C2E}"/>
    <pc:docChg chg="modSld">
      <pc:chgData name="Mohammed Naseer Sihanas" userId="baf10d46-ca0e-4f93-8b9a-bd1fa4bc7e8f" providerId="ADAL" clId="{FBCFF19B-0E97-4392-9726-63FD32A30C2E}" dt="2024-07-25T18:34:04.587" v="12"/>
      <pc:docMkLst>
        <pc:docMk/>
      </pc:docMkLst>
      <pc:sldChg chg="modNotesTx">
        <pc:chgData name="Mohammed Naseer Sihanas" userId="baf10d46-ca0e-4f93-8b9a-bd1fa4bc7e8f" providerId="ADAL" clId="{FBCFF19B-0E97-4392-9726-63FD32A30C2E}" dt="2024-07-25T18:33:02.190" v="7"/>
        <pc:sldMkLst>
          <pc:docMk/>
          <pc:sldMk cId="77410611" sldId="259"/>
        </pc:sldMkLst>
      </pc:sldChg>
      <pc:sldChg chg="modNotesTx">
        <pc:chgData name="Mohammed Naseer Sihanas" userId="baf10d46-ca0e-4f93-8b9a-bd1fa4bc7e8f" providerId="ADAL" clId="{FBCFF19B-0E97-4392-9726-63FD32A30C2E}" dt="2024-07-25T18:34:04.587" v="12"/>
        <pc:sldMkLst>
          <pc:docMk/>
          <pc:sldMk cId="1530460438" sldId="260"/>
        </pc:sldMkLst>
      </pc:sldChg>
      <pc:sldChg chg="modNotesTx">
        <pc:chgData name="Mohammed Naseer Sihanas" userId="baf10d46-ca0e-4f93-8b9a-bd1fa4bc7e8f" providerId="ADAL" clId="{FBCFF19B-0E97-4392-9726-63FD32A30C2E}" dt="2024-07-25T18:33:45.068" v="9"/>
        <pc:sldMkLst>
          <pc:docMk/>
          <pc:sldMk cId="2289341447" sldId="261"/>
        </pc:sldMkLst>
      </pc:sldChg>
      <pc:sldChg chg="modNotesTx">
        <pc:chgData name="Mohammed Naseer Sihanas" userId="baf10d46-ca0e-4f93-8b9a-bd1fa4bc7e8f" providerId="ADAL" clId="{FBCFF19B-0E97-4392-9726-63FD32A30C2E}" dt="2024-07-25T18:33:51.773" v="10"/>
        <pc:sldMkLst>
          <pc:docMk/>
          <pc:sldMk cId="3521936919" sldId="263"/>
        </pc:sldMkLst>
      </pc:sldChg>
      <pc:sldChg chg="modNotesTx">
        <pc:chgData name="Mohammed Naseer Sihanas" userId="baf10d46-ca0e-4f93-8b9a-bd1fa4bc7e8f" providerId="ADAL" clId="{FBCFF19B-0E97-4392-9726-63FD32A30C2E}" dt="2024-07-25T18:33:58.389" v="11"/>
        <pc:sldMkLst>
          <pc:docMk/>
          <pc:sldMk cId="172025984" sldId="264"/>
        </pc:sldMkLst>
      </pc:sldChg>
      <pc:sldChg chg="modNotesTx">
        <pc:chgData name="Mohammed Naseer Sihanas" userId="baf10d46-ca0e-4f93-8b9a-bd1fa4bc7e8f" providerId="ADAL" clId="{FBCFF19B-0E97-4392-9726-63FD32A30C2E}" dt="2024-07-25T18:33:20.896" v="8"/>
        <pc:sldMkLst>
          <pc:docMk/>
          <pc:sldMk cId="777428548" sldId="265"/>
        </pc:sldMkLst>
      </pc:sldChg>
      <pc:sldChg chg="modNotesTx">
        <pc:chgData name="Mohammed Naseer Sihanas" userId="baf10d46-ca0e-4f93-8b9a-bd1fa4bc7e8f" providerId="ADAL" clId="{FBCFF19B-0E97-4392-9726-63FD32A30C2E}" dt="2024-07-25T18:32:44.118" v="6"/>
        <pc:sldMkLst>
          <pc:docMk/>
          <pc:sldMk cId="378652739" sldId="267"/>
        </pc:sldMkLst>
      </pc:sldChg>
      <pc:sldChg chg="modNotesTx">
        <pc:chgData name="Mohammed Naseer Sihanas" userId="baf10d46-ca0e-4f93-8b9a-bd1fa4bc7e8f" providerId="ADAL" clId="{FBCFF19B-0E97-4392-9726-63FD32A30C2E}" dt="2024-07-25T18:32:30.913" v="5"/>
        <pc:sldMkLst>
          <pc:docMk/>
          <pc:sldMk cId="3080950833" sldId="268"/>
        </pc:sldMkLst>
      </pc:sldChg>
      <pc:sldChg chg="modNotesTx">
        <pc:chgData name="Mohammed Naseer Sihanas" userId="baf10d46-ca0e-4f93-8b9a-bd1fa4bc7e8f" providerId="ADAL" clId="{FBCFF19B-0E97-4392-9726-63FD32A30C2E}" dt="2024-07-25T18:32:15.737" v="4"/>
        <pc:sldMkLst>
          <pc:docMk/>
          <pc:sldMk cId="2277551118" sldId="270"/>
        </pc:sldMkLst>
      </pc:sldChg>
      <pc:sldChg chg="modNotesTx">
        <pc:chgData name="Mohammed Naseer Sihanas" userId="baf10d46-ca0e-4f93-8b9a-bd1fa4bc7e8f" providerId="ADAL" clId="{FBCFF19B-0E97-4392-9726-63FD32A30C2E}" dt="2024-07-25T18:30:34.853" v="0"/>
        <pc:sldMkLst>
          <pc:docMk/>
          <pc:sldMk cId="838236553" sldId="275"/>
        </pc:sldMkLst>
      </pc:sldChg>
      <pc:sldChg chg="modNotesTx">
        <pc:chgData name="Mohammed Naseer Sihanas" userId="baf10d46-ca0e-4f93-8b9a-bd1fa4bc7e8f" providerId="ADAL" clId="{FBCFF19B-0E97-4392-9726-63FD32A30C2E}" dt="2024-07-25T18:31:26.157" v="1"/>
        <pc:sldMkLst>
          <pc:docMk/>
          <pc:sldMk cId="3760941395" sldId="276"/>
        </pc:sldMkLst>
      </pc:sldChg>
      <pc:sldChg chg="modNotesTx">
        <pc:chgData name="Mohammed Naseer Sihanas" userId="baf10d46-ca0e-4f93-8b9a-bd1fa4bc7e8f" providerId="ADAL" clId="{FBCFF19B-0E97-4392-9726-63FD32A30C2E}" dt="2024-07-25T18:31:40.410" v="2"/>
        <pc:sldMkLst>
          <pc:docMk/>
          <pc:sldMk cId="4290126631" sldId="278"/>
        </pc:sldMkLst>
      </pc:sldChg>
      <pc:sldChg chg="modNotesTx">
        <pc:chgData name="Mohammed Naseer Sihanas" userId="baf10d46-ca0e-4f93-8b9a-bd1fa4bc7e8f" providerId="ADAL" clId="{FBCFF19B-0E97-4392-9726-63FD32A30C2E}" dt="2024-07-25T18:31:53.280" v="3"/>
        <pc:sldMkLst>
          <pc:docMk/>
          <pc:sldMk cId="3903745696" sldId="2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39CBFC-0C8D-8F1F-4B50-F402874611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4F5C3-F76D-A663-658C-0487345E27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02B70-BC4C-40D2-8A85-2979321E95D6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4DC07-BC74-647E-7AD9-93D8452729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Thank you for listening to me.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D40D5-3547-51E6-BEE0-EFE9C257F5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F78D3-B160-4E91-BBFD-6F877387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775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25AE6-CD04-4C7E-91F5-B8F37F2D151A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Thank you for listening to me.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265B9-C8E3-4D2D-B52C-54B264F93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01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Helo everyone.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15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Today’s presentation we are going to analyze about various problem solving methods in planning and executing an even in a critical thinking applied way.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44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__fkGroteskNeue_598ab8"/>
              </a:rPr>
              <a:t>Time Management</a:t>
            </a:r>
          </a:p>
          <a:p>
            <a:endParaRPr lang="en-US" b="1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Effective time management is crucial for successful event planning, as it ensures that all tasks are completed on schedule.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Timeline Creation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Task Delegation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Regular Check-Ins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Prioritization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53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Logistics Challenges</a:t>
            </a:r>
          </a:p>
          <a:p>
            <a:endParaRPr lang="en-US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Logistical challenges are among the most common issues faced in event planning and can significantly impact the overall success of an event.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Venue Selection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Transportation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Catering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Setup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50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Budget Constraints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Budget constraints are a significant factor in event planning and can affect every aspect of the event.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Cost Management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Prioritization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Negotiation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Sponsorships and Partnerships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Contingency Fund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99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Technical Difficulties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Technical difficulties can disrupt the flow of an event and negatively impact the attendee experience, making it essential to address these challenges proactively.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Equipment Testing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Technical Support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Backup Systems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Training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90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Defining the problem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Defining the problem is the crucial first step in any problem-solving process. It sets the stage for everything that follows.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Start by gathering data and insights to understand the issue fully. This may involve talking to stakeholders, reviewing past events, or analysing attendance records.</a:t>
            </a:r>
          </a:p>
          <a:p>
            <a:pPr algn="l">
              <a:buFont typeface="Arial" panose="020B0604020202020204" pitchFamily="34" charset="0"/>
              <a:buNone/>
            </a:pPr>
            <a:endParaRPr lang="en-GB" sz="1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40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Generate Solutions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Once the problem is defined, the next step is to brainstorm potential solutions. This is where creativity comes into play.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Encourage open dialogue and idea generation among team members.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 Techniques such as brainstorming sessions or mind mapping can be effective.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53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Select the Best 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After generating a list of solutions, it's essential to evaluate each option critically.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evaluate each solution’s pros and cons of each solution against criteria such as cost, time, resources, and potential impact.</a:t>
            </a:r>
          </a:p>
          <a:p>
            <a:pPr algn="l">
              <a:buFont typeface="Arial" panose="020B0604020202020204" pitchFamily="34" charset="0"/>
              <a:buNone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The goal here is to choose a solution that not only addresses the problem effectively but is also practical and sustainable in the long run.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88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var(--font-fk-grotesk)"/>
              </a:rPr>
              <a:t> </a:t>
            </a:r>
            <a:r>
              <a:rPr lang="en-US" b="1" i="0" dirty="0">
                <a:effectLst/>
                <a:latin typeface="var(--font-fk-grotesk)"/>
              </a:rPr>
              <a:t>Implement the 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Implementation is where planning meets action. It’s crucial to have a clear plan for how the chosen solution will be executed.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Assign roles and responsibilities to team members, ensuring everyone knows their tasks and deadlines.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Communicate the plan to all stakeholders to keep everyone informed and aligned.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Monitor the implementation process closely, and be prepared to make adjustments as necessary.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Flexibility is key to addressing any unforeseen challenges that may arise.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7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Identify Objectives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Begin by emphasizing the importance of clearly defining objectives. This is the foundation of the entire critical thinking process.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Objectives should be specific and aligned with the overall mission and vision of the organization.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Research and Analyze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Explain that this step involves gathering data and insights that are crucial for informed decision-making.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Stress the importance of using diverse sources of information, including market research, stakeholder feedback, and industry trends.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Discuss techniques such as SWOT analysis to evaluate internal strengths and weaknesses, as well as external opportunities and threats.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Develop Action Plans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Transition to the importance of turning objectives into actionable steps. This is where strategy begins to take shape.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Explain the SMART criteria for goal-setting: Specific, Measurable, Achievable, Relevant, and Time-bound. This ensures that the action plans are clear and attainable.</a:t>
            </a:r>
          </a:p>
          <a:p>
            <a:pPr algn="l">
              <a:buFont typeface="Arial" panose="020B0604020202020204" pitchFamily="34" charset="0"/>
              <a:buNone/>
            </a:pPr>
            <a:endParaRPr lang="en-GB" b="0" i="0" dirty="0">
              <a:effectLst/>
              <a:latin typeface="__fkGroteskNeue_598ab8"/>
            </a:endParaRPr>
          </a:p>
          <a:p>
            <a:pPr algn="l"/>
            <a:r>
              <a:rPr lang="en-GB" b="0" i="0" dirty="0">
                <a:effectLst/>
                <a:latin typeface="var(--font-fk-grotesk)"/>
              </a:rPr>
              <a:t> </a:t>
            </a:r>
            <a:r>
              <a:rPr lang="en-GB" b="1" i="0" dirty="0">
                <a:effectLst/>
                <a:latin typeface="var(--font-fk-grotesk)"/>
              </a:rPr>
              <a:t>Implementation</a:t>
            </a:r>
          </a:p>
          <a:p>
            <a:pPr algn="l"/>
            <a:endParaRPr lang="en-GB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Explain that implementation is where the plans are put into action. It’s crucial for translating strategy into results.</a:t>
            </a:r>
          </a:p>
          <a:p>
            <a:pPr algn="l">
              <a:buFont typeface="Arial" panose="020B0604020202020204" pitchFamily="34" charset="0"/>
              <a:buNone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Mention that flexibility is key during implementation; being open to adjustments based on real-time feedback can lead to better outcomes.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Evaluation and Adjustment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="1" i="0" dirty="0">
              <a:effectLst/>
              <a:latin typeface="var(--font-fk-grotesk)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Conclude with the evaluation and adjustment phase, which is vital for continuous improvement.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Explain that this step involves assessing the outcomes against the objectives set at the beginning. Ask: Did we achieve what we intended?</a:t>
            </a:r>
          </a:p>
          <a:p>
            <a:pPr algn="l">
              <a:buFont typeface="Arial" panose="020B0604020202020204" pitchFamily="34" charset="0"/>
              <a:buNone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Adjustments should be made based on this evaluation to refine strategies and enhance future planning and execution efforts.</a:t>
            </a:r>
          </a:p>
          <a:p>
            <a:pPr algn="l">
              <a:buFont typeface="Arial" panose="020B0604020202020204" pitchFamily="34" charset="0"/>
              <a:buNone/>
            </a:pPr>
            <a:endParaRPr lang="en-GB" b="0" i="0" dirty="0">
              <a:effectLst/>
              <a:latin typeface="__fkGroteskNeue_598ab8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65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5 Whys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The 5 Whys technique is a simple yet powerful tool for root cause analysis. It involves asking "why" multiple times—typically five—to dig deeper into the underlying causes of a problem.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For example, if attendance is low, you might start with "Why is attendance low?" and continue to ask "why" for each subsequent answer.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This method helps uncover the root cause rather than just addressing superficial symptoms, leading to more effective solutions.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It encourages critical thinking and can be used in team discussions to foster a deeper understanding of the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10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GB" b="1" i="0" dirty="0">
                <a:effectLst/>
                <a:latin typeface="__fkGroteskNeue_598ab8"/>
              </a:rPr>
              <a:t>CATWOE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1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CATWOE is an acronym that stands for Customers, Actors, Transformation process, Worldview, Owner, and Environmental constraints. It’s a useful framework for analysing problems from multiple perspectives.</a:t>
            </a:r>
          </a:p>
          <a:p>
            <a:pPr algn="l">
              <a:buFont typeface="Arial" panose="020B0604020202020204" pitchFamily="34" charset="0"/>
              <a:buNone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Customers: Who are the stakeholders affected by the problem? Understanding their needs is crucial.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Actors: Who is involved in implementing the solution? This includes team members and external partners.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Transformation process: What changes need to occur for the problem to be resolved?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Worldview: What are the broader implications of this problem and its solution?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Owner: Who has the authority to make decisions regarding the solution?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Environmental constraints: What external factors could impact the situation? This holistic view ensures that all relevant factors are considered.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03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SWOT Analysis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SWOT analysis is a strategic planning tool that helps identify the Strengths, Weaknesses, Opportunities, and Threats related to a particular event or initiative.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Strengths: What advantages does the event have? This could be a strong brand, a loyal audience, or excellent speakers.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Weaknesses: What limitations exist? This might include budget constraints or logistical challenges.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Opportunities: What external factors could be leveraged? This could involve partnerships, sponsorships, or emerging trends in the industry.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Threats: What risks could jeopardize the event? This might include competition from similar events or economic downturns.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Conducting a SWOT analysis helps planners develop strategies that capitalize on strengths and opportunities while addressing weaknesses and threats.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51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effectLst/>
                <a:latin typeface="var(--font-fk-grotesk)"/>
              </a:rPr>
              <a:t>Fishbone Diagram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The Fishbone Diagram, or Ishikawa diagram, is a visual tool used to identify potential causes of a problem systematically.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The diagram resembles a fish skeleton, with the problem at the head and major categories of causes as the bones.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This method helps teams visualize the relationships between different causes and encourages comprehensive discussion about potential root causes.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__fkGroteskNeue_598ab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__fkGroteskNeue_598ab8"/>
              </a:rPr>
              <a:t>By identifying these causes, planners can target their solutions more effectively, ensuring that they address the underlying issues rather than just the symptoms.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265B9-C8E3-4D2D-B52C-54B264F93C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AECF-AE47-3C91-2F7E-975242344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71598-88C8-062A-D801-F9CAAAD53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C71F-13F0-878C-24F7-07F7A703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21B8-496A-4957-88C5-89ABCA405990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5971-7299-B359-ECA6-F5C93B10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14249-C784-0BFF-40A7-E923F363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2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A5AD-EB73-0454-D2B4-2A9F7C50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AAAE0-577A-395A-2D16-55E2F8401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74EA-2F43-F1DC-1EFC-BDD3894C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9F93-0896-4E88-AC0A-8D9063C0FEA8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A49FC-E541-62B0-2212-D38EBD06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A28DB-A9BC-D82C-855B-855F68E0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7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C058-29E8-EEA6-5B96-56892451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2CE8C-40D3-085E-9CB4-4774794FD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CB72-23A0-B7BF-FAFF-9C0A88BE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DD032-5DBB-41B3-95C8-584E1538997E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5C9CC-4836-110F-4057-144B7500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47360-89C9-1BFB-2FDF-0C63FBA6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2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E0D0-6145-C4E2-E928-CB723948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ACEA7-AD83-28A2-54E1-7C1157CD7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64551-3F75-425E-E214-2B3019CFC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E39D0-5062-41FB-724F-0B33A661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AA7C-0454-4766-9C53-57FC57BE5FF8}" type="datetime1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BAE8F-FF5F-90A7-B540-6D8CDE47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79706-586A-E3E5-3222-B74B8AC3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7B86-F3C0-D74B-8850-4134CD8D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8E8B1-6D80-01E0-AB56-950172E73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FEFC-623F-708F-4949-DEF5BD3F6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45AEB-BBD4-F963-569F-DEA73C06F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91938-42E8-7B5B-EBD7-DE3C058F4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85246-046F-3EAA-6EF3-59202A62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79CB-9DE1-435F-9D7F-15B0CB606652}" type="datetime1">
              <a:rPr lang="en-US" smtClean="0"/>
              <a:t>7/26/2024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21D2F-CC8C-B499-BEB6-F7E1BD6C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163AA-DA20-C671-3134-EB340764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2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3DD3-1492-D8E8-26C3-D3DE0618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BF413-0C10-CDE5-AB69-F9892D25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92FE7-3863-4CA6-9579-FDA52FDA3EAF}" type="datetime1">
              <a:rPr lang="en-US" smtClean="0"/>
              <a:t>7/26/2024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96217C-95E2-B300-D93C-29906135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4BFC2-1C47-F39F-63BC-BF1C2A37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BB776-FF94-494D-5A49-109B0C86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56C3-00E2-48B3-825B-D107163D72AC}" type="datetime1">
              <a:rPr lang="en-US" smtClean="0"/>
              <a:t>7/26/2024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44DA9-3134-4CC8-DF82-5C5C7FFB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71A6-50A1-BC20-CADA-44450D78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3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731D-170A-7BAA-09B9-15509112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184F-8E44-B6D0-EE24-E619C6B97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8261B-0708-34E3-BAD5-60B00F2EB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F0A78-328E-F6CF-3E28-9CD66EEB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0228-FA15-441B-B7F2-96775785B8B5}" type="datetime1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ADE62-FDC1-96CC-F5BA-EA80F191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8524-E3DF-B7E3-5089-7E8B7E6C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6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F882-0244-BD2B-D789-C2720366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8B7F97-672E-5FEE-FC45-CC1C69059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C4DDB-8B20-225D-6F45-D868706F9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57EE2-6795-B791-EF44-25E4426F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50E6-3F8D-41E5-A85F-2FEC59A6FB8B}" type="datetime1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09C16-980B-51DA-BF9F-FC792773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BA3C2-85C8-2562-0D3C-174C6E53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6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D9C3-EE34-1C3F-9063-B7E705D9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D2228-334C-00A2-FF3B-4A54FEFF0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798A-D91F-B28C-6759-2D198A83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445B0-8029-4265-AFD1-5369E20B33D4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E32AC-1F64-70B7-86D7-74E21ED8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1D0C9-9A30-C83F-0B9F-C9178BA0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2138C-A2F5-8304-4A5C-F35B58921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8829E-8AD7-5445-CBB2-F74E62650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BF1FC-C2E9-8A33-75F5-57A48B25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BC92-DB77-48D0-85E9-A31A26BA05D3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C43B1-9AC4-CA54-ABF3-025ABCAC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037AE-F34E-64EC-B057-8492D70B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0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F75E8-4A71-A885-4F6A-6178118A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3880C-4292-34F7-4500-6246DF5A9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49967-2EB0-3B39-B0BD-4DDC2127C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21573-E920-48BE-A560-B99377ECF957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E82D-BECA-75AF-6669-06FFF6B70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90770-A9BC-6458-EC08-CFEAE5D0B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9BCA1-DEDB-4768-B0C2-9E03C0298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D76715-7BDE-4B0A-B8F1-C2848A53D8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chemeClr val="bg2">
                <a:lumMod val="2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450058-4BD9-4A84-96EB-E9FC2F0324E6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>
              <a:lumMod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4142A4-9CAF-47CA-A8DA-7B900451A102}"/>
              </a:ext>
            </a:extLst>
          </p:cNvPr>
          <p:cNvSpPr/>
          <p:nvPr/>
        </p:nvSpPr>
        <p:spPr>
          <a:xfrm>
            <a:off x="-10518937" y="1845278"/>
            <a:ext cx="9158068" cy="1665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9C81A2E1-993B-40FE-AC49-BA5FEEC0F17F}"/>
              </a:ext>
            </a:extLst>
          </p:cNvPr>
          <p:cNvSpPr/>
          <p:nvPr/>
        </p:nvSpPr>
        <p:spPr>
          <a:xfrm rot="5400000" flipH="1" flipV="1">
            <a:off x="-2070233" y="1207863"/>
            <a:ext cx="1418728" cy="2101335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1D1A4-6093-4892-9C20-D92967A74B9B}"/>
              </a:ext>
            </a:extLst>
          </p:cNvPr>
          <p:cNvSpPr txBox="1"/>
          <p:nvPr/>
        </p:nvSpPr>
        <p:spPr>
          <a:xfrm>
            <a:off x="-10177743" y="2024186"/>
            <a:ext cx="8171374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4400" b="1" dirty="0">
                <a:latin typeface="+mj-lt"/>
              </a:rPr>
              <a:t>Problem-Solving Strategies for Event Planning &amp; Execution</a:t>
            </a:r>
            <a:endParaRPr 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DBC10F-23C3-4146-9665-D9F1E33D48EB}"/>
              </a:ext>
            </a:extLst>
          </p:cNvPr>
          <p:cNvCxnSpPr>
            <a:cxnSpLocks/>
          </p:cNvCxnSpPr>
          <p:nvPr/>
        </p:nvCxnSpPr>
        <p:spPr>
          <a:xfrm>
            <a:off x="-1019675" y="1354526"/>
            <a:ext cx="1019675" cy="98150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46E2C956-A300-3482-6FC3-4654C2D41585}"/>
              </a:ext>
            </a:extLst>
          </p:cNvPr>
          <p:cNvSpPr/>
          <p:nvPr/>
        </p:nvSpPr>
        <p:spPr>
          <a:xfrm>
            <a:off x="-10518937" y="4290224"/>
            <a:ext cx="4672540" cy="1665794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MN. Sihanas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HND in Computing – 22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BCAS Campus Kalmunai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2024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Flowchart: Manual Input 7">
            <a:extLst>
              <a:ext uri="{FF2B5EF4-FFF2-40B4-BE49-F238E27FC236}">
                <a16:creationId xmlns:a16="http://schemas.microsoft.com/office/drawing/2014/main" id="{E87AFFB2-D531-7ECF-0C84-C808C446DE6C}"/>
              </a:ext>
            </a:extLst>
          </p:cNvPr>
          <p:cNvSpPr/>
          <p:nvPr/>
        </p:nvSpPr>
        <p:spPr>
          <a:xfrm rot="5400000" flipV="1">
            <a:off x="-6358188" y="5003358"/>
            <a:ext cx="1023581" cy="141646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76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6C31-9147-1A47-929D-774BDA2F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EF676F-8AF3-8C1F-5BDC-F20AA99A96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chemeClr val="bg2">
                <a:lumMod val="2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16858A-121E-0CB4-C7F0-81D0CBB11505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>
              <a:lumMod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800" dirty="0">
              <a:latin typeface="OCR A Extended" panose="020105090201020103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419387-02CD-63EC-BCD7-759A9BC4155A}"/>
              </a:ext>
            </a:extLst>
          </p:cNvPr>
          <p:cNvSpPr/>
          <p:nvPr/>
        </p:nvSpPr>
        <p:spPr>
          <a:xfrm>
            <a:off x="-10518937" y="1845278"/>
            <a:ext cx="9158068" cy="1665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D80EF677-EFF3-0473-5CCA-1173F6A0F41A}"/>
              </a:ext>
            </a:extLst>
          </p:cNvPr>
          <p:cNvSpPr/>
          <p:nvPr/>
        </p:nvSpPr>
        <p:spPr>
          <a:xfrm rot="5400000" flipH="1" flipV="1">
            <a:off x="-2070233" y="1207863"/>
            <a:ext cx="1418728" cy="2101335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3425E-364E-9FB1-DF77-26E80E381FE4}"/>
              </a:ext>
            </a:extLst>
          </p:cNvPr>
          <p:cNvSpPr txBox="1"/>
          <p:nvPr/>
        </p:nvSpPr>
        <p:spPr>
          <a:xfrm>
            <a:off x="-10177743" y="2024186"/>
            <a:ext cx="8171374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4400" b="1" dirty="0">
                <a:latin typeface="+mj-lt"/>
              </a:rPr>
              <a:t>Problem-Solving Strategies for Event Planning &amp; Execution</a:t>
            </a:r>
            <a:endParaRPr 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AC5D44-BEC1-F895-D9B2-D391013D705C}"/>
              </a:ext>
            </a:extLst>
          </p:cNvPr>
          <p:cNvCxnSpPr>
            <a:cxnSpLocks/>
          </p:cNvCxnSpPr>
          <p:nvPr/>
        </p:nvCxnSpPr>
        <p:spPr>
          <a:xfrm>
            <a:off x="-1019675" y="1354526"/>
            <a:ext cx="1019675" cy="98150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EDE248E0-EBDF-E243-B72F-E6F1112C3E9D}"/>
              </a:ext>
            </a:extLst>
          </p:cNvPr>
          <p:cNvSpPr/>
          <p:nvPr/>
        </p:nvSpPr>
        <p:spPr>
          <a:xfrm>
            <a:off x="-10518937" y="4290224"/>
            <a:ext cx="4672540" cy="1665794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MN. Sihanas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HND in Computing – 22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BCAS Campus Kalmunai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2024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Flowchart: Manual Input 7">
            <a:extLst>
              <a:ext uri="{FF2B5EF4-FFF2-40B4-BE49-F238E27FC236}">
                <a16:creationId xmlns:a16="http://schemas.microsoft.com/office/drawing/2014/main" id="{7E35EC35-0DAE-20B8-E1A1-FE225892EE3F}"/>
              </a:ext>
            </a:extLst>
          </p:cNvPr>
          <p:cNvSpPr/>
          <p:nvPr/>
        </p:nvSpPr>
        <p:spPr>
          <a:xfrm rot="5400000" flipV="1">
            <a:off x="-6358188" y="5003358"/>
            <a:ext cx="1023581" cy="141646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7A96A-895A-4EAD-9266-984BED7E22CA}"/>
              </a:ext>
            </a:extLst>
          </p:cNvPr>
          <p:cNvSpPr txBox="1"/>
          <p:nvPr/>
        </p:nvSpPr>
        <p:spPr>
          <a:xfrm>
            <a:off x="894095" y="2655128"/>
            <a:ext cx="104038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OCR A Extended" panose="02010509020102010303" pitchFamily="50" charset="0"/>
              </a:rPr>
              <a:t>Hello Everyone!</a:t>
            </a:r>
          </a:p>
        </p:txBody>
      </p:sp>
    </p:spTree>
    <p:extLst>
      <p:ext uri="{BB962C8B-B14F-4D97-AF65-F5344CB8AC3E}">
        <p14:creationId xmlns:p14="http://schemas.microsoft.com/office/powerpoint/2010/main" val="40330084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BD02-1FF9-F417-DFF7-AED9E063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A5AF48-3492-2E1B-BBD9-56D9646D5B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chemeClr val="bg2">
                <a:lumMod val="2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64DD30-BEC5-E5D6-29B5-102DD4D59A98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>
              <a:lumMod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AEDCF-0DB9-6C54-7F67-62778C53357F}"/>
              </a:ext>
            </a:extLst>
          </p:cNvPr>
          <p:cNvSpPr/>
          <p:nvPr/>
        </p:nvSpPr>
        <p:spPr>
          <a:xfrm>
            <a:off x="0" y="1968108"/>
            <a:ext cx="9158068" cy="16657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A84C0918-3C25-2C0F-03BA-67C0D71CE486}"/>
              </a:ext>
            </a:extLst>
          </p:cNvPr>
          <p:cNvSpPr/>
          <p:nvPr/>
        </p:nvSpPr>
        <p:spPr>
          <a:xfrm rot="5400000" flipH="1" flipV="1">
            <a:off x="8448704" y="1330693"/>
            <a:ext cx="1418728" cy="2101335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097C9-1C00-4130-C4EE-2313ECE789AB}"/>
              </a:ext>
            </a:extLst>
          </p:cNvPr>
          <p:cNvSpPr txBox="1"/>
          <p:nvPr/>
        </p:nvSpPr>
        <p:spPr>
          <a:xfrm>
            <a:off x="341194" y="2147016"/>
            <a:ext cx="8171374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4400" b="1" dirty="0">
                <a:latin typeface="+mj-lt"/>
              </a:rPr>
              <a:t>Problem-Solving Strategies for Event Planning &amp; Execution</a:t>
            </a:r>
            <a:endParaRPr 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6F40B1-5361-E735-909D-A4CEB0D9B528}"/>
              </a:ext>
            </a:extLst>
          </p:cNvPr>
          <p:cNvCxnSpPr>
            <a:cxnSpLocks/>
          </p:cNvCxnSpPr>
          <p:nvPr/>
        </p:nvCxnSpPr>
        <p:spPr>
          <a:xfrm>
            <a:off x="9499262" y="1477356"/>
            <a:ext cx="1019675" cy="98150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BEAB08D8-7DD5-BF77-16E0-D381994C5407}"/>
              </a:ext>
            </a:extLst>
          </p:cNvPr>
          <p:cNvSpPr/>
          <p:nvPr/>
        </p:nvSpPr>
        <p:spPr>
          <a:xfrm>
            <a:off x="0" y="4413054"/>
            <a:ext cx="4672540" cy="1665794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MN. Sihanas / 1030371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HND in Computing – 22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BCAS Campus Kalmunai</a:t>
            </a:r>
          </a:p>
          <a:p>
            <a:r>
              <a:rPr lang="en-US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	2024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Flowchart: Manual Input 7">
            <a:extLst>
              <a:ext uri="{FF2B5EF4-FFF2-40B4-BE49-F238E27FC236}">
                <a16:creationId xmlns:a16="http://schemas.microsoft.com/office/drawing/2014/main" id="{D5305888-046F-D135-9113-BDD467FCBC80}"/>
              </a:ext>
            </a:extLst>
          </p:cNvPr>
          <p:cNvSpPr/>
          <p:nvPr/>
        </p:nvSpPr>
        <p:spPr>
          <a:xfrm rot="5400000" flipV="1">
            <a:off x="4160749" y="5126188"/>
            <a:ext cx="1023581" cy="141646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299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319A-4B81-20A9-7488-71044841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A5EBDB-68E9-65FE-3D94-BFD0A48C9C9A}"/>
              </a:ext>
            </a:extLst>
          </p:cNvPr>
          <p:cNvSpPr/>
          <p:nvPr/>
        </p:nvSpPr>
        <p:spPr>
          <a:xfrm>
            <a:off x="-11857372" y="4132590"/>
            <a:ext cx="12218892" cy="12764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D0C4C8-4316-370F-7BDF-0A67CA297D53}"/>
              </a:ext>
            </a:extLst>
          </p:cNvPr>
          <p:cNvSpPr/>
          <p:nvPr/>
        </p:nvSpPr>
        <p:spPr>
          <a:xfrm>
            <a:off x="-11843926" y="5446522"/>
            <a:ext cx="12192000" cy="13075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5566A3-264F-82ED-A2F6-33A473769C41}"/>
              </a:ext>
            </a:extLst>
          </p:cNvPr>
          <p:cNvSpPr/>
          <p:nvPr/>
        </p:nvSpPr>
        <p:spPr>
          <a:xfrm>
            <a:off x="-11843926" y="2771027"/>
            <a:ext cx="12192000" cy="13120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B8B041-BC55-0F76-79E8-1CEEB34BFE22}"/>
              </a:ext>
            </a:extLst>
          </p:cNvPr>
          <p:cNvSpPr/>
          <p:nvPr/>
        </p:nvSpPr>
        <p:spPr>
          <a:xfrm>
            <a:off x="-11843924" y="1418057"/>
            <a:ext cx="12192000" cy="13164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lowchart: Manual Input 7">
            <a:extLst>
              <a:ext uri="{FF2B5EF4-FFF2-40B4-BE49-F238E27FC236}">
                <a16:creationId xmlns:a16="http://schemas.microsoft.com/office/drawing/2014/main" id="{C37D97FF-6824-67D9-B902-334E9453FD23}"/>
              </a:ext>
            </a:extLst>
          </p:cNvPr>
          <p:cNvSpPr/>
          <p:nvPr/>
        </p:nvSpPr>
        <p:spPr>
          <a:xfrm rot="5400000" flipH="1" flipV="1">
            <a:off x="1201594" y="-46536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DB322-560F-1202-F31C-C2C0D64D5196}"/>
              </a:ext>
            </a:extLst>
          </p:cNvPr>
          <p:cNvSpPr txBox="1"/>
          <p:nvPr/>
        </p:nvSpPr>
        <p:spPr>
          <a:xfrm>
            <a:off x="2635485" y="444595"/>
            <a:ext cx="8337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COMMON ISSUES IN A EVENT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CA06AF-7790-1A7B-632E-BA83D4A7BC97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FC9082-4F5E-2CB9-DB9B-EC0242AFC156}"/>
              </a:ext>
            </a:extLst>
          </p:cNvPr>
          <p:cNvGrpSpPr/>
          <p:nvPr/>
        </p:nvGrpSpPr>
        <p:grpSpPr>
          <a:xfrm>
            <a:off x="-11715749" y="1472089"/>
            <a:ext cx="11935648" cy="1216521"/>
            <a:chOff x="430608" y="1607750"/>
            <a:chExt cx="12209539" cy="121652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24D1673-988F-D7B0-F9FB-F883D4C58C37}"/>
                </a:ext>
              </a:extLst>
            </p:cNvPr>
            <p:cNvSpPr/>
            <p:nvPr/>
          </p:nvSpPr>
          <p:spPr>
            <a:xfrm>
              <a:off x="430608" y="1632397"/>
              <a:ext cx="1209133" cy="11918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9FCE2C3-3149-D7AD-F41D-46B7B817FBA4}"/>
                </a:ext>
              </a:extLst>
            </p:cNvPr>
            <p:cNvGrpSpPr/>
            <p:nvPr/>
          </p:nvGrpSpPr>
          <p:grpSpPr>
            <a:xfrm>
              <a:off x="1706968" y="1607750"/>
              <a:ext cx="10933179" cy="984885"/>
              <a:chOff x="1706968" y="1607750"/>
              <a:chExt cx="10933179" cy="984885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56773B5-669A-1402-544C-D3AD0BBE836A}"/>
                  </a:ext>
                </a:extLst>
              </p:cNvPr>
              <p:cNvSpPr txBox="1"/>
              <p:nvPr/>
            </p:nvSpPr>
            <p:spPr>
              <a:xfrm>
                <a:off x="4935897" y="1780534"/>
                <a:ext cx="7704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Bahnschrift" panose="020B0502040204020203" pitchFamily="34" charset="0"/>
                    <a:cs typeface="Arial" panose="020B0604020202020204" pitchFamily="34" charset="0"/>
                  </a:rPr>
                  <a:t>Tight schedules can lead to rushed decisions, increasing the likelihood of errors.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" panose="020B0502040204020203" pitchFamily="34" charset="0"/>
                  <a:ea typeface="Segoe UI" panose="020B05020402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820EE4-3CEE-BBA2-9CC6-4951E2FBFCC8}"/>
                  </a:ext>
                </a:extLst>
              </p:cNvPr>
              <p:cNvSpPr txBox="1"/>
              <p:nvPr/>
            </p:nvSpPr>
            <p:spPr>
              <a:xfrm>
                <a:off x="1706968" y="1607750"/>
                <a:ext cx="2806149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Time Management</a:t>
                </a:r>
              </a:p>
            </p:txBody>
          </p:sp>
        </p:grpSp>
      </p:grpSp>
      <p:pic>
        <p:nvPicPr>
          <p:cNvPr id="19" name="Graphic 18" descr="Clock with solid fill">
            <a:extLst>
              <a:ext uri="{FF2B5EF4-FFF2-40B4-BE49-F238E27FC236}">
                <a16:creationId xmlns:a16="http://schemas.microsoft.com/office/drawing/2014/main" id="{AF028A5D-C608-F494-D7E1-677267872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1946" y="1635473"/>
            <a:ext cx="914400" cy="91440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93BB8879-EA1C-F6F7-0D40-26E6DC91262D}"/>
              </a:ext>
            </a:extLst>
          </p:cNvPr>
          <p:cNvSpPr/>
          <p:nvPr/>
        </p:nvSpPr>
        <p:spPr>
          <a:xfrm>
            <a:off x="-11715749" y="2832662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A482B45-AA0E-D6FF-C2A4-41154309F830}"/>
              </a:ext>
            </a:extLst>
          </p:cNvPr>
          <p:cNvSpPr/>
          <p:nvPr/>
        </p:nvSpPr>
        <p:spPr>
          <a:xfrm>
            <a:off x="-11715750" y="4168588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4F49E6-D61A-154E-BDEF-4913C7FECBC1}"/>
              </a:ext>
            </a:extLst>
          </p:cNvPr>
          <p:cNvSpPr/>
          <p:nvPr/>
        </p:nvSpPr>
        <p:spPr>
          <a:xfrm>
            <a:off x="-11715750" y="5504514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0" name="Graphic 59" descr="Truck with solid fill">
            <a:extLst>
              <a:ext uri="{FF2B5EF4-FFF2-40B4-BE49-F238E27FC236}">
                <a16:creationId xmlns:a16="http://schemas.microsoft.com/office/drawing/2014/main" id="{FFEE675D-8B5C-7015-189F-ADE6E599C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1544115" y="2967392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F7C6F08-FB32-552B-6600-FACE7AB894E1}"/>
              </a:ext>
            </a:extLst>
          </p:cNvPr>
          <p:cNvSpPr txBox="1"/>
          <p:nvPr/>
        </p:nvSpPr>
        <p:spPr>
          <a:xfrm>
            <a:off x="-10452158" y="2928502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Logistics Challenges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DD2219-04A6-8CCB-87CE-6336D3E2AC6A}"/>
              </a:ext>
            </a:extLst>
          </p:cNvPr>
          <p:cNvSpPr txBox="1"/>
          <p:nvPr/>
        </p:nvSpPr>
        <p:spPr>
          <a:xfrm>
            <a:off x="-10473945" y="4265350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Budget Constraints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D46C01-451A-C683-8E41-0180C4894B53}"/>
              </a:ext>
            </a:extLst>
          </p:cNvPr>
          <p:cNvSpPr txBox="1"/>
          <p:nvPr/>
        </p:nvSpPr>
        <p:spPr>
          <a:xfrm>
            <a:off x="-10465604" y="5620481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Technical Difficulties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6CBCC1-3B6B-5AB9-F0E5-060CEDB349BF}"/>
              </a:ext>
            </a:extLst>
          </p:cNvPr>
          <p:cNvSpPr txBox="1"/>
          <p:nvPr/>
        </p:nvSpPr>
        <p:spPr>
          <a:xfrm>
            <a:off x="-7312662" y="2995433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b="0" i="0" dirty="0">
                <a:effectLst/>
                <a:latin typeface="Bahnschrift" panose="020B0502040204020203" pitchFamily="34" charset="0"/>
              </a:rPr>
              <a:t>Issues such as venue availability, transportation, and catering can arise unexpectedly.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9952E7-ED22-8548-B218-648D3B8A6F10}"/>
              </a:ext>
            </a:extLst>
          </p:cNvPr>
          <p:cNvSpPr txBox="1"/>
          <p:nvPr/>
        </p:nvSpPr>
        <p:spPr>
          <a:xfrm>
            <a:off x="-7311525" y="4203795"/>
            <a:ext cx="753142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Financial limitations can impact the quality and scope of the event, requiring careful management and adjustments.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DDBEE5-C25A-E032-2047-FE611DE21F1E}"/>
              </a:ext>
            </a:extLst>
          </p:cNvPr>
          <p:cNvSpPr txBox="1"/>
          <p:nvPr/>
        </p:nvSpPr>
        <p:spPr>
          <a:xfrm>
            <a:off x="-7311525" y="5771825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Problems with audio-visual equipment or technology can disrupt the flow of the event.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46915E1-100B-1306-36B1-0B0F1EA7DB5F}"/>
              </a:ext>
            </a:extLst>
          </p:cNvPr>
          <p:cNvCxnSpPr>
            <a:cxnSpLocks/>
          </p:cNvCxnSpPr>
          <p:nvPr/>
        </p:nvCxnSpPr>
        <p:spPr>
          <a:xfrm>
            <a:off x="-8159131" y="1358237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275FA0F-1A58-FA1B-B5EA-E7FCC0A6B846}"/>
              </a:ext>
            </a:extLst>
          </p:cNvPr>
          <p:cNvCxnSpPr>
            <a:cxnSpLocks/>
          </p:cNvCxnSpPr>
          <p:nvPr/>
        </p:nvCxnSpPr>
        <p:spPr>
          <a:xfrm flipH="1">
            <a:off x="-8158190" y="2014205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8548234-D1D4-262E-C5E3-0330E5411135}"/>
              </a:ext>
            </a:extLst>
          </p:cNvPr>
          <p:cNvCxnSpPr>
            <a:cxnSpLocks/>
          </p:cNvCxnSpPr>
          <p:nvPr/>
        </p:nvCxnSpPr>
        <p:spPr>
          <a:xfrm>
            <a:off x="-8159131" y="2724685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A632257-F2D6-285D-DD15-EAF068595551}"/>
              </a:ext>
            </a:extLst>
          </p:cNvPr>
          <p:cNvCxnSpPr>
            <a:cxnSpLocks/>
          </p:cNvCxnSpPr>
          <p:nvPr/>
        </p:nvCxnSpPr>
        <p:spPr>
          <a:xfrm flipH="1">
            <a:off x="-8158190" y="3380653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CE69ECB-EA77-7B98-549E-66DBF350AE68}"/>
              </a:ext>
            </a:extLst>
          </p:cNvPr>
          <p:cNvCxnSpPr>
            <a:cxnSpLocks/>
          </p:cNvCxnSpPr>
          <p:nvPr/>
        </p:nvCxnSpPr>
        <p:spPr>
          <a:xfrm>
            <a:off x="-8145685" y="4102194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6318644-81F8-E748-FE69-97B23E102F38}"/>
              </a:ext>
            </a:extLst>
          </p:cNvPr>
          <p:cNvCxnSpPr>
            <a:cxnSpLocks/>
          </p:cNvCxnSpPr>
          <p:nvPr/>
        </p:nvCxnSpPr>
        <p:spPr>
          <a:xfrm flipH="1">
            <a:off x="-8145685" y="4758162"/>
            <a:ext cx="565681" cy="666032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A838546-F221-D04A-3A49-2909D0BFB84C}"/>
              </a:ext>
            </a:extLst>
          </p:cNvPr>
          <p:cNvCxnSpPr>
            <a:cxnSpLocks/>
          </p:cNvCxnSpPr>
          <p:nvPr/>
        </p:nvCxnSpPr>
        <p:spPr>
          <a:xfrm>
            <a:off x="-8145685" y="5431337"/>
            <a:ext cx="565681" cy="677385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607D236-42B1-3B0E-232C-7BACA797D354}"/>
              </a:ext>
            </a:extLst>
          </p:cNvPr>
          <p:cNvCxnSpPr>
            <a:cxnSpLocks/>
          </p:cNvCxnSpPr>
          <p:nvPr/>
        </p:nvCxnSpPr>
        <p:spPr>
          <a:xfrm flipH="1">
            <a:off x="-8144744" y="6124610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Coins with solid fill">
            <a:extLst>
              <a:ext uri="{FF2B5EF4-FFF2-40B4-BE49-F238E27FC236}">
                <a16:creationId xmlns:a16="http://schemas.microsoft.com/office/drawing/2014/main" id="{87C48B54-36D5-FFFF-795D-CB70156E0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1581946" y="4303318"/>
            <a:ext cx="914400" cy="914400"/>
          </a:xfrm>
          <a:prstGeom prst="rect">
            <a:avLst/>
          </a:prstGeom>
        </p:spPr>
      </p:pic>
      <p:pic>
        <p:nvPicPr>
          <p:cNvPr id="93" name="Graphic 92" descr="Robot with solid fill">
            <a:extLst>
              <a:ext uri="{FF2B5EF4-FFF2-40B4-BE49-F238E27FC236}">
                <a16:creationId xmlns:a16="http://schemas.microsoft.com/office/drawing/2014/main" id="{C6614BF1-FB79-9E1B-B501-E31F322B0E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1582380" y="56432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73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8E71-7ECB-03DA-081F-63352724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75239-8857-E4BD-3751-5D383C8FDB5D}"/>
              </a:ext>
            </a:extLst>
          </p:cNvPr>
          <p:cNvSpPr/>
          <p:nvPr/>
        </p:nvSpPr>
        <p:spPr>
          <a:xfrm>
            <a:off x="-11857371" y="4132590"/>
            <a:ext cx="12218892" cy="12764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CCF58-662C-CEBF-3088-17755BFBAA43}"/>
              </a:ext>
            </a:extLst>
          </p:cNvPr>
          <p:cNvSpPr/>
          <p:nvPr/>
        </p:nvSpPr>
        <p:spPr>
          <a:xfrm>
            <a:off x="-11843925" y="5446522"/>
            <a:ext cx="12192000" cy="13075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73FE8-CFB2-6388-E215-4E753863D3EA}"/>
              </a:ext>
            </a:extLst>
          </p:cNvPr>
          <p:cNvSpPr/>
          <p:nvPr/>
        </p:nvSpPr>
        <p:spPr>
          <a:xfrm>
            <a:off x="-11843925" y="2771027"/>
            <a:ext cx="12192000" cy="13120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E6E7F-C7E2-19BC-C163-3847298BABA7}"/>
              </a:ext>
            </a:extLst>
          </p:cNvPr>
          <p:cNvSpPr/>
          <p:nvPr/>
        </p:nvSpPr>
        <p:spPr>
          <a:xfrm>
            <a:off x="1" y="1418057"/>
            <a:ext cx="12192000" cy="13164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lowchart: Manual Input 7">
            <a:extLst>
              <a:ext uri="{FF2B5EF4-FFF2-40B4-BE49-F238E27FC236}">
                <a16:creationId xmlns:a16="http://schemas.microsoft.com/office/drawing/2014/main" id="{9BAF5F38-876F-5E17-263D-8EC6C4B39BC1}"/>
              </a:ext>
            </a:extLst>
          </p:cNvPr>
          <p:cNvSpPr/>
          <p:nvPr/>
        </p:nvSpPr>
        <p:spPr>
          <a:xfrm rot="5400000" flipH="1" flipV="1">
            <a:off x="1201594" y="-46536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48CF2-7924-C136-89C7-D23280535144}"/>
              </a:ext>
            </a:extLst>
          </p:cNvPr>
          <p:cNvSpPr txBox="1"/>
          <p:nvPr/>
        </p:nvSpPr>
        <p:spPr>
          <a:xfrm>
            <a:off x="2635485" y="444595"/>
            <a:ext cx="4951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COMMON ISSUES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6A01F6-DF92-B4AB-8919-EC19EE75397D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A84FAB-BE79-47DC-C3C9-7598F3FAE72E}"/>
              </a:ext>
            </a:extLst>
          </p:cNvPr>
          <p:cNvGrpSpPr/>
          <p:nvPr/>
        </p:nvGrpSpPr>
        <p:grpSpPr>
          <a:xfrm>
            <a:off x="128176" y="1472089"/>
            <a:ext cx="11935648" cy="1216521"/>
            <a:chOff x="430608" y="1607750"/>
            <a:chExt cx="12209539" cy="121652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AF4BBB8-B58A-E993-A2E6-DACBE47C9895}"/>
                </a:ext>
              </a:extLst>
            </p:cNvPr>
            <p:cNvSpPr/>
            <p:nvPr/>
          </p:nvSpPr>
          <p:spPr>
            <a:xfrm>
              <a:off x="430608" y="1632397"/>
              <a:ext cx="1209133" cy="11918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5BED0F2-1B0E-3B30-4BB2-04BF7AE4BA64}"/>
                </a:ext>
              </a:extLst>
            </p:cNvPr>
            <p:cNvGrpSpPr/>
            <p:nvPr/>
          </p:nvGrpSpPr>
          <p:grpSpPr>
            <a:xfrm>
              <a:off x="1706968" y="1607750"/>
              <a:ext cx="10933179" cy="984885"/>
              <a:chOff x="1706968" y="1607750"/>
              <a:chExt cx="10933179" cy="98488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607321-7689-DDBF-11F3-A017A2367059}"/>
                  </a:ext>
                </a:extLst>
              </p:cNvPr>
              <p:cNvSpPr txBox="1"/>
              <p:nvPr/>
            </p:nvSpPr>
            <p:spPr>
              <a:xfrm>
                <a:off x="1706968" y="1607750"/>
                <a:ext cx="2806149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Time Management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57A180E-DE6C-1697-2100-2C9F017583B7}"/>
                  </a:ext>
                </a:extLst>
              </p:cNvPr>
              <p:cNvSpPr txBox="1"/>
              <p:nvPr/>
            </p:nvSpPr>
            <p:spPr>
              <a:xfrm>
                <a:off x="4935897" y="1780534"/>
                <a:ext cx="7704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Bahnschrift" panose="020B0502040204020203" pitchFamily="34" charset="0"/>
                    <a:cs typeface="Arial" panose="020B0604020202020204" pitchFamily="34" charset="0"/>
                  </a:rPr>
                  <a:t>Tight schedules can lead to rushed decisions, increasing the likelihood of errors.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" panose="020B0502040204020203" pitchFamily="34" charset="0"/>
                  <a:ea typeface="Segoe UI" panose="020B0502040204020203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9" name="Graphic 18" descr="Clock with solid fill">
            <a:extLst>
              <a:ext uri="{FF2B5EF4-FFF2-40B4-BE49-F238E27FC236}">
                <a16:creationId xmlns:a16="http://schemas.microsoft.com/office/drawing/2014/main" id="{14229CC2-4407-3F39-367A-701B29720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979" y="1635473"/>
            <a:ext cx="914400" cy="91440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85CD1C93-7C6D-B811-5EC1-824F3944F708}"/>
              </a:ext>
            </a:extLst>
          </p:cNvPr>
          <p:cNvSpPr/>
          <p:nvPr/>
        </p:nvSpPr>
        <p:spPr>
          <a:xfrm>
            <a:off x="-11715748" y="2832662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E74CAE8-583C-F937-DC70-5FE9AF7451FB}"/>
              </a:ext>
            </a:extLst>
          </p:cNvPr>
          <p:cNvSpPr/>
          <p:nvPr/>
        </p:nvSpPr>
        <p:spPr>
          <a:xfrm>
            <a:off x="-11715749" y="4168588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8F16D10-E4F8-6741-F7CB-35869C3991B5}"/>
              </a:ext>
            </a:extLst>
          </p:cNvPr>
          <p:cNvSpPr/>
          <p:nvPr/>
        </p:nvSpPr>
        <p:spPr>
          <a:xfrm>
            <a:off x="-11715749" y="5504514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0" name="Graphic 59" descr="Truck with solid fill">
            <a:extLst>
              <a:ext uri="{FF2B5EF4-FFF2-40B4-BE49-F238E27FC236}">
                <a16:creationId xmlns:a16="http://schemas.microsoft.com/office/drawing/2014/main" id="{57D2F2F9-DB3E-542D-2A19-B4CA5C20C8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544114" y="2967392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239FD2C-25EE-D83F-6AF7-247397C06DA0}"/>
              </a:ext>
            </a:extLst>
          </p:cNvPr>
          <p:cNvSpPr txBox="1"/>
          <p:nvPr/>
        </p:nvSpPr>
        <p:spPr>
          <a:xfrm>
            <a:off x="-10452157" y="2928502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Logistics Challenges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9D6D0A-6725-378B-E935-7A4DD6D4BDC2}"/>
              </a:ext>
            </a:extLst>
          </p:cNvPr>
          <p:cNvSpPr txBox="1"/>
          <p:nvPr/>
        </p:nvSpPr>
        <p:spPr>
          <a:xfrm>
            <a:off x="-10473944" y="4265350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Budget Constraints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0C3374-92A6-0C64-5743-599E5F2143FD}"/>
              </a:ext>
            </a:extLst>
          </p:cNvPr>
          <p:cNvSpPr txBox="1"/>
          <p:nvPr/>
        </p:nvSpPr>
        <p:spPr>
          <a:xfrm>
            <a:off x="-10465603" y="5620481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Technical Difficulties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74BF54-4E0F-C735-40BC-FEF603A6ED82}"/>
              </a:ext>
            </a:extLst>
          </p:cNvPr>
          <p:cNvSpPr txBox="1"/>
          <p:nvPr/>
        </p:nvSpPr>
        <p:spPr>
          <a:xfrm>
            <a:off x="-7312661" y="2995433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b="0" i="0" dirty="0">
                <a:effectLst/>
                <a:latin typeface="Bahnschrift" panose="020B0502040204020203" pitchFamily="34" charset="0"/>
              </a:rPr>
              <a:t>Issues such as venue availability, transportation, and catering can arise unexpectedly.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144D1D-2033-39EA-128B-38D6BA076BDC}"/>
              </a:ext>
            </a:extLst>
          </p:cNvPr>
          <p:cNvSpPr txBox="1"/>
          <p:nvPr/>
        </p:nvSpPr>
        <p:spPr>
          <a:xfrm>
            <a:off x="-7311524" y="4203795"/>
            <a:ext cx="753142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Financial limitations can impact the quality and scope of the event, requiring careful management and adjustments.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21A414-4593-D36E-B304-87458B8CFF65}"/>
              </a:ext>
            </a:extLst>
          </p:cNvPr>
          <p:cNvSpPr txBox="1"/>
          <p:nvPr/>
        </p:nvSpPr>
        <p:spPr>
          <a:xfrm>
            <a:off x="-7311524" y="5771825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Problems with audio-visual equipment or technology can disrupt the flow of the event.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BE8CB59-1DB6-F66E-B51B-757BD5BD6557}"/>
              </a:ext>
            </a:extLst>
          </p:cNvPr>
          <p:cNvCxnSpPr>
            <a:cxnSpLocks/>
          </p:cNvCxnSpPr>
          <p:nvPr/>
        </p:nvCxnSpPr>
        <p:spPr>
          <a:xfrm>
            <a:off x="3684794" y="1358237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616170D-D22D-7488-E8EA-749C5AEEC665}"/>
              </a:ext>
            </a:extLst>
          </p:cNvPr>
          <p:cNvCxnSpPr>
            <a:cxnSpLocks/>
          </p:cNvCxnSpPr>
          <p:nvPr/>
        </p:nvCxnSpPr>
        <p:spPr>
          <a:xfrm flipH="1">
            <a:off x="3685735" y="2014205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9AB039F-CDA3-8CF4-AAD5-F94E3463947B}"/>
              </a:ext>
            </a:extLst>
          </p:cNvPr>
          <p:cNvCxnSpPr>
            <a:cxnSpLocks/>
          </p:cNvCxnSpPr>
          <p:nvPr/>
        </p:nvCxnSpPr>
        <p:spPr>
          <a:xfrm>
            <a:off x="-8159130" y="2724685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AED0329-D655-8D28-5003-28B0CCF8E6E3}"/>
              </a:ext>
            </a:extLst>
          </p:cNvPr>
          <p:cNvCxnSpPr>
            <a:cxnSpLocks/>
          </p:cNvCxnSpPr>
          <p:nvPr/>
        </p:nvCxnSpPr>
        <p:spPr>
          <a:xfrm flipH="1">
            <a:off x="-8158189" y="3380653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3F598C4-F30F-CA64-FDBF-07769BD6C61D}"/>
              </a:ext>
            </a:extLst>
          </p:cNvPr>
          <p:cNvCxnSpPr>
            <a:cxnSpLocks/>
          </p:cNvCxnSpPr>
          <p:nvPr/>
        </p:nvCxnSpPr>
        <p:spPr>
          <a:xfrm>
            <a:off x="-8145684" y="4102194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3C12C1B-793C-828B-AC2A-44BC01233ADA}"/>
              </a:ext>
            </a:extLst>
          </p:cNvPr>
          <p:cNvCxnSpPr>
            <a:cxnSpLocks/>
          </p:cNvCxnSpPr>
          <p:nvPr/>
        </p:nvCxnSpPr>
        <p:spPr>
          <a:xfrm flipH="1">
            <a:off x="-8145684" y="4758162"/>
            <a:ext cx="565681" cy="666032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50BB14E-F3B8-7C33-FBA5-B44FD9CB9455}"/>
              </a:ext>
            </a:extLst>
          </p:cNvPr>
          <p:cNvCxnSpPr>
            <a:cxnSpLocks/>
          </p:cNvCxnSpPr>
          <p:nvPr/>
        </p:nvCxnSpPr>
        <p:spPr>
          <a:xfrm>
            <a:off x="-8145684" y="5431337"/>
            <a:ext cx="565681" cy="677385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5B84C41-AF82-4588-0333-47B8264B20AA}"/>
              </a:ext>
            </a:extLst>
          </p:cNvPr>
          <p:cNvCxnSpPr>
            <a:cxnSpLocks/>
          </p:cNvCxnSpPr>
          <p:nvPr/>
        </p:nvCxnSpPr>
        <p:spPr>
          <a:xfrm flipH="1">
            <a:off x="-8144743" y="6124610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Coins with solid fill">
            <a:extLst>
              <a:ext uri="{FF2B5EF4-FFF2-40B4-BE49-F238E27FC236}">
                <a16:creationId xmlns:a16="http://schemas.microsoft.com/office/drawing/2014/main" id="{10A11B70-39DB-9A82-1B27-8E7DED5E27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1581945" y="4303318"/>
            <a:ext cx="914400" cy="914400"/>
          </a:xfrm>
          <a:prstGeom prst="rect">
            <a:avLst/>
          </a:prstGeom>
        </p:spPr>
      </p:pic>
      <p:pic>
        <p:nvPicPr>
          <p:cNvPr id="93" name="Graphic 92" descr="Robot with solid fill">
            <a:extLst>
              <a:ext uri="{FF2B5EF4-FFF2-40B4-BE49-F238E27FC236}">
                <a16:creationId xmlns:a16="http://schemas.microsoft.com/office/drawing/2014/main" id="{8939C022-4384-B2E8-0BAA-FCE2CD6AF6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1582379" y="56432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36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3001-9B96-9AA9-4BA1-92B037D2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27F1F0-9250-7D06-2E89-CB60AFDDB62E}"/>
              </a:ext>
            </a:extLst>
          </p:cNvPr>
          <p:cNvSpPr/>
          <p:nvPr/>
        </p:nvSpPr>
        <p:spPr>
          <a:xfrm>
            <a:off x="-11905898" y="4132590"/>
            <a:ext cx="12218892" cy="12764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57DB8E-190C-D5E0-A353-D57DEA20D865}"/>
              </a:ext>
            </a:extLst>
          </p:cNvPr>
          <p:cNvSpPr/>
          <p:nvPr/>
        </p:nvSpPr>
        <p:spPr>
          <a:xfrm>
            <a:off x="-11892452" y="5446522"/>
            <a:ext cx="12192000" cy="13075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F1885A-030C-007C-EE55-528F5FA697AB}"/>
              </a:ext>
            </a:extLst>
          </p:cNvPr>
          <p:cNvSpPr/>
          <p:nvPr/>
        </p:nvSpPr>
        <p:spPr>
          <a:xfrm>
            <a:off x="-1" y="2771027"/>
            <a:ext cx="12192000" cy="13120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46EFFF-8C1B-D494-97A2-0681E5B34B7C}"/>
              </a:ext>
            </a:extLst>
          </p:cNvPr>
          <p:cNvSpPr/>
          <p:nvPr/>
        </p:nvSpPr>
        <p:spPr>
          <a:xfrm>
            <a:off x="1" y="1418057"/>
            <a:ext cx="12192000" cy="13164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lowchart: Manual Input 7">
            <a:extLst>
              <a:ext uri="{FF2B5EF4-FFF2-40B4-BE49-F238E27FC236}">
                <a16:creationId xmlns:a16="http://schemas.microsoft.com/office/drawing/2014/main" id="{D64D6F73-0204-BFC1-F88D-EF4EFED13403}"/>
              </a:ext>
            </a:extLst>
          </p:cNvPr>
          <p:cNvSpPr/>
          <p:nvPr/>
        </p:nvSpPr>
        <p:spPr>
          <a:xfrm rot="5400000" flipH="1" flipV="1">
            <a:off x="1201594" y="-46536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13E85-3FED-DDFA-DA73-26B58E27B601}"/>
              </a:ext>
            </a:extLst>
          </p:cNvPr>
          <p:cNvSpPr txBox="1"/>
          <p:nvPr/>
        </p:nvSpPr>
        <p:spPr>
          <a:xfrm>
            <a:off x="2635485" y="444595"/>
            <a:ext cx="4951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COMMON ISSUES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DFBE4E-E917-9852-874F-13541C08FCBF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D3D605-BED1-4EB8-DB63-DBA719E64664}"/>
              </a:ext>
            </a:extLst>
          </p:cNvPr>
          <p:cNvGrpSpPr/>
          <p:nvPr/>
        </p:nvGrpSpPr>
        <p:grpSpPr>
          <a:xfrm>
            <a:off x="128176" y="1472089"/>
            <a:ext cx="11935648" cy="1216521"/>
            <a:chOff x="430608" y="1607750"/>
            <a:chExt cx="12209539" cy="121652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C03B7D1-7F53-3F42-9CDF-943D309B98CE}"/>
                </a:ext>
              </a:extLst>
            </p:cNvPr>
            <p:cNvSpPr/>
            <p:nvPr/>
          </p:nvSpPr>
          <p:spPr>
            <a:xfrm>
              <a:off x="430608" y="1632397"/>
              <a:ext cx="1209133" cy="11918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AA940EA-EE22-55C5-F6D4-EE7447D2763E}"/>
                </a:ext>
              </a:extLst>
            </p:cNvPr>
            <p:cNvGrpSpPr/>
            <p:nvPr/>
          </p:nvGrpSpPr>
          <p:grpSpPr>
            <a:xfrm>
              <a:off x="1706968" y="1607750"/>
              <a:ext cx="10933179" cy="984885"/>
              <a:chOff x="1706968" y="1607750"/>
              <a:chExt cx="10933179" cy="98488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E96048-BAAA-6F6D-A4C6-1630120158CB}"/>
                  </a:ext>
                </a:extLst>
              </p:cNvPr>
              <p:cNvSpPr txBox="1"/>
              <p:nvPr/>
            </p:nvSpPr>
            <p:spPr>
              <a:xfrm>
                <a:off x="1706968" y="1607750"/>
                <a:ext cx="2806149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Time Management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DE0958-E2C8-1236-DAD9-D94FC6434C6B}"/>
                  </a:ext>
                </a:extLst>
              </p:cNvPr>
              <p:cNvSpPr txBox="1"/>
              <p:nvPr/>
            </p:nvSpPr>
            <p:spPr>
              <a:xfrm>
                <a:off x="4935897" y="1780534"/>
                <a:ext cx="7704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Bahnschrift" panose="020B0502040204020203" pitchFamily="34" charset="0"/>
                    <a:cs typeface="Arial" panose="020B0604020202020204" pitchFamily="34" charset="0"/>
                  </a:rPr>
                  <a:t>Tight schedules can lead to rushed decisions, increasing the likelihood of errors.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" panose="020B0502040204020203" pitchFamily="34" charset="0"/>
                  <a:ea typeface="Segoe UI" panose="020B0502040204020203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9" name="Graphic 18" descr="Clock with solid fill">
            <a:extLst>
              <a:ext uri="{FF2B5EF4-FFF2-40B4-BE49-F238E27FC236}">
                <a16:creationId xmlns:a16="http://schemas.microsoft.com/office/drawing/2014/main" id="{5B2AF254-83CA-3A51-1A0C-FDF8C49F7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979" y="1635473"/>
            <a:ext cx="914400" cy="91440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848872A4-4DE4-E9DD-98F4-73BE02BBCCEF}"/>
              </a:ext>
            </a:extLst>
          </p:cNvPr>
          <p:cNvSpPr/>
          <p:nvPr/>
        </p:nvSpPr>
        <p:spPr>
          <a:xfrm>
            <a:off x="128176" y="2832662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C5D7C19-8817-7A67-EE38-63977004C48F}"/>
              </a:ext>
            </a:extLst>
          </p:cNvPr>
          <p:cNvSpPr/>
          <p:nvPr/>
        </p:nvSpPr>
        <p:spPr>
          <a:xfrm>
            <a:off x="-11764276" y="4168588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CDD7107-0872-8F61-C95B-EF358D16748B}"/>
              </a:ext>
            </a:extLst>
          </p:cNvPr>
          <p:cNvSpPr/>
          <p:nvPr/>
        </p:nvSpPr>
        <p:spPr>
          <a:xfrm>
            <a:off x="-11764276" y="5504514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0" name="Graphic 59" descr="Truck with solid fill">
            <a:extLst>
              <a:ext uri="{FF2B5EF4-FFF2-40B4-BE49-F238E27FC236}">
                <a16:creationId xmlns:a16="http://schemas.microsoft.com/office/drawing/2014/main" id="{80D65FFF-76B8-1F57-1D23-4DE648E975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810" y="2967392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55B1649-B852-1BC7-C794-3AEC31B00DE5}"/>
              </a:ext>
            </a:extLst>
          </p:cNvPr>
          <p:cNvSpPr txBox="1"/>
          <p:nvPr/>
        </p:nvSpPr>
        <p:spPr>
          <a:xfrm>
            <a:off x="1391767" y="2928502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Logistics Challenges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5E41A4-B9C9-271C-AE4A-654A31D5B743}"/>
              </a:ext>
            </a:extLst>
          </p:cNvPr>
          <p:cNvSpPr txBox="1"/>
          <p:nvPr/>
        </p:nvSpPr>
        <p:spPr>
          <a:xfrm>
            <a:off x="-10522471" y="4265350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Budget Constraints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6E0B72-ED00-19C8-EEE3-B9B15716D1BC}"/>
              </a:ext>
            </a:extLst>
          </p:cNvPr>
          <p:cNvSpPr txBox="1"/>
          <p:nvPr/>
        </p:nvSpPr>
        <p:spPr>
          <a:xfrm>
            <a:off x="-10514130" y="5620481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Technical Difficulties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EC460C-B507-D0BA-145C-6D00B1CBCA9B}"/>
              </a:ext>
            </a:extLst>
          </p:cNvPr>
          <p:cNvSpPr txBox="1"/>
          <p:nvPr/>
        </p:nvSpPr>
        <p:spPr>
          <a:xfrm>
            <a:off x="4531263" y="2995433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b="0" i="0" dirty="0">
                <a:effectLst/>
                <a:latin typeface="Bahnschrift" panose="020B0502040204020203" pitchFamily="34" charset="0"/>
              </a:rPr>
              <a:t>Issues such as venue availability, transportation, and catering can arise unexpectedly.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61B6AF-442A-86B2-27A0-9A60096A7653}"/>
              </a:ext>
            </a:extLst>
          </p:cNvPr>
          <p:cNvSpPr txBox="1"/>
          <p:nvPr/>
        </p:nvSpPr>
        <p:spPr>
          <a:xfrm>
            <a:off x="-7360051" y="4203795"/>
            <a:ext cx="753142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Financial limitations can impact the quality and scope of the event, requiring careful management and adjustments.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C615DB-13BA-71BB-83F0-DC07AF7905CE}"/>
              </a:ext>
            </a:extLst>
          </p:cNvPr>
          <p:cNvSpPr txBox="1"/>
          <p:nvPr/>
        </p:nvSpPr>
        <p:spPr>
          <a:xfrm>
            <a:off x="-7360051" y="5771825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Problems with audio-visual equipment or technology can disrupt the flow of the event.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42B25BE-D677-0E4B-B7D8-B1650236751D}"/>
              </a:ext>
            </a:extLst>
          </p:cNvPr>
          <p:cNvCxnSpPr>
            <a:cxnSpLocks/>
          </p:cNvCxnSpPr>
          <p:nvPr/>
        </p:nvCxnSpPr>
        <p:spPr>
          <a:xfrm>
            <a:off x="3684794" y="1358237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C78A221-3C45-19E1-DC19-CB29940DCEFD}"/>
              </a:ext>
            </a:extLst>
          </p:cNvPr>
          <p:cNvCxnSpPr>
            <a:cxnSpLocks/>
          </p:cNvCxnSpPr>
          <p:nvPr/>
        </p:nvCxnSpPr>
        <p:spPr>
          <a:xfrm flipH="1">
            <a:off x="3685735" y="2014205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4CB6034-F489-C89C-01F8-CC6218A60682}"/>
              </a:ext>
            </a:extLst>
          </p:cNvPr>
          <p:cNvCxnSpPr>
            <a:cxnSpLocks/>
          </p:cNvCxnSpPr>
          <p:nvPr/>
        </p:nvCxnSpPr>
        <p:spPr>
          <a:xfrm>
            <a:off x="3684794" y="2724685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FE3F6A9-8EF6-FEF8-68D9-AF1DE542E787}"/>
              </a:ext>
            </a:extLst>
          </p:cNvPr>
          <p:cNvCxnSpPr>
            <a:cxnSpLocks/>
          </p:cNvCxnSpPr>
          <p:nvPr/>
        </p:nvCxnSpPr>
        <p:spPr>
          <a:xfrm flipH="1">
            <a:off x="3685735" y="3380653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3DC4C4C-D011-BE5C-A236-4F778BC7A1EE}"/>
              </a:ext>
            </a:extLst>
          </p:cNvPr>
          <p:cNvCxnSpPr>
            <a:cxnSpLocks/>
          </p:cNvCxnSpPr>
          <p:nvPr/>
        </p:nvCxnSpPr>
        <p:spPr>
          <a:xfrm>
            <a:off x="-8194211" y="4102194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1340536-11CB-C1F0-9A50-F6EEF9912221}"/>
              </a:ext>
            </a:extLst>
          </p:cNvPr>
          <p:cNvCxnSpPr>
            <a:cxnSpLocks/>
          </p:cNvCxnSpPr>
          <p:nvPr/>
        </p:nvCxnSpPr>
        <p:spPr>
          <a:xfrm flipH="1">
            <a:off x="-8179221" y="4758162"/>
            <a:ext cx="565681" cy="666032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7594B51-4B88-43C4-CBFD-DB8ADC4E3AA6}"/>
              </a:ext>
            </a:extLst>
          </p:cNvPr>
          <p:cNvCxnSpPr>
            <a:cxnSpLocks/>
          </p:cNvCxnSpPr>
          <p:nvPr/>
        </p:nvCxnSpPr>
        <p:spPr>
          <a:xfrm>
            <a:off x="-8194211" y="5431337"/>
            <a:ext cx="565681" cy="677385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C85F518-6305-DAD4-C78E-312C72838BB4}"/>
              </a:ext>
            </a:extLst>
          </p:cNvPr>
          <p:cNvCxnSpPr>
            <a:cxnSpLocks/>
          </p:cNvCxnSpPr>
          <p:nvPr/>
        </p:nvCxnSpPr>
        <p:spPr>
          <a:xfrm flipH="1">
            <a:off x="-8193270" y="6124610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Coins with solid fill">
            <a:extLst>
              <a:ext uri="{FF2B5EF4-FFF2-40B4-BE49-F238E27FC236}">
                <a16:creationId xmlns:a16="http://schemas.microsoft.com/office/drawing/2014/main" id="{FA758E37-0303-C7D5-87C0-C7A5877BB2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1630472" y="4303318"/>
            <a:ext cx="914400" cy="914400"/>
          </a:xfrm>
          <a:prstGeom prst="rect">
            <a:avLst/>
          </a:prstGeom>
        </p:spPr>
      </p:pic>
      <p:pic>
        <p:nvPicPr>
          <p:cNvPr id="93" name="Graphic 92" descr="Robot with solid fill">
            <a:extLst>
              <a:ext uri="{FF2B5EF4-FFF2-40B4-BE49-F238E27FC236}">
                <a16:creationId xmlns:a16="http://schemas.microsoft.com/office/drawing/2014/main" id="{FCD45BD2-3C77-E904-6610-86580EA894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1630906" y="56432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41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86FB-7DB4-010D-2457-F5EB77B5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2AA756-A9D8-4A71-575D-98E9330A737B}"/>
              </a:ext>
            </a:extLst>
          </p:cNvPr>
          <p:cNvSpPr/>
          <p:nvPr/>
        </p:nvSpPr>
        <p:spPr>
          <a:xfrm>
            <a:off x="-13447" y="4132590"/>
            <a:ext cx="12218892" cy="12764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848DE-C385-64FC-81B1-13FC5C3BEC67}"/>
              </a:ext>
            </a:extLst>
          </p:cNvPr>
          <p:cNvSpPr/>
          <p:nvPr/>
        </p:nvSpPr>
        <p:spPr>
          <a:xfrm>
            <a:off x="-11857570" y="5446522"/>
            <a:ext cx="12192000" cy="13075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CD241-91E1-39B3-07C0-2B73CB7A2998}"/>
              </a:ext>
            </a:extLst>
          </p:cNvPr>
          <p:cNvSpPr/>
          <p:nvPr/>
        </p:nvSpPr>
        <p:spPr>
          <a:xfrm>
            <a:off x="-1" y="2771027"/>
            <a:ext cx="12192000" cy="13120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FF81D-E763-03E0-8D60-7B4FBBBD20E3}"/>
              </a:ext>
            </a:extLst>
          </p:cNvPr>
          <p:cNvSpPr/>
          <p:nvPr/>
        </p:nvSpPr>
        <p:spPr>
          <a:xfrm>
            <a:off x="1" y="1418057"/>
            <a:ext cx="12192000" cy="13164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lowchart: Manual Input 7">
            <a:extLst>
              <a:ext uri="{FF2B5EF4-FFF2-40B4-BE49-F238E27FC236}">
                <a16:creationId xmlns:a16="http://schemas.microsoft.com/office/drawing/2014/main" id="{A44EE7B8-38AD-C23D-E841-B611AE07BBD8}"/>
              </a:ext>
            </a:extLst>
          </p:cNvPr>
          <p:cNvSpPr/>
          <p:nvPr/>
        </p:nvSpPr>
        <p:spPr>
          <a:xfrm rot="5400000" flipH="1" flipV="1">
            <a:off x="1201594" y="-46536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3895C-E7B9-38D2-80C8-BDE31F2F2866}"/>
              </a:ext>
            </a:extLst>
          </p:cNvPr>
          <p:cNvSpPr txBox="1"/>
          <p:nvPr/>
        </p:nvSpPr>
        <p:spPr>
          <a:xfrm>
            <a:off x="2635485" y="444595"/>
            <a:ext cx="4951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COMMON ISSUES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36526A-24FB-0607-866E-B4FA88C9B7C7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9738E9-15B0-5386-06AB-51BE543AC833}"/>
              </a:ext>
            </a:extLst>
          </p:cNvPr>
          <p:cNvGrpSpPr/>
          <p:nvPr/>
        </p:nvGrpSpPr>
        <p:grpSpPr>
          <a:xfrm>
            <a:off x="128176" y="1472089"/>
            <a:ext cx="11935648" cy="1216521"/>
            <a:chOff x="430608" y="1607750"/>
            <a:chExt cx="12209539" cy="121652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4999CC-84B7-5B50-7F85-305A52A1ABD8}"/>
                </a:ext>
              </a:extLst>
            </p:cNvPr>
            <p:cNvSpPr/>
            <p:nvPr/>
          </p:nvSpPr>
          <p:spPr>
            <a:xfrm>
              <a:off x="430608" y="1632397"/>
              <a:ext cx="1209133" cy="11918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5A0F30D-344C-BA76-3147-5EF1539A35C7}"/>
                </a:ext>
              </a:extLst>
            </p:cNvPr>
            <p:cNvGrpSpPr/>
            <p:nvPr/>
          </p:nvGrpSpPr>
          <p:grpSpPr>
            <a:xfrm>
              <a:off x="1706968" y="1607750"/>
              <a:ext cx="10933179" cy="984885"/>
              <a:chOff x="1706968" y="1607750"/>
              <a:chExt cx="10933179" cy="98488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0C2349-F539-6069-893D-CE3958DE69DB}"/>
                  </a:ext>
                </a:extLst>
              </p:cNvPr>
              <p:cNvSpPr txBox="1"/>
              <p:nvPr/>
            </p:nvSpPr>
            <p:spPr>
              <a:xfrm>
                <a:off x="1706968" y="1607750"/>
                <a:ext cx="2806149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Time Management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4AB3BF8-FCF6-4C1B-540E-650D09831D29}"/>
                  </a:ext>
                </a:extLst>
              </p:cNvPr>
              <p:cNvSpPr txBox="1"/>
              <p:nvPr/>
            </p:nvSpPr>
            <p:spPr>
              <a:xfrm>
                <a:off x="4935897" y="1780534"/>
                <a:ext cx="7704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Bahnschrift" panose="020B0502040204020203" pitchFamily="34" charset="0"/>
                    <a:cs typeface="Arial" panose="020B0604020202020204" pitchFamily="34" charset="0"/>
                  </a:rPr>
                  <a:t>Tight schedules can lead to rushed decisions, increasing the likelihood of errors.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" panose="020B0502040204020203" pitchFamily="34" charset="0"/>
                  <a:ea typeface="Segoe UI" panose="020B0502040204020203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9" name="Graphic 18" descr="Clock with solid fill">
            <a:extLst>
              <a:ext uri="{FF2B5EF4-FFF2-40B4-BE49-F238E27FC236}">
                <a16:creationId xmlns:a16="http://schemas.microsoft.com/office/drawing/2014/main" id="{58AC72D4-143D-B852-EAB2-95C0DC4C7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979" y="1635473"/>
            <a:ext cx="914400" cy="91440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EF6F0B4D-4804-9D38-B2BA-F920611F6466}"/>
              </a:ext>
            </a:extLst>
          </p:cNvPr>
          <p:cNvSpPr/>
          <p:nvPr/>
        </p:nvSpPr>
        <p:spPr>
          <a:xfrm>
            <a:off x="128176" y="2832662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A4574CF-4F93-277F-2247-3B4833E40FD4}"/>
              </a:ext>
            </a:extLst>
          </p:cNvPr>
          <p:cNvSpPr/>
          <p:nvPr/>
        </p:nvSpPr>
        <p:spPr>
          <a:xfrm>
            <a:off x="128175" y="4168588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C046EF-B668-4E7C-F21F-0DF77441ADD3}"/>
              </a:ext>
            </a:extLst>
          </p:cNvPr>
          <p:cNvSpPr/>
          <p:nvPr/>
        </p:nvSpPr>
        <p:spPr>
          <a:xfrm>
            <a:off x="-11729394" y="5504514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0" name="Graphic 59" descr="Truck with solid fill">
            <a:extLst>
              <a:ext uri="{FF2B5EF4-FFF2-40B4-BE49-F238E27FC236}">
                <a16:creationId xmlns:a16="http://schemas.microsoft.com/office/drawing/2014/main" id="{C5595E59-3232-10A1-E91B-22FB83820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810" y="2967392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D80E92D-98DA-12AF-8604-3739CFBD2BBD}"/>
              </a:ext>
            </a:extLst>
          </p:cNvPr>
          <p:cNvSpPr txBox="1"/>
          <p:nvPr/>
        </p:nvSpPr>
        <p:spPr>
          <a:xfrm>
            <a:off x="1391767" y="2928502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Logistics Challenges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CD577D-BA83-7D80-B4BA-6A781DB43FEC}"/>
              </a:ext>
            </a:extLst>
          </p:cNvPr>
          <p:cNvSpPr txBox="1"/>
          <p:nvPr/>
        </p:nvSpPr>
        <p:spPr>
          <a:xfrm>
            <a:off x="1369980" y="4265350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Budget Constraints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80457D-86CF-F3A8-521A-14D050C9C123}"/>
              </a:ext>
            </a:extLst>
          </p:cNvPr>
          <p:cNvSpPr txBox="1"/>
          <p:nvPr/>
        </p:nvSpPr>
        <p:spPr>
          <a:xfrm>
            <a:off x="-10479248" y="5620481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Technical Difficulties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7B4A98-7A2F-7928-FB3D-3A6B57B97847}"/>
              </a:ext>
            </a:extLst>
          </p:cNvPr>
          <p:cNvSpPr txBox="1"/>
          <p:nvPr/>
        </p:nvSpPr>
        <p:spPr>
          <a:xfrm>
            <a:off x="4531263" y="2995433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b="0" i="0" dirty="0">
                <a:effectLst/>
                <a:latin typeface="Bahnschrift" panose="020B0502040204020203" pitchFamily="34" charset="0"/>
              </a:rPr>
              <a:t>Issues such as venue availability, transportation, and catering can arise unexpectedly.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599EB5-10BB-58E6-18AD-7AC4A0D1C804}"/>
              </a:ext>
            </a:extLst>
          </p:cNvPr>
          <p:cNvSpPr txBox="1"/>
          <p:nvPr/>
        </p:nvSpPr>
        <p:spPr>
          <a:xfrm>
            <a:off x="4532400" y="4203795"/>
            <a:ext cx="753142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Financial limitations can impact the quality and scope of the event, requiring careful management and adjustments.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5DAE50-A4D7-A335-E9EB-7A18E6B4EFBB}"/>
              </a:ext>
            </a:extLst>
          </p:cNvPr>
          <p:cNvSpPr txBox="1"/>
          <p:nvPr/>
        </p:nvSpPr>
        <p:spPr>
          <a:xfrm>
            <a:off x="-7325169" y="5771825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Problems with audio-visual equipment or technology can disrupt the flow of the event.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536811C-22C7-A5F7-866A-72254EE8B4AB}"/>
              </a:ext>
            </a:extLst>
          </p:cNvPr>
          <p:cNvCxnSpPr>
            <a:cxnSpLocks/>
          </p:cNvCxnSpPr>
          <p:nvPr/>
        </p:nvCxnSpPr>
        <p:spPr>
          <a:xfrm>
            <a:off x="3684794" y="1358237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624F25-144F-0128-D0ED-EB4FF9C984EC}"/>
              </a:ext>
            </a:extLst>
          </p:cNvPr>
          <p:cNvCxnSpPr>
            <a:cxnSpLocks/>
          </p:cNvCxnSpPr>
          <p:nvPr/>
        </p:nvCxnSpPr>
        <p:spPr>
          <a:xfrm flipH="1">
            <a:off x="3685735" y="2014205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DC9651A-695A-7571-BEF6-C932AF8BF3B7}"/>
              </a:ext>
            </a:extLst>
          </p:cNvPr>
          <p:cNvCxnSpPr>
            <a:cxnSpLocks/>
          </p:cNvCxnSpPr>
          <p:nvPr/>
        </p:nvCxnSpPr>
        <p:spPr>
          <a:xfrm>
            <a:off x="3684794" y="2724685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7F55C4B-D68A-1122-CBDA-4B15DBEBC1A0}"/>
              </a:ext>
            </a:extLst>
          </p:cNvPr>
          <p:cNvCxnSpPr>
            <a:cxnSpLocks/>
          </p:cNvCxnSpPr>
          <p:nvPr/>
        </p:nvCxnSpPr>
        <p:spPr>
          <a:xfrm flipH="1">
            <a:off x="3685735" y="3380653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3B0076D-1546-45FE-3735-9744E3943B02}"/>
              </a:ext>
            </a:extLst>
          </p:cNvPr>
          <p:cNvCxnSpPr>
            <a:cxnSpLocks/>
          </p:cNvCxnSpPr>
          <p:nvPr/>
        </p:nvCxnSpPr>
        <p:spPr>
          <a:xfrm>
            <a:off x="3698240" y="4102194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3D3BEA9-E5AB-1C8F-9FC9-502B9F3395C5}"/>
              </a:ext>
            </a:extLst>
          </p:cNvPr>
          <p:cNvCxnSpPr>
            <a:cxnSpLocks/>
          </p:cNvCxnSpPr>
          <p:nvPr/>
        </p:nvCxnSpPr>
        <p:spPr>
          <a:xfrm flipH="1">
            <a:off x="3698240" y="4758162"/>
            <a:ext cx="565681" cy="666032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0653FA5-EDF3-6C57-D93F-D18D840E8046}"/>
              </a:ext>
            </a:extLst>
          </p:cNvPr>
          <p:cNvCxnSpPr>
            <a:cxnSpLocks/>
          </p:cNvCxnSpPr>
          <p:nvPr/>
        </p:nvCxnSpPr>
        <p:spPr>
          <a:xfrm>
            <a:off x="-8159329" y="5431337"/>
            <a:ext cx="565681" cy="677385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71218BF-2349-1DAD-9F13-FF7C2A436748}"/>
              </a:ext>
            </a:extLst>
          </p:cNvPr>
          <p:cNvCxnSpPr>
            <a:cxnSpLocks/>
          </p:cNvCxnSpPr>
          <p:nvPr/>
        </p:nvCxnSpPr>
        <p:spPr>
          <a:xfrm flipH="1">
            <a:off x="-8158388" y="6124610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Coins with solid fill">
            <a:extLst>
              <a:ext uri="{FF2B5EF4-FFF2-40B4-BE49-F238E27FC236}">
                <a16:creationId xmlns:a16="http://schemas.microsoft.com/office/drawing/2014/main" id="{5DA87F59-88C9-ABDB-7EA8-C0FA39F9B6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979" y="4303318"/>
            <a:ext cx="914400" cy="914400"/>
          </a:xfrm>
          <a:prstGeom prst="rect">
            <a:avLst/>
          </a:prstGeom>
        </p:spPr>
      </p:pic>
      <p:pic>
        <p:nvPicPr>
          <p:cNvPr id="93" name="Graphic 92" descr="Robot with solid fill">
            <a:extLst>
              <a:ext uri="{FF2B5EF4-FFF2-40B4-BE49-F238E27FC236}">
                <a16:creationId xmlns:a16="http://schemas.microsoft.com/office/drawing/2014/main" id="{5C98A4F0-ADFC-D788-7437-3593D2515B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1596024" y="56432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26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119BB-59F6-7193-D5C0-6EDE5E338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C363CB-64C7-D384-0754-92CBF423C389}"/>
              </a:ext>
            </a:extLst>
          </p:cNvPr>
          <p:cNvSpPr/>
          <p:nvPr/>
        </p:nvSpPr>
        <p:spPr>
          <a:xfrm>
            <a:off x="-13447" y="4132590"/>
            <a:ext cx="12218892" cy="12764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166F8E-5F47-4C08-057E-8FAE69FDC716}"/>
              </a:ext>
            </a:extLst>
          </p:cNvPr>
          <p:cNvSpPr/>
          <p:nvPr/>
        </p:nvSpPr>
        <p:spPr>
          <a:xfrm>
            <a:off x="-1" y="5446522"/>
            <a:ext cx="12192000" cy="13075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9D20E-6853-86E8-C40A-893C279B593E}"/>
              </a:ext>
            </a:extLst>
          </p:cNvPr>
          <p:cNvSpPr/>
          <p:nvPr/>
        </p:nvSpPr>
        <p:spPr>
          <a:xfrm>
            <a:off x="-1" y="2771027"/>
            <a:ext cx="12192000" cy="13120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C8DE9B-184E-B1AF-9162-2EA94D1D18FB}"/>
              </a:ext>
            </a:extLst>
          </p:cNvPr>
          <p:cNvSpPr/>
          <p:nvPr/>
        </p:nvSpPr>
        <p:spPr>
          <a:xfrm>
            <a:off x="1" y="1418057"/>
            <a:ext cx="12192000" cy="13164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lowchart: Manual Input 7">
            <a:extLst>
              <a:ext uri="{FF2B5EF4-FFF2-40B4-BE49-F238E27FC236}">
                <a16:creationId xmlns:a16="http://schemas.microsoft.com/office/drawing/2014/main" id="{A3CA27FC-FEF5-601C-1F80-0A912DC69017}"/>
              </a:ext>
            </a:extLst>
          </p:cNvPr>
          <p:cNvSpPr/>
          <p:nvPr/>
        </p:nvSpPr>
        <p:spPr>
          <a:xfrm rot="5400000" flipH="1" flipV="1">
            <a:off x="1201594" y="-46536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DB136-E186-91E7-0B49-0B7B762C9067}"/>
              </a:ext>
            </a:extLst>
          </p:cNvPr>
          <p:cNvSpPr txBox="1"/>
          <p:nvPr/>
        </p:nvSpPr>
        <p:spPr>
          <a:xfrm>
            <a:off x="2635485" y="444595"/>
            <a:ext cx="4951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COMMON ISSUES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5EE95F-0FD5-D9E8-755E-1403C454C2EE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C2058A-6796-A251-AB45-87B29759B7BF}"/>
              </a:ext>
            </a:extLst>
          </p:cNvPr>
          <p:cNvGrpSpPr/>
          <p:nvPr/>
        </p:nvGrpSpPr>
        <p:grpSpPr>
          <a:xfrm>
            <a:off x="128176" y="1472089"/>
            <a:ext cx="11935648" cy="1216521"/>
            <a:chOff x="430608" y="1607750"/>
            <a:chExt cx="12209539" cy="121652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938C7DE-6685-469F-0DFC-4D32228194C6}"/>
                </a:ext>
              </a:extLst>
            </p:cNvPr>
            <p:cNvSpPr/>
            <p:nvPr/>
          </p:nvSpPr>
          <p:spPr>
            <a:xfrm>
              <a:off x="430608" y="1632397"/>
              <a:ext cx="1209133" cy="11918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815228B-C536-DE05-5A0C-8E3706AB7557}"/>
                </a:ext>
              </a:extLst>
            </p:cNvPr>
            <p:cNvGrpSpPr/>
            <p:nvPr/>
          </p:nvGrpSpPr>
          <p:grpSpPr>
            <a:xfrm>
              <a:off x="1706968" y="1607750"/>
              <a:ext cx="10933179" cy="984885"/>
              <a:chOff x="1706968" y="1607750"/>
              <a:chExt cx="10933179" cy="98488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648DD1-63CE-53C2-FE33-494E622765F8}"/>
                  </a:ext>
                </a:extLst>
              </p:cNvPr>
              <p:cNvSpPr txBox="1"/>
              <p:nvPr/>
            </p:nvSpPr>
            <p:spPr>
              <a:xfrm>
                <a:off x="1706968" y="1607750"/>
                <a:ext cx="2806149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Time Management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0BFD7B2-977C-0121-6310-C612A3230704}"/>
                  </a:ext>
                </a:extLst>
              </p:cNvPr>
              <p:cNvSpPr txBox="1"/>
              <p:nvPr/>
            </p:nvSpPr>
            <p:spPr>
              <a:xfrm>
                <a:off x="4935897" y="1780534"/>
                <a:ext cx="7704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Bahnschrift" panose="020B0502040204020203" pitchFamily="34" charset="0"/>
                    <a:cs typeface="Arial" panose="020B0604020202020204" pitchFamily="34" charset="0"/>
                  </a:rPr>
                  <a:t>Tight schedules can lead to rushed decisions, increasing the likelihood of errors.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" panose="020B0502040204020203" pitchFamily="34" charset="0"/>
                  <a:ea typeface="Segoe UI" panose="020B0502040204020203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9" name="Graphic 18" descr="Clock with solid fill">
            <a:extLst>
              <a:ext uri="{FF2B5EF4-FFF2-40B4-BE49-F238E27FC236}">
                <a16:creationId xmlns:a16="http://schemas.microsoft.com/office/drawing/2014/main" id="{82185E81-26A8-93FC-9C6F-1D6FFC01F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979" y="1635473"/>
            <a:ext cx="914400" cy="91440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15DAAA8C-A503-3B4D-80CB-936F5A3C98A1}"/>
              </a:ext>
            </a:extLst>
          </p:cNvPr>
          <p:cNvSpPr/>
          <p:nvPr/>
        </p:nvSpPr>
        <p:spPr>
          <a:xfrm>
            <a:off x="128176" y="2832662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4521E80-82E8-255E-146F-2A07E0184C5C}"/>
              </a:ext>
            </a:extLst>
          </p:cNvPr>
          <p:cNvSpPr/>
          <p:nvPr/>
        </p:nvSpPr>
        <p:spPr>
          <a:xfrm>
            <a:off x="128175" y="4168588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A4857A5-011C-3749-A3CA-2A002C524F3F}"/>
              </a:ext>
            </a:extLst>
          </p:cNvPr>
          <p:cNvSpPr/>
          <p:nvPr/>
        </p:nvSpPr>
        <p:spPr>
          <a:xfrm>
            <a:off x="128175" y="5504514"/>
            <a:ext cx="1182009" cy="119187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0" name="Graphic 59" descr="Truck with solid fill">
            <a:extLst>
              <a:ext uri="{FF2B5EF4-FFF2-40B4-BE49-F238E27FC236}">
                <a16:creationId xmlns:a16="http://schemas.microsoft.com/office/drawing/2014/main" id="{BE703602-D373-0B28-4933-971D4E484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810" y="2967392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A4CDCC9B-BAFB-F209-B09B-C6D3406DB6DD}"/>
              </a:ext>
            </a:extLst>
          </p:cNvPr>
          <p:cNvSpPr txBox="1"/>
          <p:nvPr/>
        </p:nvSpPr>
        <p:spPr>
          <a:xfrm>
            <a:off x="1391767" y="2928502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Logistics Challenges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3C78F4-75BE-A8D5-B35B-5F2FF1FE4F00}"/>
              </a:ext>
            </a:extLst>
          </p:cNvPr>
          <p:cNvSpPr txBox="1"/>
          <p:nvPr/>
        </p:nvSpPr>
        <p:spPr>
          <a:xfrm>
            <a:off x="1369980" y="4265350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Budget Constraints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65B552-BE52-AD94-B3DB-6996C8CFD88A}"/>
              </a:ext>
            </a:extLst>
          </p:cNvPr>
          <p:cNvSpPr txBox="1"/>
          <p:nvPr/>
        </p:nvSpPr>
        <p:spPr>
          <a:xfrm>
            <a:off x="1378321" y="5620481"/>
            <a:ext cx="287215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Technical Difficulties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337C32-59E8-CD5A-20F5-F01FC0A99527}"/>
              </a:ext>
            </a:extLst>
          </p:cNvPr>
          <p:cNvSpPr txBox="1"/>
          <p:nvPr/>
        </p:nvSpPr>
        <p:spPr>
          <a:xfrm>
            <a:off x="4531263" y="2995433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b="0" i="0" dirty="0">
                <a:effectLst/>
                <a:latin typeface="Bahnschrift" panose="020B0502040204020203" pitchFamily="34" charset="0"/>
              </a:rPr>
              <a:t>Issues such as venue availability, transportation and catering can arise unexpectedly.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DBE457-655E-B13F-D9A3-32BD31991815}"/>
              </a:ext>
            </a:extLst>
          </p:cNvPr>
          <p:cNvSpPr txBox="1"/>
          <p:nvPr/>
        </p:nvSpPr>
        <p:spPr>
          <a:xfrm>
            <a:off x="4532400" y="4203795"/>
            <a:ext cx="753142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Financial limitations can impact the quality and scope of the event, requiring careful management and adjustments.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536713-617E-F5EF-6A1B-C5A09D8BB689}"/>
              </a:ext>
            </a:extLst>
          </p:cNvPr>
          <p:cNvSpPr txBox="1"/>
          <p:nvPr/>
        </p:nvSpPr>
        <p:spPr>
          <a:xfrm>
            <a:off x="4532400" y="5771825"/>
            <a:ext cx="75314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Problems with audio-visual equipment or technology can disrupt the flow of the event.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A002196-9BF4-48DE-8831-FD98102AB899}"/>
              </a:ext>
            </a:extLst>
          </p:cNvPr>
          <p:cNvCxnSpPr>
            <a:cxnSpLocks/>
          </p:cNvCxnSpPr>
          <p:nvPr/>
        </p:nvCxnSpPr>
        <p:spPr>
          <a:xfrm>
            <a:off x="3684794" y="1358237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13C32BE-A253-D737-04E5-05D92A60FCC3}"/>
              </a:ext>
            </a:extLst>
          </p:cNvPr>
          <p:cNvCxnSpPr>
            <a:cxnSpLocks/>
          </p:cNvCxnSpPr>
          <p:nvPr/>
        </p:nvCxnSpPr>
        <p:spPr>
          <a:xfrm flipH="1">
            <a:off x="3685735" y="2014205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B8F782D-AE26-69FD-AB39-3AF0862D269D}"/>
              </a:ext>
            </a:extLst>
          </p:cNvPr>
          <p:cNvCxnSpPr>
            <a:cxnSpLocks/>
          </p:cNvCxnSpPr>
          <p:nvPr/>
        </p:nvCxnSpPr>
        <p:spPr>
          <a:xfrm>
            <a:off x="3684794" y="2724685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CD827AE-ED4E-8AA0-4558-A6047CD8D33E}"/>
              </a:ext>
            </a:extLst>
          </p:cNvPr>
          <p:cNvCxnSpPr>
            <a:cxnSpLocks/>
          </p:cNvCxnSpPr>
          <p:nvPr/>
        </p:nvCxnSpPr>
        <p:spPr>
          <a:xfrm flipH="1">
            <a:off x="3685735" y="3380653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A0CF534-7906-5D2B-7C8C-CC642141E71A}"/>
              </a:ext>
            </a:extLst>
          </p:cNvPr>
          <p:cNvCxnSpPr>
            <a:cxnSpLocks/>
          </p:cNvCxnSpPr>
          <p:nvPr/>
        </p:nvCxnSpPr>
        <p:spPr>
          <a:xfrm>
            <a:off x="3698240" y="4102194"/>
            <a:ext cx="565681" cy="640080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7E56DD1-73EF-070A-BD73-193B29D0B55B}"/>
              </a:ext>
            </a:extLst>
          </p:cNvPr>
          <p:cNvCxnSpPr>
            <a:cxnSpLocks/>
          </p:cNvCxnSpPr>
          <p:nvPr/>
        </p:nvCxnSpPr>
        <p:spPr>
          <a:xfrm flipH="1">
            <a:off x="3698240" y="4758162"/>
            <a:ext cx="565681" cy="666032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49AA123-A074-E15A-807D-4AEA99175182}"/>
              </a:ext>
            </a:extLst>
          </p:cNvPr>
          <p:cNvCxnSpPr>
            <a:cxnSpLocks/>
          </p:cNvCxnSpPr>
          <p:nvPr/>
        </p:nvCxnSpPr>
        <p:spPr>
          <a:xfrm>
            <a:off x="3698240" y="5431337"/>
            <a:ext cx="565681" cy="677385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6248F6F-3CBC-0A83-F801-54DBB1AF022F}"/>
              </a:ext>
            </a:extLst>
          </p:cNvPr>
          <p:cNvCxnSpPr>
            <a:cxnSpLocks/>
          </p:cNvCxnSpPr>
          <p:nvPr/>
        </p:nvCxnSpPr>
        <p:spPr>
          <a:xfrm flipH="1">
            <a:off x="3699181" y="6124610"/>
            <a:ext cx="564740" cy="724988"/>
          </a:xfrm>
          <a:prstGeom prst="line">
            <a:avLst/>
          </a:prstGeom>
          <a:ln w="317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Coins with solid fill">
            <a:extLst>
              <a:ext uri="{FF2B5EF4-FFF2-40B4-BE49-F238E27FC236}">
                <a16:creationId xmlns:a16="http://schemas.microsoft.com/office/drawing/2014/main" id="{B578B5E2-8659-B1B5-00FB-2A475D9234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979" y="4303318"/>
            <a:ext cx="914400" cy="914400"/>
          </a:xfrm>
          <a:prstGeom prst="rect">
            <a:avLst/>
          </a:prstGeom>
        </p:spPr>
      </p:pic>
      <p:pic>
        <p:nvPicPr>
          <p:cNvPr id="93" name="Graphic 92" descr="Robot with solid fill">
            <a:extLst>
              <a:ext uri="{FF2B5EF4-FFF2-40B4-BE49-F238E27FC236}">
                <a16:creationId xmlns:a16="http://schemas.microsoft.com/office/drawing/2014/main" id="{A7237EBE-AA08-5DC5-760C-67474C227B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545" y="56432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45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1DCC-E7EF-8563-E00C-41EF3D1F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F19672A5-89F1-BE71-050B-4E7114020BF9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9AF07-D5D3-7C0D-A785-B32EA3EDF356}"/>
              </a:ext>
            </a:extLst>
          </p:cNvPr>
          <p:cNvSpPr txBox="1"/>
          <p:nvPr/>
        </p:nvSpPr>
        <p:spPr>
          <a:xfrm>
            <a:off x="2640474" y="443246"/>
            <a:ext cx="8613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PROBLEM-SOLVING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A13FE-326D-C28E-6DA2-3434E090FE57}"/>
              </a:ext>
            </a:extLst>
          </p:cNvPr>
          <p:cNvSpPr/>
          <p:nvPr/>
        </p:nvSpPr>
        <p:spPr>
          <a:xfrm>
            <a:off x="11199" y="1540585"/>
            <a:ext cx="3048000" cy="48741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2D8D4C-32E2-EC08-F6D3-01A57E56EF3F}"/>
              </a:ext>
            </a:extLst>
          </p:cNvPr>
          <p:cNvSpPr/>
          <p:nvPr/>
        </p:nvSpPr>
        <p:spPr>
          <a:xfrm>
            <a:off x="5144" y="1540585"/>
            <a:ext cx="3048000" cy="48741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7E876-6C24-34FC-7F6B-FED8546320FA}"/>
              </a:ext>
            </a:extLst>
          </p:cNvPr>
          <p:cNvSpPr/>
          <p:nvPr/>
        </p:nvSpPr>
        <p:spPr>
          <a:xfrm>
            <a:off x="11198" y="1540585"/>
            <a:ext cx="3048000" cy="48741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8AD23A6-20C9-B8EE-AFD2-17AF83BB0320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 descr="Lightbulb and gear with solid fill">
            <a:extLst>
              <a:ext uri="{FF2B5EF4-FFF2-40B4-BE49-F238E27FC236}">
                <a16:creationId xmlns:a16="http://schemas.microsoft.com/office/drawing/2014/main" id="{7884D701-E9CC-D770-742F-32B819A97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998" y="1802803"/>
            <a:ext cx="914400" cy="914400"/>
          </a:xfrm>
          <a:prstGeom prst="rect">
            <a:avLst/>
          </a:prstGeom>
        </p:spPr>
      </p:pic>
      <p:pic>
        <p:nvPicPr>
          <p:cNvPr id="41" name="Graphic 40" descr="Bullseye with solid fill">
            <a:extLst>
              <a:ext uri="{FF2B5EF4-FFF2-40B4-BE49-F238E27FC236}">
                <a16:creationId xmlns:a16="http://schemas.microsoft.com/office/drawing/2014/main" id="{2171C555-C99F-20C1-72F9-52782F9C77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825" y="1802803"/>
            <a:ext cx="914400" cy="914400"/>
          </a:xfrm>
          <a:prstGeom prst="rect">
            <a:avLst/>
          </a:prstGeom>
        </p:spPr>
      </p:pic>
      <p:pic>
        <p:nvPicPr>
          <p:cNvPr id="43" name="Graphic 42" descr="Head with gears with solid fill">
            <a:extLst>
              <a:ext uri="{FF2B5EF4-FFF2-40B4-BE49-F238E27FC236}">
                <a16:creationId xmlns:a16="http://schemas.microsoft.com/office/drawing/2014/main" id="{1EA0E1EF-576F-814C-E90C-FB9B1F19CF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0118" y="1798417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A4810AAC-A7A1-3152-1F7D-A99499AD35EB}"/>
              </a:ext>
            </a:extLst>
          </p:cNvPr>
          <p:cNvSpPr/>
          <p:nvPr/>
        </p:nvSpPr>
        <p:spPr>
          <a:xfrm>
            <a:off x="-11194" y="2891429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 Implement the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9708CC-FF4A-AFF8-AA04-97AD14A6A0A0}"/>
              </a:ext>
            </a:extLst>
          </p:cNvPr>
          <p:cNvSpPr/>
          <p:nvPr/>
        </p:nvSpPr>
        <p:spPr>
          <a:xfrm>
            <a:off x="27537" y="2922806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3. Select Best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BE4295-6C8A-C16C-AC16-9A367AED1946}"/>
              </a:ext>
            </a:extLst>
          </p:cNvPr>
          <p:cNvSpPr/>
          <p:nvPr/>
        </p:nvSpPr>
        <p:spPr>
          <a:xfrm>
            <a:off x="-37779" y="2893218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2. Generate Solutions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A4C74D8-9110-B766-8652-F1F03C02C505}"/>
              </a:ext>
            </a:extLst>
          </p:cNvPr>
          <p:cNvSpPr/>
          <p:nvPr/>
        </p:nvSpPr>
        <p:spPr>
          <a:xfrm>
            <a:off x="-728" y="4150345"/>
            <a:ext cx="30479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After selecting the most viable solution, it should be implemented promptly.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BE4AE66-98C2-720B-47D7-3BACBA19310B}"/>
              </a:ext>
            </a:extLst>
          </p:cNvPr>
          <p:cNvSpPr/>
          <p:nvPr/>
        </p:nvSpPr>
        <p:spPr>
          <a:xfrm>
            <a:off x="-11914" y="4150345"/>
            <a:ext cx="30479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Selecting the solution by assessing the pros and cons of each potential solution is crucial.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639518-BEB6-0F7E-308D-8262D2C786B6}"/>
              </a:ext>
            </a:extLst>
          </p:cNvPr>
          <p:cNvSpPr/>
          <p:nvPr/>
        </p:nvSpPr>
        <p:spPr>
          <a:xfrm>
            <a:off x="-8424" y="4150345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brainstorming sessions can generate a variety of potential solutions.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9BA0A-C552-FE0E-89C1-67917224BCF3}"/>
              </a:ext>
            </a:extLst>
          </p:cNvPr>
          <p:cNvSpPr/>
          <p:nvPr/>
        </p:nvSpPr>
        <p:spPr>
          <a:xfrm>
            <a:off x="0" y="1540585"/>
            <a:ext cx="3048000" cy="48741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F936-7C67-1CDA-2574-81F6E3E36E1B}"/>
              </a:ext>
            </a:extLst>
          </p:cNvPr>
          <p:cNvSpPr/>
          <p:nvPr/>
        </p:nvSpPr>
        <p:spPr>
          <a:xfrm>
            <a:off x="11198" y="2890391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1. Define the Problem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A5C118-0CCF-9A8A-9EE1-BE96CA877A59}"/>
              </a:ext>
            </a:extLst>
          </p:cNvPr>
          <p:cNvSpPr/>
          <p:nvPr/>
        </p:nvSpPr>
        <p:spPr>
          <a:xfrm>
            <a:off x="1" y="4150596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Clearly identifying the issue is the first step in effective problem-solving.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46" name="Graphic 45" descr="Microscope with solid fill">
            <a:extLst>
              <a:ext uri="{FF2B5EF4-FFF2-40B4-BE49-F238E27FC236}">
                <a16:creationId xmlns:a16="http://schemas.microsoft.com/office/drawing/2014/main" id="{C3DD4EE1-424C-9B58-F16F-EE1F0D594B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519" y="17953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51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115A-75DC-1895-6D16-7A471D4E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DAECA2-383D-FFBA-980C-08E77612562F}"/>
              </a:ext>
            </a:extLst>
          </p:cNvPr>
          <p:cNvSpPr/>
          <p:nvPr/>
        </p:nvSpPr>
        <p:spPr>
          <a:xfrm>
            <a:off x="3041945" y="1540585"/>
            <a:ext cx="3048000" cy="48741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3F4FF-020D-C234-40AE-C6C065CB2DD0}"/>
              </a:ext>
            </a:extLst>
          </p:cNvPr>
          <p:cNvSpPr/>
          <p:nvPr/>
        </p:nvSpPr>
        <p:spPr>
          <a:xfrm>
            <a:off x="3047999" y="1540585"/>
            <a:ext cx="3048000" cy="48741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8" name="Graphic 37" descr="Lightbulb and gear with solid fill">
            <a:extLst>
              <a:ext uri="{FF2B5EF4-FFF2-40B4-BE49-F238E27FC236}">
                <a16:creationId xmlns:a16="http://schemas.microsoft.com/office/drawing/2014/main" id="{73FB0B9F-3B2A-671E-7D0E-8722E4BB3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9" y="1802803"/>
            <a:ext cx="914400" cy="914400"/>
          </a:xfrm>
          <a:prstGeom prst="rect">
            <a:avLst/>
          </a:prstGeom>
        </p:spPr>
      </p:pic>
      <p:pic>
        <p:nvPicPr>
          <p:cNvPr id="41" name="Graphic 40" descr="Bullseye with solid fill">
            <a:extLst>
              <a:ext uri="{FF2B5EF4-FFF2-40B4-BE49-F238E27FC236}">
                <a16:creationId xmlns:a16="http://schemas.microsoft.com/office/drawing/2014/main" id="{794E70BC-C10D-FA7E-F61C-851E1646B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6626" y="1802803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559DD92-9003-2ABD-126E-E1AEAFB0D99C}"/>
              </a:ext>
            </a:extLst>
          </p:cNvPr>
          <p:cNvSpPr/>
          <p:nvPr/>
        </p:nvSpPr>
        <p:spPr>
          <a:xfrm>
            <a:off x="3025607" y="2891429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 Implement the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FEE38D-E521-D154-3126-5AD0A396FE32}"/>
              </a:ext>
            </a:extLst>
          </p:cNvPr>
          <p:cNvSpPr/>
          <p:nvPr/>
        </p:nvSpPr>
        <p:spPr>
          <a:xfrm>
            <a:off x="3064338" y="2922806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3. Select Best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A5327B-DD34-7CB7-4A05-A21464237654}"/>
              </a:ext>
            </a:extLst>
          </p:cNvPr>
          <p:cNvSpPr/>
          <p:nvPr/>
        </p:nvSpPr>
        <p:spPr>
          <a:xfrm>
            <a:off x="3036073" y="4150345"/>
            <a:ext cx="30479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After selecting the most viable solution, it should be implemented promptly.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CDFA4E-84FA-4E46-C887-42530F38C47D}"/>
              </a:ext>
            </a:extLst>
          </p:cNvPr>
          <p:cNvSpPr/>
          <p:nvPr/>
        </p:nvSpPr>
        <p:spPr>
          <a:xfrm>
            <a:off x="3024887" y="4150345"/>
            <a:ext cx="30479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Selecting the solution by assessing the pros and cons of each potential solution is crucial.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EA47AE92-5E02-F3A7-9679-41CB7D2D1723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56CFF-CCB8-6023-53FF-5E40225CDCD2}"/>
              </a:ext>
            </a:extLst>
          </p:cNvPr>
          <p:cNvSpPr txBox="1"/>
          <p:nvPr/>
        </p:nvSpPr>
        <p:spPr>
          <a:xfrm>
            <a:off x="2640474" y="443246"/>
            <a:ext cx="8613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PROBLEM-SOLVING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21846-4886-C22A-C801-7EE95047A516}"/>
              </a:ext>
            </a:extLst>
          </p:cNvPr>
          <p:cNvSpPr/>
          <p:nvPr/>
        </p:nvSpPr>
        <p:spPr>
          <a:xfrm>
            <a:off x="0" y="1540585"/>
            <a:ext cx="3048000" cy="48741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9BC19E-A2A8-35CC-EC73-3391A64DD7A2}"/>
              </a:ext>
            </a:extLst>
          </p:cNvPr>
          <p:cNvSpPr/>
          <p:nvPr/>
        </p:nvSpPr>
        <p:spPr>
          <a:xfrm>
            <a:off x="3048000" y="1540585"/>
            <a:ext cx="3048000" cy="48741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AAA3F-76E6-7C80-DC64-01857C352CED}"/>
              </a:ext>
            </a:extLst>
          </p:cNvPr>
          <p:cNvSpPr/>
          <p:nvPr/>
        </p:nvSpPr>
        <p:spPr>
          <a:xfrm>
            <a:off x="11198" y="2890391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1. Define the Problem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D39656-2D19-DA42-F277-F5E44329A1AC}"/>
              </a:ext>
            </a:extLst>
          </p:cNvPr>
          <p:cNvSpPr/>
          <p:nvPr/>
        </p:nvSpPr>
        <p:spPr>
          <a:xfrm>
            <a:off x="1" y="4150596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Clearly identifying the issue is the first step in effective problem-solving.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8DB48BD-9916-FFE9-9D7B-36613B8FE79E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Microscope with solid fill">
            <a:extLst>
              <a:ext uri="{FF2B5EF4-FFF2-40B4-BE49-F238E27FC236}">
                <a16:creationId xmlns:a16="http://schemas.microsoft.com/office/drawing/2014/main" id="{3FA730BA-E942-6647-0A7E-B944386B2B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6519" y="1795330"/>
            <a:ext cx="914400" cy="9144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3634DEF-C437-C026-F4FC-6CF6B395E0E4}"/>
              </a:ext>
            </a:extLst>
          </p:cNvPr>
          <p:cNvSpPr/>
          <p:nvPr/>
        </p:nvSpPr>
        <p:spPr>
          <a:xfrm>
            <a:off x="2999022" y="2893218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2. Generate Solutions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F17D47-42F6-E534-C4F5-F8E4225627BF}"/>
              </a:ext>
            </a:extLst>
          </p:cNvPr>
          <p:cNvSpPr/>
          <p:nvPr/>
        </p:nvSpPr>
        <p:spPr>
          <a:xfrm>
            <a:off x="3028377" y="4150345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brainstorming sessions can generate a variety of potential solutions.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43" name="Graphic 42" descr="Head with gears with solid fill">
            <a:extLst>
              <a:ext uri="{FF2B5EF4-FFF2-40B4-BE49-F238E27FC236}">
                <a16:creationId xmlns:a16="http://schemas.microsoft.com/office/drawing/2014/main" id="{EBD2A4E6-B096-5248-4FAC-829FB11929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36919" y="17984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50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9A0D0-5675-8E6D-8948-5C82BCFF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864589-FC74-D05D-F9FF-EF19CD327EA7}"/>
              </a:ext>
            </a:extLst>
          </p:cNvPr>
          <p:cNvSpPr/>
          <p:nvPr/>
        </p:nvSpPr>
        <p:spPr>
          <a:xfrm>
            <a:off x="6102054" y="1540585"/>
            <a:ext cx="3048000" cy="48741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8" name="Graphic 37" descr="Lightbulb and gear with solid fill">
            <a:extLst>
              <a:ext uri="{FF2B5EF4-FFF2-40B4-BE49-F238E27FC236}">
                <a16:creationId xmlns:a16="http://schemas.microsoft.com/office/drawing/2014/main" id="{F1323552-C712-7BB0-A41E-BA82514BA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8854" y="1802803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BEA172D-EE64-3208-EE65-E0B252A6D53A}"/>
              </a:ext>
            </a:extLst>
          </p:cNvPr>
          <p:cNvSpPr/>
          <p:nvPr/>
        </p:nvSpPr>
        <p:spPr>
          <a:xfrm>
            <a:off x="6079662" y="2891429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 Implement the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5DE82B-011F-0BF9-90BE-E33FCBD3C756}"/>
              </a:ext>
            </a:extLst>
          </p:cNvPr>
          <p:cNvSpPr/>
          <p:nvPr/>
        </p:nvSpPr>
        <p:spPr>
          <a:xfrm>
            <a:off x="6090128" y="4150345"/>
            <a:ext cx="30479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After selecting the most viable solution, it should be implemented promptly.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DAB5BCAC-8325-7252-4F8D-188B5916D261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3B822-2080-E010-D813-5D540DE9BD26}"/>
              </a:ext>
            </a:extLst>
          </p:cNvPr>
          <p:cNvSpPr txBox="1"/>
          <p:nvPr/>
        </p:nvSpPr>
        <p:spPr>
          <a:xfrm>
            <a:off x="2640474" y="443246"/>
            <a:ext cx="8613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PROBLEM-SOLVING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65419-0EA2-79B3-C2FF-D315D1236455}"/>
              </a:ext>
            </a:extLst>
          </p:cNvPr>
          <p:cNvSpPr/>
          <p:nvPr/>
        </p:nvSpPr>
        <p:spPr>
          <a:xfrm>
            <a:off x="0" y="1540585"/>
            <a:ext cx="3048000" cy="48741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83EA3-F352-47CB-A7AF-118F00D3298B}"/>
              </a:ext>
            </a:extLst>
          </p:cNvPr>
          <p:cNvSpPr/>
          <p:nvPr/>
        </p:nvSpPr>
        <p:spPr>
          <a:xfrm>
            <a:off x="3048000" y="1540585"/>
            <a:ext cx="3048000" cy="48741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DA2DB-ECCC-FC47-23C1-6969A83903FD}"/>
              </a:ext>
            </a:extLst>
          </p:cNvPr>
          <p:cNvSpPr/>
          <p:nvPr/>
        </p:nvSpPr>
        <p:spPr>
          <a:xfrm>
            <a:off x="6096000" y="1540585"/>
            <a:ext cx="3048000" cy="48741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F2779-7E59-D5E8-26E7-7DCDAB2BD045}"/>
              </a:ext>
            </a:extLst>
          </p:cNvPr>
          <p:cNvSpPr/>
          <p:nvPr/>
        </p:nvSpPr>
        <p:spPr>
          <a:xfrm>
            <a:off x="11198" y="2890391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1. Define the Problem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C5163F-3E2D-79C5-7136-320989B20C3B}"/>
              </a:ext>
            </a:extLst>
          </p:cNvPr>
          <p:cNvSpPr/>
          <p:nvPr/>
        </p:nvSpPr>
        <p:spPr>
          <a:xfrm>
            <a:off x="1" y="4150596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Clearly identifying the issue is the first step in effective problem-solving.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B86E34E-42BB-979B-3B91-89EFEA14801B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 descr="Bullseye with solid fill">
            <a:extLst>
              <a:ext uri="{FF2B5EF4-FFF2-40B4-BE49-F238E27FC236}">
                <a16:creationId xmlns:a16="http://schemas.microsoft.com/office/drawing/2014/main" id="{C41BB09B-25B2-052A-0C09-5283F29D8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0681" y="1802803"/>
            <a:ext cx="914400" cy="914400"/>
          </a:xfrm>
          <a:prstGeom prst="rect">
            <a:avLst/>
          </a:prstGeom>
        </p:spPr>
      </p:pic>
      <p:pic>
        <p:nvPicPr>
          <p:cNvPr id="43" name="Graphic 42" descr="Head with gears with solid fill">
            <a:extLst>
              <a:ext uri="{FF2B5EF4-FFF2-40B4-BE49-F238E27FC236}">
                <a16:creationId xmlns:a16="http://schemas.microsoft.com/office/drawing/2014/main" id="{1612BF36-1970-2800-5CCC-0F11B43FBB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6919" y="1798417"/>
            <a:ext cx="914400" cy="914400"/>
          </a:xfrm>
          <a:prstGeom prst="rect">
            <a:avLst/>
          </a:prstGeom>
        </p:spPr>
      </p:pic>
      <p:pic>
        <p:nvPicPr>
          <p:cNvPr id="46" name="Graphic 45" descr="Microscope with solid fill">
            <a:extLst>
              <a:ext uri="{FF2B5EF4-FFF2-40B4-BE49-F238E27FC236}">
                <a16:creationId xmlns:a16="http://schemas.microsoft.com/office/drawing/2014/main" id="{66F3E0C3-0A5F-8A0B-CA7E-D4065ACF41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519" y="1795330"/>
            <a:ext cx="914400" cy="9144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D22D0B5-2B55-B0F6-FDC3-9634D82B9FEC}"/>
              </a:ext>
            </a:extLst>
          </p:cNvPr>
          <p:cNvSpPr/>
          <p:nvPr/>
        </p:nvSpPr>
        <p:spPr>
          <a:xfrm>
            <a:off x="6118393" y="2922806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3. Select Best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9B7603-3868-3CFA-710E-7B38F48221F9}"/>
              </a:ext>
            </a:extLst>
          </p:cNvPr>
          <p:cNvSpPr/>
          <p:nvPr/>
        </p:nvSpPr>
        <p:spPr>
          <a:xfrm>
            <a:off x="2999022" y="2893218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2. Generate Solutions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584737-E478-CD9D-B16C-9136F31DDBE4}"/>
              </a:ext>
            </a:extLst>
          </p:cNvPr>
          <p:cNvSpPr/>
          <p:nvPr/>
        </p:nvSpPr>
        <p:spPr>
          <a:xfrm>
            <a:off x="6078942" y="4150345"/>
            <a:ext cx="30479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Selecting the solution by assessing the pros and cons of each potential solution is crucial.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2057C1-FD8B-4DC1-C69E-882FA124ADE4}"/>
              </a:ext>
            </a:extLst>
          </p:cNvPr>
          <p:cNvSpPr/>
          <p:nvPr/>
        </p:nvSpPr>
        <p:spPr>
          <a:xfrm>
            <a:off x="3028377" y="4150345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brainstorming sessions can generate a variety of potential solutions.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52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22914268-6636-40A6-BDA2-20A496049C63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8F321-6C56-4FD8-822E-A594AFAC1277}"/>
              </a:ext>
            </a:extLst>
          </p:cNvPr>
          <p:cNvSpPr txBox="1"/>
          <p:nvPr/>
        </p:nvSpPr>
        <p:spPr>
          <a:xfrm>
            <a:off x="2640474" y="443246"/>
            <a:ext cx="8613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PROBLEM-SOLVING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9CDBC-082A-4239-87B9-BEEDFE604149}"/>
              </a:ext>
            </a:extLst>
          </p:cNvPr>
          <p:cNvSpPr/>
          <p:nvPr/>
        </p:nvSpPr>
        <p:spPr>
          <a:xfrm>
            <a:off x="0" y="1540585"/>
            <a:ext cx="3048000" cy="48741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A4B3A-AB2A-483E-9E26-FB985E0EEB30}"/>
              </a:ext>
            </a:extLst>
          </p:cNvPr>
          <p:cNvSpPr/>
          <p:nvPr/>
        </p:nvSpPr>
        <p:spPr>
          <a:xfrm>
            <a:off x="3048000" y="1540585"/>
            <a:ext cx="3048000" cy="48741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5516D-060F-4775-B584-099B784EF7ED}"/>
              </a:ext>
            </a:extLst>
          </p:cNvPr>
          <p:cNvSpPr/>
          <p:nvPr/>
        </p:nvSpPr>
        <p:spPr>
          <a:xfrm>
            <a:off x="6096000" y="1540585"/>
            <a:ext cx="3048000" cy="48741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16241-D228-4679-BB81-8A21262E6913}"/>
              </a:ext>
            </a:extLst>
          </p:cNvPr>
          <p:cNvSpPr/>
          <p:nvPr/>
        </p:nvSpPr>
        <p:spPr>
          <a:xfrm>
            <a:off x="9144000" y="1540585"/>
            <a:ext cx="3048000" cy="48741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039BED-33C9-424B-A997-BD36947E5406}"/>
              </a:ext>
            </a:extLst>
          </p:cNvPr>
          <p:cNvSpPr/>
          <p:nvPr/>
        </p:nvSpPr>
        <p:spPr>
          <a:xfrm>
            <a:off x="11198" y="2890391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1. Define the Problem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AA5FFD-8761-45A3-876D-16EF7AFD74C8}"/>
              </a:ext>
            </a:extLst>
          </p:cNvPr>
          <p:cNvSpPr/>
          <p:nvPr/>
        </p:nvSpPr>
        <p:spPr>
          <a:xfrm>
            <a:off x="1" y="4150596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Clearly identifying the issue is the first step in effective problem-solving.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CF5E9C-0988-4968-8CCB-D63A8BD398E4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37" descr="Lightbulb and gear with solid fill">
            <a:extLst>
              <a:ext uri="{FF2B5EF4-FFF2-40B4-BE49-F238E27FC236}">
                <a16:creationId xmlns:a16="http://schemas.microsoft.com/office/drawing/2014/main" id="{84F52BD7-CF8B-D1B4-0AC2-0B02F28FE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0800" y="1802803"/>
            <a:ext cx="914400" cy="914400"/>
          </a:xfrm>
          <a:prstGeom prst="rect">
            <a:avLst/>
          </a:prstGeom>
        </p:spPr>
      </p:pic>
      <p:pic>
        <p:nvPicPr>
          <p:cNvPr id="41" name="Graphic 40" descr="Bullseye with solid fill">
            <a:extLst>
              <a:ext uri="{FF2B5EF4-FFF2-40B4-BE49-F238E27FC236}">
                <a16:creationId xmlns:a16="http://schemas.microsoft.com/office/drawing/2014/main" id="{0A2ACC3B-5F7A-A31C-1218-A80D74660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0681" y="1802803"/>
            <a:ext cx="914400" cy="914400"/>
          </a:xfrm>
          <a:prstGeom prst="rect">
            <a:avLst/>
          </a:prstGeom>
        </p:spPr>
      </p:pic>
      <p:pic>
        <p:nvPicPr>
          <p:cNvPr id="43" name="Graphic 42" descr="Head with gears with solid fill">
            <a:extLst>
              <a:ext uri="{FF2B5EF4-FFF2-40B4-BE49-F238E27FC236}">
                <a16:creationId xmlns:a16="http://schemas.microsoft.com/office/drawing/2014/main" id="{879BB466-872D-70A7-3B4C-3034DD3FAE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6919" y="1798417"/>
            <a:ext cx="914400" cy="914400"/>
          </a:xfrm>
          <a:prstGeom prst="rect">
            <a:avLst/>
          </a:prstGeom>
        </p:spPr>
      </p:pic>
      <p:pic>
        <p:nvPicPr>
          <p:cNvPr id="46" name="Graphic 45" descr="Microscope with solid fill">
            <a:extLst>
              <a:ext uri="{FF2B5EF4-FFF2-40B4-BE49-F238E27FC236}">
                <a16:creationId xmlns:a16="http://schemas.microsoft.com/office/drawing/2014/main" id="{BC5C1496-2B30-1AF2-B424-09A6A30AF0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519" y="1795330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AE0A820A-E6BC-5765-99D5-4A13344EE648}"/>
              </a:ext>
            </a:extLst>
          </p:cNvPr>
          <p:cNvSpPr/>
          <p:nvPr/>
        </p:nvSpPr>
        <p:spPr>
          <a:xfrm>
            <a:off x="9121608" y="2891429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 Implement the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E102C11-DADE-B770-DD38-4FFEB66862BE}"/>
              </a:ext>
            </a:extLst>
          </p:cNvPr>
          <p:cNvSpPr/>
          <p:nvPr/>
        </p:nvSpPr>
        <p:spPr>
          <a:xfrm>
            <a:off x="6118393" y="2922806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3. Select Best Solution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AE86D2-0752-212A-BAA3-35F0CA0598E9}"/>
              </a:ext>
            </a:extLst>
          </p:cNvPr>
          <p:cNvSpPr/>
          <p:nvPr/>
        </p:nvSpPr>
        <p:spPr>
          <a:xfrm>
            <a:off x="2999022" y="2893218"/>
            <a:ext cx="3047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2. Generate Solutions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6ED173-0DEE-CCAF-818A-4476293979E8}"/>
              </a:ext>
            </a:extLst>
          </p:cNvPr>
          <p:cNvSpPr/>
          <p:nvPr/>
        </p:nvSpPr>
        <p:spPr>
          <a:xfrm>
            <a:off x="9132074" y="4150345"/>
            <a:ext cx="30479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After selecting the most viable solution, it should be implemented promptly.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D99D25-832C-90D9-7F12-2BD3C074F3A7}"/>
              </a:ext>
            </a:extLst>
          </p:cNvPr>
          <p:cNvSpPr/>
          <p:nvPr/>
        </p:nvSpPr>
        <p:spPr>
          <a:xfrm>
            <a:off x="6078942" y="4150345"/>
            <a:ext cx="30479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Selecting the solution by assessing the pros and cons of each potential solution is crucial.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B20D2A-1A96-0962-400E-4E2DAA29D134}"/>
              </a:ext>
            </a:extLst>
          </p:cNvPr>
          <p:cNvSpPr/>
          <p:nvPr/>
        </p:nvSpPr>
        <p:spPr>
          <a:xfrm>
            <a:off x="3028377" y="4150345"/>
            <a:ext cx="3047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Bahnschrift SemiBold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brainstorming sessions can generate a variety of potential solutions.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10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11173A8B-84BB-E82B-EB39-A005E36A22D3}"/>
              </a:ext>
            </a:extLst>
          </p:cNvPr>
          <p:cNvSpPr/>
          <p:nvPr/>
        </p:nvSpPr>
        <p:spPr>
          <a:xfrm>
            <a:off x="313899" y="1259234"/>
            <a:ext cx="11600597" cy="5436871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FC54BF-80E6-48EF-B5C6-2F6A35EC496C}"/>
              </a:ext>
            </a:extLst>
          </p:cNvPr>
          <p:cNvSpPr txBox="1"/>
          <p:nvPr/>
        </p:nvSpPr>
        <p:spPr>
          <a:xfrm>
            <a:off x="1430352" y="3231676"/>
            <a:ext cx="4301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Research and analyze</a:t>
            </a:r>
            <a:endParaRPr lang="en-US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92AB00-47B2-419C-838A-1A35AE06CB5D}"/>
              </a:ext>
            </a:extLst>
          </p:cNvPr>
          <p:cNvSpPr txBox="1"/>
          <p:nvPr/>
        </p:nvSpPr>
        <p:spPr>
          <a:xfrm>
            <a:off x="1430352" y="4631414"/>
            <a:ext cx="4301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 action Plans</a:t>
            </a:r>
            <a:endParaRPr lang="en-US" sz="3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014DEB-8AD0-48F6-9CB6-F4EED2ACFD2A}"/>
              </a:ext>
            </a:extLst>
          </p:cNvPr>
          <p:cNvSpPr txBox="1"/>
          <p:nvPr/>
        </p:nvSpPr>
        <p:spPr>
          <a:xfrm>
            <a:off x="6929767" y="3742791"/>
            <a:ext cx="3121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Evaluation and adjustments</a:t>
            </a:r>
            <a:endParaRPr lang="en-US" sz="3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821454-2273-42A4-9E60-12992D914B1C}"/>
              </a:ext>
            </a:extLst>
          </p:cNvPr>
          <p:cNvSpPr txBox="1"/>
          <p:nvPr/>
        </p:nvSpPr>
        <p:spPr>
          <a:xfrm>
            <a:off x="6850246" y="1967509"/>
            <a:ext cx="331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Implementation</a:t>
            </a:r>
            <a:endParaRPr lang="en-US" sz="3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4BDC28-8312-4548-9C0B-E365B436D9A7}"/>
              </a:ext>
            </a:extLst>
          </p:cNvPr>
          <p:cNvSpPr txBox="1"/>
          <p:nvPr/>
        </p:nvSpPr>
        <p:spPr>
          <a:xfrm>
            <a:off x="707315" y="3250385"/>
            <a:ext cx="723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02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CF01B8-086D-4AA8-828E-F91694BB76FD}"/>
              </a:ext>
            </a:extLst>
          </p:cNvPr>
          <p:cNvSpPr/>
          <p:nvPr/>
        </p:nvSpPr>
        <p:spPr>
          <a:xfrm>
            <a:off x="880372" y="1914135"/>
            <a:ext cx="52476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Clearly define the strategic goals and objectives that the organization aims to achieve.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5B8237-6154-49DE-891F-FDDDE9A46381}"/>
              </a:ext>
            </a:extLst>
          </p:cNvPr>
          <p:cNvSpPr txBox="1"/>
          <p:nvPr/>
        </p:nvSpPr>
        <p:spPr>
          <a:xfrm>
            <a:off x="1461797" y="1407956"/>
            <a:ext cx="427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Objectives</a:t>
            </a:r>
            <a:endParaRPr lang="en-US" sz="3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FCCF0-923D-42B8-9A31-7318C6CE7813}"/>
              </a:ext>
            </a:extLst>
          </p:cNvPr>
          <p:cNvSpPr txBox="1"/>
          <p:nvPr/>
        </p:nvSpPr>
        <p:spPr>
          <a:xfrm>
            <a:off x="707315" y="1408898"/>
            <a:ext cx="723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01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277B2F-DF5A-49EF-95CD-C14610F6A960}"/>
              </a:ext>
            </a:extLst>
          </p:cNvPr>
          <p:cNvSpPr txBox="1"/>
          <p:nvPr/>
        </p:nvSpPr>
        <p:spPr>
          <a:xfrm>
            <a:off x="707315" y="4664328"/>
            <a:ext cx="723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03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7F1A2A-7137-48B8-B3E5-605942C4612D}"/>
              </a:ext>
            </a:extLst>
          </p:cNvPr>
          <p:cNvSpPr txBox="1"/>
          <p:nvPr/>
        </p:nvSpPr>
        <p:spPr>
          <a:xfrm>
            <a:off x="6190915" y="3772703"/>
            <a:ext cx="659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rgbClr val="FFC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05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04C0C0-6B15-4EC1-9969-FDC50705BE91}"/>
              </a:ext>
            </a:extLst>
          </p:cNvPr>
          <p:cNvSpPr txBox="1"/>
          <p:nvPr/>
        </p:nvSpPr>
        <p:spPr>
          <a:xfrm>
            <a:off x="6159470" y="1967509"/>
            <a:ext cx="659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rgbClr val="FFC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04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42" name="Flowchart: Manual Input 7">
            <a:extLst>
              <a:ext uri="{FF2B5EF4-FFF2-40B4-BE49-F238E27FC236}">
                <a16:creationId xmlns:a16="http://schemas.microsoft.com/office/drawing/2014/main" id="{C389801C-07B1-47DD-BA6A-0B5E1B604727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28D2C9-2F65-4662-82B6-09E459731C27}"/>
              </a:ext>
            </a:extLst>
          </p:cNvPr>
          <p:cNvSpPr txBox="1"/>
          <p:nvPr/>
        </p:nvSpPr>
        <p:spPr>
          <a:xfrm>
            <a:off x="2640474" y="443246"/>
            <a:ext cx="11403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FIVE-STEP CRITICAL THINKING PROCESS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BB5BA6-50F9-44ED-8E57-687709F8C91D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66C03D6-6E8F-08C9-2046-F11B43CF933F}"/>
              </a:ext>
            </a:extLst>
          </p:cNvPr>
          <p:cNvSpPr/>
          <p:nvPr/>
        </p:nvSpPr>
        <p:spPr>
          <a:xfrm>
            <a:off x="880372" y="3742475"/>
            <a:ext cx="52476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gather relevant data about the objectives and potential challenges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1C84AB-2F42-D73E-4547-87F8309421CF}"/>
              </a:ext>
            </a:extLst>
          </p:cNvPr>
          <p:cNvSpPr/>
          <p:nvPr/>
        </p:nvSpPr>
        <p:spPr>
          <a:xfrm>
            <a:off x="880371" y="5151679"/>
            <a:ext cx="52476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Corbel" panose="020B0503020204020204" pitchFamily="34" charset="0"/>
              </a:rPr>
              <a:t>Break down objectives into actionable steps. 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orbel" panose="020B0503020204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7DFBB7-A99E-81D8-DD9A-B7901EDF4246}"/>
              </a:ext>
            </a:extLst>
          </p:cNvPr>
          <p:cNvCxnSpPr/>
          <p:nvPr/>
        </p:nvCxnSpPr>
        <p:spPr>
          <a:xfrm>
            <a:off x="6096000" y="1407955"/>
            <a:ext cx="0" cy="470225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427076E-10EC-B2A5-0D46-64C50756A60F}"/>
              </a:ext>
            </a:extLst>
          </p:cNvPr>
          <p:cNvSpPr/>
          <p:nvPr/>
        </p:nvSpPr>
        <p:spPr>
          <a:xfrm>
            <a:off x="6489135" y="2500523"/>
            <a:ext cx="52476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Execute the action plans while continuously monitoring progress.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AFF90D-A514-B0E1-1230-7ED02DA49760}"/>
              </a:ext>
            </a:extLst>
          </p:cNvPr>
          <p:cNvSpPr/>
          <p:nvPr/>
        </p:nvSpPr>
        <p:spPr>
          <a:xfrm>
            <a:off x="6489135" y="4736180"/>
            <a:ext cx="52476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evaluate the outcomes against the set objectives. identify gaps and make necessary adjustments to the strategy or execution plan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28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9027244D-A52F-45F9-B979-23C5A3BAAD23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BFD39-BC3E-4B9D-AE7D-B93EB62EB22E}"/>
              </a:ext>
            </a:extLst>
          </p:cNvPr>
          <p:cNvSpPr txBox="1"/>
          <p:nvPr/>
        </p:nvSpPr>
        <p:spPr>
          <a:xfrm>
            <a:off x="2640474" y="443246"/>
            <a:ext cx="93968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PROBLEM SOLVING TECHNIQUES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44E81E-0428-4A6B-A5C1-385AC2E03D94}"/>
              </a:ext>
            </a:extLst>
          </p:cNvPr>
          <p:cNvSpPr/>
          <p:nvPr/>
        </p:nvSpPr>
        <p:spPr>
          <a:xfrm>
            <a:off x="1" y="3083995"/>
            <a:ext cx="12192000" cy="5092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309547-1EE0-4713-80BC-3F3FBD34C452}"/>
              </a:ext>
            </a:extLst>
          </p:cNvPr>
          <p:cNvSpPr/>
          <p:nvPr/>
        </p:nvSpPr>
        <p:spPr>
          <a:xfrm>
            <a:off x="1272545" y="1991319"/>
            <a:ext cx="2641144" cy="26411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F20314-EB9A-4DBB-B781-73810566022A}"/>
              </a:ext>
            </a:extLst>
          </p:cNvPr>
          <p:cNvSpPr/>
          <p:nvPr/>
        </p:nvSpPr>
        <p:spPr>
          <a:xfrm>
            <a:off x="7988617" y="1991319"/>
            <a:ext cx="2639933" cy="264114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388729-B258-45D6-BD38-51D24E7BCDFE}"/>
              </a:ext>
            </a:extLst>
          </p:cNvPr>
          <p:cNvSpPr/>
          <p:nvPr/>
        </p:nvSpPr>
        <p:spPr>
          <a:xfrm>
            <a:off x="5809509" y="1991319"/>
            <a:ext cx="2641145" cy="2641145"/>
          </a:xfrm>
          <a:prstGeom prst="ellipse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31C776-488B-476C-BF39-1CE2CD337C28}"/>
              </a:ext>
            </a:extLst>
          </p:cNvPr>
          <p:cNvSpPr/>
          <p:nvPr/>
        </p:nvSpPr>
        <p:spPr>
          <a:xfrm>
            <a:off x="3451651" y="1991319"/>
            <a:ext cx="2641145" cy="264114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7479E-7BAA-49D5-9583-8099C3BCC41D}"/>
              </a:ext>
            </a:extLst>
          </p:cNvPr>
          <p:cNvSpPr/>
          <p:nvPr/>
        </p:nvSpPr>
        <p:spPr>
          <a:xfrm>
            <a:off x="1931532" y="3476453"/>
            <a:ext cx="1317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5 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WHYs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587F10-0CE7-49CF-B40A-8959778FCE1E}"/>
              </a:ext>
            </a:extLst>
          </p:cNvPr>
          <p:cNvSpPr/>
          <p:nvPr/>
        </p:nvSpPr>
        <p:spPr>
          <a:xfrm>
            <a:off x="3922630" y="3468082"/>
            <a:ext cx="1542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CATWOE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446658-2194-4386-BBC5-17A2A13960C5}"/>
              </a:ext>
            </a:extLst>
          </p:cNvPr>
          <p:cNvSpPr/>
          <p:nvPr/>
        </p:nvSpPr>
        <p:spPr>
          <a:xfrm>
            <a:off x="5809509" y="3333477"/>
            <a:ext cx="26399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FISHBONE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DIAGRAM</a:t>
            </a:r>
          </a:p>
          <a:p>
            <a:pPr algn="ctr"/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B24A1E-9653-43EB-9A11-9425620384A9}"/>
              </a:ext>
            </a:extLst>
          </p:cNvPr>
          <p:cNvSpPr/>
          <p:nvPr/>
        </p:nvSpPr>
        <p:spPr>
          <a:xfrm>
            <a:off x="8173684" y="3403556"/>
            <a:ext cx="2269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SWOT</a:t>
            </a:r>
            <a:endParaRPr lang="en-US" sz="24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47EB28A-E326-4DA4-BB5C-4E7B6E02AC82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Question mark with solid fill">
            <a:extLst>
              <a:ext uri="{FF2B5EF4-FFF2-40B4-BE49-F238E27FC236}">
                <a16:creationId xmlns:a16="http://schemas.microsoft.com/office/drawing/2014/main" id="{485EB1B5-68A2-5DC1-29A5-6C7E7A93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0118" y="2435636"/>
            <a:ext cx="1194855" cy="1194855"/>
          </a:xfrm>
          <a:prstGeom prst="rect">
            <a:avLst/>
          </a:prstGeom>
        </p:spPr>
      </p:pic>
      <p:pic>
        <p:nvPicPr>
          <p:cNvPr id="41" name="Graphic 40" descr="Fish with solid fill">
            <a:extLst>
              <a:ext uri="{FF2B5EF4-FFF2-40B4-BE49-F238E27FC236}">
                <a16:creationId xmlns:a16="http://schemas.microsoft.com/office/drawing/2014/main" id="{7AA4AA14-C1D5-C325-C79A-84F26F4D4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209" y="2203717"/>
            <a:ext cx="1430504" cy="1430504"/>
          </a:xfrm>
          <a:prstGeom prst="rect">
            <a:avLst/>
          </a:prstGeom>
        </p:spPr>
      </p:pic>
      <p:pic>
        <p:nvPicPr>
          <p:cNvPr id="45" name="Graphic 44" descr="Eye with solid fill">
            <a:extLst>
              <a:ext uri="{FF2B5EF4-FFF2-40B4-BE49-F238E27FC236}">
                <a16:creationId xmlns:a16="http://schemas.microsoft.com/office/drawing/2014/main" id="{29043B45-87E8-8014-094B-B4438F592A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30997" y="2348037"/>
            <a:ext cx="1282454" cy="1282454"/>
          </a:xfrm>
          <a:prstGeom prst="rect">
            <a:avLst/>
          </a:prstGeom>
        </p:spPr>
      </p:pic>
      <p:pic>
        <p:nvPicPr>
          <p:cNvPr id="49" name="Graphic 48" descr="Warning with solid fill">
            <a:extLst>
              <a:ext uri="{FF2B5EF4-FFF2-40B4-BE49-F238E27FC236}">
                <a16:creationId xmlns:a16="http://schemas.microsoft.com/office/drawing/2014/main" id="{5E2B3B29-97BE-E0AE-D8CC-8C3E56861B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7315" y="2356029"/>
            <a:ext cx="1082536" cy="10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71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C0C1446A-8513-434A-85CE-45599039C8BC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A3870-5DB7-4F30-B5AE-39DDAC162C15}"/>
              </a:ext>
            </a:extLst>
          </p:cNvPr>
          <p:cNvSpPr txBox="1"/>
          <p:nvPr/>
        </p:nvSpPr>
        <p:spPr>
          <a:xfrm>
            <a:off x="2640473" y="443246"/>
            <a:ext cx="4682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5 WHYs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764D02-2E56-4D02-A52B-5193572A68A7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D5B7E45D-EC84-5FF4-5E80-EBAA089A8886}"/>
              </a:ext>
            </a:extLst>
          </p:cNvPr>
          <p:cNvSpPr/>
          <p:nvPr/>
        </p:nvSpPr>
        <p:spPr>
          <a:xfrm>
            <a:off x="327546" y="3132006"/>
            <a:ext cx="7124133" cy="36475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701D4-5B11-0BC2-1074-BBBDB16560BE}"/>
              </a:ext>
            </a:extLst>
          </p:cNvPr>
          <p:cNvSpPr txBox="1"/>
          <p:nvPr/>
        </p:nvSpPr>
        <p:spPr>
          <a:xfrm>
            <a:off x="761999" y="1421434"/>
            <a:ext cx="87756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5 Whys technique involves asking "why" multiple times to find the root cause of a problem.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62044-F51D-4C8A-17CD-D49C9A340174}"/>
              </a:ext>
            </a:extLst>
          </p:cNvPr>
          <p:cNvSpPr txBox="1"/>
          <p:nvPr/>
        </p:nvSpPr>
        <p:spPr>
          <a:xfrm>
            <a:off x="327544" y="2502486"/>
            <a:ext cx="549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Eg: </a:t>
            </a:r>
            <a:r>
              <a:rPr lang="en-GB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attendance is lower than expected.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4986BD-FD59-25B4-4271-C27B3F57F545}"/>
              </a:ext>
            </a:extLst>
          </p:cNvPr>
          <p:cNvSpPr txBox="1"/>
          <p:nvPr/>
        </p:nvSpPr>
        <p:spPr>
          <a:xfrm>
            <a:off x="838200" y="3048580"/>
            <a:ext cx="67249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1.Why were attendance numbers low?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	</a:t>
            </a:r>
            <a:r>
              <a:rPr lang="en-GB" sz="2400" dirty="0">
                <a:solidFill>
                  <a:schemeClr val="bg1"/>
                </a:solidFill>
                <a:latin typeface="+mj-lt"/>
              </a:rPr>
              <a:t>M</a:t>
            </a:r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any invitations were not sent out.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2.Why were invitations not sent?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	</a:t>
            </a:r>
            <a:r>
              <a:rPr lang="en-GB" sz="2400" dirty="0">
                <a:solidFill>
                  <a:schemeClr val="bg1"/>
                </a:solidFill>
                <a:latin typeface="+mj-lt"/>
              </a:rPr>
              <a:t>T</a:t>
            </a:r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he mailing list was incomplete.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3.Why was the mailing list incomplete?</a:t>
            </a:r>
          </a:p>
          <a:p>
            <a:pPr algn="l"/>
            <a:r>
              <a:rPr lang="en-GB" sz="2400" dirty="0">
                <a:solidFill>
                  <a:schemeClr val="bg1"/>
                </a:solidFill>
                <a:latin typeface="+mj-lt"/>
              </a:rPr>
              <a:t>	I</a:t>
            </a:r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t was not updated.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4.Why was it not updated?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	</a:t>
            </a:r>
            <a:r>
              <a:rPr lang="en-GB" sz="2400" dirty="0">
                <a:solidFill>
                  <a:schemeClr val="bg1"/>
                </a:solidFill>
                <a:latin typeface="+mj-lt"/>
              </a:rPr>
              <a:t>T</a:t>
            </a:r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here was no process for regular updates.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5.Why is there no process?</a:t>
            </a:r>
          </a:p>
          <a:p>
            <a:pPr algn="l"/>
            <a:r>
              <a:rPr lang="en-GB" sz="2400" b="0" i="0" dirty="0">
                <a:solidFill>
                  <a:schemeClr val="bg1"/>
                </a:solidFill>
                <a:effectLst/>
                <a:latin typeface="+mj-lt"/>
              </a:rPr>
              <a:t>	It was not prioritized.</a:t>
            </a:r>
          </a:p>
          <a:p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3FB61C-B981-470E-86D1-B0F380FD4F8C}"/>
              </a:ext>
            </a:extLst>
          </p:cNvPr>
          <p:cNvSpPr txBox="1"/>
          <p:nvPr/>
        </p:nvSpPr>
        <p:spPr>
          <a:xfrm>
            <a:off x="8961167" y="4236237"/>
            <a:ext cx="3179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Root cause: Invitation process was not prioritized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E77FC0D-E6F2-E52F-6074-B53C46D17CB0}"/>
              </a:ext>
            </a:extLst>
          </p:cNvPr>
          <p:cNvCxnSpPr>
            <a:cxnSpLocks/>
          </p:cNvCxnSpPr>
          <p:nvPr/>
        </p:nvCxnSpPr>
        <p:spPr>
          <a:xfrm>
            <a:off x="327546" y="3853189"/>
            <a:ext cx="7124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601FB8F-EA31-6697-0944-CF19C1F0586B}"/>
              </a:ext>
            </a:extLst>
          </p:cNvPr>
          <p:cNvCxnSpPr>
            <a:cxnSpLocks/>
          </p:cNvCxnSpPr>
          <p:nvPr/>
        </p:nvCxnSpPr>
        <p:spPr>
          <a:xfrm>
            <a:off x="327545" y="4606091"/>
            <a:ext cx="7124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622A0E4-0747-45A9-843D-30E36C3FF9E1}"/>
              </a:ext>
            </a:extLst>
          </p:cNvPr>
          <p:cNvCxnSpPr>
            <a:cxnSpLocks/>
          </p:cNvCxnSpPr>
          <p:nvPr/>
        </p:nvCxnSpPr>
        <p:spPr>
          <a:xfrm>
            <a:off x="327545" y="5304401"/>
            <a:ext cx="7124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B087680-20F9-7944-9552-877B67DE365C}"/>
              </a:ext>
            </a:extLst>
          </p:cNvPr>
          <p:cNvCxnSpPr>
            <a:cxnSpLocks/>
          </p:cNvCxnSpPr>
          <p:nvPr/>
        </p:nvCxnSpPr>
        <p:spPr>
          <a:xfrm>
            <a:off x="327544" y="6043655"/>
            <a:ext cx="7124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row: Striped Right 74">
            <a:extLst>
              <a:ext uri="{FF2B5EF4-FFF2-40B4-BE49-F238E27FC236}">
                <a16:creationId xmlns:a16="http://schemas.microsoft.com/office/drawing/2014/main" id="{1B9A041B-7AF0-EF96-9C25-5C90C624A880}"/>
              </a:ext>
            </a:extLst>
          </p:cNvPr>
          <p:cNvSpPr/>
          <p:nvPr/>
        </p:nvSpPr>
        <p:spPr>
          <a:xfrm>
            <a:off x="7563158" y="3345878"/>
            <a:ext cx="1286530" cy="3091030"/>
          </a:xfrm>
          <a:prstGeom prst="stripedRightArrow">
            <a:avLst>
              <a:gd name="adj1" fmla="val 50000"/>
              <a:gd name="adj2" fmla="val 7227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2A91C00F-95E2-80CA-E11B-A864D820C9B1}"/>
              </a:ext>
            </a:extLst>
          </p:cNvPr>
          <p:cNvSpPr/>
          <p:nvPr/>
        </p:nvSpPr>
        <p:spPr>
          <a:xfrm>
            <a:off x="-11002070" y="3659318"/>
            <a:ext cx="595845" cy="427886"/>
          </a:xfrm>
          <a:prstGeom prst="hexag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4CA4EBD3-1BFD-165E-9EE6-88EDED694DAD}"/>
              </a:ext>
            </a:extLst>
          </p:cNvPr>
          <p:cNvSpPr/>
          <p:nvPr/>
        </p:nvSpPr>
        <p:spPr>
          <a:xfrm>
            <a:off x="-11034020" y="3659317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A</a:t>
            </a:r>
            <a:endParaRPr lang="en-US" sz="2400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995E089-4D8D-0B6D-9569-1BF00CBB1B71}"/>
              </a:ext>
            </a:extLst>
          </p:cNvPr>
          <p:cNvSpPr/>
          <p:nvPr/>
        </p:nvSpPr>
        <p:spPr>
          <a:xfrm>
            <a:off x="-11002071" y="4858110"/>
            <a:ext cx="595845" cy="427886"/>
          </a:xfrm>
          <a:prstGeom prst="hexag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C8DF2B91-226E-8141-E2F7-FA71BC96C37E}"/>
              </a:ext>
            </a:extLst>
          </p:cNvPr>
          <p:cNvSpPr/>
          <p:nvPr/>
        </p:nvSpPr>
        <p:spPr>
          <a:xfrm>
            <a:off x="-11034021" y="4858109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W</a:t>
            </a:r>
            <a:endParaRPr lang="en-US" sz="2400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9BE9E9F2-7FEA-8447-8D02-7AAAFF77A2EC}"/>
              </a:ext>
            </a:extLst>
          </p:cNvPr>
          <p:cNvSpPr/>
          <p:nvPr/>
        </p:nvSpPr>
        <p:spPr>
          <a:xfrm>
            <a:off x="-11002070" y="3084291"/>
            <a:ext cx="595845" cy="427886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9C681ACA-B005-197A-1E54-AE86F798AFE8}"/>
              </a:ext>
            </a:extLst>
          </p:cNvPr>
          <p:cNvSpPr/>
          <p:nvPr/>
        </p:nvSpPr>
        <p:spPr>
          <a:xfrm>
            <a:off x="-11034020" y="3084290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784FF0D9-C85A-D244-E779-FFCF105BA99C}"/>
              </a:ext>
            </a:extLst>
          </p:cNvPr>
          <p:cNvSpPr/>
          <p:nvPr/>
        </p:nvSpPr>
        <p:spPr>
          <a:xfrm>
            <a:off x="-11002071" y="4255549"/>
            <a:ext cx="595845" cy="427886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766D3D55-844D-6F88-026D-FB16D6D09E8F}"/>
              </a:ext>
            </a:extLst>
          </p:cNvPr>
          <p:cNvSpPr/>
          <p:nvPr/>
        </p:nvSpPr>
        <p:spPr>
          <a:xfrm>
            <a:off x="-11034021" y="4255548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T</a:t>
            </a:r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2F9251F6-C260-B1B5-907E-39826192EDEE}"/>
              </a:ext>
            </a:extLst>
          </p:cNvPr>
          <p:cNvSpPr/>
          <p:nvPr/>
        </p:nvSpPr>
        <p:spPr>
          <a:xfrm>
            <a:off x="-11002071" y="6045886"/>
            <a:ext cx="595845" cy="427886"/>
          </a:xfrm>
          <a:prstGeom prst="hexag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E6B31123-C790-EA21-C605-2F6B14018C40}"/>
              </a:ext>
            </a:extLst>
          </p:cNvPr>
          <p:cNvSpPr/>
          <p:nvPr/>
        </p:nvSpPr>
        <p:spPr>
          <a:xfrm>
            <a:off x="-11034021" y="6045885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E</a:t>
            </a:r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4C8E5037-6BE9-A7AB-891B-DD5AE4749391}"/>
              </a:ext>
            </a:extLst>
          </p:cNvPr>
          <p:cNvSpPr/>
          <p:nvPr/>
        </p:nvSpPr>
        <p:spPr>
          <a:xfrm>
            <a:off x="-11002071" y="5443325"/>
            <a:ext cx="595845" cy="427886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EB609D48-5802-0598-1800-F879126F947D}"/>
              </a:ext>
            </a:extLst>
          </p:cNvPr>
          <p:cNvSpPr/>
          <p:nvPr/>
        </p:nvSpPr>
        <p:spPr>
          <a:xfrm>
            <a:off x="-11034021" y="5443324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O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21B60-0CD9-FB3B-B45A-EC40857A55DF}"/>
              </a:ext>
            </a:extLst>
          </p:cNvPr>
          <p:cNvSpPr txBox="1"/>
          <p:nvPr/>
        </p:nvSpPr>
        <p:spPr>
          <a:xfrm>
            <a:off x="-10406226" y="3065890"/>
            <a:ext cx="6125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Customers: Who are the attendees.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B760AF-BE6C-8E6A-BE16-44156BA23F05}"/>
              </a:ext>
            </a:extLst>
          </p:cNvPr>
          <p:cNvSpPr txBox="1"/>
          <p:nvPr/>
        </p:nvSpPr>
        <p:spPr>
          <a:xfrm>
            <a:off x="-10406227" y="3642427"/>
            <a:ext cx="8066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Actors: Who is involved in the planning and execution.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547695-C07D-CDA2-967F-5A347C0E954E}"/>
              </a:ext>
            </a:extLst>
          </p:cNvPr>
          <p:cNvSpPr txBox="1"/>
          <p:nvPr/>
        </p:nvSpPr>
        <p:spPr>
          <a:xfrm>
            <a:off x="-10406226" y="4241640"/>
            <a:ext cx="8558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Transformation: What is the desired outcome of the event.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E9361B-4CA7-D8F4-3334-920CC1D58EAB}"/>
              </a:ext>
            </a:extLst>
          </p:cNvPr>
          <p:cNvSpPr txBox="1"/>
          <p:nvPr/>
        </p:nvSpPr>
        <p:spPr>
          <a:xfrm>
            <a:off x="-10406227" y="4836761"/>
            <a:ext cx="8258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Worldview: What are the broader implications of the event.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7EB12-2398-CFA0-AE51-0672720E8B3D}"/>
              </a:ext>
            </a:extLst>
          </p:cNvPr>
          <p:cNvSpPr txBox="1"/>
          <p:nvPr/>
        </p:nvSpPr>
        <p:spPr>
          <a:xfrm>
            <a:off x="-10406226" y="5431882"/>
            <a:ext cx="8066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Owner: Who has the authority to make decisions.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520900-9C04-00B9-C1D9-DF5E46D5681B}"/>
              </a:ext>
            </a:extLst>
          </p:cNvPr>
          <p:cNvSpPr txBox="1"/>
          <p:nvPr/>
        </p:nvSpPr>
        <p:spPr>
          <a:xfrm>
            <a:off x="-10394861" y="6027003"/>
            <a:ext cx="1036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Environmental constraints: What external factors could affect the event.</a:t>
            </a:r>
          </a:p>
        </p:txBody>
      </p:sp>
    </p:spTree>
    <p:extLst>
      <p:ext uri="{BB962C8B-B14F-4D97-AF65-F5344CB8AC3E}">
        <p14:creationId xmlns:p14="http://schemas.microsoft.com/office/powerpoint/2010/main" val="2289341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C31D5B1D-4509-4700-88DF-4D8E9F36B753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C4B0E-1CD7-4815-8E4F-AF59D8B735CE}"/>
              </a:ext>
            </a:extLst>
          </p:cNvPr>
          <p:cNvSpPr txBox="1"/>
          <p:nvPr/>
        </p:nvSpPr>
        <p:spPr>
          <a:xfrm>
            <a:off x="2640473" y="443246"/>
            <a:ext cx="1036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CATWOE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AAC517-7B0B-4A62-A5AB-1266EAC9FA7E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47D0678-560F-48A3-B460-64F0CA9EA87A}"/>
              </a:ext>
            </a:extLst>
          </p:cNvPr>
          <p:cNvSpPr txBox="1"/>
          <p:nvPr/>
        </p:nvSpPr>
        <p:spPr>
          <a:xfrm>
            <a:off x="1168851" y="1355082"/>
            <a:ext cx="6125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This technique is used to analyse problems from multiple perspectives.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273FFF00-54E4-68DF-510D-BB6FA68A9464}"/>
              </a:ext>
            </a:extLst>
          </p:cNvPr>
          <p:cNvSpPr/>
          <p:nvPr/>
        </p:nvSpPr>
        <p:spPr>
          <a:xfrm>
            <a:off x="870151" y="3659318"/>
            <a:ext cx="595845" cy="427886"/>
          </a:xfrm>
          <a:prstGeom prst="hexag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79D35597-C7C9-FAAB-E5FD-410A49031B7C}"/>
              </a:ext>
            </a:extLst>
          </p:cNvPr>
          <p:cNvSpPr/>
          <p:nvPr/>
        </p:nvSpPr>
        <p:spPr>
          <a:xfrm>
            <a:off x="838201" y="3659317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A</a:t>
            </a:r>
            <a:endParaRPr lang="en-US" sz="2400" dirty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04F90E7F-AD8B-F39D-E9E1-07FA3ED76D50}"/>
              </a:ext>
            </a:extLst>
          </p:cNvPr>
          <p:cNvSpPr/>
          <p:nvPr/>
        </p:nvSpPr>
        <p:spPr>
          <a:xfrm>
            <a:off x="870150" y="4858110"/>
            <a:ext cx="595845" cy="427886"/>
          </a:xfrm>
          <a:prstGeom prst="hexag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AF810550-CA0F-D4D1-AC5D-B02CCC91F828}"/>
              </a:ext>
            </a:extLst>
          </p:cNvPr>
          <p:cNvSpPr/>
          <p:nvPr/>
        </p:nvSpPr>
        <p:spPr>
          <a:xfrm>
            <a:off x="838200" y="4858109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W</a:t>
            </a:r>
            <a:endParaRPr lang="en-US" sz="2400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C8408B0E-412F-359D-1D0E-794CFFD1F72A}"/>
              </a:ext>
            </a:extLst>
          </p:cNvPr>
          <p:cNvSpPr/>
          <p:nvPr/>
        </p:nvSpPr>
        <p:spPr>
          <a:xfrm>
            <a:off x="870151" y="3084291"/>
            <a:ext cx="595845" cy="427886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8AEF4A45-0AB3-CB04-5152-C0E4C9FD55B9}"/>
              </a:ext>
            </a:extLst>
          </p:cNvPr>
          <p:cNvSpPr/>
          <p:nvPr/>
        </p:nvSpPr>
        <p:spPr>
          <a:xfrm>
            <a:off x="838201" y="3084290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5D763DDE-C924-822E-DB6C-29EE9DDC82E8}"/>
              </a:ext>
            </a:extLst>
          </p:cNvPr>
          <p:cNvSpPr/>
          <p:nvPr/>
        </p:nvSpPr>
        <p:spPr>
          <a:xfrm>
            <a:off x="870150" y="4255549"/>
            <a:ext cx="595845" cy="427886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7EB07327-7B30-88A1-9122-2EA805B771B8}"/>
              </a:ext>
            </a:extLst>
          </p:cNvPr>
          <p:cNvSpPr/>
          <p:nvPr/>
        </p:nvSpPr>
        <p:spPr>
          <a:xfrm>
            <a:off x="838200" y="4255548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T</a:t>
            </a:r>
            <a:endParaRPr lang="en-US" dirty="0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0B8F2B4F-D742-3057-1E2C-BFD956030AE4}"/>
              </a:ext>
            </a:extLst>
          </p:cNvPr>
          <p:cNvSpPr/>
          <p:nvPr/>
        </p:nvSpPr>
        <p:spPr>
          <a:xfrm>
            <a:off x="870150" y="6045886"/>
            <a:ext cx="595845" cy="427886"/>
          </a:xfrm>
          <a:prstGeom prst="hexag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A7028D4F-7577-C26B-5C6C-90D111788956}"/>
              </a:ext>
            </a:extLst>
          </p:cNvPr>
          <p:cNvSpPr/>
          <p:nvPr/>
        </p:nvSpPr>
        <p:spPr>
          <a:xfrm>
            <a:off x="838200" y="6045885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E</a:t>
            </a:r>
            <a:endParaRPr lang="en-US" dirty="0"/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0279C309-F3EF-52C6-E83D-27910C74A9F1}"/>
              </a:ext>
            </a:extLst>
          </p:cNvPr>
          <p:cNvSpPr/>
          <p:nvPr/>
        </p:nvSpPr>
        <p:spPr>
          <a:xfrm>
            <a:off x="870150" y="5443325"/>
            <a:ext cx="595845" cy="427886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FBC67446-63D4-3552-ABCB-F050C72056FF}"/>
              </a:ext>
            </a:extLst>
          </p:cNvPr>
          <p:cNvSpPr/>
          <p:nvPr/>
        </p:nvSpPr>
        <p:spPr>
          <a:xfrm>
            <a:off x="838200" y="5443324"/>
            <a:ext cx="541596" cy="427886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O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06004C-EF02-B8C6-22AA-C7A0C87FD1BB}"/>
              </a:ext>
            </a:extLst>
          </p:cNvPr>
          <p:cNvSpPr txBox="1"/>
          <p:nvPr/>
        </p:nvSpPr>
        <p:spPr>
          <a:xfrm>
            <a:off x="563777" y="2371629"/>
            <a:ext cx="6328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+mj-lt"/>
              </a:rPr>
              <a:t>Application: CATWOE can help clarify:</a:t>
            </a:r>
            <a:endParaRPr lang="en-US" sz="2400" dirty="0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A3F81F-71E9-F70B-2176-862E01AF732F}"/>
              </a:ext>
            </a:extLst>
          </p:cNvPr>
          <p:cNvSpPr txBox="1"/>
          <p:nvPr/>
        </p:nvSpPr>
        <p:spPr>
          <a:xfrm>
            <a:off x="1465995" y="3065890"/>
            <a:ext cx="6125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Customers: Who are the attendees.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4E6553-8D29-0504-F74A-63986DF73A7C}"/>
              </a:ext>
            </a:extLst>
          </p:cNvPr>
          <p:cNvSpPr txBox="1"/>
          <p:nvPr/>
        </p:nvSpPr>
        <p:spPr>
          <a:xfrm>
            <a:off x="1465994" y="3642427"/>
            <a:ext cx="8066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Actors: Who is involved in the planning and execution.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2E9168-A435-4EBB-7555-0523D8AA3111}"/>
              </a:ext>
            </a:extLst>
          </p:cNvPr>
          <p:cNvSpPr txBox="1"/>
          <p:nvPr/>
        </p:nvSpPr>
        <p:spPr>
          <a:xfrm>
            <a:off x="1465995" y="4241640"/>
            <a:ext cx="8558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Transformation: What is the desired outcome of the event.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AE793F-D1A9-E939-552C-9D1CEDB72B08}"/>
              </a:ext>
            </a:extLst>
          </p:cNvPr>
          <p:cNvSpPr txBox="1"/>
          <p:nvPr/>
        </p:nvSpPr>
        <p:spPr>
          <a:xfrm>
            <a:off x="1465994" y="4836761"/>
            <a:ext cx="8258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Worldview: What are the broader implications of the event.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12D170-45C9-90A2-EF8E-F54A7AE149A5}"/>
              </a:ext>
            </a:extLst>
          </p:cNvPr>
          <p:cNvSpPr txBox="1"/>
          <p:nvPr/>
        </p:nvSpPr>
        <p:spPr>
          <a:xfrm>
            <a:off x="1465995" y="5431882"/>
            <a:ext cx="8066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Owner: Who has the authority to make decisions.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954D94-5F5B-67A5-DA3D-772267D620BF}"/>
              </a:ext>
            </a:extLst>
          </p:cNvPr>
          <p:cNvSpPr txBox="1"/>
          <p:nvPr/>
        </p:nvSpPr>
        <p:spPr>
          <a:xfrm>
            <a:off x="1477360" y="6027003"/>
            <a:ext cx="1036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dirty="0">
                <a:effectLst/>
                <a:latin typeface="Bahnschrift" panose="020B0502040204020203" pitchFamily="34" charset="0"/>
              </a:rPr>
              <a:t>Environmental constraints: What external factors could affect the event.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212F8E-0EC5-2A21-6F01-DC645387D42F}"/>
              </a:ext>
            </a:extLst>
          </p:cNvPr>
          <p:cNvSpPr/>
          <p:nvPr/>
        </p:nvSpPr>
        <p:spPr>
          <a:xfrm>
            <a:off x="4248150" y="6938475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advantages does the event have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1B457-E83D-40B7-3879-2804873F95DE}"/>
              </a:ext>
            </a:extLst>
          </p:cNvPr>
          <p:cNvSpPr/>
          <p:nvPr/>
        </p:nvSpPr>
        <p:spPr>
          <a:xfrm>
            <a:off x="0" y="6938475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Strengths</a:t>
            </a:r>
            <a:endParaRPr lang="en-US" sz="2800" dirty="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14A29-6A7F-A11D-FE95-DA4EAD6DC0C2}"/>
              </a:ext>
            </a:extLst>
          </p:cNvPr>
          <p:cNvSpPr/>
          <p:nvPr/>
        </p:nvSpPr>
        <p:spPr>
          <a:xfrm>
            <a:off x="4248150" y="8968571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external factors could be used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43BF1-D9AC-D106-7A20-ABBFC5B93C78}"/>
              </a:ext>
            </a:extLst>
          </p:cNvPr>
          <p:cNvSpPr/>
          <p:nvPr/>
        </p:nvSpPr>
        <p:spPr>
          <a:xfrm>
            <a:off x="0" y="8968571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Opportunities</a:t>
            </a:r>
            <a:endParaRPr lang="en-US" sz="280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8784-B996-334E-7D47-C1F506E45C69}"/>
              </a:ext>
            </a:extLst>
          </p:cNvPr>
          <p:cNvSpPr/>
          <p:nvPr/>
        </p:nvSpPr>
        <p:spPr>
          <a:xfrm>
            <a:off x="4248150" y="7953523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limitations exist</a:t>
            </a:r>
            <a:endParaRPr lang="en-US" sz="240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B1D513-2E90-3D5D-E2FC-01D7DE392C77}"/>
              </a:ext>
            </a:extLst>
          </p:cNvPr>
          <p:cNvSpPr/>
          <p:nvPr/>
        </p:nvSpPr>
        <p:spPr>
          <a:xfrm>
            <a:off x="0" y="7953523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Weaknesses</a:t>
            </a:r>
            <a:endParaRPr lang="en-US" sz="280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2AD3C2-8382-45AA-9BD8-4428585151CB}"/>
              </a:ext>
            </a:extLst>
          </p:cNvPr>
          <p:cNvSpPr/>
          <p:nvPr/>
        </p:nvSpPr>
        <p:spPr>
          <a:xfrm>
            <a:off x="4248150" y="9983619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risks could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threaten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the event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9AE38-5DCE-2245-AF51-C4DBD777985A}"/>
              </a:ext>
            </a:extLst>
          </p:cNvPr>
          <p:cNvSpPr/>
          <p:nvPr/>
        </p:nvSpPr>
        <p:spPr>
          <a:xfrm>
            <a:off x="0" y="9983619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Threats</a:t>
            </a:r>
            <a:endParaRPr lang="en-US" sz="280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1936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A254F1-5723-49E0-89E6-66FB74177255}"/>
              </a:ext>
            </a:extLst>
          </p:cNvPr>
          <p:cNvSpPr/>
          <p:nvPr/>
        </p:nvSpPr>
        <p:spPr>
          <a:xfrm>
            <a:off x="4248150" y="2546355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advantages does the event have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Flowchart: Manual Input 7">
            <a:extLst>
              <a:ext uri="{FF2B5EF4-FFF2-40B4-BE49-F238E27FC236}">
                <a16:creationId xmlns:a16="http://schemas.microsoft.com/office/drawing/2014/main" id="{21F06290-9254-40B9-895F-3975BB0EB2AD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522D2-F567-47B1-8005-3D435E526902}"/>
              </a:ext>
            </a:extLst>
          </p:cNvPr>
          <p:cNvSpPr txBox="1"/>
          <p:nvPr/>
        </p:nvSpPr>
        <p:spPr>
          <a:xfrm>
            <a:off x="2640474" y="443246"/>
            <a:ext cx="39317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SWOT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47AC9-E357-43B1-878B-CE2F5850B42B}"/>
              </a:ext>
            </a:extLst>
          </p:cNvPr>
          <p:cNvSpPr/>
          <p:nvPr/>
        </p:nvSpPr>
        <p:spPr>
          <a:xfrm>
            <a:off x="0" y="2546355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Strengths</a:t>
            </a:r>
            <a:endParaRPr lang="en-US" sz="2800" dirty="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A276D9-BDB5-4ACE-BDFA-502697D5E989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543711-17F1-F6D1-3126-8A8CEA8AB0FD}"/>
              </a:ext>
            </a:extLst>
          </p:cNvPr>
          <p:cNvSpPr txBox="1"/>
          <p:nvPr/>
        </p:nvSpPr>
        <p:spPr>
          <a:xfrm>
            <a:off x="314326" y="1553100"/>
            <a:ext cx="7180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+mj-lt"/>
              </a:rPr>
              <a:t>Application: Planners can use SWOT to evaluate:</a:t>
            </a:r>
            <a:endParaRPr lang="en-US" sz="24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8654D7-A544-4BC8-6CAC-76814B354E74}"/>
              </a:ext>
            </a:extLst>
          </p:cNvPr>
          <p:cNvSpPr/>
          <p:nvPr/>
        </p:nvSpPr>
        <p:spPr>
          <a:xfrm>
            <a:off x="4248150" y="4576451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external factors could be used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D9A06C-560E-585E-0B2B-6B8EC8CF777C}"/>
              </a:ext>
            </a:extLst>
          </p:cNvPr>
          <p:cNvSpPr/>
          <p:nvPr/>
        </p:nvSpPr>
        <p:spPr>
          <a:xfrm>
            <a:off x="0" y="4576451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Opportunities</a:t>
            </a:r>
            <a:endParaRPr lang="en-US" sz="280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58C01-B7E5-53D4-62F5-420F1CF37F5C}"/>
              </a:ext>
            </a:extLst>
          </p:cNvPr>
          <p:cNvSpPr/>
          <p:nvPr/>
        </p:nvSpPr>
        <p:spPr>
          <a:xfrm>
            <a:off x="4248150" y="3561403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limitations exist</a:t>
            </a:r>
            <a:endParaRPr lang="en-US" sz="240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BDD28E-3FBC-C5F9-0652-16261975D9F2}"/>
              </a:ext>
            </a:extLst>
          </p:cNvPr>
          <p:cNvSpPr/>
          <p:nvPr/>
        </p:nvSpPr>
        <p:spPr>
          <a:xfrm>
            <a:off x="0" y="3561403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Weaknesses</a:t>
            </a:r>
            <a:endParaRPr lang="en-US" sz="280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57EAEE-787F-5204-81A1-AECA2A80AF0A}"/>
              </a:ext>
            </a:extLst>
          </p:cNvPr>
          <p:cNvSpPr/>
          <p:nvPr/>
        </p:nvSpPr>
        <p:spPr>
          <a:xfrm>
            <a:off x="4248150" y="5591499"/>
            <a:ext cx="7943850" cy="7284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 risks could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threaten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the event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D9C989-6290-B251-C6B3-76043D77966C}"/>
              </a:ext>
            </a:extLst>
          </p:cNvPr>
          <p:cNvSpPr/>
          <p:nvPr/>
        </p:nvSpPr>
        <p:spPr>
          <a:xfrm>
            <a:off x="0" y="5591499"/>
            <a:ext cx="4095750" cy="7284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>
                <a:solidFill>
                  <a:schemeClr val="tx1"/>
                </a:solidFill>
                <a:effectLst/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Threats</a:t>
            </a:r>
            <a:endParaRPr lang="en-US" sz="2800">
              <a:solidFill>
                <a:schemeClr val="tx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D64DFD-11FA-1D58-60D1-87E7F7340204}"/>
              </a:ext>
            </a:extLst>
          </p:cNvPr>
          <p:cNvSpPr/>
          <p:nvPr/>
        </p:nvSpPr>
        <p:spPr>
          <a:xfrm>
            <a:off x="-1929666" y="3082778"/>
            <a:ext cx="1049048" cy="1347714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DF7967D-6EB5-8CE6-9CB2-FBEBB0548555}"/>
              </a:ext>
            </a:extLst>
          </p:cNvPr>
          <p:cNvSpPr/>
          <p:nvPr/>
        </p:nvSpPr>
        <p:spPr>
          <a:xfrm rot="5400000">
            <a:off x="-2888025" y="3211816"/>
            <a:ext cx="3210637" cy="2511188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310E64-B218-64BF-B6A6-8AA0E1AF309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H="1" flipV="1">
            <a:off x="-10149363" y="4465667"/>
            <a:ext cx="7611063" cy="1744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oon 7">
            <a:extLst>
              <a:ext uri="{FF2B5EF4-FFF2-40B4-BE49-F238E27FC236}">
                <a16:creationId xmlns:a16="http://schemas.microsoft.com/office/drawing/2014/main" id="{B334E55F-8399-F1BD-7A6D-04C672060EC9}"/>
              </a:ext>
            </a:extLst>
          </p:cNvPr>
          <p:cNvSpPr/>
          <p:nvPr/>
        </p:nvSpPr>
        <p:spPr>
          <a:xfrm flipH="1">
            <a:off x="-11659530" y="3455733"/>
            <a:ext cx="1510167" cy="2019868"/>
          </a:xfrm>
          <a:prstGeom prst="moon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38699A-2A1A-E934-4B48-1EF5E1D00FD9}"/>
              </a:ext>
            </a:extLst>
          </p:cNvPr>
          <p:cNvSpPr/>
          <p:nvPr/>
        </p:nvSpPr>
        <p:spPr>
          <a:xfrm>
            <a:off x="-9720852" y="2015602"/>
            <a:ext cx="2155659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Environment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6A7E8C-B66C-F82B-DC21-96EF675A9326}"/>
              </a:ext>
            </a:extLst>
          </p:cNvPr>
          <p:cNvSpPr/>
          <p:nvPr/>
        </p:nvSpPr>
        <p:spPr>
          <a:xfrm>
            <a:off x="-6106093" y="5915708"/>
            <a:ext cx="1787856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Marketing</a:t>
            </a:r>
            <a:endParaRPr lang="en-US" sz="240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433588-FCFF-9178-055A-10D7223148AC}"/>
              </a:ext>
            </a:extLst>
          </p:cNvPr>
          <p:cNvCxnSpPr>
            <a:cxnSpLocks/>
          </p:cNvCxnSpPr>
          <p:nvPr/>
        </p:nvCxnSpPr>
        <p:spPr>
          <a:xfrm flipH="1" flipV="1">
            <a:off x="-4679675" y="2616124"/>
            <a:ext cx="1287868" cy="1804898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D2D3AB-67B2-5BFB-B92D-2D2004E8E38D}"/>
              </a:ext>
            </a:extLst>
          </p:cNvPr>
          <p:cNvCxnSpPr>
            <a:cxnSpLocks/>
          </p:cNvCxnSpPr>
          <p:nvPr/>
        </p:nvCxnSpPr>
        <p:spPr>
          <a:xfrm flipH="1">
            <a:off x="-5298282" y="4434228"/>
            <a:ext cx="1555629" cy="1481480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488517-2C08-A111-88D3-18B0DD7E4A3B}"/>
              </a:ext>
            </a:extLst>
          </p:cNvPr>
          <p:cNvCxnSpPr>
            <a:cxnSpLocks/>
          </p:cNvCxnSpPr>
          <p:nvPr/>
        </p:nvCxnSpPr>
        <p:spPr>
          <a:xfrm flipH="1" flipV="1">
            <a:off x="-7956722" y="2792178"/>
            <a:ext cx="1244298" cy="1673488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1D38DE-9DB7-57FE-73FA-8A074776E9D9}"/>
              </a:ext>
            </a:extLst>
          </p:cNvPr>
          <p:cNvCxnSpPr>
            <a:cxnSpLocks/>
          </p:cNvCxnSpPr>
          <p:nvPr/>
        </p:nvCxnSpPr>
        <p:spPr>
          <a:xfrm flipH="1">
            <a:off x="-8857873" y="4421022"/>
            <a:ext cx="1620889" cy="1678963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7039B9-4FCE-58A0-BCD5-93B120ADD1D5}"/>
              </a:ext>
            </a:extLst>
          </p:cNvPr>
          <p:cNvSpPr/>
          <p:nvPr/>
        </p:nvSpPr>
        <p:spPr>
          <a:xfrm>
            <a:off x="-1064863" y="3756635"/>
            <a:ext cx="368489" cy="324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C1DAB8-5C62-8831-9C8D-E73A470C878E}"/>
              </a:ext>
            </a:extLst>
          </p:cNvPr>
          <p:cNvSpPr txBox="1"/>
          <p:nvPr/>
        </p:nvSpPr>
        <p:spPr>
          <a:xfrm>
            <a:off x="-2525741" y="3630999"/>
            <a:ext cx="1911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0" dirty="0">
                <a:solidFill>
                  <a:schemeClr val="bg1"/>
                </a:solidFill>
                <a:effectLst/>
                <a:latin typeface="+mj-lt"/>
              </a:rPr>
              <a:t>Low Attendance at the Event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FD4001-A136-99C1-E9CF-977EA1FF5FFE}"/>
              </a:ext>
            </a:extLst>
          </p:cNvPr>
          <p:cNvCxnSpPr>
            <a:cxnSpLocks/>
          </p:cNvCxnSpPr>
          <p:nvPr/>
        </p:nvCxnSpPr>
        <p:spPr>
          <a:xfrm flipH="1">
            <a:off x="-6080576" y="3756635"/>
            <a:ext cx="2224586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6D5B4A5-68BB-F38E-E570-C82506C81598}"/>
              </a:ext>
            </a:extLst>
          </p:cNvPr>
          <p:cNvSpPr txBox="1"/>
          <p:nvPr/>
        </p:nvSpPr>
        <p:spPr>
          <a:xfrm>
            <a:off x="-7624597" y="3302202"/>
            <a:ext cx="35313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i="0" dirty="0">
                <a:effectLst/>
                <a:latin typeface="Arial Narrow" panose="020B0606020202030204" pitchFamily="34" charset="0"/>
              </a:rPr>
              <a:t>Inadequate resources for attendees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8C4EC4-0F9D-15FA-B212-6B97364AE382}"/>
              </a:ext>
            </a:extLst>
          </p:cNvPr>
          <p:cNvCxnSpPr>
            <a:cxnSpLocks/>
          </p:cNvCxnSpPr>
          <p:nvPr/>
        </p:nvCxnSpPr>
        <p:spPr>
          <a:xfrm flipH="1">
            <a:off x="-9526412" y="3748763"/>
            <a:ext cx="2224586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638BBFC-216D-6653-F5B7-D56650A4CE8E}"/>
              </a:ext>
            </a:extLst>
          </p:cNvPr>
          <p:cNvSpPr txBox="1"/>
          <p:nvPr/>
        </p:nvSpPr>
        <p:spPr>
          <a:xfrm>
            <a:off x="-9900330" y="3320762"/>
            <a:ext cx="2712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Arial Narrow" panose="020B0606020202030204" pitchFamily="34" charset="0"/>
              </a:rPr>
              <a:t>Unfavorable venue location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05DD47-6DBD-CDD8-6550-6B98A62F0063}"/>
              </a:ext>
            </a:extLst>
          </p:cNvPr>
          <p:cNvCxnSpPr>
            <a:cxnSpLocks/>
          </p:cNvCxnSpPr>
          <p:nvPr/>
        </p:nvCxnSpPr>
        <p:spPr>
          <a:xfrm flipH="1">
            <a:off x="-10347161" y="5427610"/>
            <a:ext cx="2156228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12E271-8673-0C81-AA27-B834D244350F}"/>
              </a:ext>
            </a:extLst>
          </p:cNvPr>
          <p:cNvCxnSpPr>
            <a:cxnSpLocks/>
          </p:cNvCxnSpPr>
          <p:nvPr/>
        </p:nvCxnSpPr>
        <p:spPr>
          <a:xfrm flipH="1">
            <a:off x="-6808384" y="5231322"/>
            <a:ext cx="2224586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4FAB22-0355-4DFE-44CC-9D798EC00A74}"/>
              </a:ext>
            </a:extLst>
          </p:cNvPr>
          <p:cNvSpPr txBox="1"/>
          <p:nvPr/>
        </p:nvSpPr>
        <p:spPr>
          <a:xfrm>
            <a:off x="-11053132" y="4959735"/>
            <a:ext cx="256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b="0" i="0" dirty="0">
                <a:effectLst/>
                <a:latin typeface="Arial Narrow" panose="020B0606020202030204" pitchFamily="34" charset="0"/>
              </a:rPr>
              <a:t>Lack of a clear agenda or schedule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91E71DD-4DC2-8751-64E9-26B512B00146}"/>
              </a:ext>
            </a:extLst>
          </p:cNvPr>
          <p:cNvSpPr/>
          <p:nvPr/>
        </p:nvSpPr>
        <p:spPr>
          <a:xfrm>
            <a:off x="-5696091" y="1991333"/>
            <a:ext cx="1660350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Materials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207FB95-D5BB-79A6-CC8C-978C194828BB}"/>
              </a:ext>
            </a:extLst>
          </p:cNvPr>
          <p:cNvSpPr/>
          <p:nvPr/>
        </p:nvSpPr>
        <p:spPr>
          <a:xfrm>
            <a:off x="-9801699" y="5932281"/>
            <a:ext cx="1488818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0728F8-9CAC-3D22-5464-19C66F1FC9B1}"/>
              </a:ext>
            </a:extLst>
          </p:cNvPr>
          <p:cNvSpPr txBox="1"/>
          <p:nvPr/>
        </p:nvSpPr>
        <p:spPr>
          <a:xfrm>
            <a:off x="-7000881" y="4807688"/>
            <a:ext cx="25340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Arial Narrow" panose="020B0606020202030204" pitchFamily="34" charset="0"/>
              </a:rPr>
              <a:t>Ineffective marketing strategies</a:t>
            </a:r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2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FB1C7BD0-9A12-88A5-79DA-858A5D7F89F0}"/>
              </a:ext>
            </a:extLst>
          </p:cNvPr>
          <p:cNvSpPr/>
          <p:nvPr/>
        </p:nvSpPr>
        <p:spPr>
          <a:xfrm>
            <a:off x="10055345" y="3082778"/>
            <a:ext cx="1049048" cy="1347714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Manual Input 7">
            <a:extLst>
              <a:ext uri="{FF2B5EF4-FFF2-40B4-BE49-F238E27FC236}">
                <a16:creationId xmlns:a16="http://schemas.microsoft.com/office/drawing/2014/main" id="{080DEBBA-0F29-415E-98C4-8DD0FEB8351B}"/>
              </a:ext>
            </a:extLst>
          </p:cNvPr>
          <p:cNvSpPr/>
          <p:nvPr/>
        </p:nvSpPr>
        <p:spPr>
          <a:xfrm rot="5400000" flipH="1" flipV="1">
            <a:off x="1206583" y="-47885"/>
            <a:ext cx="862535" cy="17517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24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247 h 10000"/>
              <a:gd name="connsiteX0" fmla="*/ 0 w 10000"/>
              <a:gd name="connsiteY0" fmla="*/ 4506 h 9259"/>
              <a:gd name="connsiteX1" fmla="*/ 10000 w 10000"/>
              <a:gd name="connsiteY1" fmla="*/ 0 h 9259"/>
              <a:gd name="connsiteX2" fmla="*/ 10000 w 10000"/>
              <a:gd name="connsiteY2" fmla="*/ 9259 h 9259"/>
              <a:gd name="connsiteX3" fmla="*/ 0 w 10000"/>
              <a:gd name="connsiteY3" fmla="*/ 9259 h 9259"/>
              <a:gd name="connsiteX4" fmla="*/ 0 w 10000"/>
              <a:gd name="connsiteY4" fmla="*/ 4506 h 9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259">
                <a:moveTo>
                  <a:pt x="0" y="4506"/>
                </a:moveTo>
                <a:lnTo>
                  <a:pt x="10000" y="0"/>
                </a:lnTo>
                <a:lnTo>
                  <a:pt x="10000" y="9259"/>
                </a:lnTo>
                <a:lnTo>
                  <a:pt x="0" y="9259"/>
                </a:lnTo>
                <a:lnTo>
                  <a:pt x="0" y="4506"/>
                </a:lnTo>
                <a:close/>
              </a:path>
            </a:pathLst>
          </a:cu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59B5C-4EA5-458F-94A2-09EA88A4CF91}"/>
              </a:ext>
            </a:extLst>
          </p:cNvPr>
          <p:cNvSpPr txBox="1"/>
          <p:nvPr/>
        </p:nvSpPr>
        <p:spPr>
          <a:xfrm>
            <a:off x="2640473" y="446800"/>
            <a:ext cx="7568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FISHBONE DIAGRAM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3E516E-E219-4703-85F7-9FD0F88241E8}"/>
              </a:ext>
            </a:extLst>
          </p:cNvPr>
          <p:cNvCxnSpPr>
            <a:cxnSpLocks/>
          </p:cNvCxnSpPr>
          <p:nvPr/>
        </p:nvCxnSpPr>
        <p:spPr>
          <a:xfrm>
            <a:off x="1787764" y="161895"/>
            <a:ext cx="847722" cy="8159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144C7E8-C2EB-A92D-8BCE-B79B93159834}"/>
              </a:ext>
            </a:extLst>
          </p:cNvPr>
          <p:cNvSpPr/>
          <p:nvPr/>
        </p:nvSpPr>
        <p:spPr>
          <a:xfrm rot="5400000">
            <a:off x="9096986" y="3211816"/>
            <a:ext cx="3210637" cy="2511188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43B1FD-AAC1-ECB6-B429-E418191135B1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H="1" flipV="1">
            <a:off x="1835648" y="4465667"/>
            <a:ext cx="7611063" cy="1744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oon 13">
            <a:extLst>
              <a:ext uri="{FF2B5EF4-FFF2-40B4-BE49-F238E27FC236}">
                <a16:creationId xmlns:a16="http://schemas.microsoft.com/office/drawing/2014/main" id="{699C545D-A3AD-5E14-51F3-12C38BA785C6}"/>
              </a:ext>
            </a:extLst>
          </p:cNvPr>
          <p:cNvSpPr/>
          <p:nvPr/>
        </p:nvSpPr>
        <p:spPr>
          <a:xfrm flipH="1">
            <a:off x="325481" y="3455733"/>
            <a:ext cx="1510167" cy="2019868"/>
          </a:xfrm>
          <a:prstGeom prst="moon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9AB30D-2A6D-F90C-1B46-9E1C33424D4D}"/>
              </a:ext>
            </a:extLst>
          </p:cNvPr>
          <p:cNvSpPr/>
          <p:nvPr/>
        </p:nvSpPr>
        <p:spPr>
          <a:xfrm>
            <a:off x="2264159" y="2015602"/>
            <a:ext cx="2155659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Environment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4B59A1-4C0F-7020-CBEE-858A42B3CD87}"/>
              </a:ext>
            </a:extLst>
          </p:cNvPr>
          <p:cNvSpPr/>
          <p:nvPr/>
        </p:nvSpPr>
        <p:spPr>
          <a:xfrm>
            <a:off x="5878918" y="5915708"/>
            <a:ext cx="1787856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Marketing</a:t>
            </a:r>
            <a:endParaRPr lang="en-US" sz="240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D346EC-1239-7607-FB98-2E806DC3E530}"/>
              </a:ext>
            </a:extLst>
          </p:cNvPr>
          <p:cNvCxnSpPr>
            <a:cxnSpLocks/>
          </p:cNvCxnSpPr>
          <p:nvPr/>
        </p:nvCxnSpPr>
        <p:spPr>
          <a:xfrm flipH="1" flipV="1">
            <a:off x="7305336" y="2616124"/>
            <a:ext cx="1287868" cy="1804898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75970A5-741E-FE1E-0603-13BB485A5472}"/>
              </a:ext>
            </a:extLst>
          </p:cNvPr>
          <p:cNvCxnSpPr>
            <a:cxnSpLocks/>
          </p:cNvCxnSpPr>
          <p:nvPr/>
        </p:nvCxnSpPr>
        <p:spPr>
          <a:xfrm flipH="1">
            <a:off x="6686729" y="4434228"/>
            <a:ext cx="1555629" cy="1481480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68050B-B8CA-C4E1-C881-E3ACDA24C3B1}"/>
              </a:ext>
            </a:extLst>
          </p:cNvPr>
          <p:cNvCxnSpPr>
            <a:cxnSpLocks/>
          </p:cNvCxnSpPr>
          <p:nvPr/>
        </p:nvCxnSpPr>
        <p:spPr>
          <a:xfrm flipH="1" flipV="1">
            <a:off x="4028289" y="2792178"/>
            <a:ext cx="1244298" cy="1673488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501411C-D14B-6F58-59AA-0EBC6BE466F6}"/>
              </a:ext>
            </a:extLst>
          </p:cNvPr>
          <p:cNvCxnSpPr>
            <a:cxnSpLocks/>
          </p:cNvCxnSpPr>
          <p:nvPr/>
        </p:nvCxnSpPr>
        <p:spPr>
          <a:xfrm flipH="1">
            <a:off x="3127138" y="4421022"/>
            <a:ext cx="1620889" cy="1678963"/>
          </a:xfrm>
          <a:prstGeom prst="line">
            <a:avLst/>
          </a:prstGeom>
          <a:ln w="5715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BB0FBE5C-229C-646F-0B14-6C8CB9162790}"/>
              </a:ext>
            </a:extLst>
          </p:cNvPr>
          <p:cNvSpPr/>
          <p:nvPr/>
        </p:nvSpPr>
        <p:spPr>
          <a:xfrm>
            <a:off x="10920148" y="3756635"/>
            <a:ext cx="368489" cy="324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193EB0-04EB-F90E-9282-5AD403DCA6C3}"/>
              </a:ext>
            </a:extLst>
          </p:cNvPr>
          <p:cNvSpPr txBox="1"/>
          <p:nvPr/>
        </p:nvSpPr>
        <p:spPr>
          <a:xfrm>
            <a:off x="9459270" y="3630999"/>
            <a:ext cx="1911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0" dirty="0">
                <a:solidFill>
                  <a:schemeClr val="bg1"/>
                </a:solidFill>
                <a:effectLst/>
                <a:latin typeface="+mj-lt"/>
              </a:rPr>
              <a:t>Low Attendance at the Event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BFC175-A2F4-533B-57CE-87B8730A3E55}"/>
              </a:ext>
            </a:extLst>
          </p:cNvPr>
          <p:cNvSpPr txBox="1"/>
          <p:nvPr/>
        </p:nvSpPr>
        <p:spPr>
          <a:xfrm>
            <a:off x="520187" y="1403909"/>
            <a:ext cx="953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dirty="0">
                <a:effectLst/>
                <a:latin typeface="+mj-lt"/>
              </a:rPr>
              <a:t>A visual tool used to identify potential causes of a problem.</a:t>
            </a:r>
            <a:endParaRPr lang="en-US" sz="2800" dirty="0">
              <a:latin typeface="+mj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EBED3C-DF0B-38F6-6461-7F9D4282FA32}"/>
              </a:ext>
            </a:extLst>
          </p:cNvPr>
          <p:cNvSpPr txBox="1"/>
          <p:nvPr/>
        </p:nvSpPr>
        <p:spPr>
          <a:xfrm>
            <a:off x="409421" y="2347892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Eg: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985AC13-06F9-ABC0-544D-08591E9B6CCE}"/>
              </a:ext>
            </a:extLst>
          </p:cNvPr>
          <p:cNvCxnSpPr>
            <a:cxnSpLocks/>
          </p:cNvCxnSpPr>
          <p:nvPr/>
        </p:nvCxnSpPr>
        <p:spPr>
          <a:xfrm flipH="1">
            <a:off x="5904435" y="3756635"/>
            <a:ext cx="2224586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82DB4EC-F472-7B05-4C49-9B356B92D6DF}"/>
              </a:ext>
            </a:extLst>
          </p:cNvPr>
          <p:cNvSpPr txBox="1"/>
          <p:nvPr/>
        </p:nvSpPr>
        <p:spPr>
          <a:xfrm>
            <a:off x="4360414" y="3302202"/>
            <a:ext cx="35313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i="0" dirty="0">
                <a:effectLst/>
                <a:latin typeface="Arial Narrow" panose="020B0606020202030204" pitchFamily="34" charset="0"/>
              </a:rPr>
              <a:t>Inadequate resources for attendees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86CF872-29A9-6826-FFA9-2654C2A244E0}"/>
              </a:ext>
            </a:extLst>
          </p:cNvPr>
          <p:cNvCxnSpPr>
            <a:cxnSpLocks/>
          </p:cNvCxnSpPr>
          <p:nvPr/>
        </p:nvCxnSpPr>
        <p:spPr>
          <a:xfrm flipH="1">
            <a:off x="2458599" y="3748763"/>
            <a:ext cx="2224586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28B9253-D571-023C-1FFA-F0E77644C2C1}"/>
              </a:ext>
            </a:extLst>
          </p:cNvPr>
          <p:cNvSpPr txBox="1"/>
          <p:nvPr/>
        </p:nvSpPr>
        <p:spPr>
          <a:xfrm>
            <a:off x="2084681" y="3320762"/>
            <a:ext cx="2712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Arial Narrow" panose="020B0606020202030204" pitchFamily="34" charset="0"/>
              </a:rPr>
              <a:t>Unfavorable venue location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34490FF-667C-856A-6DD1-5935CAE7A246}"/>
              </a:ext>
            </a:extLst>
          </p:cNvPr>
          <p:cNvCxnSpPr>
            <a:cxnSpLocks/>
          </p:cNvCxnSpPr>
          <p:nvPr/>
        </p:nvCxnSpPr>
        <p:spPr>
          <a:xfrm flipH="1">
            <a:off x="1637850" y="5427610"/>
            <a:ext cx="2156228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CF32464-54E3-896E-62D0-3111E59EE77D}"/>
              </a:ext>
            </a:extLst>
          </p:cNvPr>
          <p:cNvCxnSpPr>
            <a:cxnSpLocks/>
          </p:cNvCxnSpPr>
          <p:nvPr/>
        </p:nvCxnSpPr>
        <p:spPr>
          <a:xfrm flipH="1">
            <a:off x="5176627" y="5231322"/>
            <a:ext cx="2224586" cy="0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F61AAFE-2822-AFBC-343C-A2D0861CED84}"/>
              </a:ext>
            </a:extLst>
          </p:cNvPr>
          <p:cNvSpPr txBox="1"/>
          <p:nvPr/>
        </p:nvSpPr>
        <p:spPr>
          <a:xfrm>
            <a:off x="931879" y="4959735"/>
            <a:ext cx="256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b="0" i="0" dirty="0">
                <a:effectLst/>
                <a:latin typeface="Arial Narrow" panose="020B0606020202030204" pitchFamily="34" charset="0"/>
              </a:rPr>
              <a:t>Lack of a clear agenda or schedule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18B0A5-132C-37E8-A1E8-040CAC070657}"/>
              </a:ext>
            </a:extLst>
          </p:cNvPr>
          <p:cNvSpPr/>
          <p:nvPr/>
        </p:nvSpPr>
        <p:spPr>
          <a:xfrm>
            <a:off x="6288920" y="1991333"/>
            <a:ext cx="1660350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Materials</a:t>
            </a:r>
            <a:endParaRPr lang="en-US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2F96EA-4220-AEB9-7EC2-861656CF183B}"/>
              </a:ext>
            </a:extLst>
          </p:cNvPr>
          <p:cNvSpPr/>
          <p:nvPr/>
        </p:nvSpPr>
        <p:spPr>
          <a:xfrm>
            <a:off x="2183312" y="5932281"/>
            <a:ext cx="1488818" cy="7580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Process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E8D145-BFD9-CF79-F9AF-154493DE6EE5}"/>
              </a:ext>
            </a:extLst>
          </p:cNvPr>
          <p:cNvSpPr txBox="1"/>
          <p:nvPr/>
        </p:nvSpPr>
        <p:spPr>
          <a:xfrm>
            <a:off x="4984130" y="4807688"/>
            <a:ext cx="25340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Arial Narrow" panose="020B0606020202030204" pitchFamily="34" charset="0"/>
              </a:rPr>
              <a:t>Ineffective marketing strategies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FDB71E-F1E9-3050-E8C8-0E113B01F4A8}"/>
              </a:ext>
            </a:extLst>
          </p:cNvPr>
          <p:cNvCxnSpPr/>
          <p:nvPr/>
        </p:nvCxnSpPr>
        <p:spPr>
          <a:xfrm>
            <a:off x="6096000" y="-1690645"/>
            <a:ext cx="0" cy="108585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977212C-78E6-B4D1-C4E7-388F06F045F6}"/>
              </a:ext>
            </a:extLst>
          </p:cNvPr>
          <p:cNvSpPr/>
          <p:nvPr/>
        </p:nvSpPr>
        <p:spPr>
          <a:xfrm>
            <a:off x="5848350" y="-592980"/>
            <a:ext cx="495300" cy="495300"/>
          </a:xfrm>
          <a:prstGeom prst="ellipse">
            <a:avLst/>
          </a:prstGeom>
          <a:noFill/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FDB5A5-C21C-C644-CE29-9A4F93113C86}"/>
              </a:ext>
            </a:extLst>
          </p:cNvPr>
          <p:cNvGrpSpPr/>
          <p:nvPr/>
        </p:nvGrpSpPr>
        <p:grpSpPr>
          <a:xfrm>
            <a:off x="6002482" y="-396130"/>
            <a:ext cx="187036" cy="104775"/>
            <a:chOff x="6473825" y="955675"/>
            <a:chExt cx="342900" cy="1397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428356-A40E-66C5-064A-1BDECAE064D6}"/>
                </a:ext>
              </a:extLst>
            </p:cNvPr>
            <p:cNvCxnSpPr/>
            <p:nvPr/>
          </p:nvCxnSpPr>
          <p:spPr>
            <a:xfrm>
              <a:off x="647382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17E3732-3682-C134-8ED4-56214ACE22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27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82D438-8FF2-AA93-54D3-63B8C73F39FD}"/>
              </a:ext>
            </a:extLst>
          </p:cNvPr>
          <p:cNvCxnSpPr/>
          <p:nvPr/>
        </p:nvCxnSpPr>
        <p:spPr>
          <a:xfrm>
            <a:off x="-3204466" y="388408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66137D-8228-7575-B01B-3DF3B3138166}"/>
              </a:ext>
            </a:extLst>
          </p:cNvPr>
          <p:cNvCxnSpPr/>
          <p:nvPr/>
        </p:nvCxnSpPr>
        <p:spPr>
          <a:xfrm>
            <a:off x="13943670" y="308065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3D0464C-7583-DEFC-BE32-01F70DB64AF3}"/>
              </a:ext>
            </a:extLst>
          </p:cNvPr>
          <p:cNvSpPr txBox="1"/>
          <p:nvPr/>
        </p:nvSpPr>
        <p:spPr>
          <a:xfrm>
            <a:off x="-2353860" y="2960757"/>
            <a:ext cx="2196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Thank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BBC337-04EE-6749-F82E-CA7F4AAEBC4B}"/>
              </a:ext>
            </a:extLst>
          </p:cNvPr>
          <p:cNvSpPr txBox="1"/>
          <p:nvPr/>
        </p:nvSpPr>
        <p:spPr>
          <a:xfrm>
            <a:off x="12254372" y="2967335"/>
            <a:ext cx="1459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53046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E929-E084-12F5-A45B-AF1D23EC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039CD8-E786-895B-8B57-6CC5C87863C8}"/>
              </a:ext>
            </a:extLst>
          </p:cNvPr>
          <p:cNvGrpSpPr/>
          <p:nvPr/>
        </p:nvGrpSpPr>
        <p:grpSpPr>
          <a:xfrm>
            <a:off x="3181350" y="122464"/>
            <a:ext cx="5829300" cy="5829300"/>
            <a:chOff x="4124325" y="752475"/>
            <a:chExt cx="5524500" cy="55245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69BF87A-AA94-7EB0-F223-2C90DB859E9D}"/>
                </a:ext>
              </a:extLst>
            </p:cNvPr>
            <p:cNvSpPr/>
            <p:nvPr/>
          </p:nvSpPr>
          <p:spPr>
            <a:xfrm>
              <a:off x="4124325" y="752475"/>
              <a:ext cx="5524500" cy="5524500"/>
            </a:xfrm>
            <a:prstGeom prst="ellipse">
              <a:avLst/>
            </a:prstGeom>
            <a:pattFill prst="dotGrid">
              <a:fgClr>
                <a:schemeClr val="bg2">
                  <a:lumMod val="2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D9C36F5-47D7-7BC8-E8E4-A37B8F983306}"/>
                </a:ext>
              </a:extLst>
            </p:cNvPr>
            <p:cNvSpPr/>
            <p:nvPr/>
          </p:nvSpPr>
          <p:spPr>
            <a:xfrm>
              <a:off x="4124325" y="752475"/>
              <a:ext cx="5524500" cy="5524500"/>
            </a:xfrm>
            <a:prstGeom prst="ellipse">
              <a:avLst/>
            </a:prstGeom>
            <a:solidFill>
              <a:schemeClr val="bg2">
                <a:lumMod val="2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BE12-575B-795F-962E-E599755725C9}"/>
              </a:ext>
            </a:extLst>
          </p:cNvPr>
          <p:cNvCxnSpPr/>
          <p:nvPr/>
        </p:nvCxnSpPr>
        <p:spPr>
          <a:xfrm>
            <a:off x="3181350" y="388408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301FE6-777C-4505-41A3-A15FF43BA4DE}"/>
              </a:ext>
            </a:extLst>
          </p:cNvPr>
          <p:cNvCxnSpPr/>
          <p:nvPr/>
        </p:nvCxnSpPr>
        <p:spPr>
          <a:xfrm>
            <a:off x="7258050" y="308065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E9A850A-1A78-FD45-CBCD-6D187D590012}"/>
              </a:ext>
            </a:extLst>
          </p:cNvPr>
          <p:cNvSpPr txBox="1"/>
          <p:nvPr/>
        </p:nvSpPr>
        <p:spPr>
          <a:xfrm>
            <a:off x="3444345" y="2952663"/>
            <a:ext cx="2196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Any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B74E1E-E857-A0E3-F305-9AE15F57D887}"/>
              </a:ext>
            </a:extLst>
          </p:cNvPr>
          <p:cNvCxnSpPr>
            <a:stCxn id="2" idx="0"/>
          </p:cNvCxnSpPr>
          <p:nvPr/>
        </p:nvCxnSpPr>
        <p:spPr>
          <a:xfrm>
            <a:off x="6096000" y="122464"/>
            <a:ext cx="0" cy="108585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61CC0CA-53EA-BB54-EBB7-DEB71118FCDD}"/>
              </a:ext>
            </a:extLst>
          </p:cNvPr>
          <p:cNvSpPr/>
          <p:nvPr/>
        </p:nvSpPr>
        <p:spPr>
          <a:xfrm>
            <a:off x="5848350" y="1597025"/>
            <a:ext cx="495300" cy="495300"/>
          </a:xfrm>
          <a:prstGeom prst="ellipse">
            <a:avLst/>
          </a:prstGeom>
          <a:noFill/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890B70-7778-0BF7-AB1C-241C869481BD}"/>
              </a:ext>
            </a:extLst>
          </p:cNvPr>
          <p:cNvGrpSpPr/>
          <p:nvPr/>
        </p:nvGrpSpPr>
        <p:grpSpPr>
          <a:xfrm>
            <a:off x="6002482" y="1793875"/>
            <a:ext cx="187036" cy="104775"/>
            <a:chOff x="6473825" y="955675"/>
            <a:chExt cx="342900" cy="1397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9CC250-4753-2537-A034-3EB524A1133E}"/>
                </a:ext>
              </a:extLst>
            </p:cNvPr>
            <p:cNvCxnSpPr/>
            <p:nvPr/>
          </p:nvCxnSpPr>
          <p:spPr>
            <a:xfrm>
              <a:off x="647382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197E815-37B2-29F7-C699-11AD905A86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27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A090B71-A71E-EEF6-389F-C09473A880DB}"/>
              </a:ext>
            </a:extLst>
          </p:cNvPr>
          <p:cNvSpPr txBox="1"/>
          <p:nvPr/>
        </p:nvSpPr>
        <p:spPr>
          <a:xfrm>
            <a:off x="5196945" y="2967335"/>
            <a:ext cx="353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3D13D-60FC-867B-C95D-6B4CE6856F58}"/>
              </a:ext>
            </a:extLst>
          </p:cNvPr>
          <p:cNvSpPr txBox="1"/>
          <p:nvPr/>
        </p:nvSpPr>
        <p:spPr>
          <a:xfrm>
            <a:off x="5803019" y="3928469"/>
            <a:ext cx="492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?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587B8E-E789-1929-06BF-7CEFFC448C60}"/>
              </a:ext>
            </a:extLst>
          </p:cNvPr>
          <p:cNvCxnSpPr/>
          <p:nvPr/>
        </p:nvCxnSpPr>
        <p:spPr>
          <a:xfrm>
            <a:off x="-3397194" y="388408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C090F3-C0B7-0795-C505-AA1171618054}"/>
              </a:ext>
            </a:extLst>
          </p:cNvPr>
          <p:cNvCxnSpPr/>
          <p:nvPr/>
        </p:nvCxnSpPr>
        <p:spPr>
          <a:xfrm>
            <a:off x="13296003" y="308065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636AF2-B188-7D43-2CD3-985894B69774}"/>
              </a:ext>
            </a:extLst>
          </p:cNvPr>
          <p:cNvSpPr txBox="1"/>
          <p:nvPr/>
        </p:nvSpPr>
        <p:spPr>
          <a:xfrm>
            <a:off x="-2486626" y="2960757"/>
            <a:ext cx="2196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Thank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BAD034-102C-3135-891F-057F86224AB1}"/>
              </a:ext>
            </a:extLst>
          </p:cNvPr>
          <p:cNvCxnSpPr/>
          <p:nvPr/>
        </p:nvCxnSpPr>
        <p:spPr>
          <a:xfrm>
            <a:off x="6096000" y="-2388506"/>
            <a:ext cx="0" cy="108585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1FCEDF4-9CA9-422B-D071-45EA8DB25DB5}"/>
              </a:ext>
            </a:extLst>
          </p:cNvPr>
          <p:cNvSpPr/>
          <p:nvPr/>
        </p:nvSpPr>
        <p:spPr>
          <a:xfrm>
            <a:off x="5848350" y="-1305831"/>
            <a:ext cx="495300" cy="495300"/>
          </a:xfrm>
          <a:prstGeom prst="ellipse">
            <a:avLst/>
          </a:prstGeom>
          <a:noFill/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79AAA7-2E39-8209-AA50-E1EECB5B53FD}"/>
              </a:ext>
            </a:extLst>
          </p:cNvPr>
          <p:cNvGrpSpPr/>
          <p:nvPr/>
        </p:nvGrpSpPr>
        <p:grpSpPr>
          <a:xfrm>
            <a:off x="6002482" y="-1108981"/>
            <a:ext cx="187036" cy="104775"/>
            <a:chOff x="6473825" y="955675"/>
            <a:chExt cx="342900" cy="1397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390588C-AF9D-DA3A-AE96-24F89CFFF7BD}"/>
                </a:ext>
              </a:extLst>
            </p:cNvPr>
            <p:cNvCxnSpPr/>
            <p:nvPr/>
          </p:nvCxnSpPr>
          <p:spPr>
            <a:xfrm>
              <a:off x="647382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A4C77C-F793-069C-1AFA-B386C3865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27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E0F099A-4F2B-DDDA-3944-2607B794A7FF}"/>
              </a:ext>
            </a:extLst>
          </p:cNvPr>
          <p:cNvSpPr txBox="1"/>
          <p:nvPr/>
        </p:nvSpPr>
        <p:spPr>
          <a:xfrm>
            <a:off x="12326242" y="2967335"/>
            <a:ext cx="1459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371100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80BF871-F5CA-4023-9AF0-B36BC2E37415}"/>
              </a:ext>
            </a:extLst>
          </p:cNvPr>
          <p:cNvGrpSpPr/>
          <p:nvPr/>
        </p:nvGrpSpPr>
        <p:grpSpPr>
          <a:xfrm>
            <a:off x="3181350" y="514350"/>
            <a:ext cx="5829300" cy="5829300"/>
            <a:chOff x="4124325" y="752475"/>
            <a:chExt cx="5524500" cy="55245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93E09B7-780B-4BE0-A3B8-984113B89774}"/>
                </a:ext>
              </a:extLst>
            </p:cNvPr>
            <p:cNvSpPr/>
            <p:nvPr/>
          </p:nvSpPr>
          <p:spPr>
            <a:xfrm>
              <a:off x="4124325" y="752475"/>
              <a:ext cx="5524500" cy="5524500"/>
            </a:xfrm>
            <a:prstGeom prst="ellipse">
              <a:avLst/>
            </a:prstGeom>
            <a:pattFill prst="dotGrid">
              <a:fgClr>
                <a:schemeClr val="bg2">
                  <a:lumMod val="2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C197961-26A7-496A-8635-40C7A0587D36}"/>
                </a:ext>
              </a:extLst>
            </p:cNvPr>
            <p:cNvSpPr/>
            <p:nvPr/>
          </p:nvSpPr>
          <p:spPr>
            <a:xfrm>
              <a:off x="4124325" y="752475"/>
              <a:ext cx="5524500" cy="5524500"/>
            </a:xfrm>
            <a:prstGeom prst="ellipse">
              <a:avLst/>
            </a:prstGeom>
            <a:solidFill>
              <a:schemeClr val="bg2">
                <a:lumMod val="2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B0CBD8-6C79-49F0-BC96-F62C87195F9D}"/>
              </a:ext>
            </a:extLst>
          </p:cNvPr>
          <p:cNvCxnSpPr/>
          <p:nvPr/>
        </p:nvCxnSpPr>
        <p:spPr>
          <a:xfrm>
            <a:off x="3181350" y="388408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79A742-DD78-4414-88DE-69F5EBB0DE8C}"/>
              </a:ext>
            </a:extLst>
          </p:cNvPr>
          <p:cNvCxnSpPr/>
          <p:nvPr/>
        </p:nvCxnSpPr>
        <p:spPr>
          <a:xfrm>
            <a:off x="7258050" y="3080657"/>
            <a:ext cx="1752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675C7E-62E0-44C6-9365-0680DBCBCF33}"/>
              </a:ext>
            </a:extLst>
          </p:cNvPr>
          <p:cNvSpPr txBox="1"/>
          <p:nvPr/>
        </p:nvSpPr>
        <p:spPr>
          <a:xfrm>
            <a:off x="4091918" y="2960757"/>
            <a:ext cx="2196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Thank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6C1D4D-4093-4EA0-8FC1-9C1674CB5890}"/>
              </a:ext>
            </a:extLst>
          </p:cNvPr>
          <p:cNvCxnSpPr>
            <a:stCxn id="2" idx="0"/>
          </p:cNvCxnSpPr>
          <p:nvPr/>
        </p:nvCxnSpPr>
        <p:spPr>
          <a:xfrm>
            <a:off x="6096000" y="514350"/>
            <a:ext cx="0" cy="108585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FFCD2CA-E7B9-4084-A238-9F2DE856CA8B}"/>
              </a:ext>
            </a:extLst>
          </p:cNvPr>
          <p:cNvSpPr/>
          <p:nvPr/>
        </p:nvSpPr>
        <p:spPr>
          <a:xfrm>
            <a:off x="5848350" y="1597025"/>
            <a:ext cx="495300" cy="495300"/>
          </a:xfrm>
          <a:prstGeom prst="ellipse">
            <a:avLst/>
          </a:prstGeom>
          <a:noFill/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317CB4-94F0-4E81-BA3A-868E89759996}"/>
              </a:ext>
            </a:extLst>
          </p:cNvPr>
          <p:cNvGrpSpPr/>
          <p:nvPr/>
        </p:nvGrpSpPr>
        <p:grpSpPr>
          <a:xfrm>
            <a:off x="6002482" y="1793875"/>
            <a:ext cx="187036" cy="104775"/>
            <a:chOff x="6473825" y="955675"/>
            <a:chExt cx="342900" cy="1397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BAFFA72-BAE2-4848-9AC2-E579D72FA23C}"/>
                </a:ext>
              </a:extLst>
            </p:cNvPr>
            <p:cNvCxnSpPr/>
            <p:nvPr/>
          </p:nvCxnSpPr>
          <p:spPr>
            <a:xfrm>
              <a:off x="647382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254F28B-3B7F-4C3D-A3AE-F975A1D9B4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275" y="955675"/>
              <a:ext cx="171450" cy="1397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023B1A-9F19-89D4-4469-97AC23C91EEA}"/>
              </a:ext>
            </a:extLst>
          </p:cNvPr>
          <p:cNvSpPr txBox="1"/>
          <p:nvPr/>
        </p:nvSpPr>
        <p:spPr>
          <a:xfrm>
            <a:off x="6288289" y="2967335"/>
            <a:ext cx="1459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Segoe UI Semibold" panose="020B0702040204020203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62703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3018</TotalTime>
  <Words>2350</Words>
  <Application>Microsoft Office PowerPoint</Application>
  <PresentationFormat>Widescreen</PresentationFormat>
  <Paragraphs>382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Yu Gothic UI Semibold</vt:lpstr>
      <vt:lpstr>__fkGroteskNeue_598ab8</vt:lpstr>
      <vt:lpstr>Arial</vt:lpstr>
      <vt:lpstr>Arial Narrow</vt:lpstr>
      <vt:lpstr>Bahnschrift</vt:lpstr>
      <vt:lpstr>Bahnschrift SemiBold</vt:lpstr>
      <vt:lpstr>Calibri</vt:lpstr>
      <vt:lpstr>Calibri Light</vt:lpstr>
      <vt:lpstr>Corbel</vt:lpstr>
      <vt:lpstr>OCR A Extended</vt:lpstr>
      <vt:lpstr>Segoe UI</vt:lpstr>
      <vt:lpstr>Segoe UI Semibold</vt:lpstr>
      <vt:lpstr>var(--font-fk-grotesk)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Rhofi</dc:creator>
  <cp:lastModifiedBy>Mohammed Naseer Sihanas</cp:lastModifiedBy>
  <cp:revision>91</cp:revision>
  <dcterms:created xsi:type="dcterms:W3CDTF">2018-07-17T06:47:50Z</dcterms:created>
  <dcterms:modified xsi:type="dcterms:W3CDTF">2024-07-27T05:37:35Z</dcterms:modified>
</cp:coreProperties>
</file>