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67" r:id="rId2"/>
    <p:sldId id="257" r:id="rId3"/>
    <p:sldId id="259" r:id="rId4"/>
    <p:sldId id="265" r:id="rId5"/>
    <p:sldId id="258" r:id="rId6"/>
    <p:sldId id="261" r:id="rId7"/>
    <p:sldId id="263" r:id="rId8"/>
    <p:sldId id="264" r:id="rId9"/>
    <p:sldId id="260" r:id="rId10"/>
    <p:sldId id="281"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5" orient="horz" pos="864" userDrawn="1">
          <p15:clr>
            <a:srgbClr val="A4A3A4"/>
          </p15:clr>
        </p15:guide>
        <p15:guide id="6" orient="horz" pos="403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3838"/>
    <a:srgbClr val="181717"/>
    <a:srgbClr val="767171"/>
    <a:srgbClr val="FFFFFF"/>
    <a:srgbClr val="FFDE75"/>
    <a:srgbClr val="C5C5C5"/>
    <a:srgbClr val="A3A2A2"/>
    <a:srgbClr val="FFC000"/>
    <a:srgbClr val="3A3A3A"/>
    <a:srgbClr val="FF5C0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27395" autoAdjust="0"/>
  </p:normalViewPr>
  <p:slideViewPr>
    <p:cSldViewPr snapToGrid="0" showGuides="1">
      <p:cViewPr varScale="1">
        <p:scale>
          <a:sx n="15" d="100"/>
          <a:sy n="15" d="100"/>
        </p:scale>
        <p:origin x="2778" y="54"/>
      </p:cViewPr>
      <p:guideLst>
        <p:guide pos="3840"/>
        <p:guide orient="horz" pos="864"/>
        <p:guide orient="horz" pos="403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Naseer Sihanas" userId="baf10d46-ca0e-4f93-8b9a-bd1fa4bc7e8f" providerId="ADAL" clId="{34805F04-B724-4FD7-BF08-8A6F144C852D}"/>
    <pc:docChg chg="modSld">
      <pc:chgData name="Mohammed Naseer Sihanas" userId="baf10d46-ca0e-4f93-8b9a-bd1fa4bc7e8f" providerId="ADAL" clId="{34805F04-B724-4FD7-BF08-8A6F144C852D}" dt="2024-07-25T18:30:55.967" v="7" actId="20577"/>
      <pc:docMkLst>
        <pc:docMk/>
      </pc:docMkLst>
      <pc:sldChg chg="modNotesTx">
        <pc:chgData name="Mohammed Naseer Sihanas" userId="baf10d46-ca0e-4f93-8b9a-bd1fa4bc7e8f" providerId="ADAL" clId="{34805F04-B724-4FD7-BF08-8A6F144C852D}" dt="2024-07-25T18:30:55.967" v="7" actId="20577"/>
        <pc:sldMkLst>
          <pc:docMk/>
          <pc:sldMk cId="308613212" sldId="25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925AE6-CD04-4C7E-91F5-B8F37F2D151A}" type="datetimeFigureOut">
              <a:rPr lang="en-US" smtClean="0"/>
              <a:t>7/26/2024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265B9-C8E3-4D2D-B52C-54B264F93CB4}" type="slidenum">
              <a:rPr lang="en-US" smtClean="0"/>
              <a:t>‹#›</a:t>
            </a:fld>
            <a:endParaRPr lang="en-US"/>
          </a:p>
        </p:txBody>
      </p:sp>
    </p:spTree>
    <p:extLst>
      <p:ext uri="{BB962C8B-B14F-4D97-AF65-F5344CB8AC3E}">
        <p14:creationId xmlns:p14="http://schemas.microsoft.com/office/powerpoint/2010/main" val="309970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effectLst/>
                <a:latin typeface="__fkGroteskNeue_598ab8"/>
              </a:rPr>
              <a:t>Time Management</a:t>
            </a:r>
          </a:p>
          <a:p>
            <a:endParaRPr lang="en-US" b="1" i="0" dirty="0">
              <a:effectLst/>
              <a:latin typeface="__fkGroteskNeue_598ab8"/>
            </a:endParaRPr>
          </a:p>
          <a:p>
            <a:pPr algn="l">
              <a:buFont typeface="Arial" panose="020B0604020202020204" pitchFamily="34" charset="0"/>
              <a:buChar char="•"/>
            </a:pPr>
            <a:r>
              <a:rPr lang="en-GB" b="0" i="0" dirty="0">
                <a:effectLst/>
                <a:latin typeface="__fkGroteskNeue_598ab8"/>
              </a:rPr>
              <a:t>Effective time management is crucial for successful event planning, as it ensures that all tasks are completed on schedule.</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Timeline Creation: Develop a comprehensive timeline that outlines all key milestones leading up to the event. This should include deadlines for booking vendors, sending invitations, and finalizing logistics.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Task Delegation: Assign specific tasks to team members based on their strengths and expertise. This not only distributes the workload but also empowers team members to take ownership of their responsibilities.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Regular Check-Ins: Schedule regular check-in meetings to monitor progress, address any delays, and adjust timelines as necessary. This keeps everyone accountable and ensures that the planning stays on track.</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Buffer Time: Build in buffer time for each task to account for unexpected delays. This helps to mitigate the stress of last-minute changes and allows for flexibility in the planning process.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Prioritization: Use prioritization techniques, such as the Eisenhower Matrix, to distinguish between urgent and important tasks. This helps focus efforts on what truly matters for the event's success.</a:t>
            </a:r>
          </a:p>
          <a:p>
            <a:pPr algn="l">
              <a:buFont typeface="Arial" panose="020B0604020202020204" pitchFamily="34" charset="0"/>
              <a:buChar char="•"/>
            </a:pPr>
            <a:endParaRPr lang="en-GB" b="0" i="0" dirty="0">
              <a:effectLst/>
              <a:latin typeface="__fkGroteskNeue_598ab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effectLst/>
                <a:latin typeface="var(--font-fk-grotesk)"/>
              </a:rPr>
              <a:t>Logistics Challenges</a:t>
            </a:r>
          </a:p>
          <a:p>
            <a:endParaRPr lang="en-US" b="1" dirty="0"/>
          </a:p>
          <a:p>
            <a:pPr algn="l">
              <a:buFont typeface="Arial" panose="020B0604020202020204" pitchFamily="34" charset="0"/>
              <a:buChar char="•"/>
            </a:pPr>
            <a:r>
              <a:rPr lang="en-GB" b="0" i="0" dirty="0">
                <a:effectLst/>
                <a:latin typeface="__fkGroteskNeue_598ab8"/>
              </a:rPr>
              <a:t>Logistical challenges are among the most common issues faced in event planning and can significantly impact the overall success of an event.</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Venue Selection: Finding an appropriate venue that meets the event's needs can be challenging. Considerations include location, capacity, accessibility, and amenities. It’s essential to book early to secure the desired venue.</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Transportation: Arranging transportation for guests, especially if the venue is remote or if there are multiple locations involved, can be complex. This includes coordinating parking, shuttles, or public transport options.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Catering: Catering can present logistical hurdles, such as dietary restrictions, food quantity estimates, and timing for meal service. It's crucial to communicate clearly with the catering team and confirm details well in advance.</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Setup and Breakdown: Coordinating the setup and breakdown of the event requires careful planning. This includes scheduling the delivery of materials, arranging furniture, and ensuring that all equipment is in place before guests arrive.</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Contingency Planning: Always have a backup plan in place for logistical challenges. For instance, if a vendor fails to deliver on time, having alternative options can save the day.</a:t>
            </a:r>
          </a:p>
          <a:p>
            <a:endParaRPr lang="en-US" b="1" i="0" dirty="0">
              <a:effectLst/>
              <a:latin typeface="__fkGroteskNeue_598ab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effectLst/>
                <a:latin typeface="var(--font-fk-grotesk)"/>
              </a:rPr>
              <a:t>Budget Constraints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effectLst/>
              <a:latin typeface="var(--font-fk-grotesk)"/>
            </a:endParaRPr>
          </a:p>
          <a:p>
            <a:pPr algn="l">
              <a:buFont typeface="Arial" panose="020B0604020202020204" pitchFamily="34" charset="0"/>
              <a:buChar char="•"/>
            </a:pPr>
            <a:r>
              <a:rPr lang="en-GB" b="0" i="0" dirty="0">
                <a:effectLst/>
                <a:latin typeface="__fkGroteskNeue_598ab8"/>
              </a:rPr>
              <a:t>Budget constraints are a significant factor in event planning and can affect every aspect of the event.</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Cost Management: It’s essential to create a detailed budget that outlines all potential expenses, including venue rental, catering, entertainment, marketing, and staffing. Regularly reviewing this budget helps prevent overspending.</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Prioritization: Identify which elements of the event are most critical to its success. This allows you to allocate funds effectively and make informed decisions about where to cut costs if necessary.</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Negotiation: Don’t hesitate to negotiate with vendors and suppliers. Many are willing to work within your budget, especially if you can offer them repeat business or referrals.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Sponsorships and Partnerships: Seek out sponsorships or partnerships to help offset costs. This could involve local businesses or organizations that align with the event’s goals and audience.</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Contingency Fund: Set aside a small percentage of the budget as a contingency fund to cover unexpected expenses. This can provide a safety net and reduce stress during the planning process.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effectLst/>
              <a:latin typeface="var(--font-fk-grotesk)"/>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effectLst/>
                <a:latin typeface="var(--font-fk-grotesk)"/>
              </a:rPr>
              <a:t>Technical Difficulties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effectLst/>
              <a:latin typeface="var(--font-fk-grotesk)"/>
            </a:endParaRPr>
          </a:p>
          <a:p>
            <a:pPr algn="l">
              <a:buFont typeface="Arial" panose="020B0604020202020204" pitchFamily="34" charset="0"/>
              <a:buChar char="•"/>
            </a:pPr>
            <a:r>
              <a:rPr lang="en-GB" b="0" i="0" dirty="0">
                <a:effectLst/>
                <a:latin typeface="__fkGroteskNeue_598ab8"/>
              </a:rPr>
              <a:t>Technical difficulties can disrupt the flow of an event and negatively impact the attendee experience, making it essential to address these challenges proactively.</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Equipment Testing: Prior to the event, conduct thorough testing of all technical equipment, including audio-visual gear, microphones, projectors, and lighting. This helps identify potential issues before they arise.</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Technical Support: Have a dedicated technical support team on-site during the event to address any issues that may occur. This ensures that problems can be resolved quickly without disrupting the event.</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Backup Systems: Prepare backup systems for critical technology, such as additional microphones, spare cables, or even a secondary projector. This can prevent significant disruptions in case of equipment failure.</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Training: Ensure that all staff members are trained in using the technical equipment and understand how to troubleshoot common issues. This empowers the team to handle minor problems without needing external assistance.</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Contingency Plans: Develop contingency plans for potential technical failures. For example, if a presentation fails, have printed materials or alternative methods of delivering information ready to go.</a:t>
            </a:r>
          </a:p>
        </p:txBody>
      </p:sp>
      <p:sp>
        <p:nvSpPr>
          <p:cNvPr id="4" name="Slide Number Placeholder 3"/>
          <p:cNvSpPr>
            <a:spLocks noGrp="1"/>
          </p:cNvSpPr>
          <p:nvPr>
            <p:ph type="sldNum" sz="quarter" idx="5"/>
          </p:nvPr>
        </p:nvSpPr>
        <p:spPr/>
        <p:txBody>
          <a:bodyPr/>
          <a:lstStyle/>
          <a:p>
            <a:fld id="{DEA265B9-C8E3-4D2D-B52C-54B264F93CB4}" type="slidenum">
              <a:rPr lang="en-US" smtClean="0"/>
              <a:t>2</a:t>
            </a:fld>
            <a:endParaRPr lang="en-US"/>
          </a:p>
        </p:txBody>
      </p:sp>
    </p:spTree>
    <p:extLst>
      <p:ext uri="{BB962C8B-B14F-4D97-AF65-F5344CB8AC3E}">
        <p14:creationId xmlns:p14="http://schemas.microsoft.com/office/powerpoint/2010/main" val="7888397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GB" sz="2400" b="1" i="0" dirty="0">
                <a:effectLst/>
                <a:latin typeface="Arial" panose="020B0604020202020204" pitchFamily="34" charset="0"/>
                <a:cs typeface="Arial" panose="020B0604020202020204" pitchFamily="34" charset="0"/>
              </a:rPr>
              <a:t>Defining the problem </a:t>
            </a:r>
          </a:p>
          <a:p>
            <a:pPr algn="l">
              <a:buFont typeface="Arial" panose="020B0604020202020204" pitchFamily="34" charset="0"/>
              <a:buChar char="•"/>
            </a:pPr>
            <a:endParaRPr lang="en-GB" sz="1800" b="0" i="0" dirty="0">
              <a:effectLst/>
              <a:latin typeface="Arial" panose="020B0604020202020204" pitchFamily="34" charset="0"/>
              <a:cs typeface="Arial" panose="020B0604020202020204" pitchFamily="34" charset="0"/>
            </a:endParaRPr>
          </a:p>
          <a:p>
            <a:pPr algn="l">
              <a:buFont typeface="Arial" panose="020B0604020202020204" pitchFamily="34" charset="0"/>
              <a:buChar char="•"/>
            </a:pPr>
            <a:r>
              <a:rPr lang="en-GB" sz="1800" b="0" i="0" dirty="0">
                <a:effectLst/>
                <a:latin typeface="Arial" panose="020B0604020202020204" pitchFamily="34" charset="0"/>
                <a:cs typeface="Arial" panose="020B0604020202020204" pitchFamily="34" charset="0"/>
              </a:rPr>
              <a:t>Defining the problem is the crucial first step in any problem-solving process. It sets the stage for everything that follows.</a:t>
            </a:r>
          </a:p>
          <a:p>
            <a:pPr algn="l">
              <a:buFont typeface="Arial" panose="020B0604020202020204" pitchFamily="34" charset="0"/>
              <a:buChar char="•"/>
            </a:pPr>
            <a:endParaRPr lang="en-GB" sz="1800" b="0" i="0" dirty="0">
              <a:effectLst/>
              <a:latin typeface="Arial" panose="020B0604020202020204" pitchFamily="34" charset="0"/>
              <a:cs typeface="Arial" panose="020B0604020202020204" pitchFamily="34" charset="0"/>
            </a:endParaRPr>
          </a:p>
          <a:p>
            <a:pPr algn="l">
              <a:buFont typeface="Arial" panose="020B0604020202020204" pitchFamily="34" charset="0"/>
              <a:buChar char="•"/>
            </a:pPr>
            <a:r>
              <a:rPr lang="en-GB" sz="1800" b="0" i="0" dirty="0">
                <a:effectLst/>
                <a:latin typeface="Arial" panose="020B0604020202020204" pitchFamily="34" charset="0"/>
                <a:cs typeface="Arial" panose="020B0604020202020204" pitchFamily="34" charset="0"/>
              </a:rPr>
              <a:t>Start by gathering data and insights to understand the issue fully. This may involve talking to stakeholders, reviewing past events, or analysing attendance records.</a:t>
            </a:r>
          </a:p>
          <a:p>
            <a:pPr algn="l">
              <a:buFont typeface="Arial" panose="020B0604020202020204" pitchFamily="34" charset="0"/>
              <a:buChar char="•"/>
            </a:pPr>
            <a:endParaRPr lang="en-GB" sz="1800" b="0" i="0" dirty="0">
              <a:effectLst/>
              <a:latin typeface="Arial" panose="020B0604020202020204" pitchFamily="34" charset="0"/>
              <a:cs typeface="Arial" panose="020B0604020202020204" pitchFamily="34" charset="0"/>
            </a:endParaRPr>
          </a:p>
          <a:p>
            <a:pPr algn="l">
              <a:buFont typeface="Arial" panose="020B0604020202020204" pitchFamily="34" charset="0"/>
              <a:buChar char="•"/>
            </a:pPr>
            <a:r>
              <a:rPr lang="en-GB" sz="1800" b="0" i="0" dirty="0">
                <a:effectLst/>
                <a:latin typeface="Arial" panose="020B0604020202020204" pitchFamily="34" charset="0"/>
                <a:cs typeface="Arial" panose="020B0604020202020204" pitchFamily="34" charset="0"/>
              </a:rPr>
              <a:t>Clearly articulate the problem statement. For example, instead of saying, "We have low attendance," specify, "We had a 30% drop in attendance compared to last year’s event.“</a:t>
            </a:r>
          </a:p>
          <a:p>
            <a:pPr algn="l">
              <a:buFont typeface="Arial" panose="020B0604020202020204" pitchFamily="34" charset="0"/>
              <a:buChar char="•"/>
            </a:pPr>
            <a:endParaRPr lang="en-GB" sz="1800" b="0" i="0" dirty="0">
              <a:effectLst/>
              <a:latin typeface="Arial" panose="020B0604020202020204" pitchFamily="34" charset="0"/>
              <a:cs typeface="Arial" panose="020B0604020202020204" pitchFamily="34" charset="0"/>
            </a:endParaRPr>
          </a:p>
          <a:p>
            <a:pPr algn="l">
              <a:buFont typeface="Arial" panose="020B0604020202020204" pitchFamily="34" charset="0"/>
              <a:buChar char="•"/>
            </a:pPr>
            <a:r>
              <a:rPr lang="en-GB" sz="1800" b="0" i="0" dirty="0">
                <a:effectLst/>
                <a:latin typeface="Arial" panose="020B0604020202020204" pitchFamily="34" charset="0"/>
                <a:cs typeface="Arial" panose="020B0604020202020204" pitchFamily="34" charset="0"/>
              </a:rPr>
              <a:t>This clarity helps ensure that everyone involved understands the problem and is aligned on what needs to be addressed.</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effectLst/>
                <a:latin typeface="var(--font-fk-grotesk)"/>
              </a:rPr>
              <a:t>Generate Solutions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effectLst/>
              <a:latin typeface="var(--font-fk-grotesk)"/>
            </a:endParaRPr>
          </a:p>
          <a:p>
            <a:pPr algn="l">
              <a:buFont typeface="Arial" panose="020B0604020202020204" pitchFamily="34" charset="0"/>
              <a:buChar char="•"/>
            </a:pPr>
            <a:r>
              <a:rPr lang="en-GB" b="0" i="0" dirty="0">
                <a:effectLst/>
                <a:latin typeface="__fkGroteskNeue_598ab8"/>
              </a:rPr>
              <a:t>Once the problem is defined, the next step is to brainstorm potential solutions. This is where creativity comes into play.</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Encourage open dialogue and idea generation among team members. Techniques such as brainstorming sessions or mind mapping can be effective.</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Aim for quantity over quality at this stage—encourage all ideas, no matter how unconventional they may seem.</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After generating a list of potential solutions, categorize them based on feasibility, cost, and impact. This will help streamline the evaluation process.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effectLst/>
              <a:latin typeface="var(--font-fk-grotesk)"/>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effectLst/>
                <a:latin typeface="var(--font-fk-grotesk)"/>
              </a:rPr>
              <a:t>Select the Best Solution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effectLst/>
              <a:latin typeface="var(--font-fk-grotesk)"/>
            </a:endParaRPr>
          </a:p>
          <a:p>
            <a:pPr algn="l">
              <a:buFont typeface="Arial" panose="020B0604020202020204" pitchFamily="34" charset="0"/>
              <a:buChar char="•"/>
            </a:pPr>
            <a:r>
              <a:rPr lang="en-GB" b="0" i="0" dirty="0">
                <a:effectLst/>
                <a:latin typeface="__fkGroteskNeue_598ab8"/>
              </a:rPr>
              <a:t>After generating a list of solutions, it's essential to evaluate each option critically.</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Consider using a decision matrix to weigh the pros and cons of each solution against criteria such as cost, time, resources, and potential impact.</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Engage stakeholders in this process to gather diverse perspectives and ensure buy-in for the selected solution.</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The goal here is to choose a solution that not only addresses the problem effectively but is also practical and sustainable in the long run.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effectLst/>
              <a:latin typeface="var(--font-fk-grotesk)"/>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effectLst/>
                <a:latin typeface="var(--font-fk-grotesk)"/>
              </a:rPr>
              <a:t> </a:t>
            </a:r>
            <a:r>
              <a:rPr lang="en-US" b="1" i="0" dirty="0">
                <a:effectLst/>
                <a:latin typeface="var(--font-fk-grotesk)"/>
              </a:rPr>
              <a:t>Implement the Solution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effectLst/>
              <a:latin typeface="var(--font-fk-grotesk)"/>
            </a:endParaRPr>
          </a:p>
          <a:p>
            <a:pPr algn="l">
              <a:buFont typeface="Arial" panose="020B0604020202020204" pitchFamily="34" charset="0"/>
              <a:buChar char="•"/>
            </a:pPr>
            <a:r>
              <a:rPr lang="en-GB" b="0" i="0" dirty="0">
                <a:effectLst/>
                <a:latin typeface="__fkGroteskNeue_598ab8"/>
              </a:rPr>
              <a:t>Implementation is where planning meets action. It’s crucial to have a clear plan for how the chosen solution will be executed.</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Assign roles and responsibilities to team members, ensuring everyone knows their tasks and deadlines.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Communicate the plan to all stakeholders to keep everyone informed and aligned.</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Monitor the implementation process closely, and be prepared to make adjustments as necessary. Flexibility is key to addressing any unforeseen challenges that may arise.</a:t>
            </a:r>
          </a:p>
        </p:txBody>
      </p:sp>
      <p:sp>
        <p:nvSpPr>
          <p:cNvPr id="4" name="Slide Number Placeholder 3"/>
          <p:cNvSpPr>
            <a:spLocks noGrp="1"/>
          </p:cNvSpPr>
          <p:nvPr>
            <p:ph type="sldNum" sz="quarter" idx="5"/>
          </p:nvPr>
        </p:nvSpPr>
        <p:spPr/>
        <p:txBody>
          <a:bodyPr/>
          <a:lstStyle/>
          <a:p>
            <a:fld id="{DEA265B9-C8E3-4D2D-B52C-54B264F93CB4}" type="slidenum">
              <a:rPr lang="en-US" smtClean="0"/>
              <a:t>3</a:t>
            </a:fld>
            <a:endParaRPr lang="en-US"/>
          </a:p>
        </p:txBody>
      </p:sp>
    </p:spTree>
    <p:extLst>
      <p:ext uri="{BB962C8B-B14F-4D97-AF65-F5344CB8AC3E}">
        <p14:creationId xmlns:p14="http://schemas.microsoft.com/office/powerpoint/2010/main" val="36114712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effectLst/>
                <a:latin typeface="var(--font-fk-grotesk)"/>
              </a:rPr>
              <a:t>Identify Objectives</a:t>
            </a:r>
          </a:p>
          <a:p>
            <a:endParaRPr lang="en-US" dirty="0"/>
          </a:p>
          <a:p>
            <a:pPr algn="l">
              <a:buFont typeface="Arial" panose="020B0604020202020204" pitchFamily="34" charset="0"/>
              <a:buChar char="•"/>
            </a:pPr>
            <a:r>
              <a:rPr lang="en-GB" b="0" i="0" dirty="0">
                <a:effectLst/>
                <a:latin typeface="__fkGroteskNeue_598ab8"/>
              </a:rPr>
              <a:t>Begin by emphasizing the importance of clearly defining objectives. This is the foundation of the entire critical thinking process.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Objectives should be specific and aligned with the overall mission and vision of the organization.</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Encourage the audience to consider questions like: What exactly do we want to achieve? Why is this objective important?</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Discuss the need to involve relevant stakeholders in this step to ensure that all perspectives are considered, which can lead to more comprehensive and inclusive objectives.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Highlight that well-defined objectives provide direction and serve as a benchmark for measuring success later in the process.</a:t>
            </a:r>
          </a:p>
          <a:p>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effectLst/>
                <a:latin typeface="var(--font-fk-grotesk)"/>
              </a:rPr>
              <a:t>Research and Analyze</a:t>
            </a:r>
          </a:p>
          <a:p>
            <a:endParaRPr lang="en-US" dirty="0"/>
          </a:p>
          <a:p>
            <a:pPr algn="l">
              <a:buFont typeface="Arial" panose="020B0604020202020204" pitchFamily="34" charset="0"/>
              <a:buChar char="•"/>
            </a:pPr>
            <a:r>
              <a:rPr lang="en-GB" b="0" i="0" dirty="0">
                <a:effectLst/>
                <a:latin typeface="__fkGroteskNeue_598ab8"/>
              </a:rPr>
              <a:t>Explain that this step involves gathering data and insights that are crucial for informed decision-making.</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Stress the importance of using diverse sources of information, including market research, stakeholder feedback, and industry trends.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Discuss techniques such as SWOT analysis to evaluate internal strengths and weaknesses, as well as external opportunities and threats.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Mention the need to critically assess the reliability and relevance of the data collected. Not all information is equally valuable.</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Encourage the audience to think about how this analysis can reveal potential challenges and opportunities that may impact the objectives set in the previous step.</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effectLst/>
                <a:latin typeface="var(--font-fk-grotesk)"/>
              </a:rPr>
              <a:t>Develop Action Plans</a:t>
            </a:r>
          </a:p>
          <a:p>
            <a:endParaRPr lang="en-US" dirty="0"/>
          </a:p>
          <a:p>
            <a:pPr algn="l">
              <a:buFont typeface="Arial" panose="020B0604020202020204" pitchFamily="34" charset="0"/>
              <a:buChar char="•"/>
            </a:pPr>
            <a:r>
              <a:rPr lang="en-GB" b="0" i="0" dirty="0">
                <a:effectLst/>
                <a:latin typeface="__fkGroteskNeue_598ab8"/>
              </a:rPr>
              <a:t>Transition to the importance of turning objectives into actionable steps. This is where strategy begins to take shape.</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Explain the SMART criteria for goal-setting: Specific, Measurable, Achievable, Relevant, and Time-bound. This ensures that the action plans are clear and attainable.</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Discuss the significance of assigning roles and responsibilities to team members. This fosters accountability and ensures everyone knows their part in the execution process.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Highlight the need for flexibility in action plans. As new information emerges, plans may need to be adjusted to stay aligned with objectives.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Encourage the audience to think about potential obstacles and how they might plan for contingencies.</a:t>
            </a:r>
          </a:p>
          <a:p>
            <a:pPr algn="l">
              <a:buFont typeface="Arial" panose="020B0604020202020204" pitchFamily="34" charset="0"/>
              <a:buChar char="•"/>
            </a:pPr>
            <a:endParaRPr lang="en-GB" b="0" i="0" dirty="0">
              <a:effectLst/>
              <a:latin typeface="__fkGroteskNeue_598ab8"/>
            </a:endParaRPr>
          </a:p>
          <a:p>
            <a:pPr algn="l"/>
            <a:r>
              <a:rPr lang="en-GB" b="0" i="0" dirty="0">
                <a:effectLst/>
                <a:latin typeface="var(--font-fk-grotesk)"/>
              </a:rPr>
              <a:t> </a:t>
            </a:r>
            <a:r>
              <a:rPr lang="en-GB" b="1" i="0" dirty="0">
                <a:effectLst/>
                <a:latin typeface="var(--font-fk-grotesk)"/>
              </a:rPr>
              <a:t>Implementation</a:t>
            </a:r>
          </a:p>
          <a:p>
            <a:pPr algn="l"/>
            <a:endParaRPr lang="en-GB" b="1" i="0" dirty="0">
              <a:effectLst/>
              <a:latin typeface="var(--font-fk-grotesk)"/>
            </a:endParaRPr>
          </a:p>
          <a:p>
            <a:pPr algn="l">
              <a:buFont typeface="Arial" panose="020B0604020202020204" pitchFamily="34" charset="0"/>
              <a:buChar char="•"/>
            </a:pPr>
            <a:r>
              <a:rPr lang="en-GB" b="0" i="0" dirty="0">
                <a:effectLst/>
                <a:latin typeface="__fkGroteskNeue_598ab8"/>
              </a:rPr>
              <a:t>Explain that implementation is where the plans are put into action. It’s crucial for translating strategy into results.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Emphasize the importance of effective communication during this phase. Team members should be kept informed and engaged to ensure smooth execution.</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Discuss the role of monitoring progress. This can include regular check-ins, status updates, and performance metrics to gauge how well the implementation is going.</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Encourage the audience to foster a collaborative environment where team members feel comfortable sharing challenges and successes.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Mention that flexibility is key during implementation; being open to adjustments based on real-time feedback can lead to better outcomes.</a:t>
            </a:r>
          </a:p>
          <a:p>
            <a:pPr algn="l">
              <a:buFont typeface="Arial" panose="020B0604020202020204" pitchFamily="34" charset="0"/>
              <a:buChar char="•"/>
            </a:pPr>
            <a:endParaRPr lang="en-GB" b="0" i="0" dirty="0">
              <a:effectLst/>
              <a:latin typeface="__fkGroteskNeue_598ab8"/>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i="0" dirty="0">
                <a:effectLst/>
                <a:latin typeface="var(--font-fk-grotesk)"/>
              </a:rPr>
              <a:t>Evaluation and Adjustment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b="1" i="0" dirty="0">
              <a:effectLst/>
              <a:latin typeface="var(--font-fk-grotesk)"/>
            </a:endParaRPr>
          </a:p>
          <a:p>
            <a:pPr algn="l">
              <a:buFont typeface="Arial" panose="020B0604020202020204" pitchFamily="34" charset="0"/>
              <a:buChar char="•"/>
            </a:pPr>
            <a:r>
              <a:rPr lang="en-GB" b="0" i="0" dirty="0">
                <a:effectLst/>
                <a:latin typeface="__fkGroteskNeue_598ab8"/>
              </a:rPr>
              <a:t>Conclude with the evaluation and adjustment phase, which is vital for continuous improvement.</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Explain that this step involves assessing the outcomes against the objectives set at the beginning. Ask: Did we achieve what we intended?</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Discuss the importance of collecting feedback from all stakeholders involved. This can provide valuable insights into what worked well and what didn’t.</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Highlight the need to </a:t>
            </a:r>
            <a:r>
              <a:rPr lang="en-GB" b="0" i="0" dirty="0" err="1">
                <a:effectLst/>
                <a:latin typeface="__fkGroteskNeue_598ab8"/>
              </a:rPr>
              <a:t>analyze</a:t>
            </a:r>
            <a:r>
              <a:rPr lang="en-GB" b="0" i="0" dirty="0">
                <a:effectLst/>
                <a:latin typeface="__fkGroteskNeue_598ab8"/>
              </a:rPr>
              <a:t> performance data critically. This can help identify gaps or areas for improvement.</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Stress that adjustments should be made based on this evaluation to refine strategies and enhance future planning and execution efforts.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Encourage a mindset of learning and adaptation, reinforcing that critical thinking is an ongoing process rather than a one-time activity.</a:t>
            </a:r>
          </a:p>
          <a:p>
            <a:pPr algn="l">
              <a:buFont typeface="Arial" panose="020B0604020202020204" pitchFamily="34" charset="0"/>
              <a:buChar char="•"/>
            </a:pPr>
            <a:endParaRPr lang="en-GB" b="0" i="0" dirty="0">
              <a:effectLst/>
              <a:latin typeface="__fkGroteskNeue_598ab8"/>
            </a:endParaRPr>
          </a:p>
          <a:p>
            <a:endParaRPr lang="en-US" dirty="0"/>
          </a:p>
        </p:txBody>
      </p:sp>
      <p:sp>
        <p:nvSpPr>
          <p:cNvPr id="4" name="Slide Number Placeholder 3"/>
          <p:cNvSpPr>
            <a:spLocks noGrp="1"/>
          </p:cNvSpPr>
          <p:nvPr>
            <p:ph type="sldNum" sz="quarter" idx="5"/>
          </p:nvPr>
        </p:nvSpPr>
        <p:spPr/>
        <p:txBody>
          <a:bodyPr/>
          <a:lstStyle/>
          <a:p>
            <a:fld id="{DEA265B9-C8E3-4D2D-B52C-54B264F93CB4}" type="slidenum">
              <a:rPr lang="en-US" smtClean="0"/>
              <a:t>4</a:t>
            </a:fld>
            <a:endParaRPr lang="en-US"/>
          </a:p>
        </p:txBody>
      </p:sp>
    </p:spTree>
    <p:extLst>
      <p:ext uri="{BB962C8B-B14F-4D97-AF65-F5344CB8AC3E}">
        <p14:creationId xmlns:p14="http://schemas.microsoft.com/office/powerpoint/2010/main" val="16068361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effectLst/>
                <a:latin typeface="var(--font-fk-grotesk)"/>
              </a:rPr>
              <a:t>5 Whys</a:t>
            </a:r>
          </a:p>
          <a:p>
            <a:endParaRPr lang="en-US" dirty="0"/>
          </a:p>
          <a:p>
            <a:pPr algn="l">
              <a:buFont typeface="Arial" panose="020B0604020202020204" pitchFamily="34" charset="0"/>
              <a:buChar char="•"/>
            </a:pPr>
            <a:r>
              <a:rPr lang="en-GB" b="0" i="0" dirty="0">
                <a:effectLst/>
                <a:latin typeface="__fkGroteskNeue_598ab8"/>
              </a:rPr>
              <a:t>The 5 Whys technique is a simple yet powerful tool for root cause analysis. It involves asking "why" multiple times—typically five—to dig deeper into the underlying causes of a problem.</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For example, if attendance is low, you might start with "Why is attendance low?" and continue to ask "why" for each subsequent answer.</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This method helps uncover the root cause rather than just addressing superficial symptoms, leading to more effective solutions.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It encourages critical thinking and can be used in team discussions to foster a deeper understanding of the problem.</a:t>
            </a:r>
          </a:p>
          <a:p>
            <a:endParaRPr lang="en-US" dirty="0"/>
          </a:p>
        </p:txBody>
      </p:sp>
      <p:sp>
        <p:nvSpPr>
          <p:cNvPr id="4" name="Slide Number Placeholder 3"/>
          <p:cNvSpPr>
            <a:spLocks noGrp="1"/>
          </p:cNvSpPr>
          <p:nvPr>
            <p:ph type="sldNum" sz="quarter" idx="5"/>
          </p:nvPr>
        </p:nvSpPr>
        <p:spPr/>
        <p:txBody>
          <a:bodyPr/>
          <a:lstStyle/>
          <a:p>
            <a:fld id="{DEA265B9-C8E3-4D2D-B52C-54B264F93CB4}" type="slidenum">
              <a:rPr lang="en-US" smtClean="0"/>
              <a:t>6</a:t>
            </a:fld>
            <a:endParaRPr lang="en-US"/>
          </a:p>
        </p:txBody>
      </p:sp>
    </p:spTree>
    <p:extLst>
      <p:ext uri="{BB962C8B-B14F-4D97-AF65-F5344CB8AC3E}">
        <p14:creationId xmlns:p14="http://schemas.microsoft.com/office/powerpoint/2010/main" val="9007594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GB" b="1" i="0" dirty="0">
                <a:effectLst/>
                <a:latin typeface="__fkGroteskNeue_598ab8"/>
              </a:rPr>
              <a:t>CATWOE</a:t>
            </a:r>
          </a:p>
          <a:p>
            <a:pPr algn="l">
              <a:buFont typeface="Arial" panose="020B0604020202020204" pitchFamily="34" charset="0"/>
              <a:buChar char="•"/>
            </a:pPr>
            <a:endParaRPr lang="en-GB" b="1" i="0" dirty="0">
              <a:effectLst/>
              <a:latin typeface="__fkGroteskNeue_598ab8"/>
            </a:endParaRPr>
          </a:p>
          <a:p>
            <a:pPr algn="l">
              <a:buFont typeface="Arial" panose="020B0604020202020204" pitchFamily="34" charset="0"/>
              <a:buChar char="•"/>
            </a:pPr>
            <a:r>
              <a:rPr lang="en-GB" b="0" i="0" dirty="0">
                <a:effectLst/>
                <a:latin typeface="__fkGroteskNeue_598ab8"/>
              </a:rPr>
              <a:t>CATWOE is an acronym that stands for Customers, Actors, Transformation process, Worldview, Owner, and Environmental constraints. It’s a useful framework for </a:t>
            </a:r>
            <a:r>
              <a:rPr lang="en-GB" b="0" i="0" dirty="0" err="1">
                <a:effectLst/>
                <a:latin typeface="__fkGroteskNeue_598ab8"/>
              </a:rPr>
              <a:t>analyzing</a:t>
            </a:r>
            <a:r>
              <a:rPr lang="en-GB" b="0" i="0" dirty="0">
                <a:effectLst/>
                <a:latin typeface="__fkGroteskNeue_598ab8"/>
              </a:rPr>
              <a:t> problems from multiple perspectives.</a:t>
            </a:r>
          </a:p>
          <a:p>
            <a:pPr algn="l">
              <a:buFont typeface="Arial" panose="020B0604020202020204" pitchFamily="34" charset="0"/>
              <a:buNone/>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Customers: Who are the stakeholders affected by the problem? Understanding their needs is crucial.</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Actors: Who is involved in implementing the solution? This includes team members and external partners.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Transformation process: What changes need to occur for the problem to be resolved?</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Worldview: What are the broader implications of this problem and its solution?</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Owner: Who has the authority to make decisions regarding the solution?</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Environmental constraints: What external factors could impact the situation? This holistic view ensures that all relevant factors are considered.</a:t>
            </a:r>
          </a:p>
          <a:p>
            <a:endParaRPr lang="en-US" dirty="0"/>
          </a:p>
        </p:txBody>
      </p:sp>
      <p:sp>
        <p:nvSpPr>
          <p:cNvPr id="4" name="Slide Number Placeholder 3"/>
          <p:cNvSpPr>
            <a:spLocks noGrp="1"/>
          </p:cNvSpPr>
          <p:nvPr>
            <p:ph type="sldNum" sz="quarter" idx="5"/>
          </p:nvPr>
        </p:nvSpPr>
        <p:spPr/>
        <p:txBody>
          <a:bodyPr/>
          <a:lstStyle/>
          <a:p>
            <a:fld id="{DEA265B9-C8E3-4D2D-B52C-54B264F93CB4}" type="slidenum">
              <a:rPr lang="en-US" smtClean="0"/>
              <a:t>7</a:t>
            </a:fld>
            <a:endParaRPr lang="en-US"/>
          </a:p>
        </p:txBody>
      </p:sp>
    </p:spTree>
    <p:extLst>
      <p:ext uri="{BB962C8B-B14F-4D97-AF65-F5344CB8AC3E}">
        <p14:creationId xmlns:p14="http://schemas.microsoft.com/office/powerpoint/2010/main" val="35846863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effectLst/>
                <a:latin typeface="var(--font-fk-grotesk)"/>
              </a:rPr>
              <a:t>SWOT Analysis</a:t>
            </a:r>
          </a:p>
          <a:p>
            <a:endParaRPr lang="en-US" dirty="0"/>
          </a:p>
          <a:p>
            <a:pPr algn="l">
              <a:buFont typeface="Arial" panose="020B0604020202020204" pitchFamily="34" charset="0"/>
              <a:buChar char="•"/>
            </a:pPr>
            <a:r>
              <a:rPr lang="en-GB" b="0" i="0" dirty="0">
                <a:effectLst/>
                <a:latin typeface="__fkGroteskNeue_598ab8"/>
              </a:rPr>
              <a:t>SWOT analysis is a strategic planning tool that helps identify the Strengths, Weaknesses, Opportunities, and Threats related to a particular event or initiative.</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Strengths: What advantages does the event have? This could be a strong brand, a loyal audience, or excellent speakers.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Weaknesses: What limitations exist? This might include budget constraints or logistical challenges.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Opportunities: What external factors could be leveraged? This could involve partnerships, sponsorships, or emerging trends in the industry.</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Threats: What risks could jeopardize the event? This might include competition from similar events or economic downturns.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Conducting a SWOT analysis helps planners develop strategies that capitalize on strengths and opportunities while addressing weaknesses and threats.</a:t>
            </a:r>
          </a:p>
          <a:p>
            <a:endParaRPr lang="en-US" dirty="0"/>
          </a:p>
        </p:txBody>
      </p:sp>
      <p:sp>
        <p:nvSpPr>
          <p:cNvPr id="4" name="Slide Number Placeholder 3"/>
          <p:cNvSpPr>
            <a:spLocks noGrp="1"/>
          </p:cNvSpPr>
          <p:nvPr>
            <p:ph type="sldNum" sz="quarter" idx="5"/>
          </p:nvPr>
        </p:nvSpPr>
        <p:spPr/>
        <p:txBody>
          <a:bodyPr/>
          <a:lstStyle/>
          <a:p>
            <a:fld id="{DEA265B9-C8E3-4D2D-B52C-54B264F93CB4}" type="slidenum">
              <a:rPr lang="en-US" smtClean="0"/>
              <a:t>8</a:t>
            </a:fld>
            <a:endParaRPr lang="en-US"/>
          </a:p>
        </p:txBody>
      </p:sp>
    </p:spTree>
    <p:extLst>
      <p:ext uri="{BB962C8B-B14F-4D97-AF65-F5344CB8AC3E}">
        <p14:creationId xmlns:p14="http://schemas.microsoft.com/office/powerpoint/2010/main" val="40742086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effectLst/>
                <a:latin typeface="var(--font-fk-grotesk)"/>
              </a:rPr>
              <a:t>Fishbone Diagram</a:t>
            </a:r>
          </a:p>
          <a:p>
            <a:endParaRPr lang="en-US" dirty="0"/>
          </a:p>
          <a:p>
            <a:pPr algn="l">
              <a:buFont typeface="Arial" panose="020B0604020202020204" pitchFamily="34" charset="0"/>
              <a:buChar char="•"/>
            </a:pPr>
            <a:r>
              <a:rPr lang="en-GB" b="0" i="0" dirty="0">
                <a:effectLst/>
                <a:latin typeface="__fkGroteskNeue_598ab8"/>
              </a:rPr>
              <a:t>The Fishbone Diagram, or Ishikawa diagram, is a visual tool used to identify potential causes of a problem systematically.</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The diagram resembles a fish skeleton, with the problem at the head and major categories of causes as the bones.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Common categories include People, Process, Materials, Environment, and Marketing. Under each category, you can brainstorm specific causes related to the problem.</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This method helps teams visualize the relationships between different causes and encourages comprehensive discussion about potential root causes.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By identifying these causes, planners can target their solutions more effectively, ensuring that they address the underlying issues rather than just the symptoms.</a:t>
            </a:r>
          </a:p>
          <a:p>
            <a:endParaRPr lang="en-US" dirty="0"/>
          </a:p>
        </p:txBody>
      </p:sp>
      <p:sp>
        <p:nvSpPr>
          <p:cNvPr id="4" name="Slide Number Placeholder 3"/>
          <p:cNvSpPr>
            <a:spLocks noGrp="1"/>
          </p:cNvSpPr>
          <p:nvPr>
            <p:ph type="sldNum" sz="quarter" idx="5"/>
          </p:nvPr>
        </p:nvSpPr>
        <p:spPr/>
        <p:txBody>
          <a:bodyPr/>
          <a:lstStyle/>
          <a:p>
            <a:fld id="{DEA265B9-C8E3-4D2D-B52C-54B264F93CB4}" type="slidenum">
              <a:rPr lang="en-US" smtClean="0"/>
              <a:t>9</a:t>
            </a:fld>
            <a:endParaRPr lang="en-US"/>
          </a:p>
        </p:txBody>
      </p:sp>
    </p:spTree>
    <p:extLst>
      <p:ext uri="{BB962C8B-B14F-4D97-AF65-F5344CB8AC3E}">
        <p14:creationId xmlns:p14="http://schemas.microsoft.com/office/powerpoint/2010/main" val="27356278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6076B-257A-4A89-B71F-AFA2EB8D678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305BC2E-823D-4A65-9FD2-7BB5868D58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71D7FCB-D4B1-4EB4-A3D8-DC10E46123EF}"/>
              </a:ext>
            </a:extLst>
          </p:cNvPr>
          <p:cNvSpPr>
            <a:spLocks noGrp="1"/>
          </p:cNvSpPr>
          <p:nvPr>
            <p:ph type="dt" sz="half" idx="10"/>
          </p:nvPr>
        </p:nvSpPr>
        <p:spPr/>
        <p:txBody>
          <a:bodyPr/>
          <a:lstStyle/>
          <a:p>
            <a:fld id="{40DF33AE-8D1A-4CC6-9AB8-95CD8E0E88E0}" type="datetime1">
              <a:rPr lang="en-US" smtClean="0"/>
              <a:t>7/26/2024</a:t>
            </a:fld>
            <a:endParaRPr lang="en-US"/>
          </a:p>
        </p:txBody>
      </p:sp>
      <p:sp>
        <p:nvSpPr>
          <p:cNvPr id="5" name="Footer Placeholder 4">
            <a:extLst>
              <a:ext uri="{FF2B5EF4-FFF2-40B4-BE49-F238E27FC236}">
                <a16:creationId xmlns:a16="http://schemas.microsoft.com/office/drawing/2014/main" id="{CCEA6DD7-1681-4D0E-8608-4689564C30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CD8F82-6B7D-4CDF-B5BF-24CE5829AFBE}"/>
              </a:ext>
            </a:extLst>
          </p:cNvPr>
          <p:cNvSpPr>
            <a:spLocks noGrp="1"/>
          </p:cNvSpPr>
          <p:nvPr>
            <p:ph type="sldNum" sz="quarter" idx="12"/>
          </p:nvPr>
        </p:nvSpPr>
        <p:spPr/>
        <p:txBody>
          <a:bodyPr/>
          <a:lstStyle/>
          <a:p>
            <a:fld id="{B4B9BCA1-DEDB-4768-B0C2-9E03C02986FE}" type="slidenum">
              <a:rPr lang="en-US" smtClean="0"/>
              <a:t>‹#›</a:t>
            </a:fld>
            <a:endParaRPr lang="en-US"/>
          </a:p>
        </p:txBody>
      </p:sp>
    </p:spTree>
    <p:extLst>
      <p:ext uri="{BB962C8B-B14F-4D97-AF65-F5344CB8AC3E}">
        <p14:creationId xmlns:p14="http://schemas.microsoft.com/office/powerpoint/2010/main" val="16840882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174FE-033E-4D8B-B3EF-5476D3B05B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B0DEBB-1EB1-4C48-91C7-AD4A25809C1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168A9B-1D9D-4F6A-87F7-3AB620AD0075}"/>
              </a:ext>
            </a:extLst>
          </p:cNvPr>
          <p:cNvSpPr>
            <a:spLocks noGrp="1"/>
          </p:cNvSpPr>
          <p:nvPr>
            <p:ph type="dt" sz="half" idx="10"/>
          </p:nvPr>
        </p:nvSpPr>
        <p:spPr/>
        <p:txBody>
          <a:bodyPr/>
          <a:lstStyle/>
          <a:p>
            <a:fld id="{2B4B69C9-1A7E-4AF1-AAF2-DE73903E5027}" type="datetime1">
              <a:rPr lang="en-US" smtClean="0"/>
              <a:t>7/26/2024</a:t>
            </a:fld>
            <a:endParaRPr lang="en-US"/>
          </a:p>
        </p:txBody>
      </p:sp>
      <p:sp>
        <p:nvSpPr>
          <p:cNvPr id="5" name="Footer Placeholder 4">
            <a:extLst>
              <a:ext uri="{FF2B5EF4-FFF2-40B4-BE49-F238E27FC236}">
                <a16:creationId xmlns:a16="http://schemas.microsoft.com/office/drawing/2014/main" id="{3E761955-061F-430D-B35E-E261D4E9BB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864C4F-B265-44CC-B44D-B195AFACB2AD}"/>
              </a:ext>
            </a:extLst>
          </p:cNvPr>
          <p:cNvSpPr>
            <a:spLocks noGrp="1"/>
          </p:cNvSpPr>
          <p:nvPr>
            <p:ph type="sldNum" sz="quarter" idx="12"/>
          </p:nvPr>
        </p:nvSpPr>
        <p:spPr/>
        <p:txBody>
          <a:bodyPr/>
          <a:lstStyle/>
          <a:p>
            <a:fld id="{B4B9BCA1-DEDB-4768-B0C2-9E03C02986FE}" type="slidenum">
              <a:rPr lang="en-US" smtClean="0"/>
              <a:t>‹#›</a:t>
            </a:fld>
            <a:endParaRPr lang="en-US"/>
          </a:p>
        </p:txBody>
      </p:sp>
    </p:spTree>
    <p:extLst>
      <p:ext uri="{BB962C8B-B14F-4D97-AF65-F5344CB8AC3E}">
        <p14:creationId xmlns:p14="http://schemas.microsoft.com/office/powerpoint/2010/main" val="6346054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45130-6EDC-465B-B5FB-153A072260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4336B6D-2A90-4C71-AF44-9D2FEC3C6C4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1A0C9C7-C9FE-4587-82B6-93D264C2F769}"/>
              </a:ext>
            </a:extLst>
          </p:cNvPr>
          <p:cNvSpPr>
            <a:spLocks noGrp="1"/>
          </p:cNvSpPr>
          <p:nvPr>
            <p:ph type="dt" sz="half" idx="10"/>
          </p:nvPr>
        </p:nvSpPr>
        <p:spPr/>
        <p:txBody>
          <a:bodyPr/>
          <a:lstStyle/>
          <a:p>
            <a:fld id="{0A4DB4CF-EC1D-49B2-9A08-5FA8063CD5BC}" type="datetime1">
              <a:rPr lang="en-US" smtClean="0"/>
              <a:t>7/26/2024</a:t>
            </a:fld>
            <a:endParaRPr lang="en-US"/>
          </a:p>
        </p:txBody>
      </p:sp>
      <p:sp>
        <p:nvSpPr>
          <p:cNvPr id="5" name="Footer Placeholder 4">
            <a:extLst>
              <a:ext uri="{FF2B5EF4-FFF2-40B4-BE49-F238E27FC236}">
                <a16:creationId xmlns:a16="http://schemas.microsoft.com/office/drawing/2014/main" id="{DA3D7FAA-26C9-4F4C-AED1-BFD2D7A4D8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BAECC5-F1B2-40FE-BEF2-1952FF5079EC}"/>
              </a:ext>
            </a:extLst>
          </p:cNvPr>
          <p:cNvSpPr>
            <a:spLocks noGrp="1"/>
          </p:cNvSpPr>
          <p:nvPr>
            <p:ph type="sldNum" sz="quarter" idx="12"/>
          </p:nvPr>
        </p:nvSpPr>
        <p:spPr/>
        <p:txBody>
          <a:bodyPr/>
          <a:lstStyle/>
          <a:p>
            <a:fld id="{B4B9BCA1-DEDB-4768-B0C2-9E03C02986FE}" type="slidenum">
              <a:rPr lang="en-US" smtClean="0"/>
              <a:t>‹#›</a:t>
            </a:fld>
            <a:endParaRPr lang="en-US"/>
          </a:p>
        </p:txBody>
      </p:sp>
    </p:spTree>
    <p:extLst>
      <p:ext uri="{BB962C8B-B14F-4D97-AF65-F5344CB8AC3E}">
        <p14:creationId xmlns:p14="http://schemas.microsoft.com/office/powerpoint/2010/main" val="144531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E5C65-5D64-4964-8EC8-233EAAA47CD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CD5242-00A0-4B6C-865D-D8BCD37FE7B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FFC6262-3C2C-44D2-A317-46EFEB67A2D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BA00193-2F6F-44FB-A0E7-9C0A8A1718B9}"/>
              </a:ext>
            </a:extLst>
          </p:cNvPr>
          <p:cNvSpPr>
            <a:spLocks noGrp="1"/>
          </p:cNvSpPr>
          <p:nvPr>
            <p:ph type="dt" sz="half" idx="10"/>
          </p:nvPr>
        </p:nvSpPr>
        <p:spPr/>
        <p:txBody>
          <a:bodyPr/>
          <a:lstStyle/>
          <a:p>
            <a:fld id="{4DBACEAE-B7C6-4494-83A5-56E540E1C7CC}" type="datetime1">
              <a:rPr lang="en-US" smtClean="0"/>
              <a:t>7/26/2024</a:t>
            </a:fld>
            <a:endParaRPr lang="en-US"/>
          </a:p>
        </p:txBody>
      </p:sp>
      <p:sp>
        <p:nvSpPr>
          <p:cNvPr id="6" name="Footer Placeholder 5">
            <a:extLst>
              <a:ext uri="{FF2B5EF4-FFF2-40B4-BE49-F238E27FC236}">
                <a16:creationId xmlns:a16="http://schemas.microsoft.com/office/drawing/2014/main" id="{9854061F-284B-481E-A1CE-4EEF5E331A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9B5D88-531B-428C-A6DC-C8F946145E51}"/>
              </a:ext>
            </a:extLst>
          </p:cNvPr>
          <p:cNvSpPr>
            <a:spLocks noGrp="1"/>
          </p:cNvSpPr>
          <p:nvPr>
            <p:ph type="sldNum" sz="quarter" idx="12"/>
          </p:nvPr>
        </p:nvSpPr>
        <p:spPr/>
        <p:txBody>
          <a:bodyPr/>
          <a:lstStyle/>
          <a:p>
            <a:fld id="{B4B9BCA1-DEDB-4768-B0C2-9E03C02986FE}" type="slidenum">
              <a:rPr lang="en-US" smtClean="0"/>
              <a:t>‹#›</a:t>
            </a:fld>
            <a:endParaRPr lang="en-US"/>
          </a:p>
        </p:txBody>
      </p:sp>
    </p:spTree>
    <p:extLst>
      <p:ext uri="{BB962C8B-B14F-4D97-AF65-F5344CB8AC3E}">
        <p14:creationId xmlns:p14="http://schemas.microsoft.com/office/powerpoint/2010/main" val="3964312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E4E07-435D-4174-8182-A7320DFD6E7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E8759F-F25F-41DE-913B-1E820FE091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32AE5A3-C958-40FF-82C8-159C59374E4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89AC696-69CD-4E42-AEC5-85A3FB8DD9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5104AAF-682F-4664-86B4-FF67D32F87F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71E1F85-4E1B-4885-94EC-75673E5AA94D}"/>
              </a:ext>
            </a:extLst>
          </p:cNvPr>
          <p:cNvSpPr>
            <a:spLocks noGrp="1"/>
          </p:cNvSpPr>
          <p:nvPr>
            <p:ph type="dt" sz="half" idx="10"/>
          </p:nvPr>
        </p:nvSpPr>
        <p:spPr/>
        <p:txBody>
          <a:bodyPr/>
          <a:lstStyle/>
          <a:p>
            <a:fld id="{5ABCAEC5-9BD3-4F0F-B31D-9BB0AD51428D}" type="datetime1">
              <a:rPr lang="en-US" smtClean="0"/>
              <a:t>7/26/2024</a:t>
            </a:fld>
            <a:endParaRPr lang="en-US"/>
          </a:p>
        </p:txBody>
      </p:sp>
      <p:sp>
        <p:nvSpPr>
          <p:cNvPr id="8" name="Footer Placeholder 7">
            <a:extLst>
              <a:ext uri="{FF2B5EF4-FFF2-40B4-BE49-F238E27FC236}">
                <a16:creationId xmlns:a16="http://schemas.microsoft.com/office/drawing/2014/main" id="{9EF1F6B0-DD18-49C5-BEA5-B01BC1813E3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CDCD035-A567-4BCB-B419-88B3640E34EC}"/>
              </a:ext>
            </a:extLst>
          </p:cNvPr>
          <p:cNvSpPr>
            <a:spLocks noGrp="1"/>
          </p:cNvSpPr>
          <p:nvPr>
            <p:ph type="sldNum" sz="quarter" idx="12"/>
          </p:nvPr>
        </p:nvSpPr>
        <p:spPr/>
        <p:txBody>
          <a:bodyPr/>
          <a:lstStyle/>
          <a:p>
            <a:fld id="{B4B9BCA1-DEDB-4768-B0C2-9E03C02986FE}" type="slidenum">
              <a:rPr lang="en-US" smtClean="0"/>
              <a:t>‹#›</a:t>
            </a:fld>
            <a:endParaRPr lang="en-US"/>
          </a:p>
        </p:txBody>
      </p:sp>
    </p:spTree>
    <p:extLst>
      <p:ext uri="{BB962C8B-B14F-4D97-AF65-F5344CB8AC3E}">
        <p14:creationId xmlns:p14="http://schemas.microsoft.com/office/powerpoint/2010/main" val="532304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3F76A-F76C-4425-8A42-B540C078B75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3F4E6B5-10A1-45AA-B4B9-AE7B8F691A83}"/>
              </a:ext>
            </a:extLst>
          </p:cNvPr>
          <p:cNvSpPr>
            <a:spLocks noGrp="1"/>
          </p:cNvSpPr>
          <p:nvPr>
            <p:ph type="dt" sz="half" idx="10"/>
          </p:nvPr>
        </p:nvSpPr>
        <p:spPr/>
        <p:txBody>
          <a:bodyPr/>
          <a:lstStyle/>
          <a:p>
            <a:fld id="{D76E0F86-0FBE-4D13-8299-FFD3E557BE9B}" type="datetime1">
              <a:rPr lang="en-US" smtClean="0"/>
              <a:t>7/26/2024</a:t>
            </a:fld>
            <a:endParaRPr lang="en-US"/>
          </a:p>
        </p:txBody>
      </p:sp>
      <p:sp>
        <p:nvSpPr>
          <p:cNvPr id="4" name="Footer Placeholder 3">
            <a:extLst>
              <a:ext uri="{FF2B5EF4-FFF2-40B4-BE49-F238E27FC236}">
                <a16:creationId xmlns:a16="http://schemas.microsoft.com/office/drawing/2014/main" id="{322CD328-987F-4416-8E11-83BF8ACEEFA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5AB30B4-5A91-42B6-858F-563B2E57706E}"/>
              </a:ext>
            </a:extLst>
          </p:cNvPr>
          <p:cNvSpPr>
            <a:spLocks noGrp="1"/>
          </p:cNvSpPr>
          <p:nvPr>
            <p:ph type="sldNum" sz="quarter" idx="12"/>
          </p:nvPr>
        </p:nvSpPr>
        <p:spPr/>
        <p:txBody>
          <a:bodyPr/>
          <a:lstStyle/>
          <a:p>
            <a:fld id="{B4B9BCA1-DEDB-4768-B0C2-9E03C02986FE}" type="slidenum">
              <a:rPr lang="en-US" smtClean="0"/>
              <a:t>‹#›</a:t>
            </a:fld>
            <a:endParaRPr lang="en-US"/>
          </a:p>
        </p:txBody>
      </p:sp>
    </p:spTree>
    <p:extLst>
      <p:ext uri="{BB962C8B-B14F-4D97-AF65-F5344CB8AC3E}">
        <p14:creationId xmlns:p14="http://schemas.microsoft.com/office/powerpoint/2010/main" val="3440014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F3170F-FCBA-49E4-9179-9B88AB77C824}"/>
              </a:ext>
            </a:extLst>
          </p:cNvPr>
          <p:cNvSpPr>
            <a:spLocks noGrp="1"/>
          </p:cNvSpPr>
          <p:nvPr>
            <p:ph type="dt" sz="half" idx="10"/>
          </p:nvPr>
        </p:nvSpPr>
        <p:spPr/>
        <p:txBody>
          <a:bodyPr/>
          <a:lstStyle/>
          <a:p>
            <a:fld id="{2332A655-3C17-40C8-AE56-2FE6744D120D}" type="datetime1">
              <a:rPr lang="en-US" smtClean="0"/>
              <a:t>7/26/2024</a:t>
            </a:fld>
            <a:endParaRPr lang="en-US"/>
          </a:p>
        </p:txBody>
      </p:sp>
      <p:sp>
        <p:nvSpPr>
          <p:cNvPr id="3" name="Footer Placeholder 2">
            <a:extLst>
              <a:ext uri="{FF2B5EF4-FFF2-40B4-BE49-F238E27FC236}">
                <a16:creationId xmlns:a16="http://schemas.microsoft.com/office/drawing/2014/main" id="{4230BB0E-E549-4943-B3AB-5C05EB45C7E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992404F-3F6E-4AAA-AE35-553FB527C9DE}"/>
              </a:ext>
            </a:extLst>
          </p:cNvPr>
          <p:cNvSpPr>
            <a:spLocks noGrp="1"/>
          </p:cNvSpPr>
          <p:nvPr>
            <p:ph type="sldNum" sz="quarter" idx="12"/>
          </p:nvPr>
        </p:nvSpPr>
        <p:spPr/>
        <p:txBody>
          <a:bodyPr/>
          <a:lstStyle/>
          <a:p>
            <a:fld id="{B4B9BCA1-DEDB-4768-B0C2-9E03C02986FE}" type="slidenum">
              <a:rPr lang="en-US" smtClean="0"/>
              <a:t>‹#›</a:t>
            </a:fld>
            <a:endParaRPr lang="en-US"/>
          </a:p>
        </p:txBody>
      </p:sp>
    </p:spTree>
    <p:extLst>
      <p:ext uri="{BB962C8B-B14F-4D97-AF65-F5344CB8AC3E}">
        <p14:creationId xmlns:p14="http://schemas.microsoft.com/office/powerpoint/2010/main" val="7148961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B014A-6EE0-454A-B855-F7BECD92F6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DDB9B78-7ED5-4C83-8191-1C766B0E23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4D84FD8-8255-4BE0-952A-2BC74143BE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1E77680-4913-4441-8A36-7BAB1ECCB94F}"/>
              </a:ext>
            </a:extLst>
          </p:cNvPr>
          <p:cNvSpPr>
            <a:spLocks noGrp="1"/>
          </p:cNvSpPr>
          <p:nvPr>
            <p:ph type="dt" sz="half" idx="10"/>
          </p:nvPr>
        </p:nvSpPr>
        <p:spPr/>
        <p:txBody>
          <a:bodyPr/>
          <a:lstStyle/>
          <a:p>
            <a:fld id="{9DAC1F74-C073-4A10-8D6F-127DF07F1CBF}" type="datetime1">
              <a:rPr lang="en-US" smtClean="0"/>
              <a:t>7/26/2024</a:t>
            </a:fld>
            <a:endParaRPr lang="en-US"/>
          </a:p>
        </p:txBody>
      </p:sp>
      <p:sp>
        <p:nvSpPr>
          <p:cNvPr id="6" name="Footer Placeholder 5">
            <a:extLst>
              <a:ext uri="{FF2B5EF4-FFF2-40B4-BE49-F238E27FC236}">
                <a16:creationId xmlns:a16="http://schemas.microsoft.com/office/drawing/2014/main" id="{2C42277D-7563-408C-9D44-9C883152C8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EBEDFD-C4D9-477E-B7D7-9E1377E7B7E4}"/>
              </a:ext>
            </a:extLst>
          </p:cNvPr>
          <p:cNvSpPr>
            <a:spLocks noGrp="1"/>
          </p:cNvSpPr>
          <p:nvPr>
            <p:ph type="sldNum" sz="quarter" idx="12"/>
          </p:nvPr>
        </p:nvSpPr>
        <p:spPr/>
        <p:txBody>
          <a:bodyPr/>
          <a:lstStyle/>
          <a:p>
            <a:fld id="{B4B9BCA1-DEDB-4768-B0C2-9E03C02986FE}" type="slidenum">
              <a:rPr lang="en-US" smtClean="0"/>
              <a:t>‹#›</a:t>
            </a:fld>
            <a:endParaRPr lang="en-US"/>
          </a:p>
        </p:txBody>
      </p:sp>
    </p:spTree>
    <p:extLst>
      <p:ext uri="{BB962C8B-B14F-4D97-AF65-F5344CB8AC3E}">
        <p14:creationId xmlns:p14="http://schemas.microsoft.com/office/powerpoint/2010/main" val="33243100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3BBF-FEBA-42BB-BF33-FC916ED26F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8A9171F-EB00-454C-BF6E-B4BFFB6819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6882CB7-6BF6-48A9-9C62-E778C385F1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E4CD5B8-3116-4156-AC43-2602FA3586B4}"/>
              </a:ext>
            </a:extLst>
          </p:cNvPr>
          <p:cNvSpPr>
            <a:spLocks noGrp="1"/>
          </p:cNvSpPr>
          <p:nvPr>
            <p:ph type="dt" sz="half" idx="10"/>
          </p:nvPr>
        </p:nvSpPr>
        <p:spPr/>
        <p:txBody>
          <a:bodyPr/>
          <a:lstStyle/>
          <a:p>
            <a:fld id="{AC775AA8-D02F-4590-B006-4BE42AC5A511}" type="datetime1">
              <a:rPr lang="en-US" smtClean="0"/>
              <a:t>7/26/2024</a:t>
            </a:fld>
            <a:endParaRPr lang="en-US"/>
          </a:p>
        </p:txBody>
      </p:sp>
      <p:sp>
        <p:nvSpPr>
          <p:cNvPr id="6" name="Footer Placeholder 5">
            <a:extLst>
              <a:ext uri="{FF2B5EF4-FFF2-40B4-BE49-F238E27FC236}">
                <a16:creationId xmlns:a16="http://schemas.microsoft.com/office/drawing/2014/main" id="{ABC7D517-25E6-4B86-9A88-C73794EDAE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911184-AC44-4B56-BA91-958BB70C4896}"/>
              </a:ext>
            </a:extLst>
          </p:cNvPr>
          <p:cNvSpPr>
            <a:spLocks noGrp="1"/>
          </p:cNvSpPr>
          <p:nvPr>
            <p:ph type="sldNum" sz="quarter" idx="12"/>
          </p:nvPr>
        </p:nvSpPr>
        <p:spPr/>
        <p:txBody>
          <a:bodyPr/>
          <a:lstStyle/>
          <a:p>
            <a:fld id="{B4B9BCA1-DEDB-4768-B0C2-9E03C02986FE}" type="slidenum">
              <a:rPr lang="en-US" smtClean="0"/>
              <a:t>‹#›</a:t>
            </a:fld>
            <a:endParaRPr lang="en-US"/>
          </a:p>
        </p:txBody>
      </p:sp>
    </p:spTree>
    <p:extLst>
      <p:ext uri="{BB962C8B-B14F-4D97-AF65-F5344CB8AC3E}">
        <p14:creationId xmlns:p14="http://schemas.microsoft.com/office/powerpoint/2010/main" val="20012608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0D851-9365-46B3-9250-0C22E0298A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15610D1-1348-4610-855F-8040CE478E1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FB5AF4-CF54-4FE7-A43F-071EB9A4E19D}"/>
              </a:ext>
            </a:extLst>
          </p:cNvPr>
          <p:cNvSpPr>
            <a:spLocks noGrp="1"/>
          </p:cNvSpPr>
          <p:nvPr>
            <p:ph type="dt" sz="half" idx="10"/>
          </p:nvPr>
        </p:nvSpPr>
        <p:spPr/>
        <p:txBody>
          <a:bodyPr/>
          <a:lstStyle/>
          <a:p>
            <a:fld id="{7A421C39-9DC3-482D-BFBA-B037B20CB665}" type="datetime1">
              <a:rPr lang="en-US" smtClean="0"/>
              <a:t>7/26/2024</a:t>
            </a:fld>
            <a:endParaRPr lang="en-US"/>
          </a:p>
        </p:txBody>
      </p:sp>
      <p:sp>
        <p:nvSpPr>
          <p:cNvPr id="5" name="Footer Placeholder 4">
            <a:extLst>
              <a:ext uri="{FF2B5EF4-FFF2-40B4-BE49-F238E27FC236}">
                <a16:creationId xmlns:a16="http://schemas.microsoft.com/office/drawing/2014/main" id="{86D35195-EEBD-449C-9247-CC06ED2DB6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943408-B879-4A9B-B111-1A9E203DC13D}"/>
              </a:ext>
            </a:extLst>
          </p:cNvPr>
          <p:cNvSpPr>
            <a:spLocks noGrp="1"/>
          </p:cNvSpPr>
          <p:nvPr>
            <p:ph type="sldNum" sz="quarter" idx="12"/>
          </p:nvPr>
        </p:nvSpPr>
        <p:spPr/>
        <p:txBody>
          <a:bodyPr/>
          <a:lstStyle/>
          <a:p>
            <a:fld id="{B4B9BCA1-DEDB-4768-B0C2-9E03C02986FE}" type="slidenum">
              <a:rPr lang="en-US" smtClean="0"/>
              <a:t>‹#›</a:t>
            </a:fld>
            <a:endParaRPr lang="en-US"/>
          </a:p>
        </p:txBody>
      </p:sp>
    </p:spTree>
    <p:extLst>
      <p:ext uri="{BB962C8B-B14F-4D97-AF65-F5344CB8AC3E}">
        <p14:creationId xmlns:p14="http://schemas.microsoft.com/office/powerpoint/2010/main" val="999491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B63A08-6DC3-4EC5-BBCF-DF4CA1CBD2F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91ED7EB-D4C9-4F0C-AF10-F699A649ADC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C36176-E7EB-44CA-8655-A24668369627}"/>
              </a:ext>
            </a:extLst>
          </p:cNvPr>
          <p:cNvSpPr>
            <a:spLocks noGrp="1"/>
          </p:cNvSpPr>
          <p:nvPr>
            <p:ph type="dt" sz="half" idx="10"/>
          </p:nvPr>
        </p:nvSpPr>
        <p:spPr/>
        <p:txBody>
          <a:bodyPr/>
          <a:lstStyle/>
          <a:p>
            <a:fld id="{73ED6DC6-09BC-46FE-8C9B-08CA866C458E}" type="datetime1">
              <a:rPr lang="en-US" smtClean="0"/>
              <a:t>7/26/2024</a:t>
            </a:fld>
            <a:endParaRPr lang="en-US"/>
          </a:p>
        </p:txBody>
      </p:sp>
      <p:sp>
        <p:nvSpPr>
          <p:cNvPr id="5" name="Footer Placeholder 4">
            <a:extLst>
              <a:ext uri="{FF2B5EF4-FFF2-40B4-BE49-F238E27FC236}">
                <a16:creationId xmlns:a16="http://schemas.microsoft.com/office/drawing/2014/main" id="{F8CF5D3F-C870-4D34-BF81-707DE6D1A5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AF7997-E4A0-449C-BBD5-A696854C4433}"/>
              </a:ext>
            </a:extLst>
          </p:cNvPr>
          <p:cNvSpPr>
            <a:spLocks noGrp="1"/>
          </p:cNvSpPr>
          <p:nvPr>
            <p:ph type="sldNum" sz="quarter" idx="12"/>
          </p:nvPr>
        </p:nvSpPr>
        <p:spPr/>
        <p:txBody>
          <a:bodyPr/>
          <a:lstStyle/>
          <a:p>
            <a:fld id="{B4B9BCA1-DEDB-4768-B0C2-9E03C02986FE}" type="slidenum">
              <a:rPr lang="en-US" smtClean="0"/>
              <a:t>‹#›</a:t>
            </a:fld>
            <a:endParaRPr lang="en-US"/>
          </a:p>
        </p:txBody>
      </p:sp>
    </p:spTree>
    <p:extLst>
      <p:ext uri="{BB962C8B-B14F-4D97-AF65-F5344CB8AC3E}">
        <p14:creationId xmlns:p14="http://schemas.microsoft.com/office/powerpoint/2010/main" val="1691156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E7B31D-369B-4918-BCCB-6D5E0B2FFE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6DF4A80-46B2-4034-AE79-C6507C9365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1B15B7-C339-4B02-989B-B16D189641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44FFAC-0875-41F5-99C5-B17BB1F97299}" type="datetime1">
              <a:rPr lang="en-US" smtClean="0"/>
              <a:t>7/26/2024</a:t>
            </a:fld>
            <a:endParaRPr lang="en-US"/>
          </a:p>
        </p:txBody>
      </p:sp>
      <p:sp>
        <p:nvSpPr>
          <p:cNvPr id="5" name="Footer Placeholder 4">
            <a:extLst>
              <a:ext uri="{FF2B5EF4-FFF2-40B4-BE49-F238E27FC236}">
                <a16:creationId xmlns:a16="http://schemas.microsoft.com/office/drawing/2014/main" id="{6C9F3837-EB43-4AC7-9301-CD163FEBB9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05A9ABE-23B2-4777-9AA4-4C6451E7F6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B9BCA1-DEDB-4768-B0C2-9E03C02986FE}" type="slidenum">
              <a:rPr lang="en-US" smtClean="0"/>
              <a:t>‹#›</a:t>
            </a:fld>
            <a:endParaRPr lang="en-US"/>
          </a:p>
        </p:txBody>
      </p:sp>
    </p:spTree>
    <p:extLst>
      <p:ext uri="{BB962C8B-B14F-4D97-AF65-F5344CB8AC3E}">
        <p14:creationId xmlns:p14="http://schemas.microsoft.com/office/powerpoint/2010/main" val="23118857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 Id="rId9" Type="http://schemas.openxmlformats.org/officeDocument/2006/relationships/image" Target="../media/image24.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8D76715-7BDE-4B0A-B8F1-C2848A53D885}"/>
              </a:ext>
            </a:extLst>
          </p:cNvPr>
          <p:cNvSpPr/>
          <p:nvPr/>
        </p:nvSpPr>
        <p:spPr>
          <a:xfrm>
            <a:off x="0" y="0"/>
            <a:ext cx="12192000" cy="6858000"/>
          </a:xfrm>
          <a:prstGeom prst="rect">
            <a:avLst/>
          </a:prstGeom>
          <a:pattFill prst="dotGrid">
            <a:fgClr>
              <a:schemeClr val="bg2">
                <a:lumMod val="2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C450058-4BD9-4A84-96EB-E9FC2F0324E6}"/>
              </a:ext>
            </a:extLst>
          </p:cNvPr>
          <p:cNvSpPr/>
          <p:nvPr/>
        </p:nvSpPr>
        <p:spPr>
          <a:xfrm>
            <a:off x="0" y="-1"/>
            <a:ext cx="12192000" cy="6858001"/>
          </a:xfrm>
          <a:prstGeom prst="rect">
            <a:avLst/>
          </a:prstGeom>
          <a:solidFill>
            <a:schemeClr val="bg2">
              <a:lumMod val="2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 name="Rectangle 6">
            <a:extLst>
              <a:ext uri="{FF2B5EF4-FFF2-40B4-BE49-F238E27FC236}">
                <a16:creationId xmlns:a16="http://schemas.microsoft.com/office/drawing/2014/main" id="{A94142A4-9CAF-47CA-A8DA-7B900451A102}"/>
              </a:ext>
            </a:extLst>
          </p:cNvPr>
          <p:cNvSpPr/>
          <p:nvPr/>
        </p:nvSpPr>
        <p:spPr>
          <a:xfrm>
            <a:off x="0" y="1968108"/>
            <a:ext cx="9158068" cy="166579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8" name="Flowchart: Manual Input 7">
            <a:extLst>
              <a:ext uri="{FF2B5EF4-FFF2-40B4-BE49-F238E27FC236}">
                <a16:creationId xmlns:a16="http://schemas.microsoft.com/office/drawing/2014/main" id="{9C81A2E1-993B-40FE-AC49-BA5FEEC0F17F}"/>
              </a:ext>
            </a:extLst>
          </p:cNvPr>
          <p:cNvSpPr/>
          <p:nvPr/>
        </p:nvSpPr>
        <p:spPr>
          <a:xfrm rot="5400000" flipH="1" flipV="1">
            <a:off x="8448704" y="1330693"/>
            <a:ext cx="1418728" cy="2101335"/>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5247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5247 h 10000"/>
              <a:gd name="connsiteX0" fmla="*/ 0 w 10000"/>
              <a:gd name="connsiteY0" fmla="*/ 4506 h 9259"/>
              <a:gd name="connsiteX1" fmla="*/ 10000 w 10000"/>
              <a:gd name="connsiteY1" fmla="*/ 0 h 9259"/>
              <a:gd name="connsiteX2" fmla="*/ 10000 w 10000"/>
              <a:gd name="connsiteY2" fmla="*/ 9259 h 9259"/>
              <a:gd name="connsiteX3" fmla="*/ 0 w 10000"/>
              <a:gd name="connsiteY3" fmla="*/ 9259 h 9259"/>
              <a:gd name="connsiteX4" fmla="*/ 0 w 10000"/>
              <a:gd name="connsiteY4" fmla="*/ 4506 h 9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9259">
                <a:moveTo>
                  <a:pt x="0" y="4506"/>
                </a:moveTo>
                <a:lnTo>
                  <a:pt x="10000" y="0"/>
                </a:lnTo>
                <a:lnTo>
                  <a:pt x="10000" y="9259"/>
                </a:lnTo>
                <a:lnTo>
                  <a:pt x="0" y="9259"/>
                </a:lnTo>
                <a:lnTo>
                  <a:pt x="0" y="4506"/>
                </a:lnTo>
                <a:close/>
              </a:path>
            </a:pathLst>
          </a:custGeom>
          <a:solidFill>
            <a:srgbClr val="FF5C0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9" name="TextBox 8">
            <a:extLst>
              <a:ext uri="{FF2B5EF4-FFF2-40B4-BE49-F238E27FC236}">
                <a16:creationId xmlns:a16="http://schemas.microsoft.com/office/drawing/2014/main" id="{B821D1A4-6093-4892-9C20-D92967A74B9B}"/>
              </a:ext>
            </a:extLst>
          </p:cNvPr>
          <p:cNvSpPr txBox="1"/>
          <p:nvPr/>
        </p:nvSpPr>
        <p:spPr>
          <a:xfrm>
            <a:off x="341194" y="2147016"/>
            <a:ext cx="8171374" cy="1354217"/>
          </a:xfrm>
          <a:prstGeom prst="rect">
            <a:avLst/>
          </a:prstGeom>
          <a:noFill/>
        </p:spPr>
        <p:txBody>
          <a:bodyPr wrap="square" lIns="0" tIns="0" rIns="0" bIns="0" rtlCol="0">
            <a:spAutoFit/>
          </a:bodyPr>
          <a:lstStyle/>
          <a:p>
            <a:r>
              <a:rPr lang="en-GB" sz="4400" b="1" dirty="0">
                <a:latin typeface="+mj-lt"/>
              </a:rPr>
              <a:t>Problem-Solving Strategies for Event Planning &amp; Execution</a:t>
            </a:r>
            <a:endParaRPr lang="en-US" sz="4400" b="1" dirty="0">
              <a:solidFill>
                <a:schemeClr val="tx1">
                  <a:lumMod val="85000"/>
                  <a:lumOff val="15000"/>
                </a:schemeClr>
              </a:solidFill>
              <a:latin typeface="+mj-lt"/>
              <a:ea typeface="Segoe UI" panose="020B0502040204020203" pitchFamily="34" charset="0"/>
              <a:cs typeface="Segoe UI" panose="020B0502040204020203" pitchFamily="34" charset="0"/>
            </a:endParaRPr>
          </a:p>
        </p:txBody>
      </p:sp>
      <p:cxnSp>
        <p:nvCxnSpPr>
          <p:cNvPr id="12" name="Straight Connector 11">
            <a:extLst>
              <a:ext uri="{FF2B5EF4-FFF2-40B4-BE49-F238E27FC236}">
                <a16:creationId xmlns:a16="http://schemas.microsoft.com/office/drawing/2014/main" id="{B9DBC10F-23C3-4146-9665-D9F1E33D48EB}"/>
              </a:ext>
            </a:extLst>
          </p:cNvPr>
          <p:cNvCxnSpPr>
            <a:cxnSpLocks/>
          </p:cNvCxnSpPr>
          <p:nvPr/>
        </p:nvCxnSpPr>
        <p:spPr>
          <a:xfrm>
            <a:off x="9499262" y="1399856"/>
            <a:ext cx="1019675" cy="981504"/>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3" name="Rectangle: Single Corner Snipped 2">
            <a:extLst>
              <a:ext uri="{FF2B5EF4-FFF2-40B4-BE49-F238E27FC236}">
                <a16:creationId xmlns:a16="http://schemas.microsoft.com/office/drawing/2014/main" id="{46E2C956-A300-3482-6FC3-4654C2D41585}"/>
              </a:ext>
            </a:extLst>
          </p:cNvPr>
          <p:cNvSpPr/>
          <p:nvPr/>
        </p:nvSpPr>
        <p:spPr>
          <a:xfrm>
            <a:off x="0" y="4413054"/>
            <a:ext cx="4672540" cy="1665794"/>
          </a:xfrm>
          <a:prstGeom prst="snip1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solidFill>
                  <a:schemeClr val="bg1"/>
                </a:solidFill>
                <a:latin typeface="Bahnschrift" panose="020B0502040204020203" pitchFamily="34" charset="0"/>
              </a:rPr>
              <a:t>	</a:t>
            </a:r>
            <a:r>
              <a:rPr lang="en-US" sz="2400" b="1" dirty="0">
                <a:solidFill>
                  <a:schemeClr val="tx1"/>
                </a:solidFill>
                <a:latin typeface="Bahnschrift" panose="020B0502040204020203" pitchFamily="34" charset="0"/>
              </a:rPr>
              <a:t>MN. Sihanas</a:t>
            </a:r>
          </a:p>
          <a:p>
            <a:r>
              <a:rPr lang="en-US" sz="2400" b="1" dirty="0">
                <a:solidFill>
                  <a:schemeClr val="tx1"/>
                </a:solidFill>
                <a:latin typeface="Bahnschrift" panose="020B0502040204020203" pitchFamily="34" charset="0"/>
              </a:rPr>
              <a:t>	HND in Computing – 22</a:t>
            </a:r>
          </a:p>
          <a:p>
            <a:r>
              <a:rPr lang="en-US" sz="2400" b="1" dirty="0">
                <a:solidFill>
                  <a:schemeClr val="tx1"/>
                </a:solidFill>
                <a:latin typeface="Bahnschrift" panose="020B0502040204020203" pitchFamily="34" charset="0"/>
              </a:rPr>
              <a:t>	BCAS Campus Kalmunai</a:t>
            </a:r>
          </a:p>
          <a:p>
            <a:r>
              <a:rPr lang="en-US" sz="2400" b="1" dirty="0">
                <a:solidFill>
                  <a:schemeClr val="tx1"/>
                </a:solidFill>
                <a:latin typeface="Bahnschrift" panose="020B0502040204020203" pitchFamily="34" charset="0"/>
              </a:rPr>
              <a:t>	2024</a:t>
            </a:r>
            <a:endParaRPr lang="en-US" sz="2400" dirty="0">
              <a:solidFill>
                <a:schemeClr val="tx1"/>
              </a:solidFill>
            </a:endParaRPr>
          </a:p>
        </p:txBody>
      </p:sp>
      <p:sp>
        <p:nvSpPr>
          <p:cNvPr id="5" name="Flowchart: Manual Input 7">
            <a:extLst>
              <a:ext uri="{FF2B5EF4-FFF2-40B4-BE49-F238E27FC236}">
                <a16:creationId xmlns:a16="http://schemas.microsoft.com/office/drawing/2014/main" id="{E87AFFB2-D531-7ECF-0C84-C808C446DE6C}"/>
              </a:ext>
            </a:extLst>
          </p:cNvPr>
          <p:cNvSpPr/>
          <p:nvPr/>
        </p:nvSpPr>
        <p:spPr>
          <a:xfrm rot="5400000" flipV="1">
            <a:off x="4160749" y="5126188"/>
            <a:ext cx="1023581" cy="1416463"/>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5247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5247 h 10000"/>
              <a:gd name="connsiteX0" fmla="*/ 0 w 10000"/>
              <a:gd name="connsiteY0" fmla="*/ 4506 h 9259"/>
              <a:gd name="connsiteX1" fmla="*/ 10000 w 10000"/>
              <a:gd name="connsiteY1" fmla="*/ 0 h 9259"/>
              <a:gd name="connsiteX2" fmla="*/ 10000 w 10000"/>
              <a:gd name="connsiteY2" fmla="*/ 9259 h 9259"/>
              <a:gd name="connsiteX3" fmla="*/ 0 w 10000"/>
              <a:gd name="connsiteY3" fmla="*/ 9259 h 9259"/>
              <a:gd name="connsiteX4" fmla="*/ 0 w 10000"/>
              <a:gd name="connsiteY4" fmla="*/ 4506 h 9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9259">
                <a:moveTo>
                  <a:pt x="0" y="4506"/>
                </a:moveTo>
                <a:lnTo>
                  <a:pt x="10000" y="0"/>
                </a:lnTo>
                <a:lnTo>
                  <a:pt x="10000" y="9259"/>
                </a:lnTo>
                <a:lnTo>
                  <a:pt x="0" y="9259"/>
                </a:lnTo>
                <a:lnTo>
                  <a:pt x="0" y="4506"/>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Tree>
    <p:extLst>
      <p:ext uri="{BB962C8B-B14F-4D97-AF65-F5344CB8AC3E}">
        <p14:creationId xmlns:p14="http://schemas.microsoft.com/office/powerpoint/2010/main" val="4170306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5E967A3-8F97-4024-9CD3-818B87E9CE56}"/>
              </a:ext>
            </a:extLst>
          </p:cNvPr>
          <p:cNvSpPr/>
          <p:nvPr/>
        </p:nvSpPr>
        <p:spPr>
          <a:xfrm>
            <a:off x="1" y="1377397"/>
            <a:ext cx="12192000" cy="5480603"/>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 name="Flowchart: Manual Input 7">
            <a:extLst>
              <a:ext uri="{FF2B5EF4-FFF2-40B4-BE49-F238E27FC236}">
                <a16:creationId xmlns:a16="http://schemas.microsoft.com/office/drawing/2014/main" id="{5B7CEDD2-021D-42BF-B273-B9FEE59B91C5}"/>
              </a:ext>
            </a:extLst>
          </p:cNvPr>
          <p:cNvSpPr/>
          <p:nvPr/>
        </p:nvSpPr>
        <p:spPr>
          <a:xfrm rot="5400000" flipH="1" flipV="1">
            <a:off x="1201594" y="-46536"/>
            <a:ext cx="862535" cy="175170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5247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5247 h 10000"/>
              <a:gd name="connsiteX0" fmla="*/ 0 w 10000"/>
              <a:gd name="connsiteY0" fmla="*/ 4506 h 9259"/>
              <a:gd name="connsiteX1" fmla="*/ 10000 w 10000"/>
              <a:gd name="connsiteY1" fmla="*/ 0 h 9259"/>
              <a:gd name="connsiteX2" fmla="*/ 10000 w 10000"/>
              <a:gd name="connsiteY2" fmla="*/ 9259 h 9259"/>
              <a:gd name="connsiteX3" fmla="*/ 0 w 10000"/>
              <a:gd name="connsiteY3" fmla="*/ 9259 h 9259"/>
              <a:gd name="connsiteX4" fmla="*/ 0 w 10000"/>
              <a:gd name="connsiteY4" fmla="*/ 4506 h 9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9259">
                <a:moveTo>
                  <a:pt x="0" y="4506"/>
                </a:moveTo>
                <a:lnTo>
                  <a:pt x="10000" y="0"/>
                </a:lnTo>
                <a:lnTo>
                  <a:pt x="10000" y="9259"/>
                </a:lnTo>
                <a:lnTo>
                  <a:pt x="0" y="9259"/>
                </a:lnTo>
                <a:lnTo>
                  <a:pt x="0" y="4506"/>
                </a:lnTo>
                <a:close/>
              </a:path>
            </a:pathLst>
          </a:custGeom>
          <a:solidFill>
            <a:srgbClr val="FF5C0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 name="TextBox 4">
            <a:extLst>
              <a:ext uri="{FF2B5EF4-FFF2-40B4-BE49-F238E27FC236}">
                <a16:creationId xmlns:a16="http://schemas.microsoft.com/office/drawing/2014/main" id="{A3554326-E479-45F8-80F9-2C1126C56CE4}"/>
              </a:ext>
            </a:extLst>
          </p:cNvPr>
          <p:cNvSpPr txBox="1"/>
          <p:nvPr/>
        </p:nvSpPr>
        <p:spPr>
          <a:xfrm>
            <a:off x="2635485" y="444595"/>
            <a:ext cx="8496972" cy="769441"/>
          </a:xfrm>
          <a:prstGeom prst="rect">
            <a:avLst/>
          </a:prstGeom>
          <a:noFill/>
        </p:spPr>
        <p:txBody>
          <a:bodyPr wrap="square" rtlCol="0">
            <a:spAutoFit/>
          </a:bodyPr>
          <a:lstStyle/>
          <a:p>
            <a:r>
              <a:rPr lang="en-US" sz="4400" b="1" dirty="0">
                <a:solidFill>
                  <a:schemeClr val="tx1">
                    <a:lumMod val="85000"/>
                    <a:lumOff val="15000"/>
                  </a:schemeClr>
                </a:solidFill>
                <a:latin typeface="Segoe UI" panose="020B0502040204020203" pitchFamily="34" charset="0"/>
                <a:ea typeface="Segoe UI" panose="020B0502040204020203" pitchFamily="34" charset="0"/>
                <a:cs typeface="Segoe UI" panose="020B0502040204020203" pitchFamily="34" charset="0"/>
              </a:rPr>
              <a:t>COMMON ISSUES IN A EVENT</a:t>
            </a:r>
          </a:p>
        </p:txBody>
      </p:sp>
      <p:cxnSp>
        <p:nvCxnSpPr>
          <p:cNvPr id="14" name="Straight Connector 13">
            <a:extLst>
              <a:ext uri="{FF2B5EF4-FFF2-40B4-BE49-F238E27FC236}">
                <a16:creationId xmlns:a16="http://schemas.microsoft.com/office/drawing/2014/main" id="{1A0E304F-9C7D-40A6-9F0C-FE49010CB976}"/>
              </a:ext>
            </a:extLst>
          </p:cNvPr>
          <p:cNvCxnSpPr>
            <a:cxnSpLocks/>
          </p:cNvCxnSpPr>
          <p:nvPr/>
        </p:nvCxnSpPr>
        <p:spPr>
          <a:xfrm>
            <a:off x="1787764" y="161895"/>
            <a:ext cx="847722" cy="815988"/>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16" name="Slide Number Placeholder 15">
            <a:extLst>
              <a:ext uri="{FF2B5EF4-FFF2-40B4-BE49-F238E27FC236}">
                <a16:creationId xmlns:a16="http://schemas.microsoft.com/office/drawing/2014/main" id="{DE4D6F58-E121-4230-B692-B6CCC92F5657}"/>
              </a:ext>
            </a:extLst>
          </p:cNvPr>
          <p:cNvSpPr>
            <a:spLocks noGrp="1"/>
          </p:cNvSpPr>
          <p:nvPr>
            <p:ph type="sldNum" sz="quarter" idx="12"/>
          </p:nvPr>
        </p:nvSpPr>
        <p:spPr/>
        <p:txBody>
          <a:bodyPr/>
          <a:lstStyle/>
          <a:p>
            <a:fld id="{B4B9BCA1-DEDB-4768-B0C2-9E03C02986FE}" type="slidenum">
              <a:rPr lang="en-US" smtClean="0">
                <a:solidFill>
                  <a:schemeClr val="tx1"/>
                </a:solidFill>
              </a:rPr>
              <a:t>2</a:t>
            </a:fld>
            <a:endParaRPr lang="en-US" dirty="0">
              <a:solidFill>
                <a:schemeClr val="tx1"/>
              </a:solidFill>
            </a:endParaRPr>
          </a:p>
        </p:txBody>
      </p:sp>
      <p:grpSp>
        <p:nvGrpSpPr>
          <p:cNvPr id="15" name="Group 14">
            <a:extLst>
              <a:ext uri="{FF2B5EF4-FFF2-40B4-BE49-F238E27FC236}">
                <a16:creationId xmlns:a16="http://schemas.microsoft.com/office/drawing/2014/main" id="{D2D43D34-A13E-4061-9DA1-30EE653E7B5E}"/>
              </a:ext>
            </a:extLst>
          </p:cNvPr>
          <p:cNvGrpSpPr/>
          <p:nvPr/>
        </p:nvGrpSpPr>
        <p:grpSpPr>
          <a:xfrm>
            <a:off x="128176" y="1472089"/>
            <a:ext cx="11935648" cy="1216521"/>
            <a:chOff x="430608" y="1607750"/>
            <a:chExt cx="12209539" cy="1216521"/>
          </a:xfrm>
        </p:grpSpPr>
        <p:sp>
          <p:nvSpPr>
            <p:cNvPr id="9" name="Oval 8">
              <a:extLst>
                <a:ext uri="{FF2B5EF4-FFF2-40B4-BE49-F238E27FC236}">
                  <a16:creationId xmlns:a16="http://schemas.microsoft.com/office/drawing/2014/main" id="{6F25C0FA-322B-4CC3-9720-E97C9A7421F6}"/>
                </a:ext>
              </a:extLst>
            </p:cNvPr>
            <p:cNvSpPr/>
            <p:nvPr/>
          </p:nvSpPr>
          <p:spPr>
            <a:xfrm>
              <a:off x="430608" y="1632397"/>
              <a:ext cx="1209133" cy="1191874"/>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3" name="Group 2">
              <a:extLst>
                <a:ext uri="{FF2B5EF4-FFF2-40B4-BE49-F238E27FC236}">
                  <a16:creationId xmlns:a16="http://schemas.microsoft.com/office/drawing/2014/main" id="{EDB7997A-C01A-4063-9709-EC82BAD142F7}"/>
                </a:ext>
              </a:extLst>
            </p:cNvPr>
            <p:cNvGrpSpPr/>
            <p:nvPr/>
          </p:nvGrpSpPr>
          <p:grpSpPr>
            <a:xfrm>
              <a:off x="1706968" y="1607750"/>
              <a:ext cx="10933179" cy="984885"/>
              <a:chOff x="1706968" y="1607750"/>
              <a:chExt cx="10933179" cy="984885"/>
            </a:xfrm>
          </p:grpSpPr>
          <p:sp>
            <p:nvSpPr>
              <p:cNvPr id="13" name="TextBox 12">
                <a:extLst>
                  <a:ext uri="{FF2B5EF4-FFF2-40B4-BE49-F238E27FC236}">
                    <a16:creationId xmlns:a16="http://schemas.microsoft.com/office/drawing/2014/main" id="{A94493EF-684F-4E47-A7FE-748D70605A6E}"/>
                  </a:ext>
                </a:extLst>
              </p:cNvPr>
              <p:cNvSpPr txBox="1"/>
              <p:nvPr/>
            </p:nvSpPr>
            <p:spPr>
              <a:xfrm>
                <a:off x="1706968" y="1607750"/>
                <a:ext cx="2806149" cy="984885"/>
              </a:xfrm>
              <a:prstGeom prst="rect">
                <a:avLst/>
              </a:prstGeom>
              <a:noFill/>
            </p:spPr>
            <p:txBody>
              <a:bodyPr wrap="square" lIns="0" tIns="0" rIns="0" bIns="0" rtlCol="0">
                <a:spAutoFit/>
              </a:bodyPr>
              <a:lstStyle/>
              <a:p>
                <a:r>
                  <a:rPr lang="en-US" sz="3200" b="1" dirty="0">
                    <a:latin typeface="+mj-lt"/>
                    <a:ea typeface="Segoe UI" panose="020B0502040204020203" pitchFamily="34" charset="0"/>
                    <a:cs typeface="Segoe UI" panose="020B0502040204020203" pitchFamily="34" charset="0"/>
                  </a:rPr>
                  <a:t>Time Management</a:t>
                </a:r>
              </a:p>
            </p:txBody>
          </p:sp>
          <p:sp>
            <p:nvSpPr>
              <p:cNvPr id="55" name="TextBox 54">
                <a:extLst>
                  <a:ext uri="{FF2B5EF4-FFF2-40B4-BE49-F238E27FC236}">
                    <a16:creationId xmlns:a16="http://schemas.microsoft.com/office/drawing/2014/main" id="{6820A222-BD07-4A36-AE11-3D50087498CA}"/>
                  </a:ext>
                </a:extLst>
              </p:cNvPr>
              <p:cNvSpPr txBox="1"/>
              <p:nvPr/>
            </p:nvSpPr>
            <p:spPr>
              <a:xfrm>
                <a:off x="4935897" y="1780534"/>
                <a:ext cx="7704250" cy="738664"/>
              </a:xfrm>
              <a:prstGeom prst="rect">
                <a:avLst/>
              </a:prstGeom>
              <a:noFill/>
            </p:spPr>
            <p:txBody>
              <a:bodyPr wrap="square" lIns="0" tIns="0" rIns="0" bIns="0" rtlCol="0">
                <a:spAutoFit/>
              </a:bodyPr>
              <a:lstStyle/>
              <a:p>
                <a:r>
                  <a:rPr lang="en-GB" sz="2400" i="0" dirty="0">
                    <a:solidFill>
                      <a:schemeClr val="tx1">
                        <a:lumMod val="95000"/>
                        <a:lumOff val="5000"/>
                      </a:schemeClr>
                    </a:solidFill>
                    <a:latin typeface="Bahnschrift" panose="020B0502040204020203" pitchFamily="34" charset="0"/>
                    <a:cs typeface="Arial" panose="020B0604020202020204" pitchFamily="34" charset="0"/>
                  </a:rPr>
                  <a:t>Tight schedules can lead to rushed decisions, increasing the likelihood of errors.</a:t>
                </a:r>
                <a:endParaRPr lang="en-US" sz="2400" dirty="0">
                  <a:solidFill>
                    <a:schemeClr val="tx1">
                      <a:lumMod val="95000"/>
                      <a:lumOff val="5000"/>
                    </a:schemeClr>
                  </a:solidFill>
                  <a:latin typeface="Bahnschrift" panose="020B0502040204020203" pitchFamily="34" charset="0"/>
                  <a:ea typeface="Segoe UI" panose="020B0502040204020203" pitchFamily="34" charset="0"/>
                  <a:cs typeface="Arial" panose="020B0604020202020204" pitchFamily="34" charset="0"/>
                </a:endParaRPr>
              </a:p>
            </p:txBody>
          </p:sp>
        </p:grpSp>
      </p:grpSp>
      <p:pic>
        <p:nvPicPr>
          <p:cNvPr id="19" name="Graphic 18" descr="Clock with solid fill">
            <a:extLst>
              <a:ext uri="{FF2B5EF4-FFF2-40B4-BE49-F238E27FC236}">
                <a16:creationId xmlns:a16="http://schemas.microsoft.com/office/drawing/2014/main" id="{B00B78AB-110D-FCA7-0DED-643492DE9A4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1979" y="1635473"/>
            <a:ext cx="914400" cy="914400"/>
          </a:xfrm>
          <a:prstGeom prst="rect">
            <a:avLst/>
          </a:prstGeom>
        </p:spPr>
      </p:pic>
      <p:sp>
        <p:nvSpPr>
          <p:cNvPr id="37" name="Oval 36">
            <a:extLst>
              <a:ext uri="{FF2B5EF4-FFF2-40B4-BE49-F238E27FC236}">
                <a16:creationId xmlns:a16="http://schemas.microsoft.com/office/drawing/2014/main" id="{B716A5F1-9D48-087A-137F-DA8F594CA108}"/>
              </a:ext>
            </a:extLst>
          </p:cNvPr>
          <p:cNvSpPr/>
          <p:nvPr/>
        </p:nvSpPr>
        <p:spPr>
          <a:xfrm>
            <a:off x="128176" y="2832662"/>
            <a:ext cx="1182009" cy="1191874"/>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8" name="Oval 37">
            <a:extLst>
              <a:ext uri="{FF2B5EF4-FFF2-40B4-BE49-F238E27FC236}">
                <a16:creationId xmlns:a16="http://schemas.microsoft.com/office/drawing/2014/main" id="{8CB568F7-A9EC-C31F-F593-3C4B33CB3BD2}"/>
              </a:ext>
            </a:extLst>
          </p:cNvPr>
          <p:cNvSpPr/>
          <p:nvPr/>
        </p:nvSpPr>
        <p:spPr>
          <a:xfrm>
            <a:off x="128175" y="4168588"/>
            <a:ext cx="1182009" cy="1191874"/>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9" name="Oval 38">
            <a:extLst>
              <a:ext uri="{FF2B5EF4-FFF2-40B4-BE49-F238E27FC236}">
                <a16:creationId xmlns:a16="http://schemas.microsoft.com/office/drawing/2014/main" id="{59F0DF1E-86C9-7376-0DCF-9DF525C72E68}"/>
              </a:ext>
            </a:extLst>
          </p:cNvPr>
          <p:cNvSpPr/>
          <p:nvPr/>
        </p:nvSpPr>
        <p:spPr>
          <a:xfrm>
            <a:off x="128175" y="5504514"/>
            <a:ext cx="1182009" cy="1191874"/>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42" name="Straight Connector 41">
            <a:extLst>
              <a:ext uri="{FF2B5EF4-FFF2-40B4-BE49-F238E27FC236}">
                <a16:creationId xmlns:a16="http://schemas.microsoft.com/office/drawing/2014/main" id="{7E29EFBC-F9F9-34FF-1BA1-1BE78080F7AA}"/>
              </a:ext>
            </a:extLst>
          </p:cNvPr>
          <p:cNvCxnSpPr>
            <a:cxnSpLocks/>
          </p:cNvCxnSpPr>
          <p:nvPr/>
        </p:nvCxnSpPr>
        <p:spPr>
          <a:xfrm>
            <a:off x="13447" y="4092678"/>
            <a:ext cx="12192000"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C8CB934-1AC0-8A79-9F81-766E9D89DE2F}"/>
              </a:ext>
            </a:extLst>
          </p:cNvPr>
          <p:cNvCxnSpPr>
            <a:cxnSpLocks/>
          </p:cNvCxnSpPr>
          <p:nvPr/>
        </p:nvCxnSpPr>
        <p:spPr>
          <a:xfrm>
            <a:off x="-13445" y="2739193"/>
            <a:ext cx="12218892" cy="17559"/>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047EFF08-7085-8D86-0185-D951F5EF42FC}"/>
              </a:ext>
            </a:extLst>
          </p:cNvPr>
          <p:cNvCxnSpPr>
            <a:cxnSpLocks/>
          </p:cNvCxnSpPr>
          <p:nvPr/>
        </p:nvCxnSpPr>
        <p:spPr>
          <a:xfrm>
            <a:off x="-13445" y="5436371"/>
            <a:ext cx="12218892"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pic>
        <p:nvPicPr>
          <p:cNvPr id="60" name="Graphic 59" descr="Truck with solid fill">
            <a:extLst>
              <a:ext uri="{FF2B5EF4-FFF2-40B4-BE49-F238E27FC236}">
                <a16:creationId xmlns:a16="http://schemas.microsoft.com/office/drawing/2014/main" id="{AA2E8849-9D47-1392-4C4A-F5C8E1CF58F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99810" y="2967392"/>
            <a:ext cx="914400" cy="914400"/>
          </a:xfrm>
          <a:prstGeom prst="rect">
            <a:avLst/>
          </a:prstGeom>
        </p:spPr>
      </p:pic>
      <p:sp>
        <p:nvSpPr>
          <p:cNvPr id="66" name="TextBox 65">
            <a:extLst>
              <a:ext uri="{FF2B5EF4-FFF2-40B4-BE49-F238E27FC236}">
                <a16:creationId xmlns:a16="http://schemas.microsoft.com/office/drawing/2014/main" id="{363D04E1-255D-DFE3-A972-4CE5982F1EF4}"/>
              </a:ext>
            </a:extLst>
          </p:cNvPr>
          <p:cNvSpPr txBox="1"/>
          <p:nvPr/>
        </p:nvSpPr>
        <p:spPr>
          <a:xfrm>
            <a:off x="1391767" y="2928502"/>
            <a:ext cx="2872154" cy="984885"/>
          </a:xfrm>
          <a:prstGeom prst="rect">
            <a:avLst/>
          </a:prstGeom>
          <a:noFill/>
        </p:spPr>
        <p:txBody>
          <a:bodyPr wrap="square" lIns="0" tIns="0" rIns="0" bIns="0" rtlCol="0">
            <a:spAutoFit/>
          </a:bodyPr>
          <a:lstStyle/>
          <a:p>
            <a:r>
              <a:rPr lang="en-US" sz="3200" b="1" dirty="0">
                <a:latin typeface="+mj-lt"/>
                <a:ea typeface="Segoe UI" panose="020B0502040204020203" pitchFamily="34" charset="0"/>
                <a:cs typeface="Segoe UI" panose="020B0502040204020203" pitchFamily="34" charset="0"/>
              </a:rPr>
              <a:t>Logistics Challenges</a:t>
            </a:r>
          </a:p>
        </p:txBody>
      </p:sp>
      <p:sp>
        <p:nvSpPr>
          <p:cNvPr id="67" name="TextBox 66">
            <a:extLst>
              <a:ext uri="{FF2B5EF4-FFF2-40B4-BE49-F238E27FC236}">
                <a16:creationId xmlns:a16="http://schemas.microsoft.com/office/drawing/2014/main" id="{A9FA56AD-0606-E165-D123-CCBB565F8F69}"/>
              </a:ext>
            </a:extLst>
          </p:cNvPr>
          <p:cNvSpPr txBox="1"/>
          <p:nvPr/>
        </p:nvSpPr>
        <p:spPr>
          <a:xfrm>
            <a:off x="1369980" y="4265350"/>
            <a:ext cx="2872154" cy="984885"/>
          </a:xfrm>
          <a:prstGeom prst="rect">
            <a:avLst/>
          </a:prstGeom>
          <a:noFill/>
        </p:spPr>
        <p:txBody>
          <a:bodyPr wrap="square" lIns="0" tIns="0" rIns="0" bIns="0" rtlCol="0">
            <a:spAutoFit/>
          </a:bodyPr>
          <a:lstStyle/>
          <a:p>
            <a:r>
              <a:rPr lang="en-US" sz="3200" b="1" dirty="0">
                <a:latin typeface="+mj-lt"/>
                <a:ea typeface="Segoe UI" panose="020B0502040204020203" pitchFamily="34" charset="0"/>
                <a:cs typeface="Segoe UI" panose="020B0502040204020203" pitchFamily="34" charset="0"/>
              </a:rPr>
              <a:t>Budget Constraints</a:t>
            </a:r>
          </a:p>
        </p:txBody>
      </p:sp>
      <p:sp>
        <p:nvSpPr>
          <p:cNvPr id="68" name="TextBox 67">
            <a:extLst>
              <a:ext uri="{FF2B5EF4-FFF2-40B4-BE49-F238E27FC236}">
                <a16:creationId xmlns:a16="http://schemas.microsoft.com/office/drawing/2014/main" id="{53A88DDC-4D1C-E2D1-0352-574326C0CDBC}"/>
              </a:ext>
            </a:extLst>
          </p:cNvPr>
          <p:cNvSpPr txBox="1"/>
          <p:nvPr/>
        </p:nvSpPr>
        <p:spPr>
          <a:xfrm>
            <a:off x="1378321" y="5620481"/>
            <a:ext cx="2872154" cy="984885"/>
          </a:xfrm>
          <a:prstGeom prst="rect">
            <a:avLst/>
          </a:prstGeom>
          <a:noFill/>
        </p:spPr>
        <p:txBody>
          <a:bodyPr wrap="square" lIns="0" tIns="0" rIns="0" bIns="0" rtlCol="0">
            <a:spAutoFit/>
          </a:bodyPr>
          <a:lstStyle/>
          <a:p>
            <a:r>
              <a:rPr lang="en-US" sz="3200" b="1" dirty="0">
                <a:latin typeface="+mj-lt"/>
                <a:ea typeface="Segoe UI" panose="020B0502040204020203" pitchFamily="34" charset="0"/>
                <a:cs typeface="Segoe UI" panose="020B0502040204020203" pitchFamily="34" charset="0"/>
              </a:rPr>
              <a:t>Technical Difficulties</a:t>
            </a:r>
          </a:p>
        </p:txBody>
      </p:sp>
      <p:sp>
        <p:nvSpPr>
          <p:cNvPr id="69" name="TextBox 68">
            <a:extLst>
              <a:ext uri="{FF2B5EF4-FFF2-40B4-BE49-F238E27FC236}">
                <a16:creationId xmlns:a16="http://schemas.microsoft.com/office/drawing/2014/main" id="{B2B3F65D-2F75-2848-AF7B-7C4527B90C65}"/>
              </a:ext>
            </a:extLst>
          </p:cNvPr>
          <p:cNvSpPr txBox="1"/>
          <p:nvPr/>
        </p:nvSpPr>
        <p:spPr>
          <a:xfrm>
            <a:off x="4531263" y="2995433"/>
            <a:ext cx="7531424" cy="738664"/>
          </a:xfrm>
          <a:prstGeom prst="rect">
            <a:avLst/>
          </a:prstGeom>
          <a:noFill/>
        </p:spPr>
        <p:txBody>
          <a:bodyPr wrap="square" lIns="0" tIns="0" rIns="0" bIns="0" rtlCol="0">
            <a:spAutoFit/>
          </a:bodyPr>
          <a:lstStyle/>
          <a:p>
            <a:r>
              <a:rPr lang="en-GB" sz="2400" b="0" i="0" dirty="0">
                <a:effectLst/>
                <a:latin typeface="Bahnschrift" panose="020B0502040204020203" pitchFamily="34" charset="0"/>
              </a:rPr>
              <a:t>Issues such as venue availability, transportation, and catering can arise unexpectedly.</a:t>
            </a:r>
            <a:endParaRPr lang="en-US" sz="2400" dirty="0">
              <a:solidFill>
                <a:schemeClr val="tx1">
                  <a:lumMod val="95000"/>
                  <a:lumOff val="5000"/>
                </a:schemeClr>
              </a:solidFill>
              <a:latin typeface="Bahnschrift" panose="020B0502040204020203" pitchFamily="34" charset="0"/>
              <a:ea typeface="Segoe UI" panose="020B0502040204020203" pitchFamily="34" charset="0"/>
              <a:cs typeface="Arial" panose="020B0604020202020204" pitchFamily="34" charset="0"/>
            </a:endParaRPr>
          </a:p>
        </p:txBody>
      </p:sp>
      <p:sp>
        <p:nvSpPr>
          <p:cNvPr id="75" name="TextBox 74">
            <a:extLst>
              <a:ext uri="{FF2B5EF4-FFF2-40B4-BE49-F238E27FC236}">
                <a16:creationId xmlns:a16="http://schemas.microsoft.com/office/drawing/2014/main" id="{176381AB-2B3A-929B-3F62-A84E9E9344AC}"/>
              </a:ext>
            </a:extLst>
          </p:cNvPr>
          <p:cNvSpPr txBox="1"/>
          <p:nvPr/>
        </p:nvSpPr>
        <p:spPr>
          <a:xfrm>
            <a:off x="4532400" y="4203795"/>
            <a:ext cx="7531424" cy="1107996"/>
          </a:xfrm>
          <a:prstGeom prst="rect">
            <a:avLst/>
          </a:prstGeom>
          <a:noFill/>
        </p:spPr>
        <p:txBody>
          <a:bodyPr wrap="square" lIns="0" tIns="0" rIns="0" bIns="0" rtlCol="0">
            <a:spAutoFit/>
          </a:bodyPr>
          <a:lstStyle/>
          <a:p>
            <a:r>
              <a:rPr lang="en-GB" sz="2400" i="0" dirty="0">
                <a:solidFill>
                  <a:schemeClr val="tx1">
                    <a:lumMod val="95000"/>
                    <a:lumOff val="5000"/>
                  </a:schemeClr>
                </a:solidFill>
                <a:latin typeface="Bahnschrift" panose="020B0502040204020203" pitchFamily="34" charset="0"/>
                <a:cs typeface="Arial" panose="020B0604020202020204" pitchFamily="34" charset="0"/>
              </a:rPr>
              <a:t>Financial limitations can impact the quality and scope of the event, requiring careful management and adjustments.</a:t>
            </a:r>
          </a:p>
        </p:txBody>
      </p:sp>
      <p:sp>
        <p:nvSpPr>
          <p:cNvPr id="76" name="TextBox 75">
            <a:extLst>
              <a:ext uri="{FF2B5EF4-FFF2-40B4-BE49-F238E27FC236}">
                <a16:creationId xmlns:a16="http://schemas.microsoft.com/office/drawing/2014/main" id="{9C8B97EF-057F-1A2E-20C2-82E0382AE858}"/>
              </a:ext>
            </a:extLst>
          </p:cNvPr>
          <p:cNvSpPr txBox="1"/>
          <p:nvPr/>
        </p:nvSpPr>
        <p:spPr>
          <a:xfrm>
            <a:off x="4532400" y="5771825"/>
            <a:ext cx="7531424" cy="738664"/>
          </a:xfrm>
          <a:prstGeom prst="rect">
            <a:avLst/>
          </a:prstGeom>
          <a:noFill/>
        </p:spPr>
        <p:txBody>
          <a:bodyPr wrap="square" lIns="0" tIns="0" rIns="0" bIns="0" rtlCol="0">
            <a:spAutoFit/>
          </a:bodyPr>
          <a:lstStyle/>
          <a:p>
            <a:r>
              <a:rPr lang="en-GB" sz="2400" i="0" dirty="0">
                <a:solidFill>
                  <a:schemeClr val="tx1">
                    <a:lumMod val="95000"/>
                    <a:lumOff val="5000"/>
                  </a:schemeClr>
                </a:solidFill>
                <a:latin typeface="Bahnschrift" panose="020B0502040204020203" pitchFamily="34" charset="0"/>
                <a:cs typeface="Arial" panose="020B0604020202020204" pitchFamily="34" charset="0"/>
              </a:rPr>
              <a:t>Problems with audio-visual equipment or technology can disrupt the flow of the event.</a:t>
            </a:r>
            <a:endParaRPr lang="en-US" sz="2400" dirty="0">
              <a:solidFill>
                <a:schemeClr val="tx1">
                  <a:lumMod val="95000"/>
                  <a:lumOff val="5000"/>
                </a:schemeClr>
              </a:solidFill>
              <a:latin typeface="Bahnschrift" panose="020B0502040204020203" pitchFamily="34" charset="0"/>
              <a:ea typeface="Segoe UI" panose="020B0502040204020203" pitchFamily="34" charset="0"/>
              <a:cs typeface="Arial" panose="020B0604020202020204" pitchFamily="34" charset="0"/>
            </a:endParaRPr>
          </a:p>
        </p:txBody>
      </p:sp>
      <p:cxnSp>
        <p:nvCxnSpPr>
          <p:cNvPr id="78" name="Straight Connector 77">
            <a:extLst>
              <a:ext uri="{FF2B5EF4-FFF2-40B4-BE49-F238E27FC236}">
                <a16:creationId xmlns:a16="http://schemas.microsoft.com/office/drawing/2014/main" id="{BB501E90-D2A1-3171-0619-B01D929EECDC}"/>
              </a:ext>
            </a:extLst>
          </p:cNvPr>
          <p:cNvCxnSpPr>
            <a:cxnSpLocks/>
          </p:cNvCxnSpPr>
          <p:nvPr/>
        </p:nvCxnSpPr>
        <p:spPr>
          <a:xfrm>
            <a:off x="3684794" y="1358237"/>
            <a:ext cx="565681" cy="640080"/>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B5CAEBA0-0ABE-1BB0-BF38-62B8E170C477}"/>
              </a:ext>
            </a:extLst>
          </p:cNvPr>
          <p:cNvCxnSpPr>
            <a:cxnSpLocks/>
          </p:cNvCxnSpPr>
          <p:nvPr/>
        </p:nvCxnSpPr>
        <p:spPr>
          <a:xfrm flipH="1">
            <a:off x="3685735" y="2014205"/>
            <a:ext cx="564740" cy="724988"/>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10A7C383-2E7D-0F15-7F9E-BE3B8599311A}"/>
              </a:ext>
            </a:extLst>
          </p:cNvPr>
          <p:cNvCxnSpPr>
            <a:cxnSpLocks/>
          </p:cNvCxnSpPr>
          <p:nvPr/>
        </p:nvCxnSpPr>
        <p:spPr>
          <a:xfrm>
            <a:off x="3684794" y="2724685"/>
            <a:ext cx="565681" cy="640080"/>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17BE4BAB-F3EE-DE9E-5C0B-A408A22FBBFE}"/>
              </a:ext>
            </a:extLst>
          </p:cNvPr>
          <p:cNvCxnSpPr>
            <a:cxnSpLocks/>
          </p:cNvCxnSpPr>
          <p:nvPr/>
        </p:nvCxnSpPr>
        <p:spPr>
          <a:xfrm flipH="1">
            <a:off x="3685735" y="3380653"/>
            <a:ext cx="564740" cy="724988"/>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A76CAB2F-B04F-B317-BBB7-291A0C94CD71}"/>
              </a:ext>
            </a:extLst>
          </p:cNvPr>
          <p:cNvCxnSpPr>
            <a:cxnSpLocks/>
          </p:cNvCxnSpPr>
          <p:nvPr/>
        </p:nvCxnSpPr>
        <p:spPr>
          <a:xfrm>
            <a:off x="3698240" y="4102194"/>
            <a:ext cx="565681" cy="640080"/>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D577F3F1-4AAE-F28D-42E1-8F88DFA344DB}"/>
              </a:ext>
            </a:extLst>
          </p:cNvPr>
          <p:cNvCxnSpPr>
            <a:cxnSpLocks/>
          </p:cNvCxnSpPr>
          <p:nvPr/>
        </p:nvCxnSpPr>
        <p:spPr>
          <a:xfrm flipH="1">
            <a:off x="3699181" y="4758162"/>
            <a:ext cx="564740" cy="724988"/>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622604FF-0D8B-E21D-7916-8AA7833CD6DE}"/>
              </a:ext>
            </a:extLst>
          </p:cNvPr>
          <p:cNvCxnSpPr>
            <a:cxnSpLocks/>
          </p:cNvCxnSpPr>
          <p:nvPr/>
        </p:nvCxnSpPr>
        <p:spPr>
          <a:xfrm>
            <a:off x="3698240" y="5468642"/>
            <a:ext cx="565681" cy="640080"/>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83FA6FAE-D0AF-656A-B9D4-B5DA32154EE2}"/>
              </a:ext>
            </a:extLst>
          </p:cNvPr>
          <p:cNvCxnSpPr>
            <a:cxnSpLocks/>
          </p:cNvCxnSpPr>
          <p:nvPr/>
        </p:nvCxnSpPr>
        <p:spPr>
          <a:xfrm flipH="1">
            <a:off x="3699181" y="6124610"/>
            <a:ext cx="564740" cy="724988"/>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pic>
        <p:nvPicPr>
          <p:cNvPr id="92" name="Graphic 91" descr="Coins with solid fill">
            <a:extLst>
              <a:ext uri="{FF2B5EF4-FFF2-40B4-BE49-F238E27FC236}">
                <a16:creationId xmlns:a16="http://schemas.microsoft.com/office/drawing/2014/main" id="{096AEEA4-08C5-D56E-5D56-CF29AAD10D4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61979" y="4303318"/>
            <a:ext cx="914400" cy="914400"/>
          </a:xfrm>
          <a:prstGeom prst="rect">
            <a:avLst/>
          </a:prstGeom>
        </p:spPr>
      </p:pic>
      <p:pic>
        <p:nvPicPr>
          <p:cNvPr id="93" name="Graphic 92" descr="Robot with solid fill">
            <a:extLst>
              <a:ext uri="{FF2B5EF4-FFF2-40B4-BE49-F238E27FC236}">
                <a16:creationId xmlns:a16="http://schemas.microsoft.com/office/drawing/2014/main" id="{C7A30FA9-E13D-94A3-CE99-BE907D746E1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61545" y="5643251"/>
            <a:ext cx="914400" cy="914400"/>
          </a:xfrm>
          <a:prstGeom prst="rect">
            <a:avLst/>
          </a:prstGeom>
        </p:spPr>
      </p:pic>
    </p:spTree>
    <p:extLst>
      <p:ext uri="{BB962C8B-B14F-4D97-AF65-F5344CB8AC3E}">
        <p14:creationId xmlns:p14="http://schemas.microsoft.com/office/powerpoint/2010/main" val="308613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Manual Input 7">
            <a:extLst>
              <a:ext uri="{FF2B5EF4-FFF2-40B4-BE49-F238E27FC236}">
                <a16:creationId xmlns:a16="http://schemas.microsoft.com/office/drawing/2014/main" id="{22914268-6636-40A6-BDA2-20A496049C63}"/>
              </a:ext>
            </a:extLst>
          </p:cNvPr>
          <p:cNvSpPr/>
          <p:nvPr/>
        </p:nvSpPr>
        <p:spPr>
          <a:xfrm rot="5400000" flipH="1" flipV="1">
            <a:off x="1206583" y="-47885"/>
            <a:ext cx="862535" cy="175170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5247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5247 h 10000"/>
              <a:gd name="connsiteX0" fmla="*/ 0 w 10000"/>
              <a:gd name="connsiteY0" fmla="*/ 4506 h 9259"/>
              <a:gd name="connsiteX1" fmla="*/ 10000 w 10000"/>
              <a:gd name="connsiteY1" fmla="*/ 0 h 9259"/>
              <a:gd name="connsiteX2" fmla="*/ 10000 w 10000"/>
              <a:gd name="connsiteY2" fmla="*/ 9259 h 9259"/>
              <a:gd name="connsiteX3" fmla="*/ 0 w 10000"/>
              <a:gd name="connsiteY3" fmla="*/ 9259 h 9259"/>
              <a:gd name="connsiteX4" fmla="*/ 0 w 10000"/>
              <a:gd name="connsiteY4" fmla="*/ 4506 h 9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9259">
                <a:moveTo>
                  <a:pt x="0" y="4506"/>
                </a:moveTo>
                <a:lnTo>
                  <a:pt x="10000" y="0"/>
                </a:lnTo>
                <a:lnTo>
                  <a:pt x="10000" y="9259"/>
                </a:lnTo>
                <a:lnTo>
                  <a:pt x="0" y="9259"/>
                </a:lnTo>
                <a:lnTo>
                  <a:pt x="0" y="4506"/>
                </a:lnTo>
                <a:close/>
              </a:path>
            </a:pathLst>
          </a:custGeom>
          <a:solidFill>
            <a:srgbClr val="FF5C0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TextBox 2">
            <a:extLst>
              <a:ext uri="{FF2B5EF4-FFF2-40B4-BE49-F238E27FC236}">
                <a16:creationId xmlns:a16="http://schemas.microsoft.com/office/drawing/2014/main" id="{3D88F321-6C56-4FD8-822E-A594AFAC1277}"/>
              </a:ext>
            </a:extLst>
          </p:cNvPr>
          <p:cNvSpPr txBox="1"/>
          <p:nvPr/>
        </p:nvSpPr>
        <p:spPr>
          <a:xfrm>
            <a:off x="2640474" y="443246"/>
            <a:ext cx="8613790" cy="769441"/>
          </a:xfrm>
          <a:prstGeom prst="rect">
            <a:avLst/>
          </a:prstGeom>
          <a:noFill/>
        </p:spPr>
        <p:txBody>
          <a:bodyPr wrap="square" rtlCol="0">
            <a:spAutoFit/>
          </a:bodyPr>
          <a:lstStyle/>
          <a:p>
            <a:r>
              <a:rPr lang="en-US" sz="4400" b="1" dirty="0">
                <a:solidFill>
                  <a:schemeClr val="tx1">
                    <a:lumMod val="85000"/>
                    <a:lumOff val="15000"/>
                  </a:schemeClr>
                </a:solidFill>
                <a:latin typeface="Segoe UI" panose="020B0502040204020203" pitchFamily="34" charset="0"/>
                <a:ea typeface="Segoe UI" panose="020B0502040204020203" pitchFamily="34" charset="0"/>
                <a:cs typeface="Segoe UI" panose="020B0502040204020203" pitchFamily="34" charset="0"/>
              </a:rPr>
              <a:t>PROBLEM-SOLVING STEPS</a:t>
            </a:r>
          </a:p>
        </p:txBody>
      </p:sp>
      <p:sp>
        <p:nvSpPr>
          <p:cNvPr id="4" name="Rectangle 3">
            <a:extLst>
              <a:ext uri="{FF2B5EF4-FFF2-40B4-BE49-F238E27FC236}">
                <a16:creationId xmlns:a16="http://schemas.microsoft.com/office/drawing/2014/main" id="{8D19CDBC-082A-4239-87B9-BEEDFE604149}"/>
              </a:ext>
            </a:extLst>
          </p:cNvPr>
          <p:cNvSpPr/>
          <p:nvPr/>
        </p:nvSpPr>
        <p:spPr>
          <a:xfrm>
            <a:off x="0" y="1540585"/>
            <a:ext cx="3048000" cy="487417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 name="Rectangle 4">
            <a:extLst>
              <a:ext uri="{FF2B5EF4-FFF2-40B4-BE49-F238E27FC236}">
                <a16:creationId xmlns:a16="http://schemas.microsoft.com/office/drawing/2014/main" id="{8A6A4B3A-AB2A-483E-9E26-FB985E0EEB30}"/>
              </a:ext>
            </a:extLst>
          </p:cNvPr>
          <p:cNvSpPr/>
          <p:nvPr/>
        </p:nvSpPr>
        <p:spPr>
          <a:xfrm>
            <a:off x="3048000" y="1540585"/>
            <a:ext cx="3048000" cy="487417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 name="Rectangle 5">
            <a:extLst>
              <a:ext uri="{FF2B5EF4-FFF2-40B4-BE49-F238E27FC236}">
                <a16:creationId xmlns:a16="http://schemas.microsoft.com/office/drawing/2014/main" id="{B085516D-060F-4775-B584-099B784EF7ED}"/>
              </a:ext>
            </a:extLst>
          </p:cNvPr>
          <p:cNvSpPr/>
          <p:nvPr/>
        </p:nvSpPr>
        <p:spPr>
          <a:xfrm>
            <a:off x="6096000" y="1540585"/>
            <a:ext cx="3048000" cy="487417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 name="Rectangle 6">
            <a:extLst>
              <a:ext uri="{FF2B5EF4-FFF2-40B4-BE49-F238E27FC236}">
                <a16:creationId xmlns:a16="http://schemas.microsoft.com/office/drawing/2014/main" id="{B8A16241-D228-4679-BB81-8A21262E6913}"/>
              </a:ext>
            </a:extLst>
          </p:cNvPr>
          <p:cNvSpPr/>
          <p:nvPr/>
        </p:nvSpPr>
        <p:spPr>
          <a:xfrm>
            <a:off x="9144000" y="1540585"/>
            <a:ext cx="3048000" cy="487417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Rectangle 10">
            <a:extLst>
              <a:ext uri="{FF2B5EF4-FFF2-40B4-BE49-F238E27FC236}">
                <a16:creationId xmlns:a16="http://schemas.microsoft.com/office/drawing/2014/main" id="{83039BED-33C9-424B-A997-BD36947E5406}"/>
              </a:ext>
            </a:extLst>
          </p:cNvPr>
          <p:cNvSpPr/>
          <p:nvPr/>
        </p:nvSpPr>
        <p:spPr>
          <a:xfrm>
            <a:off x="11198" y="2890391"/>
            <a:ext cx="3047999" cy="1077218"/>
          </a:xfrm>
          <a:prstGeom prst="rect">
            <a:avLst/>
          </a:prstGeom>
        </p:spPr>
        <p:txBody>
          <a:bodyPr wrap="square">
            <a:spAutoFit/>
          </a:bodyPr>
          <a:lstStyle/>
          <a:p>
            <a:pPr algn="ctr"/>
            <a:r>
              <a:rPr lang="en-US" sz="3200" b="1" dirty="0">
                <a:solidFill>
                  <a:schemeClr val="bg1"/>
                </a:solidFill>
                <a:latin typeface="Segoe UI" panose="020B0502040204020203" pitchFamily="34" charset="0"/>
                <a:ea typeface="Segoe UI" panose="020B0502040204020203" pitchFamily="34" charset="0"/>
                <a:cs typeface="Segoe UI" panose="020B0502040204020203" pitchFamily="34" charset="0"/>
              </a:rPr>
              <a:t>1. Define the Problem</a:t>
            </a:r>
            <a:endParaRPr lang="en-US" sz="3200" dirty="0">
              <a:solidFill>
                <a:schemeClr val="bg1"/>
              </a:solidFill>
            </a:endParaRPr>
          </a:p>
        </p:txBody>
      </p:sp>
      <p:sp>
        <p:nvSpPr>
          <p:cNvPr id="12" name="Rectangle 11">
            <a:extLst>
              <a:ext uri="{FF2B5EF4-FFF2-40B4-BE49-F238E27FC236}">
                <a16:creationId xmlns:a16="http://schemas.microsoft.com/office/drawing/2014/main" id="{11AA5FFD-8761-45A3-876D-16EF7AFD74C8}"/>
              </a:ext>
            </a:extLst>
          </p:cNvPr>
          <p:cNvSpPr/>
          <p:nvPr/>
        </p:nvSpPr>
        <p:spPr>
          <a:xfrm>
            <a:off x="1" y="4150596"/>
            <a:ext cx="3047998" cy="1569660"/>
          </a:xfrm>
          <a:prstGeom prst="rect">
            <a:avLst/>
          </a:prstGeom>
        </p:spPr>
        <p:txBody>
          <a:bodyPr wrap="square">
            <a:spAutoFit/>
          </a:bodyPr>
          <a:lstStyle/>
          <a:p>
            <a:pPr algn="ctr"/>
            <a:r>
              <a:rPr lang="en-GB" sz="2400" dirty="0">
                <a:solidFill>
                  <a:schemeClr val="bg1"/>
                </a:solidFill>
                <a:latin typeface="Bahnschrift SemiBold" panose="020B0502040204020203" pitchFamily="34" charset="0"/>
                <a:ea typeface="Segoe UI" panose="020B0502040204020203" pitchFamily="34" charset="0"/>
                <a:cs typeface="Segoe UI" panose="020B0502040204020203" pitchFamily="34" charset="0"/>
              </a:rPr>
              <a:t>Clearly identifying the issue is the first step in effective problem-solving.</a:t>
            </a:r>
            <a:endParaRPr lang="en-US" sz="2400" dirty="0">
              <a:solidFill>
                <a:schemeClr val="bg1"/>
              </a:solidFill>
              <a:latin typeface="Bahnschrift SemiBold" panose="020B0502040204020203" pitchFamily="34" charset="0"/>
            </a:endParaRPr>
          </a:p>
        </p:txBody>
      </p:sp>
      <p:sp>
        <p:nvSpPr>
          <p:cNvPr id="37" name="Slide Number Placeholder 36">
            <a:extLst>
              <a:ext uri="{FF2B5EF4-FFF2-40B4-BE49-F238E27FC236}">
                <a16:creationId xmlns:a16="http://schemas.microsoft.com/office/drawing/2014/main" id="{7F4E599E-6B59-4FE8-B384-EC65342BB433}"/>
              </a:ext>
            </a:extLst>
          </p:cNvPr>
          <p:cNvSpPr>
            <a:spLocks noGrp="1"/>
          </p:cNvSpPr>
          <p:nvPr>
            <p:ph type="sldNum" sz="quarter" idx="12"/>
          </p:nvPr>
        </p:nvSpPr>
        <p:spPr>
          <a:xfrm>
            <a:off x="8610600" y="6356350"/>
            <a:ext cx="2743200" cy="365125"/>
          </a:xfrm>
        </p:spPr>
        <p:txBody>
          <a:bodyPr/>
          <a:lstStyle/>
          <a:p>
            <a:fld id="{B4B9BCA1-DEDB-4768-B0C2-9E03C02986FE}" type="slidenum">
              <a:rPr lang="en-US" smtClean="0">
                <a:solidFill>
                  <a:schemeClr val="tx1"/>
                </a:solidFill>
              </a:rPr>
              <a:t>3</a:t>
            </a:fld>
            <a:endParaRPr lang="en-US" dirty="0">
              <a:solidFill>
                <a:schemeClr val="tx1"/>
              </a:solidFill>
            </a:endParaRPr>
          </a:p>
        </p:txBody>
      </p:sp>
      <p:cxnSp>
        <p:nvCxnSpPr>
          <p:cNvPr id="40" name="Straight Connector 39">
            <a:extLst>
              <a:ext uri="{FF2B5EF4-FFF2-40B4-BE49-F238E27FC236}">
                <a16:creationId xmlns:a16="http://schemas.microsoft.com/office/drawing/2014/main" id="{F9CF5E9C-0988-4968-8CCB-D63A8BD398E4}"/>
              </a:ext>
            </a:extLst>
          </p:cNvPr>
          <p:cNvCxnSpPr>
            <a:cxnSpLocks/>
          </p:cNvCxnSpPr>
          <p:nvPr/>
        </p:nvCxnSpPr>
        <p:spPr>
          <a:xfrm>
            <a:off x="1787764" y="161895"/>
            <a:ext cx="847722" cy="815988"/>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38" name="Graphic 37" descr="Lightbulb and gear with solid fill">
            <a:extLst>
              <a:ext uri="{FF2B5EF4-FFF2-40B4-BE49-F238E27FC236}">
                <a16:creationId xmlns:a16="http://schemas.microsoft.com/office/drawing/2014/main" id="{84F52BD7-CF8B-D1B4-0AC2-0B02F28FEE4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210800" y="1802803"/>
            <a:ext cx="914400" cy="914400"/>
          </a:xfrm>
          <a:prstGeom prst="rect">
            <a:avLst/>
          </a:prstGeom>
        </p:spPr>
      </p:pic>
      <p:pic>
        <p:nvPicPr>
          <p:cNvPr id="41" name="Graphic 40" descr="Bullseye with solid fill">
            <a:extLst>
              <a:ext uri="{FF2B5EF4-FFF2-40B4-BE49-F238E27FC236}">
                <a16:creationId xmlns:a16="http://schemas.microsoft.com/office/drawing/2014/main" id="{0A2ACC3B-5F7A-A31C-1218-A80D7466013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40681" y="1802803"/>
            <a:ext cx="914400" cy="914400"/>
          </a:xfrm>
          <a:prstGeom prst="rect">
            <a:avLst/>
          </a:prstGeom>
        </p:spPr>
      </p:pic>
      <p:pic>
        <p:nvPicPr>
          <p:cNvPr id="43" name="Graphic 42" descr="Head with gears with solid fill">
            <a:extLst>
              <a:ext uri="{FF2B5EF4-FFF2-40B4-BE49-F238E27FC236}">
                <a16:creationId xmlns:a16="http://schemas.microsoft.com/office/drawing/2014/main" id="{879BB466-872D-70A7-3B4C-3034DD3FAE8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136919" y="1798417"/>
            <a:ext cx="914400" cy="914400"/>
          </a:xfrm>
          <a:prstGeom prst="rect">
            <a:avLst/>
          </a:prstGeom>
        </p:spPr>
      </p:pic>
      <p:pic>
        <p:nvPicPr>
          <p:cNvPr id="46" name="Graphic 45" descr="Microscope with solid fill">
            <a:extLst>
              <a:ext uri="{FF2B5EF4-FFF2-40B4-BE49-F238E27FC236}">
                <a16:creationId xmlns:a16="http://schemas.microsoft.com/office/drawing/2014/main" id="{BC5C1496-2B30-1AF2-B424-09A6A30AF02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36519" y="1795330"/>
            <a:ext cx="914400" cy="914400"/>
          </a:xfrm>
          <a:prstGeom prst="rect">
            <a:avLst/>
          </a:prstGeom>
        </p:spPr>
      </p:pic>
      <p:sp>
        <p:nvSpPr>
          <p:cNvPr id="47" name="Rectangle 46">
            <a:extLst>
              <a:ext uri="{FF2B5EF4-FFF2-40B4-BE49-F238E27FC236}">
                <a16:creationId xmlns:a16="http://schemas.microsoft.com/office/drawing/2014/main" id="{AE0A820A-E6BC-5765-99D5-4A13344EE648}"/>
              </a:ext>
            </a:extLst>
          </p:cNvPr>
          <p:cNvSpPr/>
          <p:nvPr/>
        </p:nvSpPr>
        <p:spPr>
          <a:xfrm>
            <a:off x="9121608" y="2891429"/>
            <a:ext cx="3047999" cy="1077218"/>
          </a:xfrm>
          <a:prstGeom prst="rect">
            <a:avLst/>
          </a:prstGeom>
        </p:spPr>
        <p:txBody>
          <a:bodyPr wrap="square">
            <a:spAutoFit/>
          </a:bodyPr>
          <a:lstStyle/>
          <a:p>
            <a:pPr algn="ctr"/>
            <a:r>
              <a:rPr lang="en-US" sz="3200" b="1" dirty="0">
                <a:solidFill>
                  <a:schemeClr val="bg1"/>
                </a:solidFill>
                <a:latin typeface="Segoe UI" panose="020B0502040204020203" pitchFamily="34" charset="0"/>
                <a:ea typeface="Segoe UI" panose="020B0502040204020203" pitchFamily="34" charset="0"/>
                <a:cs typeface="Segoe UI" panose="020B0502040204020203" pitchFamily="34" charset="0"/>
              </a:rPr>
              <a:t>4. Implement the Solution</a:t>
            </a:r>
            <a:endParaRPr lang="en-US" sz="3200" dirty="0">
              <a:solidFill>
                <a:schemeClr val="bg1"/>
              </a:solidFill>
            </a:endParaRPr>
          </a:p>
        </p:txBody>
      </p:sp>
      <p:sp>
        <p:nvSpPr>
          <p:cNvPr id="48" name="Rectangle 47">
            <a:extLst>
              <a:ext uri="{FF2B5EF4-FFF2-40B4-BE49-F238E27FC236}">
                <a16:creationId xmlns:a16="http://schemas.microsoft.com/office/drawing/2014/main" id="{5E102C11-DADE-B770-DD38-4FFEB66862BE}"/>
              </a:ext>
            </a:extLst>
          </p:cNvPr>
          <p:cNvSpPr/>
          <p:nvPr/>
        </p:nvSpPr>
        <p:spPr>
          <a:xfrm>
            <a:off x="6118393" y="2922806"/>
            <a:ext cx="3047999" cy="1077218"/>
          </a:xfrm>
          <a:prstGeom prst="rect">
            <a:avLst/>
          </a:prstGeom>
        </p:spPr>
        <p:txBody>
          <a:bodyPr wrap="square">
            <a:spAutoFit/>
          </a:bodyPr>
          <a:lstStyle/>
          <a:p>
            <a:pPr algn="ctr"/>
            <a:r>
              <a:rPr lang="en-US" sz="3200" b="1" dirty="0">
                <a:solidFill>
                  <a:schemeClr val="bg1"/>
                </a:solidFill>
                <a:latin typeface="Segoe UI" panose="020B0502040204020203" pitchFamily="34" charset="0"/>
                <a:ea typeface="Segoe UI" panose="020B0502040204020203" pitchFamily="34" charset="0"/>
                <a:cs typeface="Segoe UI" panose="020B0502040204020203" pitchFamily="34" charset="0"/>
              </a:rPr>
              <a:t>3. Select Best Solution</a:t>
            </a:r>
            <a:endParaRPr lang="en-US" sz="3200" dirty="0">
              <a:solidFill>
                <a:schemeClr val="bg1"/>
              </a:solidFill>
            </a:endParaRPr>
          </a:p>
        </p:txBody>
      </p:sp>
      <p:sp>
        <p:nvSpPr>
          <p:cNvPr id="49" name="Rectangle 48">
            <a:extLst>
              <a:ext uri="{FF2B5EF4-FFF2-40B4-BE49-F238E27FC236}">
                <a16:creationId xmlns:a16="http://schemas.microsoft.com/office/drawing/2014/main" id="{B3AE86D2-0752-212A-BAA3-35F0CA0598E9}"/>
              </a:ext>
            </a:extLst>
          </p:cNvPr>
          <p:cNvSpPr/>
          <p:nvPr/>
        </p:nvSpPr>
        <p:spPr>
          <a:xfrm>
            <a:off x="2999022" y="2893218"/>
            <a:ext cx="3047999" cy="1077218"/>
          </a:xfrm>
          <a:prstGeom prst="rect">
            <a:avLst/>
          </a:prstGeom>
        </p:spPr>
        <p:txBody>
          <a:bodyPr wrap="square">
            <a:spAutoFit/>
          </a:bodyPr>
          <a:lstStyle/>
          <a:p>
            <a:pPr algn="ctr"/>
            <a:r>
              <a:rPr lang="en-US" sz="3200" b="1" dirty="0">
                <a:solidFill>
                  <a:schemeClr val="bg1"/>
                </a:solidFill>
                <a:latin typeface="Segoe UI" panose="020B0502040204020203" pitchFamily="34" charset="0"/>
                <a:ea typeface="Segoe UI" panose="020B0502040204020203" pitchFamily="34" charset="0"/>
                <a:cs typeface="Segoe UI" panose="020B0502040204020203" pitchFamily="34" charset="0"/>
              </a:rPr>
              <a:t>2. Generate Solutions</a:t>
            </a:r>
            <a:endParaRPr lang="en-US" sz="3200" dirty="0">
              <a:solidFill>
                <a:schemeClr val="bg1"/>
              </a:solidFill>
            </a:endParaRPr>
          </a:p>
        </p:txBody>
      </p:sp>
      <p:sp>
        <p:nvSpPr>
          <p:cNvPr id="50" name="Rectangle 49">
            <a:extLst>
              <a:ext uri="{FF2B5EF4-FFF2-40B4-BE49-F238E27FC236}">
                <a16:creationId xmlns:a16="http://schemas.microsoft.com/office/drawing/2014/main" id="{726ED173-0DEE-CCAF-818A-4476293979E8}"/>
              </a:ext>
            </a:extLst>
          </p:cNvPr>
          <p:cNvSpPr/>
          <p:nvPr/>
        </p:nvSpPr>
        <p:spPr>
          <a:xfrm>
            <a:off x="9132074" y="4150345"/>
            <a:ext cx="3047998" cy="1938992"/>
          </a:xfrm>
          <a:prstGeom prst="rect">
            <a:avLst/>
          </a:prstGeom>
        </p:spPr>
        <p:txBody>
          <a:bodyPr wrap="square">
            <a:spAutoFit/>
          </a:bodyPr>
          <a:lstStyle/>
          <a:p>
            <a:pPr algn="ctr"/>
            <a:r>
              <a:rPr lang="en-GB" sz="2400" dirty="0">
                <a:solidFill>
                  <a:schemeClr val="bg1"/>
                </a:solidFill>
                <a:latin typeface="Bahnschrift SemiBold" panose="020B0502040204020203" pitchFamily="34" charset="0"/>
                <a:ea typeface="Segoe UI" panose="020B0502040204020203" pitchFamily="34" charset="0"/>
                <a:cs typeface="Segoe UI" panose="020B0502040204020203" pitchFamily="34" charset="0"/>
              </a:rPr>
              <a:t>After selecting the most viable solution, it should be implemented promptly.</a:t>
            </a:r>
            <a:endParaRPr lang="en-US" sz="2400" dirty="0">
              <a:solidFill>
                <a:schemeClr val="bg1"/>
              </a:solidFill>
              <a:latin typeface="Bahnschrift SemiBold" panose="020B0502040204020203" pitchFamily="34" charset="0"/>
            </a:endParaRPr>
          </a:p>
        </p:txBody>
      </p:sp>
      <p:sp>
        <p:nvSpPr>
          <p:cNvPr id="51" name="Rectangle 50">
            <a:extLst>
              <a:ext uri="{FF2B5EF4-FFF2-40B4-BE49-F238E27FC236}">
                <a16:creationId xmlns:a16="http://schemas.microsoft.com/office/drawing/2014/main" id="{9DD99D25-832C-90D9-7F12-2BD3C074F3A7}"/>
              </a:ext>
            </a:extLst>
          </p:cNvPr>
          <p:cNvSpPr/>
          <p:nvPr/>
        </p:nvSpPr>
        <p:spPr>
          <a:xfrm>
            <a:off x="6078942" y="4150345"/>
            <a:ext cx="3047998" cy="2308324"/>
          </a:xfrm>
          <a:prstGeom prst="rect">
            <a:avLst/>
          </a:prstGeom>
        </p:spPr>
        <p:txBody>
          <a:bodyPr wrap="square">
            <a:spAutoFit/>
          </a:bodyPr>
          <a:lstStyle/>
          <a:p>
            <a:pPr algn="ctr"/>
            <a:r>
              <a:rPr lang="en-GB" sz="2400" dirty="0">
                <a:solidFill>
                  <a:schemeClr val="bg1"/>
                </a:solidFill>
                <a:latin typeface="Bahnschrift SemiBold" panose="020B0502040204020203" pitchFamily="34" charset="0"/>
                <a:ea typeface="Segoe UI" panose="020B0502040204020203" pitchFamily="34" charset="0"/>
                <a:cs typeface="Segoe UI" panose="020B0502040204020203" pitchFamily="34" charset="0"/>
              </a:rPr>
              <a:t>Selecting the solution by assessing the pros and cons of each potential solution is crucial.</a:t>
            </a:r>
            <a:endParaRPr lang="en-US" sz="2400" dirty="0">
              <a:solidFill>
                <a:schemeClr val="bg1"/>
              </a:solidFill>
              <a:latin typeface="Bahnschrift SemiBold" panose="020B0502040204020203" pitchFamily="34" charset="0"/>
            </a:endParaRPr>
          </a:p>
        </p:txBody>
      </p:sp>
      <p:sp>
        <p:nvSpPr>
          <p:cNvPr id="52" name="Rectangle 51">
            <a:extLst>
              <a:ext uri="{FF2B5EF4-FFF2-40B4-BE49-F238E27FC236}">
                <a16:creationId xmlns:a16="http://schemas.microsoft.com/office/drawing/2014/main" id="{CDB20D2A-1A96-0962-400E-4E2DAA29D134}"/>
              </a:ext>
            </a:extLst>
          </p:cNvPr>
          <p:cNvSpPr/>
          <p:nvPr/>
        </p:nvSpPr>
        <p:spPr>
          <a:xfrm>
            <a:off x="3028377" y="4150345"/>
            <a:ext cx="3047998" cy="1569660"/>
          </a:xfrm>
          <a:prstGeom prst="rect">
            <a:avLst/>
          </a:prstGeom>
        </p:spPr>
        <p:txBody>
          <a:bodyPr wrap="square">
            <a:spAutoFit/>
          </a:bodyPr>
          <a:lstStyle/>
          <a:p>
            <a:pPr algn="ctr"/>
            <a:r>
              <a:rPr lang="en-GB" sz="2400" dirty="0">
                <a:solidFill>
                  <a:schemeClr val="bg1"/>
                </a:solidFill>
                <a:latin typeface="Bahnschrift SemiBold" panose="020B0502040204020203" pitchFamily="34" charset="0"/>
                <a:ea typeface="Segoe UI" panose="020B0502040204020203" pitchFamily="34" charset="0"/>
                <a:cs typeface="Segoe UI" panose="020B0502040204020203" pitchFamily="34" charset="0"/>
              </a:rPr>
              <a:t>brainstorming sessions can generate a variety of potential solutions.</a:t>
            </a:r>
            <a:endParaRPr lang="en-US" sz="2400" dirty="0">
              <a:solidFill>
                <a:schemeClr val="bg1"/>
              </a:solidFill>
              <a:latin typeface="Bahnschrift SemiBold" panose="020B0502040204020203" pitchFamily="34" charset="0"/>
            </a:endParaRPr>
          </a:p>
        </p:txBody>
      </p:sp>
    </p:spTree>
    <p:extLst>
      <p:ext uri="{BB962C8B-B14F-4D97-AF65-F5344CB8AC3E}">
        <p14:creationId xmlns:p14="http://schemas.microsoft.com/office/powerpoint/2010/main" val="77410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Diagonal Corners Snipped 16">
            <a:extLst>
              <a:ext uri="{FF2B5EF4-FFF2-40B4-BE49-F238E27FC236}">
                <a16:creationId xmlns:a16="http://schemas.microsoft.com/office/drawing/2014/main" id="{11173A8B-84BB-E82B-EB39-A005E36A22D3}"/>
              </a:ext>
            </a:extLst>
          </p:cNvPr>
          <p:cNvSpPr/>
          <p:nvPr/>
        </p:nvSpPr>
        <p:spPr>
          <a:xfrm>
            <a:off x="313899" y="1259234"/>
            <a:ext cx="11600597" cy="5436871"/>
          </a:xfrm>
          <a:prstGeom prst="snip2Diag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Slide Number Placeholder 44">
            <a:extLst>
              <a:ext uri="{FF2B5EF4-FFF2-40B4-BE49-F238E27FC236}">
                <a16:creationId xmlns:a16="http://schemas.microsoft.com/office/drawing/2014/main" id="{4667A9BD-9E19-4657-ADDF-B3EEEB5D6183}"/>
              </a:ext>
            </a:extLst>
          </p:cNvPr>
          <p:cNvSpPr>
            <a:spLocks noGrp="1"/>
          </p:cNvSpPr>
          <p:nvPr>
            <p:ph type="sldNum" sz="quarter" idx="12"/>
          </p:nvPr>
        </p:nvSpPr>
        <p:spPr/>
        <p:txBody>
          <a:bodyPr/>
          <a:lstStyle/>
          <a:p>
            <a:fld id="{B4B9BCA1-DEDB-4768-B0C2-9E03C02986FE}" type="slidenum">
              <a:rPr lang="en-US" smtClean="0">
                <a:solidFill>
                  <a:schemeClr val="tx1"/>
                </a:solidFill>
              </a:rPr>
              <a:t>4</a:t>
            </a:fld>
            <a:endParaRPr lang="en-US" dirty="0">
              <a:solidFill>
                <a:schemeClr val="tx1"/>
              </a:solidFill>
            </a:endParaRPr>
          </a:p>
        </p:txBody>
      </p:sp>
      <p:sp>
        <p:nvSpPr>
          <p:cNvPr id="47" name="TextBox 46">
            <a:extLst>
              <a:ext uri="{FF2B5EF4-FFF2-40B4-BE49-F238E27FC236}">
                <a16:creationId xmlns:a16="http://schemas.microsoft.com/office/drawing/2014/main" id="{0FFC54BF-80E6-48EF-B5C6-2F6A35EC496C}"/>
              </a:ext>
            </a:extLst>
          </p:cNvPr>
          <p:cNvSpPr txBox="1"/>
          <p:nvPr/>
        </p:nvSpPr>
        <p:spPr>
          <a:xfrm>
            <a:off x="1430352" y="3231676"/>
            <a:ext cx="4301875" cy="584775"/>
          </a:xfrm>
          <a:prstGeom prst="rect">
            <a:avLst/>
          </a:prstGeom>
          <a:noFill/>
        </p:spPr>
        <p:txBody>
          <a:bodyPr wrap="square" rtlCol="0">
            <a:spAutoFit/>
          </a:bodyPr>
          <a:lstStyle/>
          <a:p>
            <a:r>
              <a:rPr lang="en-US" sz="3200" b="1" dirty="0">
                <a:solidFill>
                  <a:schemeClr val="tx1">
                    <a:lumMod val="85000"/>
                    <a:lumOff val="15000"/>
                  </a:schemeClr>
                </a:solidFill>
                <a:latin typeface="Segoe UI" panose="020B0502040204020203" pitchFamily="34" charset="0"/>
                <a:ea typeface="Segoe UI" panose="020B0502040204020203" pitchFamily="34" charset="0"/>
                <a:cs typeface="Segoe UI" panose="020B0502040204020203" pitchFamily="34" charset="0"/>
              </a:rPr>
              <a:t>Research and analyze</a:t>
            </a:r>
            <a:endParaRPr lang="en-US" sz="3200" dirty="0"/>
          </a:p>
        </p:txBody>
      </p:sp>
      <p:sp>
        <p:nvSpPr>
          <p:cNvPr id="48" name="TextBox 47">
            <a:extLst>
              <a:ext uri="{FF2B5EF4-FFF2-40B4-BE49-F238E27FC236}">
                <a16:creationId xmlns:a16="http://schemas.microsoft.com/office/drawing/2014/main" id="{3F92AB00-47B2-419C-838A-1A35AE06CB5D}"/>
              </a:ext>
            </a:extLst>
          </p:cNvPr>
          <p:cNvSpPr txBox="1"/>
          <p:nvPr/>
        </p:nvSpPr>
        <p:spPr>
          <a:xfrm>
            <a:off x="1430352" y="4631414"/>
            <a:ext cx="4301875" cy="584775"/>
          </a:xfrm>
          <a:prstGeom prst="rect">
            <a:avLst/>
          </a:prstGeom>
          <a:noFill/>
        </p:spPr>
        <p:txBody>
          <a:bodyPr wrap="square" rtlCol="0">
            <a:spAutoFit/>
          </a:bodyPr>
          <a:lstStyle/>
          <a:p>
            <a:r>
              <a:rPr lang="en-US" sz="3200" b="1" dirty="0">
                <a:solidFill>
                  <a:schemeClr val="tx1">
                    <a:lumMod val="85000"/>
                    <a:lumOff val="15000"/>
                  </a:schemeClr>
                </a:solidFill>
                <a:latin typeface="Segoe UI" panose="020B0502040204020203" pitchFamily="34" charset="0"/>
                <a:cs typeface="Segoe UI" panose="020B0502040204020203" pitchFamily="34" charset="0"/>
              </a:rPr>
              <a:t>Develop action Plans</a:t>
            </a:r>
            <a:endParaRPr lang="en-US" sz="3200" dirty="0"/>
          </a:p>
        </p:txBody>
      </p:sp>
      <p:sp>
        <p:nvSpPr>
          <p:cNvPr id="53" name="TextBox 52">
            <a:extLst>
              <a:ext uri="{FF2B5EF4-FFF2-40B4-BE49-F238E27FC236}">
                <a16:creationId xmlns:a16="http://schemas.microsoft.com/office/drawing/2014/main" id="{FC014DEB-8AD0-48F6-9CB6-F4EED2ACFD2A}"/>
              </a:ext>
            </a:extLst>
          </p:cNvPr>
          <p:cNvSpPr txBox="1"/>
          <p:nvPr/>
        </p:nvSpPr>
        <p:spPr>
          <a:xfrm>
            <a:off x="6929767" y="3742791"/>
            <a:ext cx="3121981" cy="1077218"/>
          </a:xfrm>
          <a:prstGeom prst="rect">
            <a:avLst/>
          </a:prstGeom>
          <a:noFill/>
        </p:spPr>
        <p:txBody>
          <a:bodyPr wrap="square" rtlCol="0">
            <a:spAutoFit/>
          </a:bodyPr>
          <a:lstStyle/>
          <a:p>
            <a:r>
              <a:rPr lang="en-US" sz="3200" b="1" dirty="0">
                <a:solidFill>
                  <a:schemeClr val="tx1">
                    <a:lumMod val="85000"/>
                    <a:lumOff val="15000"/>
                  </a:schemeClr>
                </a:solidFill>
                <a:latin typeface="Segoe UI" panose="020B0502040204020203" pitchFamily="34" charset="0"/>
                <a:ea typeface="Segoe UI" panose="020B0502040204020203" pitchFamily="34" charset="0"/>
                <a:cs typeface="Segoe UI" panose="020B0502040204020203" pitchFamily="34" charset="0"/>
              </a:rPr>
              <a:t>Evaluation and adjustments</a:t>
            </a:r>
            <a:endParaRPr lang="en-US" sz="3200" dirty="0"/>
          </a:p>
        </p:txBody>
      </p:sp>
      <p:sp>
        <p:nvSpPr>
          <p:cNvPr id="54" name="TextBox 53">
            <a:extLst>
              <a:ext uri="{FF2B5EF4-FFF2-40B4-BE49-F238E27FC236}">
                <a16:creationId xmlns:a16="http://schemas.microsoft.com/office/drawing/2014/main" id="{96821454-2273-42A4-9E60-12992D914B1C}"/>
              </a:ext>
            </a:extLst>
          </p:cNvPr>
          <p:cNvSpPr txBox="1"/>
          <p:nvPr/>
        </p:nvSpPr>
        <p:spPr>
          <a:xfrm>
            <a:off x="6850246" y="1967509"/>
            <a:ext cx="3317157" cy="584775"/>
          </a:xfrm>
          <a:prstGeom prst="rect">
            <a:avLst/>
          </a:prstGeom>
          <a:noFill/>
        </p:spPr>
        <p:txBody>
          <a:bodyPr wrap="square" rtlCol="0">
            <a:spAutoFit/>
          </a:bodyPr>
          <a:lstStyle/>
          <a:p>
            <a:r>
              <a:rPr lang="en-US" sz="3200" b="1" dirty="0">
                <a:solidFill>
                  <a:schemeClr val="tx1">
                    <a:lumMod val="85000"/>
                    <a:lumOff val="15000"/>
                  </a:schemeClr>
                </a:solidFill>
                <a:latin typeface="Segoe UI" panose="020B0502040204020203" pitchFamily="34" charset="0"/>
                <a:ea typeface="Segoe UI" panose="020B0502040204020203" pitchFamily="34" charset="0"/>
                <a:cs typeface="Segoe UI" panose="020B0502040204020203" pitchFamily="34" charset="0"/>
              </a:rPr>
              <a:t>Implementation</a:t>
            </a:r>
            <a:endParaRPr lang="en-US" sz="3200" dirty="0"/>
          </a:p>
        </p:txBody>
      </p:sp>
      <p:sp>
        <p:nvSpPr>
          <p:cNvPr id="57" name="TextBox 56">
            <a:extLst>
              <a:ext uri="{FF2B5EF4-FFF2-40B4-BE49-F238E27FC236}">
                <a16:creationId xmlns:a16="http://schemas.microsoft.com/office/drawing/2014/main" id="{BA4BDC28-8312-4548-9C0B-E365B436D9A7}"/>
              </a:ext>
            </a:extLst>
          </p:cNvPr>
          <p:cNvSpPr txBox="1"/>
          <p:nvPr/>
        </p:nvSpPr>
        <p:spPr>
          <a:xfrm>
            <a:off x="707315" y="3250385"/>
            <a:ext cx="723037" cy="584775"/>
          </a:xfrm>
          <a:prstGeom prst="rect">
            <a:avLst/>
          </a:prstGeom>
          <a:noFill/>
        </p:spPr>
        <p:txBody>
          <a:bodyPr wrap="square" rtlCol="0">
            <a:spAutoFit/>
          </a:bodyPr>
          <a:lstStyle/>
          <a:p>
            <a:r>
              <a:rPr lang="en-US" sz="3200" b="1" dirty="0">
                <a:solidFill>
                  <a:srgbClr val="FFC000"/>
                </a:solidFill>
                <a:latin typeface="Segoe UI" panose="020B0502040204020203" pitchFamily="34" charset="0"/>
                <a:ea typeface="Segoe UI" panose="020B0502040204020203" pitchFamily="34" charset="0"/>
                <a:cs typeface="Segoe UI" panose="020B0502040204020203" pitchFamily="34" charset="0"/>
              </a:rPr>
              <a:t>02</a:t>
            </a:r>
            <a:endParaRPr lang="en-US" sz="3200" dirty="0">
              <a:solidFill>
                <a:srgbClr val="FFC000"/>
              </a:solidFill>
            </a:endParaRPr>
          </a:p>
        </p:txBody>
      </p:sp>
      <p:sp>
        <p:nvSpPr>
          <p:cNvPr id="58" name="Rectangle 57">
            <a:extLst>
              <a:ext uri="{FF2B5EF4-FFF2-40B4-BE49-F238E27FC236}">
                <a16:creationId xmlns:a16="http://schemas.microsoft.com/office/drawing/2014/main" id="{EECF01B8-086D-4AA8-828E-F91694BB76FD}"/>
              </a:ext>
            </a:extLst>
          </p:cNvPr>
          <p:cNvSpPr/>
          <p:nvPr/>
        </p:nvSpPr>
        <p:spPr>
          <a:xfrm>
            <a:off x="880372" y="1914135"/>
            <a:ext cx="5247653" cy="1200329"/>
          </a:xfrm>
          <a:prstGeom prst="rect">
            <a:avLst/>
          </a:prstGeom>
        </p:spPr>
        <p:txBody>
          <a:bodyPr wrap="square">
            <a:spAutoFit/>
          </a:bodyPr>
          <a:lstStyle/>
          <a:p>
            <a:r>
              <a:rPr lang="en-GB" sz="2400" dirty="0">
                <a:solidFill>
                  <a:schemeClr val="tx1">
                    <a:lumMod val="85000"/>
                    <a:lumOff val="15000"/>
                  </a:schemeClr>
                </a:solidFill>
                <a:latin typeface="Corbel" panose="020B0503020204020204" pitchFamily="34" charset="0"/>
                <a:ea typeface="Segoe UI" panose="020B0502040204020203" pitchFamily="34" charset="0"/>
                <a:cs typeface="Segoe UI" panose="020B0502040204020203" pitchFamily="34" charset="0"/>
              </a:rPr>
              <a:t>Clearly define the strategic goals and objectives that the organization aims to achieve.</a:t>
            </a:r>
            <a:endParaRPr lang="en-US" sz="2400" dirty="0">
              <a:solidFill>
                <a:schemeClr val="bg2">
                  <a:lumMod val="10000"/>
                </a:schemeClr>
              </a:solidFill>
              <a:latin typeface="Corbel" panose="020B0503020204020204" pitchFamily="34" charset="0"/>
            </a:endParaRPr>
          </a:p>
        </p:txBody>
      </p:sp>
      <p:sp>
        <p:nvSpPr>
          <p:cNvPr id="59" name="TextBox 58">
            <a:extLst>
              <a:ext uri="{FF2B5EF4-FFF2-40B4-BE49-F238E27FC236}">
                <a16:creationId xmlns:a16="http://schemas.microsoft.com/office/drawing/2014/main" id="{1C5B8237-6154-49DE-891F-FDDDE9A46381}"/>
              </a:ext>
            </a:extLst>
          </p:cNvPr>
          <p:cNvSpPr txBox="1"/>
          <p:nvPr/>
        </p:nvSpPr>
        <p:spPr>
          <a:xfrm>
            <a:off x="1461797" y="1407956"/>
            <a:ext cx="4270430" cy="584775"/>
          </a:xfrm>
          <a:prstGeom prst="rect">
            <a:avLst/>
          </a:prstGeom>
          <a:noFill/>
        </p:spPr>
        <p:txBody>
          <a:bodyPr wrap="square" rtlCol="0">
            <a:spAutoFit/>
          </a:bodyPr>
          <a:lstStyle/>
          <a:p>
            <a:r>
              <a:rPr lang="en-US" sz="3200" b="1" dirty="0">
                <a:solidFill>
                  <a:schemeClr val="tx1">
                    <a:lumMod val="85000"/>
                    <a:lumOff val="15000"/>
                  </a:schemeClr>
                </a:solidFill>
                <a:latin typeface="Segoe UI" panose="020B0502040204020203" pitchFamily="34" charset="0"/>
                <a:cs typeface="Segoe UI" panose="020B0502040204020203" pitchFamily="34" charset="0"/>
              </a:rPr>
              <a:t>Identify Objectives</a:t>
            </a:r>
            <a:endParaRPr lang="en-US" sz="3200" dirty="0"/>
          </a:p>
        </p:txBody>
      </p:sp>
      <p:sp>
        <p:nvSpPr>
          <p:cNvPr id="60" name="TextBox 59">
            <a:extLst>
              <a:ext uri="{FF2B5EF4-FFF2-40B4-BE49-F238E27FC236}">
                <a16:creationId xmlns:a16="http://schemas.microsoft.com/office/drawing/2014/main" id="{2F3FCCF0-923D-42B8-9A31-7318C6CE7813}"/>
              </a:ext>
            </a:extLst>
          </p:cNvPr>
          <p:cNvSpPr txBox="1"/>
          <p:nvPr/>
        </p:nvSpPr>
        <p:spPr>
          <a:xfrm>
            <a:off x="707315" y="1408898"/>
            <a:ext cx="723037" cy="584775"/>
          </a:xfrm>
          <a:prstGeom prst="rect">
            <a:avLst/>
          </a:prstGeom>
          <a:noFill/>
        </p:spPr>
        <p:txBody>
          <a:bodyPr wrap="square" rtlCol="0">
            <a:spAutoFit/>
          </a:bodyPr>
          <a:lstStyle/>
          <a:p>
            <a:r>
              <a:rPr lang="en-US" sz="3200" b="1" dirty="0">
                <a:solidFill>
                  <a:srgbClr val="FFC000"/>
                </a:solidFill>
                <a:latin typeface="Segoe UI" panose="020B0502040204020203" pitchFamily="34" charset="0"/>
                <a:ea typeface="Segoe UI" panose="020B0502040204020203" pitchFamily="34" charset="0"/>
                <a:cs typeface="Segoe UI" panose="020B0502040204020203" pitchFamily="34" charset="0"/>
              </a:rPr>
              <a:t>01</a:t>
            </a:r>
            <a:endParaRPr lang="en-US" sz="3200" dirty="0">
              <a:solidFill>
                <a:srgbClr val="FFC000"/>
              </a:solidFill>
            </a:endParaRPr>
          </a:p>
        </p:txBody>
      </p:sp>
      <p:sp>
        <p:nvSpPr>
          <p:cNvPr id="61" name="TextBox 60">
            <a:extLst>
              <a:ext uri="{FF2B5EF4-FFF2-40B4-BE49-F238E27FC236}">
                <a16:creationId xmlns:a16="http://schemas.microsoft.com/office/drawing/2014/main" id="{20277B2F-DF5A-49EF-95CD-C14610F6A960}"/>
              </a:ext>
            </a:extLst>
          </p:cNvPr>
          <p:cNvSpPr txBox="1"/>
          <p:nvPr/>
        </p:nvSpPr>
        <p:spPr>
          <a:xfrm>
            <a:off x="707315" y="4664328"/>
            <a:ext cx="723037" cy="584775"/>
          </a:xfrm>
          <a:prstGeom prst="rect">
            <a:avLst/>
          </a:prstGeom>
          <a:noFill/>
        </p:spPr>
        <p:txBody>
          <a:bodyPr wrap="square" rtlCol="0">
            <a:spAutoFit/>
          </a:bodyPr>
          <a:lstStyle/>
          <a:p>
            <a:r>
              <a:rPr lang="en-US" sz="3200" b="1" dirty="0">
                <a:solidFill>
                  <a:srgbClr val="FFC000"/>
                </a:solidFill>
                <a:latin typeface="Segoe UI" panose="020B0502040204020203" pitchFamily="34" charset="0"/>
                <a:ea typeface="Segoe UI" panose="020B0502040204020203" pitchFamily="34" charset="0"/>
                <a:cs typeface="Segoe UI" panose="020B0502040204020203" pitchFamily="34" charset="0"/>
              </a:rPr>
              <a:t>03</a:t>
            </a:r>
            <a:endParaRPr lang="en-US" sz="3200" dirty="0">
              <a:solidFill>
                <a:srgbClr val="FFC000"/>
              </a:solidFill>
            </a:endParaRPr>
          </a:p>
        </p:txBody>
      </p:sp>
      <p:sp>
        <p:nvSpPr>
          <p:cNvPr id="64" name="TextBox 63">
            <a:extLst>
              <a:ext uri="{FF2B5EF4-FFF2-40B4-BE49-F238E27FC236}">
                <a16:creationId xmlns:a16="http://schemas.microsoft.com/office/drawing/2014/main" id="{227F1A2A-7137-48B8-B3E5-605942C4612D}"/>
              </a:ext>
            </a:extLst>
          </p:cNvPr>
          <p:cNvSpPr txBox="1"/>
          <p:nvPr/>
        </p:nvSpPr>
        <p:spPr>
          <a:xfrm>
            <a:off x="6190915" y="3772703"/>
            <a:ext cx="659331" cy="584775"/>
          </a:xfrm>
          <a:prstGeom prst="rect">
            <a:avLst/>
          </a:prstGeom>
          <a:noFill/>
        </p:spPr>
        <p:txBody>
          <a:bodyPr wrap="square" rtlCol="0">
            <a:spAutoFit/>
          </a:bodyPr>
          <a:lstStyle/>
          <a:p>
            <a:pPr algn="r"/>
            <a:r>
              <a:rPr lang="en-US" sz="3200" b="1" dirty="0">
                <a:solidFill>
                  <a:srgbClr val="FFC000"/>
                </a:solidFill>
                <a:latin typeface="Segoe UI" panose="020B0502040204020203" pitchFamily="34" charset="0"/>
                <a:ea typeface="Segoe UI" panose="020B0502040204020203" pitchFamily="34" charset="0"/>
                <a:cs typeface="Segoe UI" panose="020B0502040204020203" pitchFamily="34" charset="0"/>
              </a:rPr>
              <a:t>05</a:t>
            </a:r>
            <a:endParaRPr lang="en-US" sz="3200" dirty="0">
              <a:solidFill>
                <a:srgbClr val="FFC000"/>
              </a:solidFill>
            </a:endParaRPr>
          </a:p>
        </p:txBody>
      </p:sp>
      <p:sp>
        <p:nvSpPr>
          <p:cNvPr id="65" name="TextBox 64">
            <a:extLst>
              <a:ext uri="{FF2B5EF4-FFF2-40B4-BE49-F238E27FC236}">
                <a16:creationId xmlns:a16="http://schemas.microsoft.com/office/drawing/2014/main" id="{5B04C0C0-6B15-4EC1-9969-FDC50705BE91}"/>
              </a:ext>
            </a:extLst>
          </p:cNvPr>
          <p:cNvSpPr txBox="1"/>
          <p:nvPr/>
        </p:nvSpPr>
        <p:spPr>
          <a:xfrm>
            <a:off x="6159470" y="1967509"/>
            <a:ext cx="659331" cy="584775"/>
          </a:xfrm>
          <a:prstGeom prst="rect">
            <a:avLst/>
          </a:prstGeom>
          <a:noFill/>
        </p:spPr>
        <p:txBody>
          <a:bodyPr wrap="square" rtlCol="0">
            <a:spAutoFit/>
          </a:bodyPr>
          <a:lstStyle/>
          <a:p>
            <a:pPr algn="r"/>
            <a:r>
              <a:rPr lang="en-US" sz="3200" b="1" dirty="0">
                <a:solidFill>
                  <a:srgbClr val="FFC000"/>
                </a:solidFill>
                <a:latin typeface="Segoe UI" panose="020B0502040204020203" pitchFamily="34" charset="0"/>
                <a:ea typeface="Segoe UI" panose="020B0502040204020203" pitchFamily="34" charset="0"/>
                <a:cs typeface="Segoe UI" panose="020B0502040204020203" pitchFamily="34" charset="0"/>
              </a:rPr>
              <a:t>04</a:t>
            </a:r>
            <a:endParaRPr lang="en-US" sz="3200" dirty="0">
              <a:solidFill>
                <a:srgbClr val="FFC000"/>
              </a:solidFill>
            </a:endParaRPr>
          </a:p>
        </p:txBody>
      </p:sp>
      <p:sp>
        <p:nvSpPr>
          <p:cNvPr id="42" name="Flowchart: Manual Input 7">
            <a:extLst>
              <a:ext uri="{FF2B5EF4-FFF2-40B4-BE49-F238E27FC236}">
                <a16:creationId xmlns:a16="http://schemas.microsoft.com/office/drawing/2014/main" id="{C389801C-07B1-47DD-BA6A-0B5E1B604727}"/>
              </a:ext>
            </a:extLst>
          </p:cNvPr>
          <p:cNvSpPr/>
          <p:nvPr/>
        </p:nvSpPr>
        <p:spPr>
          <a:xfrm rot="5400000" flipH="1" flipV="1">
            <a:off x="1206583" y="-47885"/>
            <a:ext cx="862535" cy="175170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5247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5247 h 10000"/>
              <a:gd name="connsiteX0" fmla="*/ 0 w 10000"/>
              <a:gd name="connsiteY0" fmla="*/ 4506 h 9259"/>
              <a:gd name="connsiteX1" fmla="*/ 10000 w 10000"/>
              <a:gd name="connsiteY1" fmla="*/ 0 h 9259"/>
              <a:gd name="connsiteX2" fmla="*/ 10000 w 10000"/>
              <a:gd name="connsiteY2" fmla="*/ 9259 h 9259"/>
              <a:gd name="connsiteX3" fmla="*/ 0 w 10000"/>
              <a:gd name="connsiteY3" fmla="*/ 9259 h 9259"/>
              <a:gd name="connsiteX4" fmla="*/ 0 w 10000"/>
              <a:gd name="connsiteY4" fmla="*/ 4506 h 9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9259">
                <a:moveTo>
                  <a:pt x="0" y="4506"/>
                </a:moveTo>
                <a:lnTo>
                  <a:pt x="10000" y="0"/>
                </a:lnTo>
                <a:lnTo>
                  <a:pt x="10000" y="9259"/>
                </a:lnTo>
                <a:lnTo>
                  <a:pt x="0" y="9259"/>
                </a:lnTo>
                <a:lnTo>
                  <a:pt x="0" y="4506"/>
                </a:lnTo>
                <a:close/>
              </a:path>
            </a:pathLst>
          </a:custGeom>
          <a:solidFill>
            <a:srgbClr val="FF5C0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4" name="TextBox 43">
            <a:extLst>
              <a:ext uri="{FF2B5EF4-FFF2-40B4-BE49-F238E27FC236}">
                <a16:creationId xmlns:a16="http://schemas.microsoft.com/office/drawing/2014/main" id="{0528D2C9-2F65-4662-82B6-09E459731C27}"/>
              </a:ext>
            </a:extLst>
          </p:cNvPr>
          <p:cNvSpPr txBox="1"/>
          <p:nvPr/>
        </p:nvSpPr>
        <p:spPr>
          <a:xfrm>
            <a:off x="2640474" y="443246"/>
            <a:ext cx="11403072" cy="646331"/>
          </a:xfrm>
          <a:prstGeom prst="rect">
            <a:avLst/>
          </a:prstGeom>
          <a:noFill/>
        </p:spPr>
        <p:txBody>
          <a:bodyPr wrap="square" rtlCol="0">
            <a:spAutoFit/>
          </a:bodyPr>
          <a:lstStyle/>
          <a:p>
            <a:r>
              <a:rPr lang="en-US" sz="3600" b="1" dirty="0">
                <a:solidFill>
                  <a:schemeClr val="tx1">
                    <a:lumMod val="85000"/>
                    <a:lumOff val="15000"/>
                  </a:schemeClr>
                </a:solidFill>
                <a:latin typeface="Segoe UI" panose="020B0502040204020203" pitchFamily="34" charset="0"/>
                <a:ea typeface="Segoe UI" panose="020B0502040204020203" pitchFamily="34" charset="0"/>
                <a:cs typeface="Segoe UI" panose="020B0502040204020203" pitchFamily="34" charset="0"/>
              </a:rPr>
              <a:t>FIVE-STEP CRITICAL THINKING PROCESS</a:t>
            </a:r>
          </a:p>
        </p:txBody>
      </p:sp>
      <p:cxnSp>
        <p:nvCxnSpPr>
          <p:cNvPr id="49" name="Straight Connector 48">
            <a:extLst>
              <a:ext uri="{FF2B5EF4-FFF2-40B4-BE49-F238E27FC236}">
                <a16:creationId xmlns:a16="http://schemas.microsoft.com/office/drawing/2014/main" id="{D5BB5BA6-50F9-44ED-8E57-687709F8C91D}"/>
              </a:ext>
            </a:extLst>
          </p:cNvPr>
          <p:cNvCxnSpPr>
            <a:cxnSpLocks/>
          </p:cNvCxnSpPr>
          <p:nvPr/>
        </p:nvCxnSpPr>
        <p:spPr>
          <a:xfrm>
            <a:off x="1787764" y="161895"/>
            <a:ext cx="847722" cy="815988"/>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566C03D6-6E8F-08C9-2046-F11B43CF933F}"/>
              </a:ext>
            </a:extLst>
          </p:cNvPr>
          <p:cNvSpPr/>
          <p:nvPr/>
        </p:nvSpPr>
        <p:spPr>
          <a:xfrm>
            <a:off x="880372" y="3742475"/>
            <a:ext cx="5247653" cy="830997"/>
          </a:xfrm>
          <a:prstGeom prst="rect">
            <a:avLst/>
          </a:prstGeom>
        </p:spPr>
        <p:txBody>
          <a:bodyPr wrap="square">
            <a:spAutoFit/>
          </a:bodyPr>
          <a:lstStyle/>
          <a:p>
            <a:r>
              <a:rPr lang="en-GB" sz="2400" dirty="0">
                <a:solidFill>
                  <a:schemeClr val="tx1">
                    <a:lumMod val="85000"/>
                    <a:lumOff val="15000"/>
                  </a:schemeClr>
                </a:solidFill>
                <a:latin typeface="Corbel" panose="020B0503020204020204" pitchFamily="34" charset="0"/>
                <a:ea typeface="Segoe UI" panose="020B0502040204020203" pitchFamily="34" charset="0"/>
                <a:cs typeface="Segoe UI" panose="020B0502040204020203" pitchFamily="34" charset="0"/>
              </a:rPr>
              <a:t>gather relevant data about the objectives and potential challenges</a:t>
            </a:r>
            <a:endParaRPr lang="en-US" sz="2400" dirty="0">
              <a:solidFill>
                <a:schemeClr val="bg2">
                  <a:lumMod val="10000"/>
                </a:schemeClr>
              </a:solidFill>
              <a:latin typeface="Corbel" panose="020B0503020204020204" pitchFamily="34" charset="0"/>
            </a:endParaRPr>
          </a:p>
        </p:txBody>
      </p:sp>
      <p:sp>
        <p:nvSpPr>
          <p:cNvPr id="3" name="Rectangle 2">
            <a:extLst>
              <a:ext uri="{FF2B5EF4-FFF2-40B4-BE49-F238E27FC236}">
                <a16:creationId xmlns:a16="http://schemas.microsoft.com/office/drawing/2014/main" id="{2F1C84AB-2F42-D73E-4547-87F8309421CF}"/>
              </a:ext>
            </a:extLst>
          </p:cNvPr>
          <p:cNvSpPr/>
          <p:nvPr/>
        </p:nvSpPr>
        <p:spPr>
          <a:xfrm>
            <a:off x="880371" y="5151679"/>
            <a:ext cx="5247653" cy="830997"/>
          </a:xfrm>
          <a:prstGeom prst="rect">
            <a:avLst/>
          </a:prstGeom>
        </p:spPr>
        <p:txBody>
          <a:bodyPr wrap="square">
            <a:spAutoFit/>
          </a:bodyPr>
          <a:lstStyle/>
          <a:p>
            <a:r>
              <a:rPr lang="en-GB" sz="2400" b="0" i="0" dirty="0">
                <a:effectLst/>
                <a:latin typeface="Corbel" panose="020B0503020204020204" pitchFamily="34" charset="0"/>
              </a:rPr>
              <a:t>Break down objectives into actionable steps. </a:t>
            </a:r>
            <a:endParaRPr lang="en-US" sz="2400" dirty="0">
              <a:solidFill>
                <a:schemeClr val="bg2">
                  <a:lumMod val="10000"/>
                </a:schemeClr>
              </a:solidFill>
              <a:latin typeface="Corbel" panose="020B0503020204020204" pitchFamily="34" charset="0"/>
            </a:endParaRPr>
          </a:p>
        </p:txBody>
      </p:sp>
      <p:cxnSp>
        <p:nvCxnSpPr>
          <p:cNvPr id="7" name="Straight Connector 6">
            <a:extLst>
              <a:ext uri="{FF2B5EF4-FFF2-40B4-BE49-F238E27FC236}">
                <a16:creationId xmlns:a16="http://schemas.microsoft.com/office/drawing/2014/main" id="{527DFBB7-A99E-81D8-DD9A-B7901EDF4246}"/>
              </a:ext>
            </a:extLst>
          </p:cNvPr>
          <p:cNvCxnSpPr/>
          <p:nvPr/>
        </p:nvCxnSpPr>
        <p:spPr>
          <a:xfrm>
            <a:off x="6096000" y="1407955"/>
            <a:ext cx="0" cy="4702252"/>
          </a:xfrm>
          <a:prstGeom prst="line">
            <a:avLst/>
          </a:prstGeom>
        </p:spPr>
        <p:style>
          <a:lnRef idx="1">
            <a:schemeClr val="accent2"/>
          </a:lnRef>
          <a:fillRef idx="0">
            <a:schemeClr val="accent2"/>
          </a:fillRef>
          <a:effectRef idx="0">
            <a:schemeClr val="accent2"/>
          </a:effectRef>
          <a:fontRef idx="minor">
            <a:schemeClr val="tx1"/>
          </a:fontRef>
        </p:style>
      </p:cxnSp>
      <p:sp>
        <p:nvSpPr>
          <p:cNvPr id="11" name="Rectangle 10">
            <a:extLst>
              <a:ext uri="{FF2B5EF4-FFF2-40B4-BE49-F238E27FC236}">
                <a16:creationId xmlns:a16="http://schemas.microsoft.com/office/drawing/2014/main" id="{0427076E-10EC-B2A5-0D46-64C50756A60F}"/>
              </a:ext>
            </a:extLst>
          </p:cNvPr>
          <p:cNvSpPr/>
          <p:nvPr/>
        </p:nvSpPr>
        <p:spPr>
          <a:xfrm>
            <a:off x="6489135" y="2500523"/>
            <a:ext cx="5247653" cy="830997"/>
          </a:xfrm>
          <a:prstGeom prst="rect">
            <a:avLst/>
          </a:prstGeom>
        </p:spPr>
        <p:txBody>
          <a:bodyPr wrap="square">
            <a:spAutoFit/>
          </a:bodyPr>
          <a:lstStyle/>
          <a:p>
            <a:r>
              <a:rPr lang="en-GB" sz="2400" dirty="0">
                <a:solidFill>
                  <a:schemeClr val="tx1">
                    <a:lumMod val="85000"/>
                    <a:lumOff val="15000"/>
                  </a:schemeClr>
                </a:solidFill>
                <a:latin typeface="Corbel" panose="020B0503020204020204" pitchFamily="34" charset="0"/>
                <a:ea typeface="Segoe UI" panose="020B0502040204020203" pitchFamily="34" charset="0"/>
                <a:cs typeface="Segoe UI" panose="020B0502040204020203" pitchFamily="34" charset="0"/>
              </a:rPr>
              <a:t> Execute the action plans while continuously monitoring progress.</a:t>
            </a:r>
            <a:endParaRPr lang="en-US" sz="2400" dirty="0">
              <a:solidFill>
                <a:schemeClr val="bg2">
                  <a:lumMod val="10000"/>
                </a:schemeClr>
              </a:solidFill>
              <a:latin typeface="Corbel" panose="020B0503020204020204" pitchFamily="34" charset="0"/>
            </a:endParaRPr>
          </a:p>
        </p:txBody>
      </p:sp>
      <p:sp>
        <p:nvSpPr>
          <p:cNvPr id="13" name="Rectangle 12">
            <a:extLst>
              <a:ext uri="{FF2B5EF4-FFF2-40B4-BE49-F238E27FC236}">
                <a16:creationId xmlns:a16="http://schemas.microsoft.com/office/drawing/2014/main" id="{7EAFF90D-A514-B0E1-1230-7ED02DA49760}"/>
              </a:ext>
            </a:extLst>
          </p:cNvPr>
          <p:cNvSpPr/>
          <p:nvPr/>
        </p:nvSpPr>
        <p:spPr>
          <a:xfrm>
            <a:off x="6489135" y="4736180"/>
            <a:ext cx="5247653" cy="1569660"/>
          </a:xfrm>
          <a:prstGeom prst="rect">
            <a:avLst/>
          </a:prstGeom>
        </p:spPr>
        <p:txBody>
          <a:bodyPr wrap="square">
            <a:spAutoFit/>
          </a:bodyPr>
          <a:lstStyle/>
          <a:p>
            <a:r>
              <a:rPr lang="en-GB" sz="2400" dirty="0">
                <a:solidFill>
                  <a:schemeClr val="tx1">
                    <a:lumMod val="85000"/>
                    <a:lumOff val="15000"/>
                  </a:schemeClr>
                </a:solidFill>
                <a:latin typeface="Corbel" panose="020B0503020204020204" pitchFamily="34" charset="0"/>
                <a:ea typeface="Segoe UI" panose="020B0502040204020203" pitchFamily="34" charset="0"/>
                <a:cs typeface="Segoe UI" panose="020B0502040204020203" pitchFamily="34" charset="0"/>
              </a:rPr>
              <a:t>evaluate the outcomes against the set objectives. identify gaps and make necessary adjustments to the strategy or execution plan</a:t>
            </a:r>
            <a:endParaRPr lang="en-US" sz="2400" dirty="0">
              <a:solidFill>
                <a:schemeClr val="bg2">
                  <a:lumMod val="10000"/>
                </a:schemeClr>
              </a:solidFill>
              <a:latin typeface="Corbel" panose="020B0503020204020204" pitchFamily="34" charset="0"/>
            </a:endParaRPr>
          </a:p>
        </p:txBody>
      </p:sp>
    </p:spTree>
    <p:extLst>
      <p:ext uri="{BB962C8B-B14F-4D97-AF65-F5344CB8AC3E}">
        <p14:creationId xmlns:p14="http://schemas.microsoft.com/office/powerpoint/2010/main" val="777428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Manual Input 7">
            <a:extLst>
              <a:ext uri="{FF2B5EF4-FFF2-40B4-BE49-F238E27FC236}">
                <a16:creationId xmlns:a16="http://schemas.microsoft.com/office/drawing/2014/main" id="{9027244D-A52F-45F9-B979-23C5A3BAAD23}"/>
              </a:ext>
            </a:extLst>
          </p:cNvPr>
          <p:cNvSpPr/>
          <p:nvPr/>
        </p:nvSpPr>
        <p:spPr>
          <a:xfrm rot="5400000" flipH="1" flipV="1">
            <a:off x="1206583" y="-47885"/>
            <a:ext cx="862535" cy="175170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5247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5247 h 10000"/>
              <a:gd name="connsiteX0" fmla="*/ 0 w 10000"/>
              <a:gd name="connsiteY0" fmla="*/ 4506 h 9259"/>
              <a:gd name="connsiteX1" fmla="*/ 10000 w 10000"/>
              <a:gd name="connsiteY1" fmla="*/ 0 h 9259"/>
              <a:gd name="connsiteX2" fmla="*/ 10000 w 10000"/>
              <a:gd name="connsiteY2" fmla="*/ 9259 h 9259"/>
              <a:gd name="connsiteX3" fmla="*/ 0 w 10000"/>
              <a:gd name="connsiteY3" fmla="*/ 9259 h 9259"/>
              <a:gd name="connsiteX4" fmla="*/ 0 w 10000"/>
              <a:gd name="connsiteY4" fmla="*/ 4506 h 9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9259">
                <a:moveTo>
                  <a:pt x="0" y="4506"/>
                </a:moveTo>
                <a:lnTo>
                  <a:pt x="10000" y="0"/>
                </a:lnTo>
                <a:lnTo>
                  <a:pt x="10000" y="9259"/>
                </a:lnTo>
                <a:lnTo>
                  <a:pt x="0" y="9259"/>
                </a:lnTo>
                <a:lnTo>
                  <a:pt x="0" y="4506"/>
                </a:lnTo>
                <a:close/>
              </a:path>
            </a:pathLst>
          </a:custGeom>
          <a:solidFill>
            <a:srgbClr val="FF5C0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TextBox 2">
            <a:extLst>
              <a:ext uri="{FF2B5EF4-FFF2-40B4-BE49-F238E27FC236}">
                <a16:creationId xmlns:a16="http://schemas.microsoft.com/office/drawing/2014/main" id="{DABBFD39-BC3E-4B9D-AE7D-B93EB62EB22E}"/>
              </a:ext>
            </a:extLst>
          </p:cNvPr>
          <p:cNvSpPr txBox="1"/>
          <p:nvPr/>
        </p:nvSpPr>
        <p:spPr>
          <a:xfrm>
            <a:off x="2640474" y="443246"/>
            <a:ext cx="9396851" cy="769441"/>
          </a:xfrm>
          <a:prstGeom prst="rect">
            <a:avLst/>
          </a:prstGeom>
          <a:noFill/>
        </p:spPr>
        <p:txBody>
          <a:bodyPr wrap="square" rtlCol="0">
            <a:spAutoFit/>
          </a:bodyPr>
          <a:lstStyle/>
          <a:p>
            <a:r>
              <a:rPr lang="en-US" sz="4400" b="1" dirty="0">
                <a:solidFill>
                  <a:schemeClr val="tx1">
                    <a:lumMod val="85000"/>
                    <a:lumOff val="15000"/>
                  </a:schemeClr>
                </a:solidFill>
                <a:latin typeface="Segoe UI" panose="020B0502040204020203" pitchFamily="34" charset="0"/>
                <a:ea typeface="Segoe UI" panose="020B0502040204020203" pitchFamily="34" charset="0"/>
                <a:cs typeface="Segoe UI" panose="020B0502040204020203" pitchFamily="34" charset="0"/>
              </a:rPr>
              <a:t>PROBLEM SOLVING TECHNIQUES</a:t>
            </a:r>
          </a:p>
        </p:txBody>
      </p:sp>
      <p:sp>
        <p:nvSpPr>
          <p:cNvPr id="42" name="Rectangle 41">
            <a:extLst>
              <a:ext uri="{FF2B5EF4-FFF2-40B4-BE49-F238E27FC236}">
                <a16:creationId xmlns:a16="http://schemas.microsoft.com/office/drawing/2014/main" id="{C044E81E-0428-4A6B-A5C1-385AC2E03D94}"/>
              </a:ext>
            </a:extLst>
          </p:cNvPr>
          <p:cNvSpPr/>
          <p:nvPr/>
        </p:nvSpPr>
        <p:spPr>
          <a:xfrm>
            <a:off x="1" y="3083995"/>
            <a:ext cx="12192000" cy="50924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9" name="Oval 8">
            <a:extLst>
              <a:ext uri="{FF2B5EF4-FFF2-40B4-BE49-F238E27FC236}">
                <a16:creationId xmlns:a16="http://schemas.microsoft.com/office/drawing/2014/main" id="{C4309547-1EE0-4713-80BC-3F3FBD34C452}"/>
              </a:ext>
            </a:extLst>
          </p:cNvPr>
          <p:cNvSpPr/>
          <p:nvPr/>
        </p:nvSpPr>
        <p:spPr>
          <a:xfrm>
            <a:off x="1272545" y="1991319"/>
            <a:ext cx="2641144" cy="2641145"/>
          </a:xfrm>
          <a:prstGeom prst="ellips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0" name="Oval 9">
            <a:extLst>
              <a:ext uri="{FF2B5EF4-FFF2-40B4-BE49-F238E27FC236}">
                <a16:creationId xmlns:a16="http://schemas.microsoft.com/office/drawing/2014/main" id="{36F20314-EB9A-4DBB-B781-73810566022A}"/>
              </a:ext>
            </a:extLst>
          </p:cNvPr>
          <p:cNvSpPr/>
          <p:nvPr/>
        </p:nvSpPr>
        <p:spPr>
          <a:xfrm>
            <a:off x="7988617" y="1991319"/>
            <a:ext cx="2639933" cy="2641145"/>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 name="Oval 6">
            <a:extLst>
              <a:ext uri="{FF2B5EF4-FFF2-40B4-BE49-F238E27FC236}">
                <a16:creationId xmlns:a16="http://schemas.microsoft.com/office/drawing/2014/main" id="{8D388729-B258-45D6-BD38-51D24E7BCDFE}"/>
              </a:ext>
            </a:extLst>
          </p:cNvPr>
          <p:cNvSpPr/>
          <p:nvPr/>
        </p:nvSpPr>
        <p:spPr>
          <a:xfrm>
            <a:off x="5809509" y="1991319"/>
            <a:ext cx="2641145" cy="2641145"/>
          </a:xfrm>
          <a:prstGeom prst="ellipse">
            <a:avLst/>
          </a:prstGeom>
          <a:solidFill>
            <a:srgbClr val="76717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8" name="Oval 7">
            <a:extLst>
              <a:ext uri="{FF2B5EF4-FFF2-40B4-BE49-F238E27FC236}">
                <a16:creationId xmlns:a16="http://schemas.microsoft.com/office/drawing/2014/main" id="{5631C776-488B-476C-BF39-1CE2CD337C28}"/>
              </a:ext>
            </a:extLst>
          </p:cNvPr>
          <p:cNvSpPr/>
          <p:nvPr/>
        </p:nvSpPr>
        <p:spPr>
          <a:xfrm>
            <a:off x="3451651" y="1991319"/>
            <a:ext cx="2641145" cy="2641145"/>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Rectangle 10">
            <a:extLst>
              <a:ext uri="{FF2B5EF4-FFF2-40B4-BE49-F238E27FC236}">
                <a16:creationId xmlns:a16="http://schemas.microsoft.com/office/drawing/2014/main" id="{5B77479E-7BAA-49D5-9583-8099C3BCC41D}"/>
              </a:ext>
            </a:extLst>
          </p:cNvPr>
          <p:cNvSpPr/>
          <p:nvPr/>
        </p:nvSpPr>
        <p:spPr>
          <a:xfrm>
            <a:off x="1931532" y="3476453"/>
            <a:ext cx="1317427" cy="461665"/>
          </a:xfrm>
          <a:prstGeom prst="rect">
            <a:avLst/>
          </a:prstGeom>
        </p:spPr>
        <p:txBody>
          <a:bodyPr wrap="square">
            <a:spAutoFit/>
          </a:bodyPr>
          <a:lstStyle/>
          <a:p>
            <a:pPr algn="ctr"/>
            <a:r>
              <a:rPr lang="en-US" sz="2400" b="1" dirty="0">
                <a:solidFill>
                  <a:schemeClr val="bg1">
                    <a:lumMod val="95000"/>
                  </a:schemeClr>
                </a:solidFill>
                <a:latin typeface="Segoe UI" panose="020B0502040204020203" pitchFamily="34" charset="0"/>
                <a:ea typeface="Segoe UI" panose="020B0502040204020203" pitchFamily="34" charset="0"/>
                <a:cs typeface="Segoe UI" panose="020B0502040204020203" pitchFamily="34" charset="0"/>
              </a:rPr>
              <a:t>5 </a:t>
            </a:r>
            <a:r>
              <a:rPr lang="en-US" sz="2400" b="1" dirty="0">
                <a:solidFill>
                  <a:schemeClr val="bg1"/>
                </a:solidFill>
                <a:latin typeface="Segoe UI" panose="020B0502040204020203" pitchFamily="34" charset="0"/>
                <a:ea typeface="Segoe UI" panose="020B0502040204020203" pitchFamily="34" charset="0"/>
                <a:cs typeface="Segoe UI" panose="020B0502040204020203" pitchFamily="34" charset="0"/>
              </a:rPr>
              <a:t>WHYs</a:t>
            </a:r>
            <a:endParaRPr lang="en-US" sz="2400" dirty="0">
              <a:solidFill>
                <a:schemeClr val="bg1"/>
              </a:solidFill>
            </a:endParaRPr>
          </a:p>
        </p:txBody>
      </p:sp>
      <p:sp>
        <p:nvSpPr>
          <p:cNvPr id="12" name="Rectangle 11">
            <a:extLst>
              <a:ext uri="{FF2B5EF4-FFF2-40B4-BE49-F238E27FC236}">
                <a16:creationId xmlns:a16="http://schemas.microsoft.com/office/drawing/2014/main" id="{8B587F10-0CE7-49CF-B40A-8959778FCE1E}"/>
              </a:ext>
            </a:extLst>
          </p:cNvPr>
          <p:cNvSpPr/>
          <p:nvPr/>
        </p:nvSpPr>
        <p:spPr>
          <a:xfrm>
            <a:off x="3922630" y="3468082"/>
            <a:ext cx="1542058" cy="461665"/>
          </a:xfrm>
          <a:prstGeom prst="rect">
            <a:avLst/>
          </a:prstGeom>
        </p:spPr>
        <p:txBody>
          <a:bodyPr wrap="square">
            <a:spAutoFit/>
          </a:bodyPr>
          <a:lstStyle/>
          <a:p>
            <a:pPr algn="ctr"/>
            <a:r>
              <a:rPr lang="en-US" sz="2400" b="1" dirty="0">
                <a:latin typeface="Segoe UI" panose="020B0502040204020203" pitchFamily="34" charset="0"/>
                <a:ea typeface="Segoe UI" panose="020B0502040204020203" pitchFamily="34" charset="0"/>
                <a:cs typeface="Segoe UI" panose="020B0502040204020203" pitchFamily="34" charset="0"/>
              </a:rPr>
              <a:t>CATWOE</a:t>
            </a:r>
            <a:endParaRPr lang="en-US" dirty="0"/>
          </a:p>
        </p:txBody>
      </p:sp>
      <p:sp>
        <p:nvSpPr>
          <p:cNvPr id="15" name="Rectangle 14">
            <a:extLst>
              <a:ext uri="{FF2B5EF4-FFF2-40B4-BE49-F238E27FC236}">
                <a16:creationId xmlns:a16="http://schemas.microsoft.com/office/drawing/2014/main" id="{82446658-2194-4386-BBC5-17A2A13960C5}"/>
              </a:ext>
            </a:extLst>
          </p:cNvPr>
          <p:cNvSpPr/>
          <p:nvPr/>
        </p:nvSpPr>
        <p:spPr>
          <a:xfrm>
            <a:off x="5809509" y="3333477"/>
            <a:ext cx="2639933" cy="1384995"/>
          </a:xfrm>
          <a:prstGeom prst="rect">
            <a:avLst/>
          </a:prstGeom>
        </p:spPr>
        <p:txBody>
          <a:bodyPr wrap="square">
            <a:spAutoFit/>
          </a:bodyPr>
          <a:lstStyle/>
          <a:p>
            <a:pPr algn="ctr"/>
            <a:r>
              <a:rPr lang="en-US" sz="2800" b="1" dirty="0">
                <a:solidFill>
                  <a:schemeClr val="bg1"/>
                </a:solidFill>
                <a:latin typeface="Segoe UI" panose="020B0502040204020203" pitchFamily="34" charset="0"/>
                <a:ea typeface="Segoe UI" panose="020B0502040204020203" pitchFamily="34" charset="0"/>
                <a:cs typeface="Segoe UI" panose="020B0502040204020203" pitchFamily="34" charset="0"/>
              </a:rPr>
              <a:t>FISHBONE</a:t>
            </a:r>
          </a:p>
          <a:p>
            <a:pPr algn="ctr"/>
            <a:r>
              <a:rPr lang="en-US" sz="2800" b="1" dirty="0">
                <a:solidFill>
                  <a:schemeClr val="bg1"/>
                </a:solidFill>
                <a:latin typeface="Segoe UI" panose="020B0502040204020203" pitchFamily="34" charset="0"/>
                <a:ea typeface="Segoe UI" panose="020B0502040204020203" pitchFamily="34" charset="0"/>
                <a:cs typeface="Segoe UI" panose="020B0502040204020203" pitchFamily="34" charset="0"/>
              </a:rPr>
              <a:t>DIAGRAM</a:t>
            </a:r>
          </a:p>
          <a:p>
            <a:pPr algn="ctr"/>
            <a:endParaRPr lang="en-US" sz="2800" dirty="0">
              <a:solidFill>
                <a:schemeClr val="tx1">
                  <a:lumMod val="85000"/>
                  <a:lumOff val="15000"/>
                </a:schemeClr>
              </a:solidFill>
            </a:endParaRPr>
          </a:p>
        </p:txBody>
      </p:sp>
      <p:sp>
        <p:nvSpPr>
          <p:cNvPr id="16" name="Rectangle 15">
            <a:extLst>
              <a:ext uri="{FF2B5EF4-FFF2-40B4-BE49-F238E27FC236}">
                <a16:creationId xmlns:a16="http://schemas.microsoft.com/office/drawing/2014/main" id="{E4B24A1E-9653-43EB-9A11-9425620384A9}"/>
              </a:ext>
            </a:extLst>
          </p:cNvPr>
          <p:cNvSpPr/>
          <p:nvPr/>
        </p:nvSpPr>
        <p:spPr>
          <a:xfrm>
            <a:off x="8173684" y="3403556"/>
            <a:ext cx="2269798" cy="461665"/>
          </a:xfrm>
          <a:prstGeom prst="rect">
            <a:avLst/>
          </a:prstGeom>
        </p:spPr>
        <p:txBody>
          <a:bodyPr wrap="square">
            <a:spAutoFit/>
          </a:bodyPr>
          <a:lstStyle/>
          <a:p>
            <a:pPr algn="ctr"/>
            <a:r>
              <a:rPr lang="en-US" sz="2400" b="1" dirty="0">
                <a:latin typeface="Segoe UI" panose="020B0502040204020203" pitchFamily="34" charset="0"/>
                <a:ea typeface="Segoe UI" panose="020B0502040204020203" pitchFamily="34" charset="0"/>
                <a:cs typeface="Segoe UI" panose="020B0502040204020203" pitchFamily="34" charset="0"/>
              </a:rPr>
              <a:t>SWOT</a:t>
            </a:r>
            <a:endParaRPr lang="en-US" sz="2400" dirty="0"/>
          </a:p>
        </p:txBody>
      </p:sp>
      <p:sp>
        <p:nvSpPr>
          <p:cNvPr id="39" name="Slide Number Placeholder 38">
            <a:extLst>
              <a:ext uri="{FF2B5EF4-FFF2-40B4-BE49-F238E27FC236}">
                <a16:creationId xmlns:a16="http://schemas.microsoft.com/office/drawing/2014/main" id="{A2CB3BB4-D2F6-4655-A21F-DB56742E700C}"/>
              </a:ext>
            </a:extLst>
          </p:cNvPr>
          <p:cNvSpPr>
            <a:spLocks noGrp="1"/>
          </p:cNvSpPr>
          <p:nvPr>
            <p:ph type="sldNum" sz="quarter" idx="12"/>
          </p:nvPr>
        </p:nvSpPr>
        <p:spPr/>
        <p:txBody>
          <a:bodyPr/>
          <a:lstStyle/>
          <a:p>
            <a:fld id="{B4B9BCA1-DEDB-4768-B0C2-9E03C02986FE}" type="slidenum">
              <a:rPr lang="en-US" smtClean="0">
                <a:solidFill>
                  <a:schemeClr val="tx1"/>
                </a:solidFill>
              </a:rPr>
              <a:t>5</a:t>
            </a:fld>
            <a:endParaRPr lang="en-US" dirty="0">
              <a:solidFill>
                <a:schemeClr val="tx1"/>
              </a:solidFill>
            </a:endParaRPr>
          </a:p>
        </p:txBody>
      </p:sp>
      <p:cxnSp>
        <p:nvCxnSpPr>
          <p:cNvPr id="40" name="Straight Connector 39">
            <a:extLst>
              <a:ext uri="{FF2B5EF4-FFF2-40B4-BE49-F238E27FC236}">
                <a16:creationId xmlns:a16="http://schemas.microsoft.com/office/drawing/2014/main" id="{F47EB28A-E326-4DA4-BB5C-4E7B6E02AC82}"/>
              </a:ext>
            </a:extLst>
          </p:cNvPr>
          <p:cNvCxnSpPr>
            <a:cxnSpLocks/>
          </p:cNvCxnSpPr>
          <p:nvPr/>
        </p:nvCxnSpPr>
        <p:spPr>
          <a:xfrm>
            <a:off x="1787764" y="161895"/>
            <a:ext cx="847722" cy="815988"/>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5" name="Graphic 4" descr="Question mark with solid fill">
            <a:extLst>
              <a:ext uri="{FF2B5EF4-FFF2-40B4-BE49-F238E27FC236}">
                <a16:creationId xmlns:a16="http://schemas.microsoft.com/office/drawing/2014/main" id="{485EB1B5-68A2-5DC1-29A5-6C7E7A9325F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70118" y="2435636"/>
            <a:ext cx="1194855" cy="1194855"/>
          </a:xfrm>
          <a:prstGeom prst="rect">
            <a:avLst/>
          </a:prstGeom>
        </p:spPr>
      </p:pic>
      <p:pic>
        <p:nvPicPr>
          <p:cNvPr id="41" name="Graphic 40" descr="Fish with solid fill">
            <a:extLst>
              <a:ext uri="{FF2B5EF4-FFF2-40B4-BE49-F238E27FC236}">
                <a16:creationId xmlns:a16="http://schemas.microsoft.com/office/drawing/2014/main" id="{7AA4AA14-C1D5-C325-C79A-84F26F4D43A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87209" y="2203717"/>
            <a:ext cx="1430504" cy="1430504"/>
          </a:xfrm>
          <a:prstGeom prst="rect">
            <a:avLst/>
          </a:prstGeom>
        </p:spPr>
      </p:pic>
      <p:pic>
        <p:nvPicPr>
          <p:cNvPr id="45" name="Graphic 44" descr="Eye with solid fill">
            <a:extLst>
              <a:ext uri="{FF2B5EF4-FFF2-40B4-BE49-F238E27FC236}">
                <a16:creationId xmlns:a16="http://schemas.microsoft.com/office/drawing/2014/main" id="{29043B45-87E8-8014-094B-B4438F592AF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130997" y="2348037"/>
            <a:ext cx="1282454" cy="1282454"/>
          </a:xfrm>
          <a:prstGeom prst="rect">
            <a:avLst/>
          </a:prstGeom>
        </p:spPr>
      </p:pic>
      <p:pic>
        <p:nvPicPr>
          <p:cNvPr id="49" name="Graphic 48" descr="Warning with solid fill">
            <a:extLst>
              <a:ext uri="{FF2B5EF4-FFF2-40B4-BE49-F238E27FC236}">
                <a16:creationId xmlns:a16="http://schemas.microsoft.com/office/drawing/2014/main" id="{5E2B3B29-97BE-E0AE-D8CC-8C3E56861B7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767315" y="2356029"/>
            <a:ext cx="1082536" cy="1082536"/>
          </a:xfrm>
          <a:prstGeom prst="rect">
            <a:avLst/>
          </a:prstGeom>
        </p:spPr>
      </p:pic>
    </p:spTree>
    <p:extLst>
      <p:ext uri="{BB962C8B-B14F-4D97-AF65-F5344CB8AC3E}">
        <p14:creationId xmlns:p14="http://schemas.microsoft.com/office/powerpoint/2010/main" val="5310716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Manual Input 7">
            <a:extLst>
              <a:ext uri="{FF2B5EF4-FFF2-40B4-BE49-F238E27FC236}">
                <a16:creationId xmlns:a16="http://schemas.microsoft.com/office/drawing/2014/main" id="{C0C1446A-8513-434A-85CE-45599039C8BC}"/>
              </a:ext>
            </a:extLst>
          </p:cNvPr>
          <p:cNvSpPr/>
          <p:nvPr/>
        </p:nvSpPr>
        <p:spPr>
          <a:xfrm rot="5400000" flipH="1" flipV="1">
            <a:off x="1206583" y="-47885"/>
            <a:ext cx="862535" cy="175170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5247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5247 h 10000"/>
              <a:gd name="connsiteX0" fmla="*/ 0 w 10000"/>
              <a:gd name="connsiteY0" fmla="*/ 4506 h 9259"/>
              <a:gd name="connsiteX1" fmla="*/ 10000 w 10000"/>
              <a:gd name="connsiteY1" fmla="*/ 0 h 9259"/>
              <a:gd name="connsiteX2" fmla="*/ 10000 w 10000"/>
              <a:gd name="connsiteY2" fmla="*/ 9259 h 9259"/>
              <a:gd name="connsiteX3" fmla="*/ 0 w 10000"/>
              <a:gd name="connsiteY3" fmla="*/ 9259 h 9259"/>
              <a:gd name="connsiteX4" fmla="*/ 0 w 10000"/>
              <a:gd name="connsiteY4" fmla="*/ 4506 h 9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9259">
                <a:moveTo>
                  <a:pt x="0" y="4506"/>
                </a:moveTo>
                <a:lnTo>
                  <a:pt x="10000" y="0"/>
                </a:lnTo>
                <a:lnTo>
                  <a:pt x="10000" y="9259"/>
                </a:lnTo>
                <a:lnTo>
                  <a:pt x="0" y="9259"/>
                </a:lnTo>
                <a:lnTo>
                  <a:pt x="0" y="4506"/>
                </a:lnTo>
                <a:close/>
              </a:path>
            </a:pathLst>
          </a:custGeom>
          <a:solidFill>
            <a:srgbClr val="FF5C0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TextBox 2">
            <a:extLst>
              <a:ext uri="{FF2B5EF4-FFF2-40B4-BE49-F238E27FC236}">
                <a16:creationId xmlns:a16="http://schemas.microsoft.com/office/drawing/2014/main" id="{B2DA3870-5DB7-4F30-B5AE-39DDAC162C15}"/>
              </a:ext>
            </a:extLst>
          </p:cNvPr>
          <p:cNvSpPr txBox="1"/>
          <p:nvPr/>
        </p:nvSpPr>
        <p:spPr>
          <a:xfrm>
            <a:off x="2640473" y="443246"/>
            <a:ext cx="4682113" cy="769441"/>
          </a:xfrm>
          <a:prstGeom prst="rect">
            <a:avLst/>
          </a:prstGeom>
          <a:noFill/>
        </p:spPr>
        <p:txBody>
          <a:bodyPr wrap="square" rtlCol="0">
            <a:spAutoFit/>
          </a:bodyPr>
          <a:lstStyle/>
          <a:p>
            <a:r>
              <a:rPr lang="en-US" sz="4400" b="1" dirty="0">
                <a:solidFill>
                  <a:schemeClr val="tx1">
                    <a:lumMod val="85000"/>
                    <a:lumOff val="15000"/>
                  </a:schemeClr>
                </a:solidFill>
                <a:latin typeface="Segoe UI" panose="020B0502040204020203" pitchFamily="34" charset="0"/>
                <a:ea typeface="Segoe UI" panose="020B0502040204020203" pitchFamily="34" charset="0"/>
                <a:cs typeface="Segoe UI" panose="020B0502040204020203" pitchFamily="34" charset="0"/>
              </a:rPr>
              <a:t>5 WHYs</a:t>
            </a:r>
          </a:p>
        </p:txBody>
      </p:sp>
      <p:sp>
        <p:nvSpPr>
          <p:cNvPr id="37" name="Slide Number Placeholder 36">
            <a:extLst>
              <a:ext uri="{FF2B5EF4-FFF2-40B4-BE49-F238E27FC236}">
                <a16:creationId xmlns:a16="http://schemas.microsoft.com/office/drawing/2014/main" id="{6099E40B-BA3E-4F4F-ABDE-19D7347D869D}"/>
              </a:ext>
            </a:extLst>
          </p:cNvPr>
          <p:cNvSpPr>
            <a:spLocks noGrp="1"/>
          </p:cNvSpPr>
          <p:nvPr>
            <p:ph type="sldNum" sz="quarter" idx="12"/>
          </p:nvPr>
        </p:nvSpPr>
        <p:spPr>
          <a:xfrm>
            <a:off x="8610600" y="6414406"/>
            <a:ext cx="2743200" cy="365125"/>
          </a:xfrm>
        </p:spPr>
        <p:txBody>
          <a:bodyPr/>
          <a:lstStyle/>
          <a:p>
            <a:fld id="{B4B9BCA1-DEDB-4768-B0C2-9E03C02986FE}" type="slidenum">
              <a:rPr lang="en-US" smtClean="0">
                <a:solidFill>
                  <a:schemeClr val="tx1"/>
                </a:solidFill>
              </a:rPr>
              <a:t>6</a:t>
            </a:fld>
            <a:endParaRPr lang="en-US" dirty="0">
              <a:solidFill>
                <a:schemeClr val="tx1"/>
              </a:solidFill>
            </a:endParaRPr>
          </a:p>
        </p:txBody>
      </p:sp>
      <p:cxnSp>
        <p:nvCxnSpPr>
          <p:cNvPr id="39" name="Straight Connector 38">
            <a:extLst>
              <a:ext uri="{FF2B5EF4-FFF2-40B4-BE49-F238E27FC236}">
                <a16:creationId xmlns:a16="http://schemas.microsoft.com/office/drawing/2014/main" id="{C5764D02-2E56-4D02-A52B-5193572A68A7}"/>
              </a:ext>
            </a:extLst>
          </p:cNvPr>
          <p:cNvCxnSpPr>
            <a:cxnSpLocks/>
          </p:cNvCxnSpPr>
          <p:nvPr/>
        </p:nvCxnSpPr>
        <p:spPr>
          <a:xfrm>
            <a:off x="1787764" y="161895"/>
            <a:ext cx="847722" cy="815988"/>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69" name="Rectangle 68">
            <a:extLst>
              <a:ext uri="{FF2B5EF4-FFF2-40B4-BE49-F238E27FC236}">
                <a16:creationId xmlns:a16="http://schemas.microsoft.com/office/drawing/2014/main" id="{D5B7E45D-EC84-5FF4-5E80-EBAA089A8886}"/>
              </a:ext>
            </a:extLst>
          </p:cNvPr>
          <p:cNvSpPr/>
          <p:nvPr/>
        </p:nvSpPr>
        <p:spPr>
          <a:xfrm>
            <a:off x="327546" y="3132006"/>
            <a:ext cx="7124133" cy="3647525"/>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FB701D4-5B11-0BC2-1074-BBBDB16560BE}"/>
              </a:ext>
            </a:extLst>
          </p:cNvPr>
          <p:cNvSpPr txBox="1"/>
          <p:nvPr/>
        </p:nvSpPr>
        <p:spPr>
          <a:xfrm>
            <a:off x="761999" y="1421434"/>
            <a:ext cx="8775603" cy="954107"/>
          </a:xfrm>
          <a:prstGeom prst="rect">
            <a:avLst/>
          </a:prstGeom>
          <a:noFill/>
        </p:spPr>
        <p:txBody>
          <a:bodyPr wrap="square" rtlCol="0">
            <a:spAutoFit/>
          </a:bodyPr>
          <a:lstStyle/>
          <a:p>
            <a:r>
              <a:rPr lang="en-GB" sz="2800" dirty="0">
                <a:latin typeface="Arial" panose="020B0604020202020204" pitchFamily="34" charset="0"/>
                <a:cs typeface="Arial" panose="020B0604020202020204" pitchFamily="34" charset="0"/>
              </a:rPr>
              <a:t>The 5 Whys technique involves asking "why" multiple times to find the root cause of a problem.</a:t>
            </a:r>
            <a:endParaRPr lang="en-US" sz="28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27C62044-F51D-4C8A-17CD-D49C9A340174}"/>
              </a:ext>
            </a:extLst>
          </p:cNvPr>
          <p:cNvSpPr txBox="1"/>
          <p:nvPr/>
        </p:nvSpPr>
        <p:spPr>
          <a:xfrm>
            <a:off x="327544" y="2502486"/>
            <a:ext cx="5490606"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Eg: </a:t>
            </a:r>
            <a:r>
              <a:rPr lang="en-GB" sz="2400" b="0" i="0" dirty="0">
                <a:effectLst/>
                <a:latin typeface="Arial" panose="020B0604020202020204" pitchFamily="34" charset="0"/>
                <a:cs typeface="Arial" panose="020B0604020202020204" pitchFamily="34" charset="0"/>
              </a:rPr>
              <a:t>attendance is lower than expected.</a:t>
            </a:r>
            <a:endParaRPr lang="en-US" sz="2400" dirty="0">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9D4986BD-FD59-25B4-4271-C27B3F57F545}"/>
              </a:ext>
            </a:extLst>
          </p:cNvPr>
          <p:cNvSpPr txBox="1"/>
          <p:nvPr/>
        </p:nvSpPr>
        <p:spPr>
          <a:xfrm>
            <a:off x="838200" y="3048580"/>
            <a:ext cx="6724958" cy="4154984"/>
          </a:xfrm>
          <a:prstGeom prst="rect">
            <a:avLst/>
          </a:prstGeom>
          <a:noFill/>
        </p:spPr>
        <p:txBody>
          <a:bodyPr wrap="square" rtlCol="0">
            <a:spAutoFit/>
          </a:bodyPr>
          <a:lstStyle/>
          <a:p>
            <a:pPr algn="l"/>
            <a:r>
              <a:rPr lang="en-GB" sz="2400" b="0" i="0" dirty="0">
                <a:solidFill>
                  <a:schemeClr val="bg1"/>
                </a:solidFill>
                <a:effectLst/>
                <a:latin typeface="+mj-lt"/>
              </a:rPr>
              <a:t>1.Why were attendance numbers low?</a:t>
            </a:r>
          </a:p>
          <a:p>
            <a:pPr algn="l"/>
            <a:r>
              <a:rPr lang="en-GB" sz="2400" b="0" i="0" dirty="0">
                <a:solidFill>
                  <a:schemeClr val="bg1"/>
                </a:solidFill>
                <a:effectLst/>
                <a:latin typeface="+mj-lt"/>
              </a:rPr>
              <a:t>	</a:t>
            </a:r>
            <a:r>
              <a:rPr lang="en-GB" sz="2400" dirty="0">
                <a:solidFill>
                  <a:schemeClr val="bg1"/>
                </a:solidFill>
                <a:latin typeface="+mj-lt"/>
              </a:rPr>
              <a:t>M</a:t>
            </a:r>
            <a:r>
              <a:rPr lang="en-GB" sz="2400" b="0" i="0" dirty="0">
                <a:solidFill>
                  <a:schemeClr val="bg1"/>
                </a:solidFill>
                <a:effectLst/>
                <a:latin typeface="+mj-lt"/>
              </a:rPr>
              <a:t>any invitations were not sent out.</a:t>
            </a:r>
          </a:p>
          <a:p>
            <a:pPr algn="l"/>
            <a:r>
              <a:rPr lang="en-GB" sz="2400" b="0" i="0" dirty="0">
                <a:solidFill>
                  <a:schemeClr val="bg1"/>
                </a:solidFill>
                <a:effectLst/>
                <a:latin typeface="+mj-lt"/>
              </a:rPr>
              <a:t>2.Why were invitations not sent?</a:t>
            </a:r>
          </a:p>
          <a:p>
            <a:pPr algn="l"/>
            <a:r>
              <a:rPr lang="en-GB" sz="2400" b="0" i="0" dirty="0">
                <a:solidFill>
                  <a:schemeClr val="bg1"/>
                </a:solidFill>
                <a:effectLst/>
                <a:latin typeface="+mj-lt"/>
              </a:rPr>
              <a:t>	</a:t>
            </a:r>
            <a:r>
              <a:rPr lang="en-GB" sz="2400" dirty="0">
                <a:solidFill>
                  <a:schemeClr val="bg1"/>
                </a:solidFill>
                <a:latin typeface="+mj-lt"/>
              </a:rPr>
              <a:t>T</a:t>
            </a:r>
            <a:r>
              <a:rPr lang="en-GB" sz="2400" b="0" i="0" dirty="0">
                <a:solidFill>
                  <a:schemeClr val="bg1"/>
                </a:solidFill>
                <a:effectLst/>
                <a:latin typeface="+mj-lt"/>
              </a:rPr>
              <a:t>he mailing list was incomplete.</a:t>
            </a:r>
          </a:p>
          <a:p>
            <a:pPr algn="l"/>
            <a:r>
              <a:rPr lang="en-GB" sz="2400" b="0" i="0" dirty="0">
                <a:solidFill>
                  <a:schemeClr val="bg1"/>
                </a:solidFill>
                <a:effectLst/>
                <a:latin typeface="+mj-lt"/>
              </a:rPr>
              <a:t>3.Why was the mailing list incomplete?</a:t>
            </a:r>
          </a:p>
          <a:p>
            <a:pPr algn="l"/>
            <a:r>
              <a:rPr lang="en-GB" sz="2400" dirty="0">
                <a:solidFill>
                  <a:schemeClr val="bg1"/>
                </a:solidFill>
                <a:latin typeface="+mj-lt"/>
              </a:rPr>
              <a:t>	I</a:t>
            </a:r>
            <a:r>
              <a:rPr lang="en-GB" sz="2400" b="0" i="0" dirty="0">
                <a:solidFill>
                  <a:schemeClr val="bg1"/>
                </a:solidFill>
                <a:effectLst/>
                <a:latin typeface="+mj-lt"/>
              </a:rPr>
              <a:t>t was not updated.</a:t>
            </a:r>
          </a:p>
          <a:p>
            <a:pPr algn="l"/>
            <a:r>
              <a:rPr lang="en-GB" sz="2400" b="0" i="0" dirty="0">
                <a:solidFill>
                  <a:schemeClr val="bg1"/>
                </a:solidFill>
                <a:effectLst/>
                <a:latin typeface="+mj-lt"/>
              </a:rPr>
              <a:t>4.Why was it not updated?</a:t>
            </a:r>
          </a:p>
          <a:p>
            <a:pPr algn="l"/>
            <a:r>
              <a:rPr lang="en-GB" sz="2400" b="0" i="0" dirty="0">
                <a:solidFill>
                  <a:schemeClr val="bg1"/>
                </a:solidFill>
                <a:effectLst/>
                <a:latin typeface="+mj-lt"/>
              </a:rPr>
              <a:t>	</a:t>
            </a:r>
            <a:r>
              <a:rPr lang="en-GB" sz="2400" dirty="0">
                <a:solidFill>
                  <a:schemeClr val="bg1"/>
                </a:solidFill>
                <a:latin typeface="+mj-lt"/>
              </a:rPr>
              <a:t>T</a:t>
            </a:r>
            <a:r>
              <a:rPr lang="en-GB" sz="2400" b="0" i="0" dirty="0">
                <a:solidFill>
                  <a:schemeClr val="bg1"/>
                </a:solidFill>
                <a:effectLst/>
                <a:latin typeface="+mj-lt"/>
              </a:rPr>
              <a:t>here was no process for regular updates.</a:t>
            </a:r>
          </a:p>
          <a:p>
            <a:pPr algn="l"/>
            <a:r>
              <a:rPr lang="en-GB" sz="2400" b="0" i="0" dirty="0">
                <a:solidFill>
                  <a:schemeClr val="bg1"/>
                </a:solidFill>
                <a:effectLst/>
                <a:latin typeface="+mj-lt"/>
              </a:rPr>
              <a:t>5.Why is there no process?</a:t>
            </a:r>
          </a:p>
          <a:p>
            <a:pPr algn="l"/>
            <a:r>
              <a:rPr lang="en-GB" sz="2400" b="0" i="0" dirty="0">
                <a:solidFill>
                  <a:schemeClr val="bg1"/>
                </a:solidFill>
                <a:effectLst/>
                <a:latin typeface="+mj-lt"/>
              </a:rPr>
              <a:t>	It was not prioritized.</a:t>
            </a:r>
          </a:p>
          <a:p>
            <a:endParaRPr lang="en-US" sz="2400" dirty="0">
              <a:solidFill>
                <a:schemeClr val="bg1"/>
              </a:solidFill>
              <a:latin typeface="+mj-lt"/>
            </a:endParaRPr>
          </a:p>
        </p:txBody>
      </p:sp>
      <p:sp>
        <p:nvSpPr>
          <p:cNvPr id="22" name="TextBox 21">
            <a:extLst>
              <a:ext uri="{FF2B5EF4-FFF2-40B4-BE49-F238E27FC236}">
                <a16:creationId xmlns:a16="http://schemas.microsoft.com/office/drawing/2014/main" id="{103FB61C-B981-470E-86D1-B0F380FD4F8C}"/>
              </a:ext>
            </a:extLst>
          </p:cNvPr>
          <p:cNvSpPr txBox="1"/>
          <p:nvPr/>
        </p:nvSpPr>
        <p:spPr>
          <a:xfrm>
            <a:off x="8961167" y="4236237"/>
            <a:ext cx="3179930" cy="1200329"/>
          </a:xfrm>
          <a:prstGeom prst="rect">
            <a:avLst/>
          </a:prstGeom>
          <a:noFill/>
        </p:spPr>
        <p:txBody>
          <a:bodyPr wrap="square" rtlCol="0">
            <a:spAutoFit/>
          </a:bodyPr>
          <a:lstStyle/>
          <a:p>
            <a:r>
              <a:rPr lang="en-US" sz="2400" b="1" dirty="0">
                <a:latin typeface="+mj-lt"/>
              </a:rPr>
              <a:t>Root cause: Invitation process was not prioritized</a:t>
            </a:r>
          </a:p>
        </p:txBody>
      </p:sp>
      <p:cxnSp>
        <p:nvCxnSpPr>
          <p:cNvPr id="67" name="Straight Connector 66">
            <a:extLst>
              <a:ext uri="{FF2B5EF4-FFF2-40B4-BE49-F238E27FC236}">
                <a16:creationId xmlns:a16="http://schemas.microsoft.com/office/drawing/2014/main" id="{BE77FC0D-E6F2-E52F-6074-B53C46D17CB0}"/>
              </a:ext>
            </a:extLst>
          </p:cNvPr>
          <p:cNvCxnSpPr>
            <a:cxnSpLocks/>
          </p:cNvCxnSpPr>
          <p:nvPr/>
        </p:nvCxnSpPr>
        <p:spPr>
          <a:xfrm>
            <a:off x="327546" y="3853189"/>
            <a:ext cx="712413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7601FB8F-EA31-6697-0944-CF19C1F0586B}"/>
              </a:ext>
            </a:extLst>
          </p:cNvPr>
          <p:cNvCxnSpPr>
            <a:cxnSpLocks/>
          </p:cNvCxnSpPr>
          <p:nvPr/>
        </p:nvCxnSpPr>
        <p:spPr>
          <a:xfrm>
            <a:off x="327545" y="4606091"/>
            <a:ext cx="712413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F622A0E4-0747-45A9-843D-30E36C3FF9E1}"/>
              </a:ext>
            </a:extLst>
          </p:cNvPr>
          <p:cNvCxnSpPr>
            <a:cxnSpLocks/>
          </p:cNvCxnSpPr>
          <p:nvPr/>
        </p:nvCxnSpPr>
        <p:spPr>
          <a:xfrm>
            <a:off x="327545" y="5304401"/>
            <a:ext cx="712413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B087680-20F9-7944-9552-877B67DE365C}"/>
              </a:ext>
            </a:extLst>
          </p:cNvPr>
          <p:cNvCxnSpPr>
            <a:cxnSpLocks/>
          </p:cNvCxnSpPr>
          <p:nvPr/>
        </p:nvCxnSpPr>
        <p:spPr>
          <a:xfrm>
            <a:off x="327544" y="6043655"/>
            <a:ext cx="712413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75" name="Arrow: Striped Right 74">
            <a:extLst>
              <a:ext uri="{FF2B5EF4-FFF2-40B4-BE49-F238E27FC236}">
                <a16:creationId xmlns:a16="http://schemas.microsoft.com/office/drawing/2014/main" id="{1B9A041B-7AF0-EF96-9C25-5C90C624A880}"/>
              </a:ext>
            </a:extLst>
          </p:cNvPr>
          <p:cNvSpPr/>
          <p:nvPr/>
        </p:nvSpPr>
        <p:spPr>
          <a:xfrm>
            <a:off x="7563158" y="3345878"/>
            <a:ext cx="1286530" cy="3091030"/>
          </a:xfrm>
          <a:prstGeom prst="stripedRightArrow">
            <a:avLst>
              <a:gd name="adj1" fmla="val 50000"/>
              <a:gd name="adj2" fmla="val 72277"/>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89341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Manual Input 7">
            <a:extLst>
              <a:ext uri="{FF2B5EF4-FFF2-40B4-BE49-F238E27FC236}">
                <a16:creationId xmlns:a16="http://schemas.microsoft.com/office/drawing/2014/main" id="{C31D5B1D-4509-4700-88DF-4D8E9F36B753}"/>
              </a:ext>
            </a:extLst>
          </p:cNvPr>
          <p:cNvSpPr/>
          <p:nvPr/>
        </p:nvSpPr>
        <p:spPr>
          <a:xfrm rot="5400000" flipH="1" flipV="1">
            <a:off x="1206583" y="-47885"/>
            <a:ext cx="862535" cy="175170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5247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5247 h 10000"/>
              <a:gd name="connsiteX0" fmla="*/ 0 w 10000"/>
              <a:gd name="connsiteY0" fmla="*/ 4506 h 9259"/>
              <a:gd name="connsiteX1" fmla="*/ 10000 w 10000"/>
              <a:gd name="connsiteY1" fmla="*/ 0 h 9259"/>
              <a:gd name="connsiteX2" fmla="*/ 10000 w 10000"/>
              <a:gd name="connsiteY2" fmla="*/ 9259 h 9259"/>
              <a:gd name="connsiteX3" fmla="*/ 0 w 10000"/>
              <a:gd name="connsiteY3" fmla="*/ 9259 h 9259"/>
              <a:gd name="connsiteX4" fmla="*/ 0 w 10000"/>
              <a:gd name="connsiteY4" fmla="*/ 4506 h 9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9259">
                <a:moveTo>
                  <a:pt x="0" y="4506"/>
                </a:moveTo>
                <a:lnTo>
                  <a:pt x="10000" y="0"/>
                </a:lnTo>
                <a:lnTo>
                  <a:pt x="10000" y="9259"/>
                </a:lnTo>
                <a:lnTo>
                  <a:pt x="0" y="9259"/>
                </a:lnTo>
                <a:lnTo>
                  <a:pt x="0" y="4506"/>
                </a:lnTo>
                <a:close/>
              </a:path>
            </a:pathLst>
          </a:custGeom>
          <a:solidFill>
            <a:srgbClr val="FF5C0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TextBox 2">
            <a:extLst>
              <a:ext uri="{FF2B5EF4-FFF2-40B4-BE49-F238E27FC236}">
                <a16:creationId xmlns:a16="http://schemas.microsoft.com/office/drawing/2014/main" id="{5A2C4B0E-1CD7-4815-8E4F-AF59D8B735CE}"/>
              </a:ext>
            </a:extLst>
          </p:cNvPr>
          <p:cNvSpPr txBox="1"/>
          <p:nvPr/>
        </p:nvSpPr>
        <p:spPr>
          <a:xfrm>
            <a:off x="2640473" y="443246"/>
            <a:ext cx="10363200" cy="646331"/>
          </a:xfrm>
          <a:prstGeom prst="rect">
            <a:avLst/>
          </a:prstGeom>
          <a:noFill/>
        </p:spPr>
        <p:txBody>
          <a:bodyPr wrap="square" rtlCol="0">
            <a:spAutoFit/>
          </a:bodyPr>
          <a:lstStyle/>
          <a:p>
            <a:r>
              <a:rPr lang="en-US" sz="3600" b="1" dirty="0">
                <a:solidFill>
                  <a:schemeClr val="tx1">
                    <a:lumMod val="85000"/>
                    <a:lumOff val="15000"/>
                  </a:schemeClr>
                </a:solidFill>
                <a:latin typeface="Segoe UI" panose="020B0502040204020203" pitchFamily="34" charset="0"/>
                <a:ea typeface="Segoe UI" panose="020B0502040204020203" pitchFamily="34" charset="0"/>
                <a:cs typeface="Segoe UI" panose="020B0502040204020203" pitchFamily="34" charset="0"/>
              </a:rPr>
              <a:t>CATWOE</a:t>
            </a:r>
          </a:p>
        </p:txBody>
      </p:sp>
      <p:sp>
        <p:nvSpPr>
          <p:cNvPr id="35" name="Slide Number Placeholder 34">
            <a:extLst>
              <a:ext uri="{FF2B5EF4-FFF2-40B4-BE49-F238E27FC236}">
                <a16:creationId xmlns:a16="http://schemas.microsoft.com/office/drawing/2014/main" id="{55AF6964-362D-45F5-AD62-C69CF93D346E}"/>
              </a:ext>
            </a:extLst>
          </p:cNvPr>
          <p:cNvSpPr>
            <a:spLocks noGrp="1"/>
          </p:cNvSpPr>
          <p:nvPr>
            <p:ph type="sldNum" sz="quarter" idx="12"/>
          </p:nvPr>
        </p:nvSpPr>
        <p:spPr/>
        <p:txBody>
          <a:bodyPr/>
          <a:lstStyle/>
          <a:p>
            <a:fld id="{B4B9BCA1-DEDB-4768-B0C2-9E03C02986FE}" type="slidenum">
              <a:rPr lang="en-US" smtClean="0">
                <a:solidFill>
                  <a:schemeClr val="tx1"/>
                </a:solidFill>
              </a:rPr>
              <a:t>7</a:t>
            </a:fld>
            <a:endParaRPr lang="en-US" dirty="0">
              <a:solidFill>
                <a:schemeClr val="tx1"/>
              </a:solidFill>
            </a:endParaRPr>
          </a:p>
        </p:txBody>
      </p:sp>
      <p:cxnSp>
        <p:nvCxnSpPr>
          <p:cNvPr id="41" name="Straight Connector 40">
            <a:extLst>
              <a:ext uri="{FF2B5EF4-FFF2-40B4-BE49-F238E27FC236}">
                <a16:creationId xmlns:a16="http://schemas.microsoft.com/office/drawing/2014/main" id="{00AAC517-7B0B-4A62-A5AB-1266EAC9FA7E}"/>
              </a:ext>
            </a:extLst>
          </p:cNvPr>
          <p:cNvCxnSpPr>
            <a:cxnSpLocks/>
          </p:cNvCxnSpPr>
          <p:nvPr/>
        </p:nvCxnSpPr>
        <p:spPr>
          <a:xfrm>
            <a:off x="1787764" y="161895"/>
            <a:ext cx="847722" cy="815988"/>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547D0678-560F-48A3-B460-64F0CA9EA87A}"/>
              </a:ext>
            </a:extLst>
          </p:cNvPr>
          <p:cNvSpPr txBox="1"/>
          <p:nvPr/>
        </p:nvSpPr>
        <p:spPr>
          <a:xfrm>
            <a:off x="1168851" y="1355082"/>
            <a:ext cx="6125030" cy="954107"/>
          </a:xfrm>
          <a:prstGeom prst="rect">
            <a:avLst/>
          </a:prstGeom>
          <a:noFill/>
        </p:spPr>
        <p:txBody>
          <a:bodyPr wrap="square" rtlCol="0">
            <a:spAutoFit/>
          </a:bodyPr>
          <a:lstStyle/>
          <a:p>
            <a:r>
              <a:rPr lang="en-GB" sz="2800" dirty="0">
                <a:latin typeface="Arial" panose="020B0604020202020204" pitchFamily="34" charset="0"/>
                <a:ea typeface="Segoe UI" panose="020B0502040204020203" pitchFamily="34" charset="0"/>
                <a:cs typeface="Arial" panose="020B0604020202020204" pitchFamily="34" charset="0"/>
              </a:rPr>
              <a:t>This technique is used to analyse problems from multiple perspectives.</a:t>
            </a:r>
            <a:endParaRPr lang="en-US" sz="2800" dirty="0">
              <a:latin typeface="Arial" panose="020B0604020202020204" pitchFamily="34" charset="0"/>
              <a:cs typeface="Arial" panose="020B0604020202020204" pitchFamily="34" charset="0"/>
            </a:endParaRPr>
          </a:p>
        </p:txBody>
      </p:sp>
      <p:sp>
        <p:nvSpPr>
          <p:cNvPr id="4" name="Hexagon 3">
            <a:extLst>
              <a:ext uri="{FF2B5EF4-FFF2-40B4-BE49-F238E27FC236}">
                <a16:creationId xmlns:a16="http://schemas.microsoft.com/office/drawing/2014/main" id="{273FFF00-54E4-68DF-510D-BB6FA68A9464}"/>
              </a:ext>
            </a:extLst>
          </p:cNvPr>
          <p:cNvSpPr/>
          <p:nvPr/>
        </p:nvSpPr>
        <p:spPr>
          <a:xfrm>
            <a:off x="870151" y="3659318"/>
            <a:ext cx="595845" cy="427886"/>
          </a:xfrm>
          <a:prstGeom prst="hexag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Hexagon 4">
            <a:extLst>
              <a:ext uri="{FF2B5EF4-FFF2-40B4-BE49-F238E27FC236}">
                <a16:creationId xmlns:a16="http://schemas.microsoft.com/office/drawing/2014/main" id="{79D35597-C7C9-FAAB-E5FD-410A49031B7C}"/>
              </a:ext>
            </a:extLst>
          </p:cNvPr>
          <p:cNvSpPr/>
          <p:nvPr/>
        </p:nvSpPr>
        <p:spPr>
          <a:xfrm>
            <a:off x="838201" y="3659317"/>
            <a:ext cx="541596" cy="427886"/>
          </a:xfrm>
          <a:prstGeom prst="hexag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mj-lt"/>
              </a:rPr>
              <a:t>A</a:t>
            </a:r>
            <a:endParaRPr lang="en-US" sz="2400" dirty="0"/>
          </a:p>
        </p:txBody>
      </p:sp>
      <p:sp>
        <p:nvSpPr>
          <p:cNvPr id="7" name="Hexagon 6">
            <a:extLst>
              <a:ext uri="{FF2B5EF4-FFF2-40B4-BE49-F238E27FC236}">
                <a16:creationId xmlns:a16="http://schemas.microsoft.com/office/drawing/2014/main" id="{04F90E7F-AD8B-F39D-E9E1-07FA3ED76D50}"/>
              </a:ext>
            </a:extLst>
          </p:cNvPr>
          <p:cNvSpPr/>
          <p:nvPr/>
        </p:nvSpPr>
        <p:spPr>
          <a:xfrm>
            <a:off x="870150" y="4858110"/>
            <a:ext cx="595845" cy="427886"/>
          </a:xfrm>
          <a:prstGeom prst="hexag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Hexagon 11">
            <a:extLst>
              <a:ext uri="{FF2B5EF4-FFF2-40B4-BE49-F238E27FC236}">
                <a16:creationId xmlns:a16="http://schemas.microsoft.com/office/drawing/2014/main" id="{AF810550-CA0F-D4D1-AC5D-B02CCC91F828}"/>
              </a:ext>
            </a:extLst>
          </p:cNvPr>
          <p:cNvSpPr/>
          <p:nvPr/>
        </p:nvSpPr>
        <p:spPr>
          <a:xfrm>
            <a:off x="838200" y="4858109"/>
            <a:ext cx="541596" cy="427886"/>
          </a:xfrm>
          <a:prstGeom prst="hexag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mj-lt"/>
              </a:rPr>
              <a:t>W</a:t>
            </a:r>
            <a:endParaRPr lang="en-US" sz="2400" dirty="0"/>
          </a:p>
        </p:txBody>
      </p:sp>
      <p:sp>
        <p:nvSpPr>
          <p:cNvPr id="17" name="Hexagon 16">
            <a:extLst>
              <a:ext uri="{FF2B5EF4-FFF2-40B4-BE49-F238E27FC236}">
                <a16:creationId xmlns:a16="http://schemas.microsoft.com/office/drawing/2014/main" id="{C8408B0E-412F-359D-1D0E-794CFFD1F72A}"/>
              </a:ext>
            </a:extLst>
          </p:cNvPr>
          <p:cNvSpPr/>
          <p:nvPr/>
        </p:nvSpPr>
        <p:spPr>
          <a:xfrm>
            <a:off x="870151" y="3084291"/>
            <a:ext cx="595845" cy="427886"/>
          </a:xfrm>
          <a:prstGeom prst="hexagon">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Hexagon 17">
            <a:extLst>
              <a:ext uri="{FF2B5EF4-FFF2-40B4-BE49-F238E27FC236}">
                <a16:creationId xmlns:a16="http://schemas.microsoft.com/office/drawing/2014/main" id="{8AEF4A45-0AB3-CB04-5152-C0E4C9FD55B9}"/>
              </a:ext>
            </a:extLst>
          </p:cNvPr>
          <p:cNvSpPr/>
          <p:nvPr/>
        </p:nvSpPr>
        <p:spPr>
          <a:xfrm>
            <a:off x="838201" y="3084290"/>
            <a:ext cx="541596" cy="427886"/>
          </a:xfrm>
          <a:prstGeom prst="hexag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mj-lt"/>
              </a:rPr>
              <a:t>C</a:t>
            </a:r>
          </a:p>
        </p:txBody>
      </p:sp>
      <p:sp>
        <p:nvSpPr>
          <p:cNvPr id="19" name="Hexagon 18">
            <a:extLst>
              <a:ext uri="{FF2B5EF4-FFF2-40B4-BE49-F238E27FC236}">
                <a16:creationId xmlns:a16="http://schemas.microsoft.com/office/drawing/2014/main" id="{5D763DDE-C924-822E-DB6C-29EE9DDC82E8}"/>
              </a:ext>
            </a:extLst>
          </p:cNvPr>
          <p:cNvSpPr/>
          <p:nvPr/>
        </p:nvSpPr>
        <p:spPr>
          <a:xfrm>
            <a:off x="870150" y="4255549"/>
            <a:ext cx="595845" cy="427886"/>
          </a:xfrm>
          <a:prstGeom prst="hexagon">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Hexagon 19">
            <a:extLst>
              <a:ext uri="{FF2B5EF4-FFF2-40B4-BE49-F238E27FC236}">
                <a16:creationId xmlns:a16="http://schemas.microsoft.com/office/drawing/2014/main" id="{7EB07327-7B30-88A1-9122-2EA805B771B8}"/>
              </a:ext>
            </a:extLst>
          </p:cNvPr>
          <p:cNvSpPr/>
          <p:nvPr/>
        </p:nvSpPr>
        <p:spPr>
          <a:xfrm>
            <a:off x="838200" y="4255548"/>
            <a:ext cx="541596" cy="427886"/>
          </a:xfrm>
          <a:prstGeom prst="hexag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mj-lt"/>
              </a:rPr>
              <a:t>T</a:t>
            </a:r>
            <a:endParaRPr lang="en-US" dirty="0"/>
          </a:p>
        </p:txBody>
      </p:sp>
      <p:sp>
        <p:nvSpPr>
          <p:cNvPr id="23" name="Hexagon 22">
            <a:extLst>
              <a:ext uri="{FF2B5EF4-FFF2-40B4-BE49-F238E27FC236}">
                <a16:creationId xmlns:a16="http://schemas.microsoft.com/office/drawing/2014/main" id="{0B8F2B4F-D742-3057-1E2C-BFD956030AE4}"/>
              </a:ext>
            </a:extLst>
          </p:cNvPr>
          <p:cNvSpPr/>
          <p:nvPr/>
        </p:nvSpPr>
        <p:spPr>
          <a:xfrm>
            <a:off x="870150" y="6045886"/>
            <a:ext cx="595845" cy="427886"/>
          </a:xfrm>
          <a:prstGeom prst="hexag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Hexagon 23">
            <a:extLst>
              <a:ext uri="{FF2B5EF4-FFF2-40B4-BE49-F238E27FC236}">
                <a16:creationId xmlns:a16="http://schemas.microsoft.com/office/drawing/2014/main" id="{A7028D4F-7577-C26B-5C6C-90D111788956}"/>
              </a:ext>
            </a:extLst>
          </p:cNvPr>
          <p:cNvSpPr/>
          <p:nvPr/>
        </p:nvSpPr>
        <p:spPr>
          <a:xfrm>
            <a:off x="838200" y="6045885"/>
            <a:ext cx="541596" cy="427886"/>
          </a:xfrm>
          <a:prstGeom prst="hexag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mj-lt"/>
              </a:rPr>
              <a:t>E</a:t>
            </a:r>
            <a:endParaRPr lang="en-US" dirty="0"/>
          </a:p>
        </p:txBody>
      </p:sp>
      <p:sp>
        <p:nvSpPr>
          <p:cNvPr id="25" name="Hexagon 24">
            <a:extLst>
              <a:ext uri="{FF2B5EF4-FFF2-40B4-BE49-F238E27FC236}">
                <a16:creationId xmlns:a16="http://schemas.microsoft.com/office/drawing/2014/main" id="{0279C309-F3EF-52C6-E83D-27910C74A9F1}"/>
              </a:ext>
            </a:extLst>
          </p:cNvPr>
          <p:cNvSpPr/>
          <p:nvPr/>
        </p:nvSpPr>
        <p:spPr>
          <a:xfrm>
            <a:off x="870150" y="5443325"/>
            <a:ext cx="595845" cy="427886"/>
          </a:xfrm>
          <a:prstGeom prst="hexagon">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Hexagon 25">
            <a:extLst>
              <a:ext uri="{FF2B5EF4-FFF2-40B4-BE49-F238E27FC236}">
                <a16:creationId xmlns:a16="http://schemas.microsoft.com/office/drawing/2014/main" id="{FBC67446-63D4-3552-ABCB-F050C72056FF}"/>
              </a:ext>
            </a:extLst>
          </p:cNvPr>
          <p:cNvSpPr/>
          <p:nvPr/>
        </p:nvSpPr>
        <p:spPr>
          <a:xfrm>
            <a:off x="838200" y="5443324"/>
            <a:ext cx="541596" cy="427886"/>
          </a:xfrm>
          <a:prstGeom prst="hexag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mj-lt"/>
              </a:rPr>
              <a:t>O</a:t>
            </a:r>
            <a:endParaRPr lang="en-US" dirty="0"/>
          </a:p>
        </p:txBody>
      </p:sp>
      <p:sp>
        <p:nvSpPr>
          <p:cNvPr id="28" name="TextBox 27">
            <a:extLst>
              <a:ext uri="{FF2B5EF4-FFF2-40B4-BE49-F238E27FC236}">
                <a16:creationId xmlns:a16="http://schemas.microsoft.com/office/drawing/2014/main" id="{5506004C-EF02-B8C6-22AA-C7A0C87FD1BB}"/>
              </a:ext>
            </a:extLst>
          </p:cNvPr>
          <p:cNvSpPr txBox="1"/>
          <p:nvPr/>
        </p:nvSpPr>
        <p:spPr>
          <a:xfrm>
            <a:off x="563777" y="2371629"/>
            <a:ext cx="6328341" cy="461665"/>
          </a:xfrm>
          <a:prstGeom prst="rect">
            <a:avLst/>
          </a:prstGeom>
          <a:noFill/>
        </p:spPr>
        <p:txBody>
          <a:bodyPr wrap="square">
            <a:spAutoFit/>
          </a:bodyPr>
          <a:lstStyle/>
          <a:p>
            <a:r>
              <a:rPr lang="en-US" sz="2400" b="0" i="0" dirty="0">
                <a:effectLst/>
                <a:latin typeface="+mj-lt"/>
              </a:rPr>
              <a:t>Application: CATWOE can help clarify:</a:t>
            </a:r>
            <a:endParaRPr lang="en-US" sz="2400" dirty="0">
              <a:latin typeface="+mj-lt"/>
            </a:endParaRPr>
          </a:p>
        </p:txBody>
      </p:sp>
      <p:sp>
        <p:nvSpPr>
          <p:cNvPr id="30" name="TextBox 29">
            <a:extLst>
              <a:ext uri="{FF2B5EF4-FFF2-40B4-BE49-F238E27FC236}">
                <a16:creationId xmlns:a16="http://schemas.microsoft.com/office/drawing/2014/main" id="{24A3F81F-71E9-F70B-2176-862E01AF732F}"/>
              </a:ext>
            </a:extLst>
          </p:cNvPr>
          <p:cNvSpPr txBox="1"/>
          <p:nvPr/>
        </p:nvSpPr>
        <p:spPr>
          <a:xfrm>
            <a:off x="1465995" y="3065890"/>
            <a:ext cx="6125030" cy="461665"/>
          </a:xfrm>
          <a:prstGeom prst="rect">
            <a:avLst/>
          </a:prstGeom>
          <a:noFill/>
        </p:spPr>
        <p:txBody>
          <a:bodyPr wrap="square">
            <a:spAutoFit/>
          </a:bodyPr>
          <a:lstStyle/>
          <a:p>
            <a:pPr algn="l"/>
            <a:r>
              <a:rPr lang="en-GB" sz="2400" b="0" i="0" dirty="0">
                <a:effectLst/>
                <a:latin typeface="Bahnschrift" panose="020B0502040204020203" pitchFamily="34" charset="0"/>
              </a:rPr>
              <a:t>Customers: Who are the attendees.</a:t>
            </a:r>
          </a:p>
        </p:txBody>
      </p:sp>
      <p:sp>
        <p:nvSpPr>
          <p:cNvPr id="31" name="TextBox 30">
            <a:extLst>
              <a:ext uri="{FF2B5EF4-FFF2-40B4-BE49-F238E27FC236}">
                <a16:creationId xmlns:a16="http://schemas.microsoft.com/office/drawing/2014/main" id="{934E6553-8D29-0504-F74A-63986DF73A7C}"/>
              </a:ext>
            </a:extLst>
          </p:cNvPr>
          <p:cNvSpPr txBox="1"/>
          <p:nvPr/>
        </p:nvSpPr>
        <p:spPr>
          <a:xfrm>
            <a:off x="1465994" y="3642427"/>
            <a:ext cx="8066967" cy="461665"/>
          </a:xfrm>
          <a:prstGeom prst="rect">
            <a:avLst/>
          </a:prstGeom>
          <a:noFill/>
        </p:spPr>
        <p:txBody>
          <a:bodyPr wrap="square">
            <a:spAutoFit/>
          </a:bodyPr>
          <a:lstStyle/>
          <a:p>
            <a:pPr algn="l"/>
            <a:r>
              <a:rPr lang="en-GB" sz="2400" b="0" i="0" dirty="0">
                <a:effectLst/>
                <a:latin typeface="Bahnschrift" panose="020B0502040204020203" pitchFamily="34" charset="0"/>
              </a:rPr>
              <a:t>Actors: Who is involved in the planning and execution.</a:t>
            </a:r>
          </a:p>
        </p:txBody>
      </p:sp>
      <p:sp>
        <p:nvSpPr>
          <p:cNvPr id="32" name="TextBox 31">
            <a:extLst>
              <a:ext uri="{FF2B5EF4-FFF2-40B4-BE49-F238E27FC236}">
                <a16:creationId xmlns:a16="http://schemas.microsoft.com/office/drawing/2014/main" id="{A82E9168-A435-4EBB-7555-0523D8AA3111}"/>
              </a:ext>
            </a:extLst>
          </p:cNvPr>
          <p:cNvSpPr txBox="1"/>
          <p:nvPr/>
        </p:nvSpPr>
        <p:spPr>
          <a:xfrm>
            <a:off x="1465995" y="4241640"/>
            <a:ext cx="8558286" cy="461665"/>
          </a:xfrm>
          <a:prstGeom prst="rect">
            <a:avLst/>
          </a:prstGeom>
          <a:noFill/>
        </p:spPr>
        <p:txBody>
          <a:bodyPr wrap="square">
            <a:spAutoFit/>
          </a:bodyPr>
          <a:lstStyle/>
          <a:p>
            <a:pPr algn="l"/>
            <a:r>
              <a:rPr lang="en-GB" sz="2400" b="0" i="0" dirty="0">
                <a:effectLst/>
                <a:latin typeface="Bahnschrift" panose="020B0502040204020203" pitchFamily="34" charset="0"/>
              </a:rPr>
              <a:t>Transformation: What is the desired outcome of the event.</a:t>
            </a:r>
          </a:p>
        </p:txBody>
      </p:sp>
      <p:sp>
        <p:nvSpPr>
          <p:cNvPr id="33" name="TextBox 32">
            <a:extLst>
              <a:ext uri="{FF2B5EF4-FFF2-40B4-BE49-F238E27FC236}">
                <a16:creationId xmlns:a16="http://schemas.microsoft.com/office/drawing/2014/main" id="{B7AE793F-D1A9-E939-552C-9D1CEDB72B08}"/>
              </a:ext>
            </a:extLst>
          </p:cNvPr>
          <p:cNvSpPr txBox="1"/>
          <p:nvPr/>
        </p:nvSpPr>
        <p:spPr>
          <a:xfrm>
            <a:off x="1465994" y="4836761"/>
            <a:ext cx="8258035" cy="461665"/>
          </a:xfrm>
          <a:prstGeom prst="rect">
            <a:avLst/>
          </a:prstGeom>
          <a:noFill/>
        </p:spPr>
        <p:txBody>
          <a:bodyPr wrap="square">
            <a:spAutoFit/>
          </a:bodyPr>
          <a:lstStyle/>
          <a:p>
            <a:pPr algn="l"/>
            <a:r>
              <a:rPr lang="en-GB" sz="2400" b="0" i="0" dirty="0">
                <a:effectLst/>
                <a:latin typeface="Bahnschrift" panose="020B0502040204020203" pitchFamily="34" charset="0"/>
              </a:rPr>
              <a:t>Worldview: What are the broader implications of the event.</a:t>
            </a:r>
          </a:p>
        </p:txBody>
      </p:sp>
      <p:sp>
        <p:nvSpPr>
          <p:cNvPr id="34" name="TextBox 33">
            <a:extLst>
              <a:ext uri="{FF2B5EF4-FFF2-40B4-BE49-F238E27FC236}">
                <a16:creationId xmlns:a16="http://schemas.microsoft.com/office/drawing/2014/main" id="{8712D170-45C9-90A2-EF8E-F54A7AE149A5}"/>
              </a:ext>
            </a:extLst>
          </p:cNvPr>
          <p:cNvSpPr txBox="1"/>
          <p:nvPr/>
        </p:nvSpPr>
        <p:spPr>
          <a:xfrm>
            <a:off x="1465995" y="5431882"/>
            <a:ext cx="8066966" cy="461665"/>
          </a:xfrm>
          <a:prstGeom prst="rect">
            <a:avLst/>
          </a:prstGeom>
          <a:noFill/>
        </p:spPr>
        <p:txBody>
          <a:bodyPr wrap="square">
            <a:spAutoFit/>
          </a:bodyPr>
          <a:lstStyle/>
          <a:p>
            <a:pPr algn="l"/>
            <a:r>
              <a:rPr lang="en-GB" sz="2400" b="0" i="0" dirty="0">
                <a:effectLst/>
                <a:latin typeface="Bahnschrift" panose="020B0502040204020203" pitchFamily="34" charset="0"/>
              </a:rPr>
              <a:t>Owner: Who has the authority to make decisions.</a:t>
            </a:r>
          </a:p>
        </p:txBody>
      </p:sp>
      <p:sp>
        <p:nvSpPr>
          <p:cNvPr id="38" name="TextBox 37">
            <a:extLst>
              <a:ext uri="{FF2B5EF4-FFF2-40B4-BE49-F238E27FC236}">
                <a16:creationId xmlns:a16="http://schemas.microsoft.com/office/drawing/2014/main" id="{12954D94-5F5B-67A5-DA3D-772267D620BF}"/>
              </a:ext>
            </a:extLst>
          </p:cNvPr>
          <p:cNvSpPr txBox="1"/>
          <p:nvPr/>
        </p:nvSpPr>
        <p:spPr>
          <a:xfrm>
            <a:off x="1477360" y="6027003"/>
            <a:ext cx="10363200" cy="461665"/>
          </a:xfrm>
          <a:prstGeom prst="rect">
            <a:avLst/>
          </a:prstGeom>
          <a:noFill/>
        </p:spPr>
        <p:txBody>
          <a:bodyPr wrap="square">
            <a:spAutoFit/>
          </a:bodyPr>
          <a:lstStyle/>
          <a:p>
            <a:pPr algn="l"/>
            <a:r>
              <a:rPr lang="en-GB" sz="2400" b="0" i="0" dirty="0">
                <a:effectLst/>
                <a:latin typeface="Bahnschrift" panose="020B0502040204020203" pitchFamily="34" charset="0"/>
              </a:rPr>
              <a:t>Environmental constraints: What external factors could affect the event.</a:t>
            </a:r>
          </a:p>
        </p:txBody>
      </p:sp>
    </p:spTree>
    <p:extLst>
      <p:ext uri="{BB962C8B-B14F-4D97-AF65-F5344CB8AC3E}">
        <p14:creationId xmlns:p14="http://schemas.microsoft.com/office/powerpoint/2010/main" val="35219369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4A254F1-5723-49E0-89E6-66FB74177255}"/>
              </a:ext>
            </a:extLst>
          </p:cNvPr>
          <p:cNvSpPr/>
          <p:nvPr/>
        </p:nvSpPr>
        <p:spPr>
          <a:xfrm>
            <a:off x="4248150" y="2546355"/>
            <a:ext cx="7943850" cy="72844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0" i="0" dirty="0">
                <a:solidFill>
                  <a:schemeClr val="tx1"/>
                </a:solidFill>
                <a:effectLst/>
                <a:latin typeface="Bahnschrift" panose="020B0502040204020203" pitchFamily="34" charset="0"/>
              </a:rPr>
              <a:t>What advantages does the event have</a:t>
            </a:r>
            <a:endParaRPr lang="en-US" sz="2400" dirty="0">
              <a:solidFill>
                <a:schemeClr val="tx1"/>
              </a:solidFill>
              <a:latin typeface="Bahnschrift" panose="020B0502040204020203" pitchFamily="34" charset="0"/>
            </a:endParaRPr>
          </a:p>
        </p:txBody>
      </p:sp>
      <p:sp>
        <p:nvSpPr>
          <p:cNvPr id="2" name="Flowchart: Manual Input 7">
            <a:extLst>
              <a:ext uri="{FF2B5EF4-FFF2-40B4-BE49-F238E27FC236}">
                <a16:creationId xmlns:a16="http://schemas.microsoft.com/office/drawing/2014/main" id="{21F06290-9254-40B9-895F-3975BB0EB2AD}"/>
              </a:ext>
            </a:extLst>
          </p:cNvPr>
          <p:cNvSpPr/>
          <p:nvPr/>
        </p:nvSpPr>
        <p:spPr>
          <a:xfrm rot="5400000" flipH="1" flipV="1">
            <a:off x="1206583" y="-47885"/>
            <a:ext cx="862535" cy="175170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5247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5247 h 10000"/>
              <a:gd name="connsiteX0" fmla="*/ 0 w 10000"/>
              <a:gd name="connsiteY0" fmla="*/ 4506 h 9259"/>
              <a:gd name="connsiteX1" fmla="*/ 10000 w 10000"/>
              <a:gd name="connsiteY1" fmla="*/ 0 h 9259"/>
              <a:gd name="connsiteX2" fmla="*/ 10000 w 10000"/>
              <a:gd name="connsiteY2" fmla="*/ 9259 h 9259"/>
              <a:gd name="connsiteX3" fmla="*/ 0 w 10000"/>
              <a:gd name="connsiteY3" fmla="*/ 9259 h 9259"/>
              <a:gd name="connsiteX4" fmla="*/ 0 w 10000"/>
              <a:gd name="connsiteY4" fmla="*/ 4506 h 9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9259">
                <a:moveTo>
                  <a:pt x="0" y="4506"/>
                </a:moveTo>
                <a:lnTo>
                  <a:pt x="10000" y="0"/>
                </a:lnTo>
                <a:lnTo>
                  <a:pt x="10000" y="9259"/>
                </a:lnTo>
                <a:lnTo>
                  <a:pt x="0" y="9259"/>
                </a:lnTo>
                <a:lnTo>
                  <a:pt x="0" y="4506"/>
                </a:lnTo>
                <a:close/>
              </a:path>
            </a:pathLst>
          </a:custGeom>
          <a:solidFill>
            <a:srgbClr val="FF5C0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TextBox 2">
            <a:extLst>
              <a:ext uri="{FF2B5EF4-FFF2-40B4-BE49-F238E27FC236}">
                <a16:creationId xmlns:a16="http://schemas.microsoft.com/office/drawing/2014/main" id="{B27522D2-F567-47B1-8005-3D435E526902}"/>
              </a:ext>
            </a:extLst>
          </p:cNvPr>
          <p:cNvSpPr txBox="1"/>
          <p:nvPr/>
        </p:nvSpPr>
        <p:spPr>
          <a:xfrm>
            <a:off x="2640474" y="443246"/>
            <a:ext cx="3931776" cy="769441"/>
          </a:xfrm>
          <a:prstGeom prst="rect">
            <a:avLst/>
          </a:prstGeom>
          <a:noFill/>
        </p:spPr>
        <p:txBody>
          <a:bodyPr wrap="square" rtlCol="0">
            <a:spAutoFit/>
          </a:bodyPr>
          <a:lstStyle/>
          <a:p>
            <a:r>
              <a:rPr lang="en-US" sz="4400" b="1" dirty="0">
                <a:solidFill>
                  <a:schemeClr val="tx1">
                    <a:lumMod val="85000"/>
                    <a:lumOff val="15000"/>
                  </a:schemeClr>
                </a:solidFill>
                <a:latin typeface="Segoe UI" panose="020B0502040204020203" pitchFamily="34" charset="0"/>
                <a:ea typeface="Segoe UI" panose="020B0502040204020203" pitchFamily="34" charset="0"/>
                <a:cs typeface="Segoe UI" panose="020B0502040204020203" pitchFamily="34" charset="0"/>
              </a:rPr>
              <a:t>SWOT</a:t>
            </a:r>
          </a:p>
        </p:txBody>
      </p:sp>
      <p:sp>
        <p:nvSpPr>
          <p:cNvPr id="9" name="Rectangle 8">
            <a:extLst>
              <a:ext uri="{FF2B5EF4-FFF2-40B4-BE49-F238E27FC236}">
                <a16:creationId xmlns:a16="http://schemas.microsoft.com/office/drawing/2014/main" id="{43947AC9-E357-43B1-878B-CE2F5850B42B}"/>
              </a:ext>
            </a:extLst>
          </p:cNvPr>
          <p:cNvSpPr/>
          <p:nvPr/>
        </p:nvSpPr>
        <p:spPr>
          <a:xfrm>
            <a:off x="0" y="2546355"/>
            <a:ext cx="4095750" cy="728449"/>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0" i="0" dirty="0">
                <a:solidFill>
                  <a:schemeClr val="tx1"/>
                </a:solidFill>
                <a:effectLst/>
                <a:latin typeface="Yu Gothic UI Semibold" panose="020B0700000000000000" pitchFamily="34" charset="-128"/>
                <a:ea typeface="Yu Gothic UI Semibold" panose="020B0700000000000000" pitchFamily="34" charset="-128"/>
              </a:rPr>
              <a:t>Strengths</a:t>
            </a:r>
            <a:endParaRPr lang="en-US" sz="2800" dirty="0">
              <a:solidFill>
                <a:schemeClr val="tx1"/>
              </a:solidFill>
              <a:latin typeface="Yu Gothic UI Semibold" panose="020B0700000000000000" pitchFamily="34" charset="-128"/>
              <a:ea typeface="Yu Gothic UI Semibold" panose="020B0700000000000000" pitchFamily="34" charset="-128"/>
            </a:endParaRPr>
          </a:p>
        </p:txBody>
      </p:sp>
      <p:sp>
        <p:nvSpPr>
          <p:cNvPr id="15" name="Slide Number Placeholder 14">
            <a:extLst>
              <a:ext uri="{FF2B5EF4-FFF2-40B4-BE49-F238E27FC236}">
                <a16:creationId xmlns:a16="http://schemas.microsoft.com/office/drawing/2014/main" id="{33403D69-33F8-4E0E-AB84-3363BCA64B94}"/>
              </a:ext>
            </a:extLst>
          </p:cNvPr>
          <p:cNvSpPr>
            <a:spLocks noGrp="1"/>
          </p:cNvSpPr>
          <p:nvPr>
            <p:ph type="sldNum" sz="quarter" idx="12"/>
          </p:nvPr>
        </p:nvSpPr>
        <p:spPr/>
        <p:txBody>
          <a:bodyPr/>
          <a:lstStyle/>
          <a:p>
            <a:fld id="{B4B9BCA1-DEDB-4768-B0C2-9E03C02986FE}" type="slidenum">
              <a:rPr lang="en-US" smtClean="0">
                <a:solidFill>
                  <a:schemeClr val="tx1"/>
                </a:solidFill>
              </a:rPr>
              <a:t>8</a:t>
            </a:fld>
            <a:endParaRPr lang="en-US" dirty="0">
              <a:solidFill>
                <a:schemeClr val="tx1"/>
              </a:solidFill>
            </a:endParaRPr>
          </a:p>
        </p:txBody>
      </p:sp>
      <p:cxnSp>
        <p:nvCxnSpPr>
          <p:cNvPr id="17" name="Straight Connector 16">
            <a:extLst>
              <a:ext uri="{FF2B5EF4-FFF2-40B4-BE49-F238E27FC236}">
                <a16:creationId xmlns:a16="http://schemas.microsoft.com/office/drawing/2014/main" id="{9EA276D9-BDB5-4ACE-BDFA-502697D5E989}"/>
              </a:ext>
            </a:extLst>
          </p:cNvPr>
          <p:cNvCxnSpPr>
            <a:cxnSpLocks/>
          </p:cNvCxnSpPr>
          <p:nvPr/>
        </p:nvCxnSpPr>
        <p:spPr>
          <a:xfrm>
            <a:off x="1787764" y="161895"/>
            <a:ext cx="847722" cy="815988"/>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C543711-17F1-F6D1-3126-8A8CEA8AB0FD}"/>
              </a:ext>
            </a:extLst>
          </p:cNvPr>
          <p:cNvSpPr txBox="1"/>
          <p:nvPr/>
        </p:nvSpPr>
        <p:spPr>
          <a:xfrm>
            <a:off x="314326" y="1553100"/>
            <a:ext cx="7180712" cy="461665"/>
          </a:xfrm>
          <a:prstGeom prst="rect">
            <a:avLst/>
          </a:prstGeom>
          <a:noFill/>
        </p:spPr>
        <p:txBody>
          <a:bodyPr wrap="square">
            <a:spAutoFit/>
          </a:bodyPr>
          <a:lstStyle/>
          <a:p>
            <a:r>
              <a:rPr lang="en-GB" sz="2400" b="0" i="0" dirty="0">
                <a:effectLst/>
                <a:latin typeface="+mj-lt"/>
              </a:rPr>
              <a:t>Application: Planners can use SWOT to evaluate:</a:t>
            </a:r>
            <a:endParaRPr lang="en-US" sz="2400" dirty="0">
              <a:latin typeface="+mj-lt"/>
            </a:endParaRPr>
          </a:p>
        </p:txBody>
      </p:sp>
      <p:sp>
        <p:nvSpPr>
          <p:cNvPr id="10" name="Rectangle 9">
            <a:extLst>
              <a:ext uri="{FF2B5EF4-FFF2-40B4-BE49-F238E27FC236}">
                <a16:creationId xmlns:a16="http://schemas.microsoft.com/office/drawing/2014/main" id="{D08654D7-A544-4BC8-6CAC-76814B354E74}"/>
              </a:ext>
            </a:extLst>
          </p:cNvPr>
          <p:cNvSpPr/>
          <p:nvPr/>
        </p:nvSpPr>
        <p:spPr>
          <a:xfrm>
            <a:off x="4248150" y="4576451"/>
            <a:ext cx="7943850" cy="72844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0" i="0" dirty="0">
                <a:solidFill>
                  <a:schemeClr val="tx1"/>
                </a:solidFill>
                <a:effectLst/>
                <a:latin typeface="Bahnschrift" panose="020B0502040204020203" pitchFamily="34" charset="0"/>
              </a:rPr>
              <a:t>What external factors could be used</a:t>
            </a:r>
            <a:endParaRPr lang="en-US" sz="2400" dirty="0">
              <a:solidFill>
                <a:schemeClr val="tx1"/>
              </a:solidFill>
              <a:latin typeface="Bahnschrift" panose="020B0502040204020203" pitchFamily="34" charset="0"/>
            </a:endParaRPr>
          </a:p>
        </p:txBody>
      </p:sp>
      <p:sp>
        <p:nvSpPr>
          <p:cNvPr id="13" name="Rectangle 12">
            <a:extLst>
              <a:ext uri="{FF2B5EF4-FFF2-40B4-BE49-F238E27FC236}">
                <a16:creationId xmlns:a16="http://schemas.microsoft.com/office/drawing/2014/main" id="{33D9A06C-560E-585E-0B2B-6B8EC8CF777C}"/>
              </a:ext>
            </a:extLst>
          </p:cNvPr>
          <p:cNvSpPr/>
          <p:nvPr/>
        </p:nvSpPr>
        <p:spPr>
          <a:xfrm>
            <a:off x="0" y="4576451"/>
            <a:ext cx="4095750" cy="728449"/>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0" i="0">
                <a:solidFill>
                  <a:schemeClr val="tx1"/>
                </a:solidFill>
                <a:effectLst/>
                <a:latin typeface="Yu Gothic UI Semibold" panose="020B0700000000000000" pitchFamily="34" charset="-128"/>
                <a:ea typeface="Yu Gothic UI Semibold" panose="020B0700000000000000" pitchFamily="34" charset="-128"/>
              </a:rPr>
              <a:t>Opportunities</a:t>
            </a:r>
            <a:endParaRPr lang="en-US" sz="2800">
              <a:solidFill>
                <a:schemeClr val="tx1"/>
              </a:solidFill>
              <a:latin typeface="Yu Gothic UI Semibold" panose="020B0700000000000000" pitchFamily="34" charset="-128"/>
              <a:ea typeface="Yu Gothic UI Semibold" panose="020B0700000000000000" pitchFamily="34" charset="-128"/>
            </a:endParaRPr>
          </a:p>
        </p:txBody>
      </p:sp>
      <p:sp>
        <p:nvSpPr>
          <p:cNvPr id="14" name="Rectangle 13">
            <a:extLst>
              <a:ext uri="{FF2B5EF4-FFF2-40B4-BE49-F238E27FC236}">
                <a16:creationId xmlns:a16="http://schemas.microsoft.com/office/drawing/2014/main" id="{C7358C01-B7E5-53D4-62F5-420F1CF37F5C}"/>
              </a:ext>
            </a:extLst>
          </p:cNvPr>
          <p:cNvSpPr/>
          <p:nvPr/>
        </p:nvSpPr>
        <p:spPr>
          <a:xfrm>
            <a:off x="4248150" y="3561403"/>
            <a:ext cx="7943850" cy="72844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0" i="0">
                <a:solidFill>
                  <a:schemeClr val="tx1"/>
                </a:solidFill>
                <a:effectLst/>
                <a:latin typeface="Bahnschrift" panose="020B0502040204020203" pitchFamily="34" charset="0"/>
              </a:rPr>
              <a:t>What limitations exist</a:t>
            </a:r>
            <a:endParaRPr lang="en-US" sz="2400">
              <a:solidFill>
                <a:schemeClr val="tx1"/>
              </a:solidFill>
              <a:latin typeface="Bahnschrift" panose="020B0502040204020203" pitchFamily="34" charset="0"/>
            </a:endParaRPr>
          </a:p>
        </p:txBody>
      </p:sp>
      <p:sp>
        <p:nvSpPr>
          <p:cNvPr id="18" name="Rectangle 17">
            <a:extLst>
              <a:ext uri="{FF2B5EF4-FFF2-40B4-BE49-F238E27FC236}">
                <a16:creationId xmlns:a16="http://schemas.microsoft.com/office/drawing/2014/main" id="{4EBDD28E-3FBC-C5F9-0652-16261975D9F2}"/>
              </a:ext>
            </a:extLst>
          </p:cNvPr>
          <p:cNvSpPr/>
          <p:nvPr/>
        </p:nvSpPr>
        <p:spPr>
          <a:xfrm>
            <a:off x="0" y="3561403"/>
            <a:ext cx="4095750" cy="728449"/>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0" i="0">
                <a:solidFill>
                  <a:schemeClr val="tx1"/>
                </a:solidFill>
                <a:effectLst/>
                <a:latin typeface="Yu Gothic UI Semibold" panose="020B0700000000000000" pitchFamily="34" charset="-128"/>
                <a:ea typeface="Yu Gothic UI Semibold" panose="020B0700000000000000" pitchFamily="34" charset="-128"/>
              </a:rPr>
              <a:t>Weaknesses</a:t>
            </a:r>
            <a:endParaRPr lang="en-US" sz="2800">
              <a:solidFill>
                <a:schemeClr val="tx1"/>
              </a:solidFill>
              <a:latin typeface="Yu Gothic UI Semibold" panose="020B0700000000000000" pitchFamily="34" charset="-128"/>
              <a:ea typeface="Yu Gothic UI Semibold" panose="020B0700000000000000" pitchFamily="34" charset="-128"/>
            </a:endParaRPr>
          </a:p>
        </p:txBody>
      </p:sp>
      <p:sp>
        <p:nvSpPr>
          <p:cNvPr id="19" name="Rectangle 18">
            <a:extLst>
              <a:ext uri="{FF2B5EF4-FFF2-40B4-BE49-F238E27FC236}">
                <a16:creationId xmlns:a16="http://schemas.microsoft.com/office/drawing/2014/main" id="{7757EAEE-787F-5204-81A1-AECA2A80AF0A}"/>
              </a:ext>
            </a:extLst>
          </p:cNvPr>
          <p:cNvSpPr/>
          <p:nvPr/>
        </p:nvSpPr>
        <p:spPr>
          <a:xfrm>
            <a:off x="4248150" y="5591499"/>
            <a:ext cx="7943850" cy="72844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0" i="0" dirty="0">
                <a:solidFill>
                  <a:schemeClr val="tx1"/>
                </a:solidFill>
                <a:effectLst/>
                <a:latin typeface="Bahnschrift" panose="020B0502040204020203" pitchFamily="34" charset="0"/>
              </a:rPr>
              <a:t>What risks could </a:t>
            </a:r>
            <a:r>
              <a:rPr lang="en-US" sz="2400" b="0" i="0" dirty="0">
                <a:solidFill>
                  <a:schemeClr val="tx1"/>
                </a:solidFill>
                <a:effectLst/>
                <a:latin typeface="Bahnschrift" panose="020B0502040204020203" pitchFamily="34" charset="0"/>
              </a:rPr>
              <a:t>threaten</a:t>
            </a:r>
            <a:r>
              <a:rPr lang="en-GB" sz="2400" b="0" i="0" dirty="0">
                <a:solidFill>
                  <a:schemeClr val="tx1"/>
                </a:solidFill>
                <a:effectLst/>
                <a:latin typeface="Bahnschrift" panose="020B0502040204020203" pitchFamily="34" charset="0"/>
              </a:rPr>
              <a:t> the event</a:t>
            </a:r>
            <a:endParaRPr lang="en-US" sz="2400" dirty="0">
              <a:solidFill>
                <a:schemeClr val="tx1"/>
              </a:solidFill>
              <a:latin typeface="Bahnschrift" panose="020B0502040204020203" pitchFamily="34" charset="0"/>
            </a:endParaRPr>
          </a:p>
        </p:txBody>
      </p:sp>
      <p:sp>
        <p:nvSpPr>
          <p:cNvPr id="20" name="Rectangle 19">
            <a:extLst>
              <a:ext uri="{FF2B5EF4-FFF2-40B4-BE49-F238E27FC236}">
                <a16:creationId xmlns:a16="http://schemas.microsoft.com/office/drawing/2014/main" id="{C9D9C989-6290-B251-C6B3-76043D77966C}"/>
              </a:ext>
            </a:extLst>
          </p:cNvPr>
          <p:cNvSpPr/>
          <p:nvPr/>
        </p:nvSpPr>
        <p:spPr>
          <a:xfrm>
            <a:off x="0" y="5591499"/>
            <a:ext cx="4095750" cy="728449"/>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0" i="0">
                <a:solidFill>
                  <a:schemeClr val="tx1"/>
                </a:solidFill>
                <a:effectLst/>
                <a:latin typeface="Yu Gothic UI Semibold" panose="020B0700000000000000" pitchFamily="34" charset="-128"/>
                <a:ea typeface="Yu Gothic UI Semibold" panose="020B0700000000000000" pitchFamily="34" charset="-128"/>
              </a:rPr>
              <a:t>Threats</a:t>
            </a:r>
            <a:endParaRPr lang="en-US" sz="2800">
              <a:solidFill>
                <a:schemeClr val="tx1"/>
              </a:solidFill>
              <a:latin typeface="Yu Gothic UI Semibold" panose="020B0700000000000000" pitchFamily="34" charset="-128"/>
              <a:ea typeface="Yu Gothic UI Semibold" panose="020B0700000000000000" pitchFamily="34" charset="-128"/>
            </a:endParaRPr>
          </a:p>
        </p:txBody>
      </p:sp>
    </p:spTree>
    <p:extLst>
      <p:ext uri="{BB962C8B-B14F-4D97-AF65-F5344CB8AC3E}">
        <p14:creationId xmlns:p14="http://schemas.microsoft.com/office/powerpoint/2010/main" val="172025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Oval 42">
            <a:extLst>
              <a:ext uri="{FF2B5EF4-FFF2-40B4-BE49-F238E27FC236}">
                <a16:creationId xmlns:a16="http://schemas.microsoft.com/office/drawing/2014/main" id="{FB1C7BD0-9A12-88A5-79DA-858A5D7F89F0}"/>
              </a:ext>
            </a:extLst>
          </p:cNvPr>
          <p:cNvSpPr/>
          <p:nvPr/>
        </p:nvSpPr>
        <p:spPr>
          <a:xfrm>
            <a:off x="10055345" y="3082778"/>
            <a:ext cx="1049048" cy="1347714"/>
          </a:xfrm>
          <a:prstGeom prst="ellipse">
            <a:avLst/>
          </a:prstGeom>
          <a:solidFill>
            <a:srgbClr val="3B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Flowchart: Manual Input 7">
            <a:extLst>
              <a:ext uri="{FF2B5EF4-FFF2-40B4-BE49-F238E27FC236}">
                <a16:creationId xmlns:a16="http://schemas.microsoft.com/office/drawing/2014/main" id="{080DEBBA-0F29-415E-98C4-8DD0FEB8351B}"/>
              </a:ext>
            </a:extLst>
          </p:cNvPr>
          <p:cNvSpPr/>
          <p:nvPr/>
        </p:nvSpPr>
        <p:spPr>
          <a:xfrm rot="5400000" flipH="1" flipV="1">
            <a:off x="1206583" y="-47885"/>
            <a:ext cx="862535" cy="175170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5247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5247 h 10000"/>
              <a:gd name="connsiteX0" fmla="*/ 0 w 10000"/>
              <a:gd name="connsiteY0" fmla="*/ 4506 h 9259"/>
              <a:gd name="connsiteX1" fmla="*/ 10000 w 10000"/>
              <a:gd name="connsiteY1" fmla="*/ 0 h 9259"/>
              <a:gd name="connsiteX2" fmla="*/ 10000 w 10000"/>
              <a:gd name="connsiteY2" fmla="*/ 9259 h 9259"/>
              <a:gd name="connsiteX3" fmla="*/ 0 w 10000"/>
              <a:gd name="connsiteY3" fmla="*/ 9259 h 9259"/>
              <a:gd name="connsiteX4" fmla="*/ 0 w 10000"/>
              <a:gd name="connsiteY4" fmla="*/ 4506 h 9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9259">
                <a:moveTo>
                  <a:pt x="0" y="4506"/>
                </a:moveTo>
                <a:lnTo>
                  <a:pt x="10000" y="0"/>
                </a:lnTo>
                <a:lnTo>
                  <a:pt x="10000" y="9259"/>
                </a:lnTo>
                <a:lnTo>
                  <a:pt x="0" y="9259"/>
                </a:lnTo>
                <a:lnTo>
                  <a:pt x="0" y="4506"/>
                </a:lnTo>
                <a:close/>
              </a:path>
            </a:pathLst>
          </a:custGeom>
          <a:solidFill>
            <a:srgbClr val="FF5C0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TextBox 10">
            <a:extLst>
              <a:ext uri="{FF2B5EF4-FFF2-40B4-BE49-F238E27FC236}">
                <a16:creationId xmlns:a16="http://schemas.microsoft.com/office/drawing/2014/main" id="{01D59B5C-4EA5-458F-94A2-09EA88A4CF91}"/>
              </a:ext>
            </a:extLst>
          </p:cNvPr>
          <p:cNvSpPr txBox="1"/>
          <p:nvPr/>
        </p:nvSpPr>
        <p:spPr>
          <a:xfrm>
            <a:off x="2640473" y="446800"/>
            <a:ext cx="7568051" cy="769441"/>
          </a:xfrm>
          <a:prstGeom prst="rect">
            <a:avLst/>
          </a:prstGeom>
          <a:noFill/>
        </p:spPr>
        <p:txBody>
          <a:bodyPr wrap="square" rtlCol="0">
            <a:spAutoFit/>
          </a:bodyPr>
          <a:lstStyle/>
          <a:p>
            <a:r>
              <a:rPr lang="en-US" sz="4400" b="1" dirty="0">
                <a:solidFill>
                  <a:schemeClr val="tx1">
                    <a:lumMod val="85000"/>
                    <a:lumOff val="15000"/>
                  </a:schemeClr>
                </a:solidFill>
                <a:latin typeface="Segoe UI" panose="020B0502040204020203" pitchFamily="34" charset="0"/>
                <a:ea typeface="Segoe UI" panose="020B0502040204020203" pitchFamily="34" charset="0"/>
                <a:cs typeface="Segoe UI" panose="020B0502040204020203" pitchFamily="34" charset="0"/>
              </a:rPr>
              <a:t>FISHBONE DIAGRAM</a:t>
            </a:r>
          </a:p>
        </p:txBody>
      </p:sp>
      <p:sp>
        <p:nvSpPr>
          <p:cNvPr id="3" name="Slide Number Placeholder 2">
            <a:extLst>
              <a:ext uri="{FF2B5EF4-FFF2-40B4-BE49-F238E27FC236}">
                <a16:creationId xmlns:a16="http://schemas.microsoft.com/office/drawing/2014/main" id="{E21B3FFF-4E68-41ED-B94C-A8F6A0FA3424}"/>
              </a:ext>
            </a:extLst>
          </p:cNvPr>
          <p:cNvSpPr>
            <a:spLocks noGrp="1"/>
          </p:cNvSpPr>
          <p:nvPr>
            <p:ph type="sldNum" sz="quarter" idx="12"/>
          </p:nvPr>
        </p:nvSpPr>
        <p:spPr/>
        <p:txBody>
          <a:bodyPr/>
          <a:lstStyle/>
          <a:p>
            <a:fld id="{B4B9BCA1-DEDB-4768-B0C2-9E03C02986FE}" type="slidenum">
              <a:rPr lang="en-US" smtClean="0">
                <a:solidFill>
                  <a:schemeClr val="tx1"/>
                </a:solidFill>
              </a:rPr>
              <a:t>9</a:t>
            </a:fld>
            <a:endParaRPr lang="en-US" dirty="0">
              <a:solidFill>
                <a:schemeClr val="tx1"/>
              </a:solidFill>
            </a:endParaRPr>
          </a:p>
        </p:txBody>
      </p:sp>
      <p:cxnSp>
        <p:nvCxnSpPr>
          <p:cNvPr id="27" name="Straight Connector 26">
            <a:extLst>
              <a:ext uri="{FF2B5EF4-FFF2-40B4-BE49-F238E27FC236}">
                <a16:creationId xmlns:a16="http://schemas.microsoft.com/office/drawing/2014/main" id="{B53E516E-E219-4703-85F7-9FD0F88241E8}"/>
              </a:ext>
            </a:extLst>
          </p:cNvPr>
          <p:cNvCxnSpPr>
            <a:cxnSpLocks/>
          </p:cNvCxnSpPr>
          <p:nvPr/>
        </p:nvCxnSpPr>
        <p:spPr>
          <a:xfrm>
            <a:off x="1787764" y="161895"/>
            <a:ext cx="847722" cy="815988"/>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8" name="Isosceles Triangle 7">
            <a:extLst>
              <a:ext uri="{FF2B5EF4-FFF2-40B4-BE49-F238E27FC236}">
                <a16:creationId xmlns:a16="http://schemas.microsoft.com/office/drawing/2014/main" id="{7144C7E8-C2EB-A92D-8BCE-B79B93159834}"/>
              </a:ext>
            </a:extLst>
          </p:cNvPr>
          <p:cNvSpPr/>
          <p:nvPr/>
        </p:nvSpPr>
        <p:spPr>
          <a:xfrm rot="5400000">
            <a:off x="9096986" y="3211816"/>
            <a:ext cx="3210637" cy="2511188"/>
          </a:xfrm>
          <a:prstGeom prst="triangl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400" dirty="0">
              <a:latin typeface="Arial" panose="020B0604020202020204" pitchFamily="34" charset="0"/>
              <a:cs typeface="Arial" panose="020B0604020202020204" pitchFamily="34" charset="0"/>
            </a:endParaRPr>
          </a:p>
        </p:txBody>
      </p:sp>
      <p:cxnSp>
        <p:nvCxnSpPr>
          <p:cNvPr id="13" name="Straight Connector 12">
            <a:extLst>
              <a:ext uri="{FF2B5EF4-FFF2-40B4-BE49-F238E27FC236}">
                <a16:creationId xmlns:a16="http://schemas.microsoft.com/office/drawing/2014/main" id="{1643B1FD-AAC1-ECB6-B429-E418191135B1}"/>
              </a:ext>
            </a:extLst>
          </p:cNvPr>
          <p:cNvCxnSpPr>
            <a:cxnSpLocks/>
            <a:stCxn id="8" idx="3"/>
            <a:endCxn id="14" idx="1"/>
          </p:cNvCxnSpPr>
          <p:nvPr/>
        </p:nvCxnSpPr>
        <p:spPr>
          <a:xfrm flipH="1" flipV="1">
            <a:off x="1835648" y="4465667"/>
            <a:ext cx="7611063" cy="1744"/>
          </a:xfrm>
          <a:prstGeom prst="line">
            <a:avLst/>
          </a:prstGeom>
          <a:ln w="7620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14" name="Moon 13">
            <a:extLst>
              <a:ext uri="{FF2B5EF4-FFF2-40B4-BE49-F238E27FC236}">
                <a16:creationId xmlns:a16="http://schemas.microsoft.com/office/drawing/2014/main" id="{699C545D-A3AD-5E14-51F3-12C38BA785C6}"/>
              </a:ext>
            </a:extLst>
          </p:cNvPr>
          <p:cNvSpPr/>
          <p:nvPr/>
        </p:nvSpPr>
        <p:spPr>
          <a:xfrm flipH="1">
            <a:off x="325481" y="3455733"/>
            <a:ext cx="1510167" cy="2019868"/>
          </a:xfrm>
          <a:prstGeom prst="moon">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E39AB30D-2A6D-F90C-1B46-9E1C33424D4D}"/>
              </a:ext>
            </a:extLst>
          </p:cNvPr>
          <p:cNvSpPr/>
          <p:nvPr/>
        </p:nvSpPr>
        <p:spPr>
          <a:xfrm>
            <a:off x="2264159" y="2015602"/>
            <a:ext cx="2155659" cy="758016"/>
          </a:xfrm>
          <a:prstGeom prst="round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0" i="0" dirty="0">
                <a:solidFill>
                  <a:schemeClr val="tx1"/>
                </a:solidFill>
                <a:effectLst/>
                <a:latin typeface="Bahnschrift" panose="020B0502040204020203" pitchFamily="34" charset="0"/>
              </a:rPr>
              <a:t>Environment</a:t>
            </a:r>
            <a:endParaRPr lang="en-US" sz="2400" dirty="0">
              <a:solidFill>
                <a:schemeClr val="tx1"/>
              </a:solidFill>
              <a:latin typeface="Bahnschrift" panose="020B0502040204020203" pitchFamily="34" charset="0"/>
            </a:endParaRPr>
          </a:p>
        </p:txBody>
      </p:sp>
      <p:sp>
        <p:nvSpPr>
          <p:cNvPr id="22" name="Rectangle: Rounded Corners 21">
            <a:extLst>
              <a:ext uri="{FF2B5EF4-FFF2-40B4-BE49-F238E27FC236}">
                <a16:creationId xmlns:a16="http://schemas.microsoft.com/office/drawing/2014/main" id="{FE4B59A1-4C0F-7020-CBEE-858A42B3CD87}"/>
              </a:ext>
            </a:extLst>
          </p:cNvPr>
          <p:cNvSpPr/>
          <p:nvPr/>
        </p:nvSpPr>
        <p:spPr>
          <a:xfrm>
            <a:off x="5878918" y="5915708"/>
            <a:ext cx="1787856" cy="758016"/>
          </a:xfrm>
          <a:prstGeom prst="round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0" i="0">
                <a:solidFill>
                  <a:schemeClr val="tx1"/>
                </a:solidFill>
                <a:effectLst/>
                <a:latin typeface="Bahnschrift" panose="020B0502040204020203" pitchFamily="34" charset="0"/>
              </a:rPr>
              <a:t>Marketing</a:t>
            </a:r>
            <a:endParaRPr lang="en-US" sz="2400">
              <a:solidFill>
                <a:schemeClr val="tx1"/>
              </a:solidFill>
              <a:latin typeface="Bahnschrift" panose="020B0502040204020203" pitchFamily="34" charset="0"/>
            </a:endParaRPr>
          </a:p>
        </p:txBody>
      </p:sp>
      <p:cxnSp>
        <p:nvCxnSpPr>
          <p:cNvPr id="29" name="Straight Connector 28">
            <a:extLst>
              <a:ext uri="{FF2B5EF4-FFF2-40B4-BE49-F238E27FC236}">
                <a16:creationId xmlns:a16="http://schemas.microsoft.com/office/drawing/2014/main" id="{C9D346EC-1239-7607-FB98-2E806DC3E530}"/>
              </a:ext>
            </a:extLst>
          </p:cNvPr>
          <p:cNvCxnSpPr>
            <a:cxnSpLocks/>
          </p:cNvCxnSpPr>
          <p:nvPr/>
        </p:nvCxnSpPr>
        <p:spPr>
          <a:xfrm flipH="1" flipV="1">
            <a:off x="7305336" y="2616124"/>
            <a:ext cx="1287868" cy="1804898"/>
          </a:xfrm>
          <a:prstGeom prst="line">
            <a:avLst/>
          </a:prstGeom>
          <a:ln w="57150">
            <a:solidFill>
              <a:srgbClr val="3B3838"/>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75970A5-741E-FE1E-0603-13BB485A5472}"/>
              </a:ext>
            </a:extLst>
          </p:cNvPr>
          <p:cNvCxnSpPr>
            <a:cxnSpLocks/>
          </p:cNvCxnSpPr>
          <p:nvPr/>
        </p:nvCxnSpPr>
        <p:spPr>
          <a:xfrm flipH="1">
            <a:off x="6686729" y="4434228"/>
            <a:ext cx="1555629" cy="1481480"/>
          </a:xfrm>
          <a:prstGeom prst="line">
            <a:avLst/>
          </a:prstGeom>
          <a:ln w="57150">
            <a:solidFill>
              <a:srgbClr val="3B3838"/>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568050B-B8CA-C4E1-C881-E3ACDA24C3B1}"/>
              </a:ext>
            </a:extLst>
          </p:cNvPr>
          <p:cNvCxnSpPr>
            <a:cxnSpLocks/>
          </p:cNvCxnSpPr>
          <p:nvPr/>
        </p:nvCxnSpPr>
        <p:spPr>
          <a:xfrm flipH="1" flipV="1">
            <a:off x="4028289" y="2792178"/>
            <a:ext cx="1244298" cy="1673488"/>
          </a:xfrm>
          <a:prstGeom prst="line">
            <a:avLst/>
          </a:prstGeom>
          <a:ln w="57150">
            <a:solidFill>
              <a:srgbClr val="3B3838"/>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501411C-D14B-6F58-59AA-0EBC6BE466F6}"/>
              </a:ext>
            </a:extLst>
          </p:cNvPr>
          <p:cNvCxnSpPr>
            <a:cxnSpLocks/>
          </p:cNvCxnSpPr>
          <p:nvPr/>
        </p:nvCxnSpPr>
        <p:spPr>
          <a:xfrm flipH="1">
            <a:off x="3127138" y="4421022"/>
            <a:ext cx="1620889" cy="1678963"/>
          </a:xfrm>
          <a:prstGeom prst="line">
            <a:avLst/>
          </a:prstGeom>
          <a:ln w="57150">
            <a:solidFill>
              <a:srgbClr val="3B3838"/>
            </a:solidFill>
          </a:ln>
        </p:spPr>
        <p:style>
          <a:lnRef idx="1">
            <a:schemeClr val="accent1"/>
          </a:lnRef>
          <a:fillRef idx="0">
            <a:schemeClr val="accent1"/>
          </a:fillRef>
          <a:effectRef idx="0">
            <a:schemeClr val="accent1"/>
          </a:effectRef>
          <a:fontRef idx="minor">
            <a:schemeClr val="tx1"/>
          </a:fontRef>
        </p:style>
      </p:cxnSp>
      <p:sp>
        <p:nvSpPr>
          <p:cNvPr id="44" name="Oval 43">
            <a:extLst>
              <a:ext uri="{FF2B5EF4-FFF2-40B4-BE49-F238E27FC236}">
                <a16:creationId xmlns:a16="http://schemas.microsoft.com/office/drawing/2014/main" id="{BB0FBE5C-229C-646F-0B14-6C8CB9162790}"/>
              </a:ext>
            </a:extLst>
          </p:cNvPr>
          <p:cNvSpPr/>
          <p:nvPr/>
        </p:nvSpPr>
        <p:spPr>
          <a:xfrm>
            <a:off x="10920148" y="3756635"/>
            <a:ext cx="368489" cy="32413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73193EB0-04EB-F90E-9282-5AD403DCA6C3}"/>
              </a:ext>
            </a:extLst>
          </p:cNvPr>
          <p:cNvSpPr txBox="1"/>
          <p:nvPr/>
        </p:nvSpPr>
        <p:spPr>
          <a:xfrm>
            <a:off x="9459270" y="3630999"/>
            <a:ext cx="1911267" cy="1200329"/>
          </a:xfrm>
          <a:prstGeom prst="rect">
            <a:avLst/>
          </a:prstGeom>
          <a:noFill/>
        </p:spPr>
        <p:txBody>
          <a:bodyPr wrap="square" rtlCol="0">
            <a:spAutoFit/>
          </a:bodyPr>
          <a:lstStyle/>
          <a:p>
            <a:r>
              <a:rPr lang="en-GB" sz="2400" b="1" i="0" dirty="0">
                <a:solidFill>
                  <a:schemeClr val="bg1"/>
                </a:solidFill>
                <a:effectLst/>
                <a:latin typeface="+mj-lt"/>
              </a:rPr>
              <a:t>Low Attendance at the Event</a:t>
            </a:r>
            <a:endParaRPr lang="en-US" sz="2400" b="1" dirty="0">
              <a:solidFill>
                <a:schemeClr val="bg1"/>
              </a:solidFill>
              <a:latin typeface="+mj-lt"/>
            </a:endParaRPr>
          </a:p>
        </p:txBody>
      </p:sp>
      <p:sp>
        <p:nvSpPr>
          <p:cNvPr id="63" name="TextBox 62">
            <a:extLst>
              <a:ext uri="{FF2B5EF4-FFF2-40B4-BE49-F238E27FC236}">
                <a16:creationId xmlns:a16="http://schemas.microsoft.com/office/drawing/2014/main" id="{97BFC175-A2F4-533B-57CE-87B8730A3E55}"/>
              </a:ext>
            </a:extLst>
          </p:cNvPr>
          <p:cNvSpPr txBox="1"/>
          <p:nvPr/>
        </p:nvSpPr>
        <p:spPr>
          <a:xfrm>
            <a:off x="520187" y="1403909"/>
            <a:ext cx="9535158" cy="523220"/>
          </a:xfrm>
          <a:prstGeom prst="rect">
            <a:avLst/>
          </a:prstGeom>
          <a:noFill/>
        </p:spPr>
        <p:txBody>
          <a:bodyPr wrap="square">
            <a:spAutoFit/>
          </a:bodyPr>
          <a:lstStyle/>
          <a:p>
            <a:r>
              <a:rPr lang="en-GB" sz="2800" b="0" i="0" dirty="0">
                <a:effectLst/>
                <a:latin typeface="+mj-lt"/>
              </a:rPr>
              <a:t>A visual tool used to identify potential causes of a problem.</a:t>
            </a:r>
            <a:endParaRPr lang="en-US" sz="2800" dirty="0">
              <a:latin typeface="+mj-lt"/>
            </a:endParaRPr>
          </a:p>
        </p:txBody>
      </p:sp>
      <p:sp>
        <p:nvSpPr>
          <p:cNvPr id="64" name="TextBox 63">
            <a:extLst>
              <a:ext uri="{FF2B5EF4-FFF2-40B4-BE49-F238E27FC236}">
                <a16:creationId xmlns:a16="http://schemas.microsoft.com/office/drawing/2014/main" id="{8FEBED3C-DF0B-38F6-6461-7F9D4282FA32}"/>
              </a:ext>
            </a:extLst>
          </p:cNvPr>
          <p:cNvSpPr txBox="1"/>
          <p:nvPr/>
        </p:nvSpPr>
        <p:spPr>
          <a:xfrm>
            <a:off x="409421" y="2347892"/>
            <a:ext cx="588623" cy="461665"/>
          </a:xfrm>
          <a:prstGeom prst="rect">
            <a:avLst/>
          </a:prstGeom>
          <a:noFill/>
        </p:spPr>
        <p:txBody>
          <a:bodyPr wrap="none" rtlCol="0">
            <a:spAutoFit/>
          </a:bodyPr>
          <a:lstStyle/>
          <a:p>
            <a:r>
              <a:rPr lang="en-US" sz="2400" dirty="0">
                <a:latin typeface="+mj-lt"/>
              </a:rPr>
              <a:t>Eg:</a:t>
            </a:r>
          </a:p>
        </p:txBody>
      </p:sp>
      <p:cxnSp>
        <p:nvCxnSpPr>
          <p:cNvPr id="75" name="Straight Connector 74">
            <a:extLst>
              <a:ext uri="{FF2B5EF4-FFF2-40B4-BE49-F238E27FC236}">
                <a16:creationId xmlns:a16="http://schemas.microsoft.com/office/drawing/2014/main" id="{6985AC13-06F9-ABC0-544D-08591E9B6CCE}"/>
              </a:ext>
            </a:extLst>
          </p:cNvPr>
          <p:cNvCxnSpPr>
            <a:cxnSpLocks/>
          </p:cNvCxnSpPr>
          <p:nvPr/>
        </p:nvCxnSpPr>
        <p:spPr>
          <a:xfrm flipH="1">
            <a:off x="5904435" y="3756635"/>
            <a:ext cx="2224586" cy="0"/>
          </a:xfrm>
          <a:prstGeom prst="line">
            <a:avLst/>
          </a:prstGeom>
          <a:ln w="28575">
            <a:solidFill>
              <a:srgbClr val="3B3838"/>
            </a:solidFill>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F82DB4EC-F472-7B05-4C49-9B356B92D6DF}"/>
              </a:ext>
            </a:extLst>
          </p:cNvPr>
          <p:cNvSpPr txBox="1"/>
          <p:nvPr/>
        </p:nvSpPr>
        <p:spPr>
          <a:xfrm>
            <a:off x="4360414" y="3302202"/>
            <a:ext cx="3531358" cy="830997"/>
          </a:xfrm>
          <a:prstGeom prst="rect">
            <a:avLst/>
          </a:prstGeom>
          <a:noFill/>
        </p:spPr>
        <p:txBody>
          <a:bodyPr wrap="square">
            <a:spAutoFit/>
          </a:bodyPr>
          <a:lstStyle/>
          <a:p>
            <a:pPr algn="r"/>
            <a:r>
              <a:rPr lang="en-US" sz="2400" b="0" i="0" dirty="0">
                <a:effectLst/>
                <a:latin typeface="Arial Narrow" panose="020B0606020202030204" pitchFamily="34" charset="0"/>
              </a:rPr>
              <a:t>Inadequate resources for attendees</a:t>
            </a:r>
            <a:endParaRPr lang="en-US" sz="2400" dirty="0">
              <a:latin typeface="Arial Narrow" panose="020B0606020202030204" pitchFamily="34" charset="0"/>
            </a:endParaRPr>
          </a:p>
        </p:txBody>
      </p:sp>
      <p:cxnSp>
        <p:nvCxnSpPr>
          <p:cNvPr id="81" name="Straight Connector 80">
            <a:extLst>
              <a:ext uri="{FF2B5EF4-FFF2-40B4-BE49-F238E27FC236}">
                <a16:creationId xmlns:a16="http://schemas.microsoft.com/office/drawing/2014/main" id="{686CF872-29A9-6826-FFA9-2654C2A244E0}"/>
              </a:ext>
            </a:extLst>
          </p:cNvPr>
          <p:cNvCxnSpPr>
            <a:cxnSpLocks/>
          </p:cNvCxnSpPr>
          <p:nvPr/>
        </p:nvCxnSpPr>
        <p:spPr>
          <a:xfrm flipH="1">
            <a:off x="2458599" y="3748763"/>
            <a:ext cx="2224586" cy="0"/>
          </a:xfrm>
          <a:prstGeom prst="line">
            <a:avLst/>
          </a:prstGeom>
          <a:ln w="28575">
            <a:solidFill>
              <a:srgbClr val="3B3838"/>
            </a:solidFill>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C28B9253-D571-023C-1FFA-F0E77644C2C1}"/>
              </a:ext>
            </a:extLst>
          </p:cNvPr>
          <p:cNvSpPr txBox="1"/>
          <p:nvPr/>
        </p:nvSpPr>
        <p:spPr>
          <a:xfrm>
            <a:off x="2084681" y="3320762"/>
            <a:ext cx="2712492" cy="830997"/>
          </a:xfrm>
          <a:prstGeom prst="rect">
            <a:avLst/>
          </a:prstGeom>
          <a:noFill/>
        </p:spPr>
        <p:txBody>
          <a:bodyPr wrap="square">
            <a:spAutoFit/>
          </a:bodyPr>
          <a:lstStyle/>
          <a:p>
            <a:r>
              <a:rPr lang="en-US" sz="2400" b="0" i="0" dirty="0">
                <a:effectLst/>
                <a:latin typeface="Arial Narrow" panose="020B0606020202030204" pitchFamily="34" charset="0"/>
              </a:rPr>
              <a:t>Unfavorable venue location</a:t>
            </a:r>
            <a:endParaRPr lang="en-US" sz="2400" dirty="0">
              <a:latin typeface="Arial Narrow" panose="020B0606020202030204" pitchFamily="34" charset="0"/>
            </a:endParaRPr>
          </a:p>
        </p:txBody>
      </p:sp>
      <p:cxnSp>
        <p:nvCxnSpPr>
          <p:cNvPr id="85" name="Straight Connector 84">
            <a:extLst>
              <a:ext uri="{FF2B5EF4-FFF2-40B4-BE49-F238E27FC236}">
                <a16:creationId xmlns:a16="http://schemas.microsoft.com/office/drawing/2014/main" id="{934490FF-667C-856A-6DD1-5935CAE7A246}"/>
              </a:ext>
            </a:extLst>
          </p:cNvPr>
          <p:cNvCxnSpPr>
            <a:cxnSpLocks/>
          </p:cNvCxnSpPr>
          <p:nvPr/>
        </p:nvCxnSpPr>
        <p:spPr>
          <a:xfrm flipH="1">
            <a:off x="1637850" y="5427610"/>
            <a:ext cx="2156228" cy="0"/>
          </a:xfrm>
          <a:prstGeom prst="line">
            <a:avLst/>
          </a:prstGeom>
          <a:ln w="28575">
            <a:solidFill>
              <a:srgbClr val="3B3838"/>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BCF32464-54E3-896E-62D0-3111E59EE77D}"/>
              </a:ext>
            </a:extLst>
          </p:cNvPr>
          <p:cNvCxnSpPr>
            <a:cxnSpLocks/>
          </p:cNvCxnSpPr>
          <p:nvPr/>
        </p:nvCxnSpPr>
        <p:spPr>
          <a:xfrm flipH="1">
            <a:off x="5176627" y="5231322"/>
            <a:ext cx="2224586" cy="0"/>
          </a:xfrm>
          <a:prstGeom prst="line">
            <a:avLst/>
          </a:prstGeom>
          <a:ln w="28575">
            <a:solidFill>
              <a:srgbClr val="3B3838"/>
            </a:solidFill>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4F61AAFE-2822-AFBC-343C-A2D0861CED84}"/>
              </a:ext>
            </a:extLst>
          </p:cNvPr>
          <p:cNvSpPr txBox="1"/>
          <p:nvPr/>
        </p:nvSpPr>
        <p:spPr>
          <a:xfrm>
            <a:off x="931879" y="4959735"/>
            <a:ext cx="2567360" cy="830997"/>
          </a:xfrm>
          <a:prstGeom prst="rect">
            <a:avLst/>
          </a:prstGeom>
          <a:noFill/>
        </p:spPr>
        <p:txBody>
          <a:bodyPr wrap="square">
            <a:spAutoFit/>
          </a:bodyPr>
          <a:lstStyle/>
          <a:p>
            <a:pPr algn="r"/>
            <a:r>
              <a:rPr lang="en-GB" sz="2400" b="0" i="0" dirty="0">
                <a:effectLst/>
                <a:latin typeface="Arial Narrow" panose="020B0606020202030204" pitchFamily="34" charset="0"/>
              </a:rPr>
              <a:t>Lack of a clear agenda or schedule</a:t>
            </a:r>
          </a:p>
        </p:txBody>
      </p:sp>
      <p:sp>
        <p:nvSpPr>
          <p:cNvPr id="21" name="Rectangle: Rounded Corners 20">
            <a:extLst>
              <a:ext uri="{FF2B5EF4-FFF2-40B4-BE49-F238E27FC236}">
                <a16:creationId xmlns:a16="http://schemas.microsoft.com/office/drawing/2014/main" id="{1718B0A5-132C-37E8-A1E8-040CAC070657}"/>
              </a:ext>
            </a:extLst>
          </p:cNvPr>
          <p:cNvSpPr/>
          <p:nvPr/>
        </p:nvSpPr>
        <p:spPr>
          <a:xfrm>
            <a:off x="6288920" y="1991333"/>
            <a:ext cx="1660350" cy="758016"/>
          </a:xfrm>
          <a:prstGeom prst="round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0" i="0" dirty="0">
                <a:solidFill>
                  <a:schemeClr val="tx1"/>
                </a:solidFill>
                <a:effectLst/>
                <a:latin typeface="Bahnschrift" panose="020B0502040204020203" pitchFamily="34" charset="0"/>
              </a:rPr>
              <a:t>Materials</a:t>
            </a:r>
            <a:endParaRPr lang="en-US" sz="2400" dirty="0">
              <a:solidFill>
                <a:schemeClr val="tx1"/>
              </a:solidFill>
              <a:latin typeface="Bahnschrift" panose="020B0502040204020203" pitchFamily="34" charset="0"/>
            </a:endParaRPr>
          </a:p>
        </p:txBody>
      </p:sp>
      <p:sp>
        <p:nvSpPr>
          <p:cNvPr id="23" name="Rectangle: Rounded Corners 22">
            <a:extLst>
              <a:ext uri="{FF2B5EF4-FFF2-40B4-BE49-F238E27FC236}">
                <a16:creationId xmlns:a16="http://schemas.microsoft.com/office/drawing/2014/main" id="{A02F96EA-4220-AEB9-7EC2-861656CF183B}"/>
              </a:ext>
            </a:extLst>
          </p:cNvPr>
          <p:cNvSpPr/>
          <p:nvPr/>
        </p:nvSpPr>
        <p:spPr>
          <a:xfrm>
            <a:off x="2183312" y="5932281"/>
            <a:ext cx="1488818" cy="758016"/>
          </a:xfrm>
          <a:prstGeom prst="round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2400" b="0" i="0" dirty="0">
                <a:solidFill>
                  <a:schemeClr val="tx1"/>
                </a:solidFill>
                <a:effectLst/>
                <a:latin typeface="Bahnschrift" panose="020B0502040204020203" pitchFamily="34" charset="0"/>
              </a:rPr>
              <a:t>Process</a:t>
            </a:r>
          </a:p>
        </p:txBody>
      </p:sp>
      <p:sp>
        <p:nvSpPr>
          <p:cNvPr id="91" name="TextBox 90">
            <a:extLst>
              <a:ext uri="{FF2B5EF4-FFF2-40B4-BE49-F238E27FC236}">
                <a16:creationId xmlns:a16="http://schemas.microsoft.com/office/drawing/2014/main" id="{97E8D145-BFD9-CF79-F9AF-154493DE6EE5}"/>
              </a:ext>
            </a:extLst>
          </p:cNvPr>
          <p:cNvSpPr txBox="1"/>
          <p:nvPr/>
        </p:nvSpPr>
        <p:spPr>
          <a:xfrm>
            <a:off x="4984130" y="4807688"/>
            <a:ext cx="2534015" cy="830997"/>
          </a:xfrm>
          <a:prstGeom prst="rect">
            <a:avLst/>
          </a:prstGeom>
          <a:noFill/>
        </p:spPr>
        <p:txBody>
          <a:bodyPr wrap="square">
            <a:spAutoFit/>
          </a:bodyPr>
          <a:lstStyle/>
          <a:p>
            <a:r>
              <a:rPr lang="en-US" sz="2400" b="0" i="0" dirty="0">
                <a:effectLst/>
                <a:latin typeface="Arial Narrow" panose="020B0606020202030204" pitchFamily="34" charset="0"/>
              </a:rPr>
              <a:t>Ineffective marketing strategies</a:t>
            </a:r>
            <a:endParaRPr lang="en-US" sz="2400" dirty="0">
              <a:latin typeface="Arial Narrow" panose="020B0606020202030204" pitchFamily="34" charset="0"/>
            </a:endParaRPr>
          </a:p>
        </p:txBody>
      </p:sp>
    </p:spTree>
    <p:extLst>
      <p:ext uri="{BB962C8B-B14F-4D97-AF65-F5344CB8AC3E}">
        <p14:creationId xmlns:p14="http://schemas.microsoft.com/office/powerpoint/2010/main" val="1530460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0E929-E084-12F5-A45B-AF1D23EC1B31}"/>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C3039CD8-E786-895B-8B57-6CC5C87863C8}"/>
              </a:ext>
            </a:extLst>
          </p:cNvPr>
          <p:cNvGrpSpPr/>
          <p:nvPr/>
        </p:nvGrpSpPr>
        <p:grpSpPr>
          <a:xfrm>
            <a:off x="3181350" y="122464"/>
            <a:ext cx="5829300" cy="5829300"/>
            <a:chOff x="4124325" y="752475"/>
            <a:chExt cx="5524500" cy="5524500"/>
          </a:xfrm>
        </p:grpSpPr>
        <p:sp>
          <p:nvSpPr>
            <p:cNvPr id="3" name="Oval 2">
              <a:extLst>
                <a:ext uri="{FF2B5EF4-FFF2-40B4-BE49-F238E27FC236}">
                  <a16:creationId xmlns:a16="http://schemas.microsoft.com/office/drawing/2014/main" id="{569BF87A-AA94-7EB0-F223-2C90DB859E9D}"/>
                </a:ext>
              </a:extLst>
            </p:cNvPr>
            <p:cNvSpPr/>
            <p:nvPr/>
          </p:nvSpPr>
          <p:spPr>
            <a:xfrm>
              <a:off x="4124325" y="752475"/>
              <a:ext cx="5524500" cy="5524500"/>
            </a:xfrm>
            <a:prstGeom prst="ellipse">
              <a:avLst/>
            </a:prstGeom>
            <a:pattFill prst="dotGrid">
              <a:fgClr>
                <a:schemeClr val="bg2">
                  <a:lumMod val="2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val 1">
              <a:extLst>
                <a:ext uri="{FF2B5EF4-FFF2-40B4-BE49-F238E27FC236}">
                  <a16:creationId xmlns:a16="http://schemas.microsoft.com/office/drawing/2014/main" id="{1D9C36F5-47D7-7BC8-E8E4-A37B8F983306}"/>
                </a:ext>
              </a:extLst>
            </p:cNvPr>
            <p:cNvSpPr/>
            <p:nvPr/>
          </p:nvSpPr>
          <p:spPr>
            <a:xfrm>
              <a:off x="4124325" y="752475"/>
              <a:ext cx="5524500" cy="5524500"/>
            </a:xfrm>
            <a:prstGeom prst="ellipse">
              <a:avLst/>
            </a:prstGeom>
            <a:solidFill>
              <a:schemeClr val="bg2">
                <a:lumMod val="2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6" name="Straight Connector 5">
            <a:extLst>
              <a:ext uri="{FF2B5EF4-FFF2-40B4-BE49-F238E27FC236}">
                <a16:creationId xmlns:a16="http://schemas.microsoft.com/office/drawing/2014/main" id="{FCA1BE12-575B-795F-962E-E599755725C9}"/>
              </a:ext>
            </a:extLst>
          </p:cNvPr>
          <p:cNvCxnSpPr/>
          <p:nvPr/>
        </p:nvCxnSpPr>
        <p:spPr>
          <a:xfrm>
            <a:off x="3181350" y="3884087"/>
            <a:ext cx="17526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E301FE6-777C-4505-41A3-A15FF43BA4DE}"/>
              </a:ext>
            </a:extLst>
          </p:cNvPr>
          <p:cNvCxnSpPr/>
          <p:nvPr/>
        </p:nvCxnSpPr>
        <p:spPr>
          <a:xfrm>
            <a:off x="7258050" y="3080657"/>
            <a:ext cx="17526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1E9A850A-1A78-FD45-CBCD-6D187D590012}"/>
              </a:ext>
            </a:extLst>
          </p:cNvPr>
          <p:cNvSpPr txBox="1"/>
          <p:nvPr/>
        </p:nvSpPr>
        <p:spPr>
          <a:xfrm>
            <a:off x="3444345" y="2952663"/>
            <a:ext cx="2196371" cy="923330"/>
          </a:xfrm>
          <a:prstGeom prst="rect">
            <a:avLst/>
          </a:prstGeom>
          <a:noFill/>
        </p:spPr>
        <p:txBody>
          <a:bodyPr wrap="square" rtlCol="0">
            <a:spAutoFit/>
          </a:bodyPr>
          <a:lstStyle/>
          <a:p>
            <a:pPr algn="ctr"/>
            <a:r>
              <a:rPr lang="en-US" sz="5400" dirty="0">
                <a:solidFill>
                  <a:schemeClr val="bg1"/>
                </a:solidFill>
                <a:latin typeface="Segoe UI Semibold" panose="020B0702040204020203" pitchFamily="34" charset="0"/>
              </a:rPr>
              <a:t>Any</a:t>
            </a:r>
          </a:p>
        </p:txBody>
      </p:sp>
      <p:cxnSp>
        <p:nvCxnSpPr>
          <p:cNvPr id="10" name="Straight Connector 9">
            <a:extLst>
              <a:ext uri="{FF2B5EF4-FFF2-40B4-BE49-F238E27FC236}">
                <a16:creationId xmlns:a16="http://schemas.microsoft.com/office/drawing/2014/main" id="{7BB74E1E-E857-A0E3-F305-9AE15F57D887}"/>
              </a:ext>
            </a:extLst>
          </p:cNvPr>
          <p:cNvCxnSpPr>
            <a:stCxn id="2" idx="0"/>
          </p:cNvCxnSpPr>
          <p:nvPr/>
        </p:nvCxnSpPr>
        <p:spPr>
          <a:xfrm>
            <a:off x="6096000" y="122464"/>
            <a:ext cx="0" cy="108585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561CC0CA-53EA-BB54-EBB7-DEB71118FCDD}"/>
              </a:ext>
            </a:extLst>
          </p:cNvPr>
          <p:cNvSpPr/>
          <p:nvPr/>
        </p:nvSpPr>
        <p:spPr>
          <a:xfrm>
            <a:off x="5848350" y="1597025"/>
            <a:ext cx="495300" cy="495300"/>
          </a:xfrm>
          <a:prstGeom prst="ellipse">
            <a:avLst/>
          </a:prstGeom>
          <a:noFill/>
          <a:ln w="63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EF890B70-7778-0BF7-AB1C-241C869481BD}"/>
              </a:ext>
            </a:extLst>
          </p:cNvPr>
          <p:cNvGrpSpPr/>
          <p:nvPr/>
        </p:nvGrpSpPr>
        <p:grpSpPr>
          <a:xfrm>
            <a:off x="6002482" y="1793875"/>
            <a:ext cx="187036" cy="104775"/>
            <a:chOff x="6473825" y="955675"/>
            <a:chExt cx="342900" cy="139700"/>
          </a:xfrm>
        </p:grpSpPr>
        <p:cxnSp>
          <p:nvCxnSpPr>
            <p:cNvPr id="13" name="Straight Connector 12">
              <a:extLst>
                <a:ext uri="{FF2B5EF4-FFF2-40B4-BE49-F238E27FC236}">
                  <a16:creationId xmlns:a16="http://schemas.microsoft.com/office/drawing/2014/main" id="{659CC250-4753-2537-A034-3EB524A1133E}"/>
                </a:ext>
              </a:extLst>
            </p:cNvPr>
            <p:cNvCxnSpPr/>
            <p:nvPr/>
          </p:nvCxnSpPr>
          <p:spPr>
            <a:xfrm>
              <a:off x="6473825" y="955675"/>
              <a:ext cx="171450" cy="13970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197E815-37B2-29F7-C699-11AD905A86D0}"/>
                </a:ext>
              </a:extLst>
            </p:cNvPr>
            <p:cNvCxnSpPr>
              <a:cxnSpLocks/>
            </p:cNvCxnSpPr>
            <p:nvPr/>
          </p:nvCxnSpPr>
          <p:spPr>
            <a:xfrm flipV="1">
              <a:off x="6645275" y="955675"/>
              <a:ext cx="171450" cy="13970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grpSp>
      <p:sp>
        <p:nvSpPr>
          <p:cNvPr id="9" name="TextBox 8">
            <a:extLst>
              <a:ext uri="{FF2B5EF4-FFF2-40B4-BE49-F238E27FC236}">
                <a16:creationId xmlns:a16="http://schemas.microsoft.com/office/drawing/2014/main" id="{CA090B71-A71E-EEF6-389F-C09473A880DB}"/>
              </a:ext>
            </a:extLst>
          </p:cNvPr>
          <p:cNvSpPr txBox="1"/>
          <p:nvPr/>
        </p:nvSpPr>
        <p:spPr>
          <a:xfrm>
            <a:off x="5196945" y="2967335"/>
            <a:ext cx="3530575" cy="923330"/>
          </a:xfrm>
          <a:prstGeom prst="rect">
            <a:avLst/>
          </a:prstGeom>
          <a:noFill/>
        </p:spPr>
        <p:txBody>
          <a:bodyPr wrap="square" rtlCol="0">
            <a:spAutoFit/>
          </a:bodyPr>
          <a:lstStyle/>
          <a:p>
            <a:pPr algn="ctr"/>
            <a:r>
              <a:rPr lang="en-US" sz="5400" dirty="0">
                <a:solidFill>
                  <a:schemeClr val="bg1"/>
                </a:solidFill>
                <a:latin typeface="Segoe UI Semibold" panose="020B0702040204020203" pitchFamily="34" charset="0"/>
              </a:rPr>
              <a:t>Questions</a:t>
            </a:r>
          </a:p>
        </p:txBody>
      </p:sp>
      <p:sp>
        <p:nvSpPr>
          <p:cNvPr id="5" name="TextBox 4">
            <a:extLst>
              <a:ext uri="{FF2B5EF4-FFF2-40B4-BE49-F238E27FC236}">
                <a16:creationId xmlns:a16="http://schemas.microsoft.com/office/drawing/2014/main" id="{4F93D13D-60FC-867B-C95D-6B4CE6856F58}"/>
              </a:ext>
            </a:extLst>
          </p:cNvPr>
          <p:cNvSpPr txBox="1"/>
          <p:nvPr/>
        </p:nvSpPr>
        <p:spPr>
          <a:xfrm>
            <a:off x="5803019" y="3928469"/>
            <a:ext cx="492443" cy="923330"/>
          </a:xfrm>
          <a:prstGeom prst="rect">
            <a:avLst/>
          </a:prstGeom>
          <a:noFill/>
        </p:spPr>
        <p:txBody>
          <a:bodyPr wrap="none" rtlCol="0">
            <a:spAutoFit/>
          </a:bodyPr>
          <a:lstStyle/>
          <a:p>
            <a:r>
              <a:rPr lang="en-US" sz="5400" dirty="0">
                <a:solidFill>
                  <a:schemeClr val="bg1"/>
                </a:solidFill>
                <a:latin typeface="Segoe UI Semibold" panose="020B0702040204020203" pitchFamily="34" charset="0"/>
                <a:cs typeface="Segoe UI Semibold" panose="020B0702040204020203" pitchFamily="34" charset="0"/>
              </a:rPr>
              <a:t>?</a:t>
            </a:r>
            <a:endParaRPr lang="en-US" dirty="0">
              <a:solidFill>
                <a:schemeClr val="bg1"/>
              </a:solidFill>
              <a:latin typeface="Segoe UI Semibold" panose="020B0702040204020203" pitchFamily="34" charset="0"/>
              <a:cs typeface="Segoe UI Semibold" panose="020B0702040204020203" pitchFamily="34" charset="0"/>
            </a:endParaRPr>
          </a:p>
        </p:txBody>
      </p:sp>
      <p:cxnSp>
        <p:nvCxnSpPr>
          <p:cNvPr id="12" name="Straight Connector 11">
            <a:extLst>
              <a:ext uri="{FF2B5EF4-FFF2-40B4-BE49-F238E27FC236}">
                <a16:creationId xmlns:a16="http://schemas.microsoft.com/office/drawing/2014/main" id="{48587B8E-E789-1929-06BF-7CEFFC448C60}"/>
              </a:ext>
            </a:extLst>
          </p:cNvPr>
          <p:cNvCxnSpPr/>
          <p:nvPr/>
        </p:nvCxnSpPr>
        <p:spPr>
          <a:xfrm>
            <a:off x="-3397194" y="3884087"/>
            <a:ext cx="17526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DC090F3-C0B7-0795-C505-AA1171618054}"/>
              </a:ext>
            </a:extLst>
          </p:cNvPr>
          <p:cNvCxnSpPr/>
          <p:nvPr/>
        </p:nvCxnSpPr>
        <p:spPr>
          <a:xfrm>
            <a:off x="13296003" y="3080657"/>
            <a:ext cx="17526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43636AF2-B188-7D43-2CD3-985894B69774}"/>
              </a:ext>
            </a:extLst>
          </p:cNvPr>
          <p:cNvSpPr txBox="1"/>
          <p:nvPr/>
        </p:nvSpPr>
        <p:spPr>
          <a:xfrm>
            <a:off x="-2486626" y="2960757"/>
            <a:ext cx="2196371" cy="923330"/>
          </a:xfrm>
          <a:prstGeom prst="rect">
            <a:avLst/>
          </a:prstGeom>
          <a:noFill/>
        </p:spPr>
        <p:txBody>
          <a:bodyPr wrap="square" rtlCol="0">
            <a:spAutoFit/>
          </a:bodyPr>
          <a:lstStyle/>
          <a:p>
            <a:pPr algn="ctr"/>
            <a:r>
              <a:rPr lang="en-US" sz="5400" dirty="0">
                <a:solidFill>
                  <a:schemeClr val="bg1"/>
                </a:solidFill>
                <a:latin typeface="Segoe UI Semibold" panose="020B0702040204020203" pitchFamily="34" charset="0"/>
              </a:rPr>
              <a:t>Thank</a:t>
            </a:r>
          </a:p>
        </p:txBody>
      </p:sp>
      <p:cxnSp>
        <p:nvCxnSpPr>
          <p:cNvPr id="18" name="Straight Connector 17">
            <a:extLst>
              <a:ext uri="{FF2B5EF4-FFF2-40B4-BE49-F238E27FC236}">
                <a16:creationId xmlns:a16="http://schemas.microsoft.com/office/drawing/2014/main" id="{ADBAD034-102C-3135-891F-057F86224AB1}"/>
              </a:ext>
            </a:extLst>
          </p:cNvPr>
          <p:cNvCxnSpPr/>
          <p:nvPr/>
        </p:nvCxnSpPr>
        <p:spPr>
          <a:xfrm>
            <a:off x="6096000" y="-2388506"/>
            <a:ext cx="0" cy="108585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71FCEDF4-9CA9-422B-D071-45EA8DB25DB5}"/>
              </a:ext>
            </a:extLst>
          </p:cNvPr>
          <p:cNvSpPr/>
          <p:nvPr/>
        </p:nvSpPr>
        <p:spPr>
          <a:xfrm>
            <a:off x="5848350" y="-1305831"/>
            <a:ext cx="495300" cy="495300"/>
          </a:xfrm>
          <a:prstGeom prst="ellipse">
            <a:avLst/>
          </a:prstGeom>
          <a:noFill/>
          <a:ln w="63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4C79AAA7-2E39-8209-AA50-E1EECB5B53FD}"/>
              </a:ext>
            </a:extLst>
          </p:cNvPr>
          <p:cNvGrpSpPr/>
          <p:nvPr/>
        </p:nvGrpSpPr>
        <p:grpSpPr>
          <a:xfrm>
            <a:off x="6002482" y="-1108981"/>
            <a:ext cx="187036" cy="104775"/>
            <a:chOff x="6473825" y="955675"/>
            <a:chExt cx="342900" cy="139700"/>
          </a:xfrm>
        </p:grpSpPr>
        <p:cxnSp>
          <p:nvCxnSpPr>
            <p:cNvPr id="21" name="Straight Connector 20">
              <a:extLst>
                <a:ext uri="{FF2B5EF4-FFF2-40B4-BE49-F238E27FC236}">
                  <a16:creationId xmlns:a16="http://schemas.microsoft.com/office/drawing/2014/main" id="{4390588C-AF9D-DA3A-AE96-24F89CFFF7BD}"/>
                </a:ext>
              </a:extLst>
            </p:cNvPr>
            <p:cNvCxnSpPr/>
            <p:nvPr/>
          </p:nvCxnSpPr>
          <p:spPr>
            <a:xfrm>
              <a:off x="6473825" y="955675"/>
              <a:ext cx="171450" cy="13970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5A4C77C-F793-069C-1AFA-B386C3865DF3}"/>
                </a:ext>
              </a:extLst>
            </p:cNvPr>
            <p:cNvCxnSpPr>
              <a:cxnSpLocks/>
            </p:cNvCxnSpPr>
            <p:nvPr/>
          </p:nvCxnSpPr>
          <p:spPr>
            <a:xfrm flipV="1">
              <a:off x="6645275" y="955675"/>
              <a:ext cx="171450" cy="13970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grpSp>
      <p:sp>
        <p:nvSpPr>
          <p:cNvPr id="23" name="TextBox 22">
            <a:extLst>
              <a:ext uri="{FF2B5EF4-FFF2-40B4-BE49-F238E27FC236}">
                <a16:creationId xmlns:a16="http://schemas.microsoft.com/office/drawing/2014/main" id="{0E0F099A-4F2B-DDDA-3944-2607B794A7FF}"/>
              </a:ext>
            </a:extLst>
          </p:cNvPr>
          <p:cNvSpPr txBox="1"/>
          <p:nvPr/>
        </p:nvSpPr>
        <p:spPr>
          <a:xfrm>
            <a:off x="12326242" y="2967335"/>
            <a:ext cx="1459042" cy="923330"/>
          </a:xfrm>
          <a:prstGeom prst="rect">
            <a:avLst/>
          </a:prstGeom>
          <a:noFill/>
        </p:spPr>
        <p:txBody>
          <a:bodyPr wrap="square" rtlCol="0">
            <a:spAutoFit/>
          </a:bodyPr>
          <a:lstStyle/>
          <a:p>
            <a:pPr algn="ctr"/>
            <a:r>
              <a:rPr lang="en-US" sz="5400" dirty="0">
                <a:solidFill>
                  <a:schemeClr val="bg1"/>
                </a:solidFill>
                <a:latin typeface="Segoe UI Semibold" panose="020B0702040204020203" pitchFamily="34" charset="0"/>
              </a:rPr>
              <a:t>You</a:t>
            </a:r>
          </a:p>
        </p:txBody>
      </p:sp>
    </p:spTree>
    <p:extLst>
      <p:ext uri="{BB962C8B-B14F-4D97-AF65-F5344CB8AC3E}">
        <p14:creationId xmlns:p14="http://schemas.microsoft.com/office/powerpoint/2010/main" val="337110025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680BF871-F5CA-4023-9AF0-B36BC2E37415}"/>
              </a:ext>
            </a:extLst>
          </p:cNvPr>
          <p:cNvGrpSpPr/>
          <p:nvPr/>
        </p:nvGrpSpPr>
        <p:grpSpPr>
          <a:xfrm>
            <a:off x="3181350" y="514350"/>
            <a:ext cx="5829300" cy="5829300"/>
            <a:chOff x="4124325" y="752475"/>
            <a:chExt cx="5524500" cy="5524500"/>
          </a:xfrm>
        </p:grpSpPr>
        <p:sp>
          <p:nvSpPr>
            <p:cNvPr id="3" name="Oval 2">
              <a:extLst>
                <a:ext uri="{FF2B5EF4-FFF2-40B4-BE49-F238E27FC236}">
                  <a16:creationId xmlns:a16="http://schemas.microsoft.com/office/drawing/2014/main" id="{B93E09B7-780B-4BE0-A3B8-984113B89774}"/>
                </a:ext>
              </a:extLst>
            </p:cNvPr>
            <p:cNvSpPr/>
            <p:nvPr/>
          </p:nvSpPr>
          <p:spPr>
            <a:xfrm>
              <a:off x="4124325" y="752475"/>
              <a:ext cx="5524500" cy="5524500"/>
            </a:xfrm>
            <a:prstGeom prst="ellipse">
              <a:avLst/>
            </a:prstGeom>
            <a:pattFill prst="dotGrid">
              <a:fgClr>
                <a:schemeClr val="bg2">
                  <a:lumMod val="2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val 1">
              <a:extLst>
                <a:ext uri="{FF2B5EF4-FFF2-40B4-BE49-F238E27FC236}">
                  <a16:creationId xmlns:a16="http://schemas.microsoft.com/office/drawing/2014/main" id="{8C197961-26A7-496A-8635-40C7A0587D36}"/>
                </a:ext>
              </a:extLst>
            </p:cNvPr>
            <p:cNvSpPr/>
            <p:nvPr/>
          </p:nvSpPr>
          <p:spPr>
            <a:xfrm>
              <a:off x="4124325" y="752475"/>
              <a:ext cx="5524500" cy="5524500"/>
            </a:xfrm>
            <a:prstGeom prst="ellipse">
              <a:avLst/>
            </a:prstGeom>
            <a:solidFill>
              <a:schemeClr val="bg2">
                <a:lumMod val="2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6" name="Straight Connector 5">
            <a:extLst>
              <a:ext uri="{FF2B5EF4-FFF2-40B4-BE49-F238E27FC236}">
                <a16:creationId xmlns:a16="http://schemas.microsoft.com/office/drawing/2014/main" id="{C9B0CBD8-6C79-49F0-BC96-F62C87195F9D}"/>
              </a:ext>
            </a:extLst>
          </p:cNvPr>
          <p:cNvCxnSpPr/>
          <p:nvPr/>
        </p:nvCxnSpPr>
        <p:spPr>
          <a:xfrm>
            <a:off x="1066800" y="3429000"/>
            <a:ext cx="17526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079A742-DD78-4414-88DE-69F5EBB0DE8C}"/>
              </a:ext>
            </a:extLst>
          </p:cNvPr>
          <p:cNvCxnSpPr/>
          <p:nvPr/>
        </p:nvCxnSpPr>
        <p:spPr>
          <a:xfrm>
            <a:off x="9315450" y="3429000"/>
            <a:ext cx="17526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35675C7E-62E0-44C6-9365-0680DBCBCF33}"/>
              </a:ext>
            </a:extLst>
          </p:cNvPr>
          <p:cNvSpPr txBox="1"/>
          <p:nvPr/>
        </p:nvSpPr>
        <p:spPr>
          <a:xfrm>
            <a:off x="4324350" y="2960757"/>
            <a:ext cx="3543300" cy="923330"/>
          </a:xfrm>
          <a:prstGeom prst="rect">
            <a:avLst/>
          </a:prstGeom>
          <a:noFill/>
        </p:spPr>
        <p:txBody>
          <a:bodyPr wrap="square" rtlCol="0">
            <a:spAutoFit/>
          </a:bodyPr>
          <a:lstStyle/>
          <a:p>
            <a:pPr algn="ctr"/>
            <a:r>
              <a:rPr lang="en-US" sz="5400" dirty="0">
                <a:solidFill>
                  <a:schemeClr val="bg1"/>
                </a:solidFill>
                <a:latin typeface="Segoe UI Semibold" panose="020B0702040204020203" pitchFamily="34" charset="0"/>
              </a:rPr>
              <a:t>Thank You</a:t>
            </a:r>
          </a:p>
        </p:txBody>
      </p:sp>
      <p:cxnSp>
        <p:nvCxnSpPr>
          <p:cNvPr id="10" name="Straight Connector 9">
            <a:extLst>
              <a:ext uri="{FF2B5EF4-FFF2-40B4-BE49-F238E27FC236}">
                <a16:creationId xmlns:a16="http://schemas.microsoft.com/office/drawing/2014/main" id="{206C1D4D-4093-4EA0-8FC1-9C1674CB5890}"/>
              </a:ext>
            </a:extLst>
          </p:cNvPr>
          <p:cNvCxnSpPr>
            <a:stCxn id="2" idx="0"/>
          </p:cNvCxnSpPr>
          <p:nvPr/>
        </p:nvCxnSpPr>
        <p:spPr>
          <a:xfrm>
            <a:off x="6096000" y="514350"/>
            <a:ext cx="0" cy="108585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AFFCD2CA-E7B9-4084-A238-9F2DE856CA8B}"/>
              </a:ext>
            </a:extLst>
          </p:cNvPr>
          <p:cNvSpPr/>
          <p:nvPr/>
        </p:nvSpPr>
        <p:spPr>
          <a:xfrm>
            <a:off x="5848350" y="1597025"/>
            <a:ext cx="495300" cy="495300"/>
          </a:xfrm>
          <a:prstGeom prst="ellipse">
            <a:avLst/>
          </a:prstGeom>
          <a:noFill/>
          <a:ln w="63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D6317CB4-94F0-4E81-BA3A-868E89759996}"/>
              </a:ext>
            </a:extLst>
          </p:cNvPr>
          <p:cNvGrpSpPr/>
          <p:nvPr/>
        </p:nvGrpSpPr>
        <p:grpSpPr>
          <a:xfrm>
            <a:off x="6002482" y="1793875"/>
            <a:ext cx="187036" cy="104775"/>
            <a:chOff x="6473825" y="955675"/>
            <a:chExt cx="342900" cy="139700"/>
          </a:xfrm>
        </p:grpSpPr>
        <p:cxnSp>
          <p:nvCxnSpPr>
            <p:cNvPr id="13" name="Straight Connector 12">
              <a:extLst>
                <a:ext uri="{FF2B5EF4-FFF2-40B4-BE49-F238E27FC236}">
                  <a16:creationId xmlns:a16="http://schemas.microsoft.com/office/drawing/2014/main" id="{ABAFFA72-BAE2-4848-9AC2-E579D72FA23C}"/>
                </a:ext>
              </a:extLst>
            </p:cNvPr>
            <p:cNvCxnSpPr/>
            <p:nvPr/>
          </p:nvCxnSpPr>
          <p:spPr>
            <a:xfrm>
              <a:off x="6473825" y="955675"/>
              <a:ext cx="171450" cy="13970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254F28B-3B7F-4C3D-A3AE-F975A1D9B48B}"/>
                </a:ext>
              </a:extLst>
            </p:cNvPr>
            <p:cNvCxnSpPr>
              <a:cxnSpLocks/>
            </p:cNvCxnSpPr>
            <p:nvPr/>
          </p:nvCxnSpPr>
          <p:spPr>
            <a:xfrm flipV="1">
              <a:off x="6645275" y="955675"/>
              <a:ext cx="171450" cy="13970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270311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Modern 03">
      <a:majorFont>
        <a:latin typeface="Segoe U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lumMod val="25000"/>
          </a:schemeClr>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1451</TotalTime>
  <Words>2795</Words>
  <Application>Microsoft Office PowerPoint</Application>
  <PresentationFormat>Widescreen</PresentationFormat>
  <Paragraphs>320</Paragraphs>
  <Slides>11</Slides>
  <Notes>7</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11</vt:i4>
      </vt:variant>
    </vt:vector>
  </HeadingPairs>
  <TitlesOfParts>
    <vt:vector size="24" baseType="lpstr">
      <vt:lpstr>Yu Gothic UI Semibold</vt:lpstr>
      <vt:lpstr>__fkGroteskNeue_598ab8</vt:lpstr>
      <vt:lpstr>Arial</vt:lpstr>
      <vt:lpstr>Arial Narrow</vt:lpstr>
      <vt:lpstr>Bahnschrift</vt:lpstr>
      <vt:lpstr>Bahnschrift SemiBold</vt:lpstr>
      <vt:lpstr>Calibri</vt:lpstr>
      <vt:lpstr>Calibri Light</vt:lpstr>
      <vt:lpstr>Corbel</vt:lpstr>
      <vt:lpstr>Segoe UI</vt:lpstr>
      <vt:lpstr>Segoe UI Semibold</vt:lpstr>
      <vt:lpstr>var(--font-fk-grotesk)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Rhofi</dc:creator>
  <cp:lastModifiedBy>Mohammed Naseer Sihanas</cp:lastModifiedBy>
  <cp:revision>90</cp:revision>
  <dcterms:created xsi:type="dcterms:W3CDTF">2018-07-17T06:47:50Z</dcterms:created>
  <dcterms:modified xsi:type="dcterms:W3CDTF">2024-07-26T03:27:50Z</dcterms:modified>
</cp:coreProperties>
</file>