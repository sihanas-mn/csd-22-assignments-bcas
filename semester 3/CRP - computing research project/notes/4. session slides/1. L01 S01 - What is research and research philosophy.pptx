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 /><Relationship Id="rId2" Type="http://schemas.openxmlformats.org/package/2006/relationships/metadata/thumbnail" Target="docProps/thumbnail.jpeg" /><Relationship Id="rId1" Type="http://schemas.openxmlformats.org/officeDocument/2006/relationships/officeDocument" Target="ppt/presentation.xml" /><Relationship Id="rId4" Type="http://schemas.openxmlformats.org/officeDocument/2006/relationships/extended-properties" Target="docProps/app.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 id="2147483708" r:id="rId3"/>
    <p:sldMasterId id="2147483720" r:id="rId4"/>
  </p:sldMasterIdLst>
  <p:notesMasterIdLst>
    <p:notesMasterId r:id="rId69"/>
  </p:notesMasterIdLst>
  <p:sldIdLst>
    <p:sldId id="256" r:id="rId5"/>
    <p:sldId id="263" r:id="rId6"/>
    <p:sldId id="257" r:id="rId7"/>
    <p:sldId id="279" r:id="rId8"/>
    <p:sldId id="278" r:id="rId9"/>
    <p:sldId id="276" r:id="rId10"/>
    <p:sldId id="319" r:id="rId11"/>
    <p:sldId id="277" r:id="rId12"/>
    <p:sldId id="258" r:id="rId13"/>
    <p:sldId id="262" r:id="rId14"/>
    <p:sldId id="284" r:id="rId15"/>
    <p:sldId id="266" r:id="rId16"/>
    <p:sldId id="267" r:id="rId17"/>
    <p:sldId id="268" r:id="rId18"/>
    <p:sldId id="269" r:id="rId19"/>
    <p:sldId id="293" r:id="rId20"/>
    <p:sldId id="281" r:id="rId21"/>
    <p:sldId id="286" r:id="rId22"/>
    <p:sldId id="287" r:id="rId23"/>
    <p:sldId id="288" r:id="rId24"/>
    <p:sldId id="315" r:id="rId25"/>
    <p:sldId id="317" r:id="rId26"/>
    <p:sldId id="318" r:id="rId27"/>
    <p:sldId id="316" r:id="rId28"/>
    <p:sldId id="289" r:id="rId29"/>
    <p:sldId id="290" r:id="rId30"/>
    <p:sldId id="329" r:id="rId31"/>
    <p:sldId id="323" r:id="rId32"/>
    <p:sldId id="321" r:id="rId33"/>
    <p:sldId id="292" r:id="rId34"/>
    <p:sldId id="294" r:id="rId35"/>
    <p:sldId id="295" r:id="rId36"/>
    <p:sldId id="296" r:id="rId37"/>
    <p:sldId id="297" r:id="rId38"/>
    <p:sldId id="298" r:id="rId39"/>
    <p:sldId id="299" r:id="rId40"/>
    <p:sldId id="300" r:id="rId41"/>
    <p:sldId id="301" r:id="rId42"/>
    <p:sldId id="280" r:id="rId43"/>
    <p:sldId id="260" r:id="rId44"/>
    <p:sldId id="285" r:id="rId45"/>
    <p:sldId id="282" r:id="rId46"/>
    <p:sldId id="283" r:id="rId47"/>
    <p:sldId id="271" r:id="rId48"/>
    <p:sldId id="322" r:id="rId49"/>
    <p:sldId id="302" r:id="rId50"/>
    <p:sldId id="303" r:id="rId51"/>
    <p:sldId id="304" r:id="rId52"/>
    <p:sldId id="305" r:id="rId53"/>
    <p:sldId id="306" r:id="rId54"/>
    <p:sldId id="307" r:id="rId55"/>
    <p:sldId id="320" r:id="rId56"/>
    <p:sldId id="308" r:id="rId57"/>
    <p:sldId id="309" r:id="rId58"/>
    <p:sldId id="310" r:id="rId59"/>
    <p:sldId id="311" r:id="rId60"/>
    <p:sldId id="312" r:id="rId61"/>
    <p:sldId id="313" r:id="rId62"/>
    <p:sldId id="314" r:id="rId63"/>
    <p:sldId id="324" r:id="rId64"/>
    <p:sldId id="326" r:id="rId65"/>
    <p:sldId id="325" r:id="rId66"/>
    <p:sldId id="327" r:id="rId67"/>
    <p:sldId id="328"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0859" autoAdjust="0"/>
  </p:normalViewPr>
  <p:slideViewPr>
    <p:cSldViewPr snapToGrid="0">
      <p:cViewPr varScale="1">
        <p:scale>
          <a:sx n="67" d="100"/>
          <a:sy n="67" d="100"/>
        </p:scale>
        <p:origin x="595" y="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 /><Relationship Id="rId18" Type="http://schemas.openxmlformats.org/officeDocument/2006/relationships/slide" Target="slides/slide14.xml" /><Relationship Id="rId26" Type="http://schemas.openxmlformats.org/officeDocument/2006/relationships/slide" Target="slides/slide22.xml" /><Relationship Id="rId39" Type="http://schemas.openxmlformats.org/officeDocument/2006/relationships/slide" Target="slides/slide35.xml" /><Relationship Id="rId21" Type="http://schemas.openxmlformats.org/officeDocument/2006/relationships/slide" Target="slides/slide17.xml" /><Relationship Id="rId34" Type="http://schemas.openxmlformats.org/officeDocument/2006/relationships/slide" Target="slides/slide30.xml" /><Relationship Id="rId42" Type="http://schemas.openxmlformats.org/officeDocument/2006/relationships/slide" Target="slides/slide38.xml" /><Relationship Id="rId47" Type="http://schemas.openxmlformats.org/officeDocument/2006/relationships/slide" Target="slides/slide43.xml" /><Relationship Id="rId50" Type="http://schemas.openxmlformats.org/officeDocument/2006/relationships/slide" Target="slides/slide46.xml" /><Relationship Id="rId55" Type="http://schemas.openxmlformats.org/officeDocument/2006/relationships/slide" Target="slides/slide51.xml" /><Relationship Id="rId63" Type="http://schemas.openxmlformats.org/officeDocument/2006/relationships/slide" Target="slides/slide59.xml" /><Relationship Id="rId68" Type="http://schemas.openxmlformats.org/officeDocument/2006/relationships/slide" Target="slides/slide64.xml" /><Relationship Id="rId7" Type="http://schemas.openxmlformats.org/officeDocument/2006/relationships/slide" Target="slides/slide3.xml" /><Relationship Id="rId71" Type="http://schemas.openxmlformats.org/officeDocument/2006/relationships/viewProps" Target="viewProps.xml" /><Relationship Id="rId2" Type="http://schemas.openxmlformats.org/officeDocument/2006/relationships/slideMaster" Target="slideMasters/slideMaster2.xml" /><Relationship Id="rId16" Type="http://schemas.openxmlformats.org/officeDocument/2006/relationships/slide" Target="slides/slide12.xml" /><Relationship Id="rId29" Type="http://schemas.openxmlformats.org/officeDocument/2006/relationships/slide" Target="slides/slide25.xml" /><Relationship Id="rId11" Type="http://schemas.openxmlformats.org/officeDocument/2006/relationships/slide" Target="slides/slide7.xml" /><Relationship Id="rId24" Type="http://schemas.openxmlformats.org/officeDocument/2006/relationships/slide" Target="slides/slide20.xml" /><Relationship Id="rId32" Type="http://schemas.openxmlformats.org/officeDocument/2006/relationships/slide" Target="slides/slide28.xml" /><Relationship Id="rId37" Type="http://schemas.openxmlformats.org/officeDocument/2006/relationships/slide" Target="slides/slide33.xml" /><Relationship Id="rId40" Type="http://schemas.openxmlformats.org/officeDocument/2006/relationships/slide" Target="slides/slide36.xml" /><Relationship Id="rId45" Type="http://schemas.openxmlformats.org/officeDocument/2006/relationships/slide" Target="slides/slide41.xml" /><Relationship Id="rId53" Type="http://schemas.openxmlformats.org/officeDocument/2006/relationships/slide" Target="slides/slide49.xml" /><Relationship Id="rId58" Type="http://schemas.openxmlformats.org/officeDocument/2006/relationships/slide" Target="slides/slide54.xml" /><Relationship Id="rId66" Type="http://schemas.openxmlformats.org/officeDocument/2006/relationships/slide" Target="slides/slide62.xml" /><Relationship Id="rId5" Type="http://schemas.openxmlformats.org/officeDocument/2006/relationships/slide" Target="slides/slide1.xml" /><Relationship Id="rId15" Type="http://schemas.openxmlformats.org/officeDocument/2006/relationships/slide" Target="slides/slide11.xml" /><Relationship Id="rId23" Type="http://schemas.openxmlformats.org/officeDocument/2006/relationships/slide" Target="slides/slide19.xml" /><Relationship Id="rId28" Type="http://schemas.openxmlformats.org/officeDocument/2006/relationships/slide" Target="slides/slide24.xml" /><Relationship Id="rId36" Type="http://schemas.openxmlformats.org/officeDocument/2006/relationships/slide" Target="slides/slide32.xml" /><Relationship Id="rId49" Type="http://schemas.openxmlformats.org/officeDocument/2006/relationships/slide" Target="slides/slide45.xml" /><Relationship Id="rId57" Type="http://schemas.openxmlformats.org/officeDocument/2006/relationships/slide" Target="slides/slide53.xml" /><Relationship Id="rId61" Type="http://schemas.openxmlformats.org/officeDocument/2006/relationships/slide" Target="slides/slide57.xml" /><Relationship Id="rId10" Type="http://schemas.openxmlformats.org/officeDocument/2006/relationships/slide" Target="slides/slide6.xml" /><Relationship Id="rId19" Type="http://schemas.openxmlformats.org/officeDocument/2006/relationships/slide" Target="slides/slide15.xml" /><Relationship Id="rId31" Type="http://schemas.openxmlformats.org/officeDocument/2006/relationships/slide" Target="slides/slide27.xml" /><Relationship Id="rId44" Type="http://schemas.openxmlformats.org/officeDocument/2006/relationships/slide" Target="slides/slide40.xml" /><Relationship Id="rId52" Type="http://schemas.openxmlformats.org/officeDocument/2006/relationships/slide" Target="slides/slide48.xml" /><Relationship Id="rId60" Type="http://schemas.openxmlformats.org/officeDocument/2006/relationships/slide" Target="slides/slide56.xml" /><Relationship Id="rId65" Type="http://schemas.openxmlformats.org/officeDocument/2006/relationships/slide" Target="slides/slide61.xml" /><Relationship Id="rId73" Type="http://schemas.openxmlformats.org/officeDocument/2006/relationships/tableStyles" Target="tableStyles.xml" /><Relationship Id="rId4" Type="http://schemas.openxmlformats.org/officeDocument/2006/relationships/slideMaster" Target="slideMasters/slideMaster4.xml" /><Relationship Id="rId9" Type="http://schemas.openxmlformats.org/officeDocument/2006/relationships/slide" Target="slides/slide5.xml" /><Relationship Id="rId14" Type="http://schemas.openxmlformats.org/officeDocument/2006/relationships/slide" Target="slides/slide10.xml" /><Relationship Id="rId22" Type="http://schemas.openxmlformats.org/officeDocument/2006/relationships/slide" Target="slides/slide18.xml" /><Relationship Id="rId27" Type="http://schemas.openxmlformats.org/officeDocument/2006/relationships/slide" Target="slides/slide23.xml" /><Relationship Id="rId30" Type="http://schemas.openxmlformats.org/officeDocument/2006/relationships/slide" Target="slides/slide26.xml" /><Relationship Id="rId35" Type="http://schemas.openxmlformats.org/officeDocument/2006/relationships/slide" Target="slides/slide31.xml" /><Relationship Id="rId43" Type="http://schemas.openxmlformats.org/officeDocument/2006/relationships/slide" Target="slides/slide39.xml" /><Relationship Id="rId48" Type="http://schemas.openxmlformats.org/officeDocument/2006/relationships/slide" Target="slides/slide44.xml" /><Relationship Id="rId56" Type="http://schemas.openxmlformats.org/officeDocument/2006/relationships/slide" Target="slides/slide52.xml" /><Relationship Id="rId64" Type="http://schemas.openxmlformats.org/officeDocument/2006/relationships/slide" Target="slides/slide60.xml" /><Relationship Id="rId69" Type="http://schemas.openxmlformats.org/officeDocument/2006/relationships/notesMaster" Target="notesMasters/notesMaster1.xml" /><Relationship Id="rId8" Type="http://schemas.openxmlformats.org/officeDocument/2006/relationships/slide" Target="slides/slide4.xml" /><Relationship Id="rId51" Type="http://schemas.openxmlformats.org/officeDocument/2006/relationships/slide" Target="slides/slide47.xml" /><Relationship Id="rId72" Type="http://schemas.openxmlformats.org/officeDocument/2006/relationships/theme" Target="theme/theme1.xml" /><Relationship Id="rId3" Type="http://schemas.openxmlformats.org/officeDocument/2006/relationships/slideMaster" Target="slideMasters/slideMaster3.xml" /><Relationship Id="rId12" Type="http://schemas.openxmlformats.org/officeDocument/2006/relationships/slide" Target="slides/slide8.xml" /><Relationship Id="rId17" Type="http://schemas.openxmlformats.org/officeDocument/2006/relationships/slide" Target="slides/slide13.xml" /><Relationship Id="rId25" Type="http://schemas.openxmlformats.org/officeDocument/2006/relationships/slide" Target="slides/slide21.xml" /><Relationship Id="rId33" Type="http://schemas.openxmlformats.org/officeDocument/2006/relationships/slide" Target="slides/slide29.xml" /><Relationship Id="rId38" Type="http://schemas.openxmlformats.org/officeDocument/2006/relationships/slide" Target="slides/slide34.xml" /><Relationship Id="rId46" Type="http://schemas.openxmlformats.org/officeDocument/2006/relationships/slide" Target="slides/slide42.xml" /><Relationship Id="rId59" Type="http://schemas.openxmlformats.org/officeDocument/2006/relationships/slide" Target="slides/slide55.xml" /><Relationship Id="rId67" Type="http://schemas.openxmlformats.org/officeDocument/2006/relationships/slide" Target="slides/slide63.xml" /><Relationship Id="rId20" Type="http://schemas.openxmlformats.org/officeDocument/2006/relationships/slide" Target="slides/slide16.xml" /><Relationship Id="rId41" Type="http://schemas.openxmlformats.org/officeDocument/2006/relationships/slide" Target="slides/slide37.xml" /><Relationship Id="rId54" Type="http://schemas.openxmlformats.org/officeDocument/2006/relationships/slide" Target="slides/slide50.xml" /><Relationship Id="rId62" Type="http://schemas.openxmlformats.org/officeDocument/2006/relationships/slide" Target="slides/slide58.xml" /><Relationship Id="rId70" Type="http://schemas.openxmlformats.org/officeDocument/2006/relationships/presProps" Target="presProps.xml" /><Relationship Id="rId1" Type="http://schemas.openxmlformats.org/officeDocument/2006/relationships/slideMaster" Target="slideMasters/slideMaster1.xml" /><Relationship Id="rId6" Type="http://schemas.openxmlformats.org/officeDocument/2006/relationships/slide" Target="slides/slide2.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5.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BD1DE0D-848B-490D-B2AE-0DA848D30881}" type="datetimeFigureOut">
              <a:rPr lang="en-US" smtClean="0"/>
              <a:t>12/30/2024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5675828-F847-4A20-95C1-146433A1C343}" type="slidenum">
              <a:rPr lang="en-US" smtClean="0"/>
              <a:t>‹#›</a:t>
            </a:fld>
            <a:endParaRPr lang="en-US"/>
          </a:p>
        </p:txBody>
      </p:sp>
    </p:spTree>
    <p:extLst>
      <p:ext uri="{BB962C8B-B14F-4D97-AF65-F5344CB8AC3E}">
        <p14:creationId xmlns:p14="http://schemas.microsoft.com/office/powerpoint/2010/main" val="13129212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 /><Relationship Id="rId1" Type="http://schemas.openxmlformats.org/officeDocument/2006/relationships/notesMaster" Target="../notesMasters/notesMaster1.xml" /></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 /><Relationship Id="rId1" Type="http://schemas.openxmlformats.org/officeDocument/2006/relationships/notesMaster" Target="../notesMasters/notesMaster1.xml" /></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9.xml" /><Relationship Id="rId1" Type="http://schemas.openxmlformats.org/officeDocument/2006/relationships/notesMaster" Target="../notesMasters/notesMaster1.xml" /></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0.xml" /><Relationship Id="rId1" Type="http://schemas.openxmlformats.org/officeDocument/2006/relationships/notesMaster" Target="../notesMasters/notesMaster1.xml" /></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 /><Relationship Id="rId1" Type="http://schemas.openxmlformats.org/officeDocument/2006/relationships/notesMaster" Target="../notesMasters/notesMaster1.xml" /></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5675828-F847-4A20-95C1-146433A1C343}" type="slidenum">
              <a:rPr lang="en-US" smtClean="0"/>
              <a:t>3</a:t>
            </a:fld>
            <a:endParaRPr lang="en-US"/>
          </a:p>
        </p:txBody>
      </p:sp>
    </p:spTree>
    <p:extLst>
      <p:ext uri="{BB962C8B-B14F-4D97-AF65-F5344CB8AC3E}">
        <p14:creationId xmlns:p14="http://schemas.microsoft.com/office/powerpoint/2010/main" val="280539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Systematic process – It is a defined set</a:t>
            </a:r>
            <a:r>
              <a:rPr lang="en-US" baseline="0" dirty="0"/>
              <a:t> of procedures/ methodology or steps that is followed </a:t>
            </a:r>
            <a:r>
              <a:rPr lang="en-US" baseline="0" dirty="0" err="1"/>
              <a:t>nd</a:t>
            </a:r>
            <a:r>
              <a:rPr lang="en-US" baseline="0" dirty="0"/>
              <a:t> developed after decades of </a:t>
            </a:r>
            <a:r>
              <a:rPr lang="en-US" baseline="0" dirty="0" err="1"/>
              <a:t>reseachers</a:t>
            </a:r>
            <a:r>
              <a:rPr lang="en-US" baseline="0" dirty="0"/>
              <a:t> to achieve the objective </a:t>
            </a:r>
            <a:endParaRPr lang="en-US" dirty="0"/>
          </a:p>
        </p:txBody>
      </p:sp>
      <p:sp>
        <p:nvSpPr>
          <p:cNvPr id="4" name="Slide Number Placeholder 3"/>
          <p:cNvSpPr>
            <a:spLocks noGrp="1"/>
          </p:cNvSpPr>
          <p:nvPr>
            <p:ph type="sldNum" sz="quarter" idx="10"/>
          </p:nvPr>
        </p:nvSpPr>
        <p:spPr/>
        <p:txBody>
          <a:bodyPr/>
          <a:lstStyle/>
          <a:p>
            <a:fld id="{55675828-F847-4A20-95C1-146433A1C343}" type="slidenum">
              <a:rPr lang="en-US" smtClean="0"/>
              <a:t>5</a:t>
            </a:fld>
            <a:endParaRPr lang="en-US"/>
          </a:p>
        </p:txBody>
      </p:sp>
    </p:spTree>
    <p:extLst>
      <p:ext uri="{BB962C8B-B14F-4D97-AF65-F5344CB8AC3E}">
        <p14:creationId xmlns:p14="http://schemas.microsoft.com/office/powerpoint/2010/main" val="313907494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endParaRPr lang="en-US" dirty="0"/>
          </a:p>
        </p:txBody>
      </p:sp>
      <p:sp>
        <p:nvSpPr>
          <p:cNvPr id="4" name="Slide Number Placeholder 3"/>
          <p:cNvSpPr>
            <a:spLocks noGrp="1"/>
          </p:cNvSpPr>
          <p:nvPr>
            <p:ph type="sldNum" sz="quarter" idx="10"/>
          </p:nvPr>
        </p:nvSpPr>
        <p:spPr/>
        <p:txBody>
          <a:bodyPr/>
          <a:lstStyle/>
          <a:p>
            <a:fld id="{55675828-F847-4A20-95C1-146433A1C343}" type="slidenum">
              <a:rPr lang="en-US" smtClean="0"/>
              <a:t>9</a:t>
            </a:fld>
            <a:endParaRPr lang="en-US"/>
          </a:p>
        </p:txBody>
      </p:sp>
    </p:spTree>
    <p:extLst>
      <p:ext uri="{BB962C8B-B14F-4D97-AF65-F5344CB8AC3E}">
        <p14:creationId xmlns:p14="http://schemas.microsoft.com/office/powerpoint/2010/main" val="60048315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600" dirty="0"/>
              <a:t>Exploration: Exploration is finding out about some previously unexamined phenomenon.</a:t>
            </a:r>
          </a:p>
          <a:p>
            <a:r>
              <a:rPr lang="en-US" sz="1600" dirty="0"/>
              <a:t> It is particularly useful when researchers lack a clear idea of the problems they will meet during the course of the study. Through exploration, researchers –</a:t>
            </a:r>
          </a:p>
          <a:p>
            <a:r>
              <a:rPr lang="en-US" sz="1600" dirty="0"/>
              <a:t> Develop concepts more clearly </a:t>
            </a:r>
          </a:p>
          <a:p>
            <a:r>
              <a:rPr lang="en-US" sz="1600" dirty="0"/>
              <a:t> Establish priorities .</a:t>
            </a:r>
          </a:p>
          <a:p>
            <a:r>
              <a:rPr lang="en-US" sz="1600" dirty="0"/>
              <a:t> Develop operational definitions </a:t>
            </a:r>
          </a:p>
          <a:p>
            <a:r>
              <a:rPr lang="en-US" sz="1600" dirty="0"/>
              <a:t> Formulate research hypotheses, and</a:t>
            </a:r>
          </a:p>
          <a:p>
            <a:r>
              <a:rPr lang="en-US" sz="1600" dirty="0"/>
              <a:t> Improve the final research design. Explorative studies tend toward loose structures with the objective of discovering future research tasks. One might think, for example, of initiating an exploratory research in the following situations – </a:t>
            </a:r>
          </a:p>
          <a:p>
            <a:r>
              <a:rPr lang="en-US" sz="1600" dirty="0"/>
              <a:t> Crime is increasing in the city at an alarming rate, the reasons for which remain unknown. The problem is ambiguous and what is actually happening is to be cleared.</a:t>
            </a:r>
          </a:p>
          <a:p>
            <a:r>
              <a:rPr lang="en-US" sz="1600" dirty="0"/>
              <a:t> A new product is to be marketed, the manufacturer remains in worry if the product will be accepted by the people or not. </a:t>
            </a:r>
          </a:p>
        </p:txBody>
      </p:sp>
      <p:sp>
        <p:nvSpPr>
          <p:cNvPr id="4" name="Slide Number Placeholder 3"/>
          <p:cNvSpPr>
            <a:spLocks noGrp="1"/>
          </p:cNvSpPr>
          <p:nvPr>
            <p:ph type="sldNum" sz="quarter" idx="10"/>
          </p:nvPr>
        </p:nvSpPr>
        <p:spPr/>
        <p:txBody>
          <a:bodyPr/>
          <a:lstStyle/>
          <a:p>
            <a:fld id="{55675828-F847-4A20-95C1-146433A1C343}" type="slidenum">
              <a:rPr lang="en-US" smtClean="0"/>
              <a:t>10</a:t>
            </a:fld>
            <a:endParaRPr lang="en-US"/>
          </a:p>
        </p:txBody>
      </p:sp>
    </p:spTree>
    <p:extLst>
      <p:ext uri="{BB962C8B-B14F-4D97-AF65-F5344CB8AC3E}">
        <p14:creationId xmlns:p14="http://schemas.microsoft.com/office/powerpoint/2010/main" val="200064292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Description refers to the data based information-gathering activities. The situations </a:t>
            </a:r>
          </a:p>
          <a:p>
            <a:r>
              <a:rPr lang="en-US" dirty="0"/>
              <a:t>and events which are described through studies are referred to as descriptive studies. Descriptive </a:t>
            </a:r>
          </a:p>
          <a:p>
            <a:r>
              <a:rPr lang="en-US" dirty="0"/>
              <a:t>studies try to discover answers to the questions who, what, when, where and sometimes how.</a:t>
            </a:r>
          </a:p>
          <a:p>
            <a:r>
              <a:rPr lang="en-US" dirty="0"/>
              <a:t> A descriptive study may be feasible in the following cases -</a:t>
            </a:r>
          </a:p>
          <a:p>
            <a:r>
              <a:rPr lang="en-US" dirty="0"/>
              <a:t> What are the characteristics of the people who are involved in city crime? Are they young? </a:t>
            </a:r>
          </a:p>
          <a:p>
            <a:r>
              <a:rPr lang="en-US" dirty="0"/>
              <a:t>Middle aged? Poor?</a:t>
            </a:r>
          </a:p>
          <a:p>
            <a:r>
              <a:rPr lang="en-US" dirty="0"/>
              <a:t> Who are the potential buyers of the new product? Men or women? Urban people or rural people?</a:t>
            </a:r>
          </a:p>
        </p:txBody>
      </p:sp>
      <p:sp>
        <p:nvSpPr>
          <p:cNvPr id="4" name="Slide Number Placeholder 3"/>
          <p:cNvSpPr>
            <a:spLocks noGrp="1"/>
          </p:cNvSpPr>
          <p:nvPr>
            <p:ph type="sldNum" sz="quarter" idx="10"/>
          </p:nvPr>
        </p:nvSpPr>
        <p:spPr/>
        <p:txBody>
          <a:bodyPr/>
          <a:lstStyle/>
          <a:p>
            <a:fld id="{55675828-F847-4A20-95C1-146433A1C343}" type="slidenum">
              <a:rPr lang="en-US" smtClean="0"/>
              <a:t>11</a:t>
            </a:fld>
            <a:endParaRPr lang="en-US"/>
          </a:p>
        </p:txBody>
      </p:sp>
    </p:spTree>
    <p:extLst>
      <p:ext uri="{BB962C8B-B14F-4D97-AF65-F5344CB8AC3E}">
        <p14:creationId xmlns:p14="http://schemas.microsoft.com/office/powerpoint/2010/main" val="310018500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 explanatory study goes beyond description and attempts to establish </a:t>
            </a:r>
            <a:r>
              <a:rPr lang="en-US" dirty="0" err="1"/>
              <a:t>causeand-effect</a:t>
            </a:r>
            <a:r>
              <a:rPr lang="en-US" dirty="0"/>
              <a:t> relationship between variables. It explains the reason for the phenomenon that describes study observed. Thus, if a researcher finds that communities having higher family size have higher child death, s/he is performing a descriptive study. If researcher is explaining why it is so and tries to establish cause-and-effect relationship, s/he is performing an explanatory study. Such studies are also called causal studies. Following examples fit to causal studies -  Why people are involved in crime? Can we explain this as a consequence of present crisis in the job market? Or for lack of parental care?  Will buyers be motivated to purchase the new product in a new container? Can attractive advertisement motivate them?</a:t>
            </a:r>
          </a:p>
        </p:txBody>
      </p:sp>
      <p:sp>
        <p:nvSpPr>
          <p:cNvPr id="4" name="Slide Number Placeholder 3"/>
          <p:cNvSpPr>
            <a:spLocks noGrp="1"/>
          </p:cNvSpPr>
          <p:nvPr>
            <p:ph type="sldNum" sz="quarter" idx="10"/>
          </p:nvPr>
        </p:nvSpPr>
        <p:spPr/>
        <p:txBody>
          <a:bodyPr/>
          <a:lstStyle/>
          <a:p>
            <a:fld id="{55675828-F847-4A20-95C1-146433A1C343}" type="slidenum">
              <a:rPr lang="en-US" smtClean="0"/>
              <a:t>12</a:t>
            </a:fld>
            <a:endParaRPr lang="en-US"/>
          </a:p>
        </p:txBody>
      </p:sp>
    </p:spTree>
    <p:extLst>
      <p:ext uri="{BB962C8B-B14F-4D97-AF65-F5344CB8AC3E}">
        <p14:creationId xmlns:p14="http://schemas.microsoft.com/office/powerpoint/2010/main" val="192262583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 /><Relationship Id="rId1" Type="http://schemas.openxmlformats.org/officeDocument/2006/relationships/slideMaster" Target="../slideMasters/slideMaster1.xml" /></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4.png" /><Relationship Id="rId1" Type="http://schemas.openxmlformats.org/officeDocument/2006/relationships/slideMaster" Target="../slideMasters/slideMaster2.xml" /></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3.xml" /></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6.jpg" /><Relationship Id="rId1" Type="http://schemas.openxmlformats.org/officeDocument/2006/relationships/slideMaster" Target="../slideMasters/slideMaster3.xml" /></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12.png" /><Relationship Id="rId2" Type="http://schemas.openxmlformats.org/officeDocument/2006/relationships/image" Target="../media/image11.png" /><Relationship Id="rId1" Type="http://schemas.openxmlformats.org/officeDocument/2006/relationships/slideMaster" Target="../slideMasters/slideMaster4.xml" /></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 /></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533401"/>
            <a:ext cx="5030510" cy="2514601"/>
          </a:xfrm>
        </p:spPr>
        <p:txBody>
          <a:bodyPr>
            <a:normAutofit/>
          </a:bodyPr>
          <a:lstStyle>
            <a:lvl1pPr>
              <a:defRPr sz="4000">
                <a:solidFill>
                  <a:schemeClr val="accent1"/>
                </a:solidFill>
              </a:defRPr>
            </a:lvl1pPr>
          </a:lstStyle>
          <a:p>
            <a:r>
              <a:rPr lang="en-US"/>
              <a:t>Click to edit Master title style</a:t>
            </a:r>
            <a:endParaRPr/>
          </a:p>
        </p:txBody>
      </p:sp>
      <p:sp>
        <p:nvSpPr>
          <p:cNvPr id="3" name="Subtitle 2"/>
          <p:cNvSpPr>
            <a:spLocks noGrp="1"/>
          </p:cNvSpPr>
          <p:nvPr>
            <p:ph type="subTitle" idx="1"/>
          </p:nvPr>
        </p:nvSpPr>
        <p:spPr>
          <a:xfrm>
            <a:off x="1065490" y="3403600"/>
            <a:ext cx="5030511" cy="1397000"/>
          </a:xfrm>
        </p:spPr>
        <p:txBody>
          <a:bodyPr>
            <a:normAutofit/>
          </a:bodyPr>
          <a:lstStyle>
            <a:lvl1pPr marL="0" indent="0" algn="l">
              <a:spcBef>
                <a:spcPts val="600"/>
              </a:spcBef>
              <a:buNone/>
              <a:defRPr sz="24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5" name="Footer Placeholder 4"/>
          <p:cNvSpPr>
            <a:spLocks noGrp="1"/>
          </p:cNvSpPr>
          <p:nvPr>
            <p:ph type="ftr" sz="quarter" idx="11"/>
          </p:nvPr>
        </p:nvSpPr>
        <p:spPr>
          <a:xfrm>
            <a:off x="1065491" y="6432552"/>
            <a:ext cx="5654560" cy="273049"/>
          </a:xfrm>
        </p:spPr>
        <p:txBody>
          <a:bodyPr/>
          <a:lstStyle>
            <a:lvl1pPr>
              <a:defRPr>
                <a:effectLst/>
              </a:defRPr>
            </a:lvl1pPr>
          </a:lstStyle>
          <a:p>
            <a:endParaRPr lang="en-US"/>
          </a:p>
        </p:txBody>
      </p:sp>
      <p:sp>
        <p:nvSpPr>
          <p:cNvPr id="4" name="Date Placeholder 3"/>
          <p:cNvSpPr>
            <a:spLocks noGrp="1"/>
          </p:cNvSpPr>
          <p:nvPr>
            <p:ph type="dt" sz="half" idx="10"/>
          </p:nvPr>
        </p:nvSpPr>
        <p:spPr>
          <a:xfrm>
            <a:off x="6934418" y="6432552"/>
            <a:ext cx="1371957" cy="273049"/>
          </a:xfrm>
        </p:spPr>
        <p:txBody>
          <a:bodyPr/>
          <a:lstStyle/>
          <a:p>
            <a:fld id="{F9AEF4AA-AB96-41BD-AEC3-D4E9B9745606}" type="datetimeFigureOut">
              <a:rPr lang="en-US" smtClean="0"/>
              <a:t>12/30/2024</a:t>
            </a:fld>
            <a:endParaRPr lang="en-US"/>
          </a:p>
        </p:txBody>
      </p:sp>
      <p:sp>
        <p:nvSpPr>
          <p:cNvPr id="6" name="Slide Number Placeholder 5"/>
          <p:cNvSpPr>
            <a:spLocks noGrp="1"/>
          </p:cNvSpPr>
          <p:nvPr>
            <p:ph type="sldNum" sz="quarter" idx="12"/>
          </p:nvPr>
        </p:nvSpPr>
        <p:spPr>
          <a:xfrm>
            <a:off x="8535035" y="6432552"/>
            <a:ext cx="1219519" cy="273049"/>
          </a:xfrm>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4048882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8758265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65491" y="533400"/>
            <a:ext cx="8689063" cy="2286000"/>
          </a:xfrm>
        </p:spPr>
        <p:txBody>
          <a:bodyPr anchor="b">
            <a:normAutofit/>
          </a:bodyPr>
          <a:lstStyle>
            <a:lvl1pPr algn="l">
              <a:defRPr sz="5400" b="1" cap="none" baseline="0"/>
            </a:lvl1pPr>
          </a:lstStyle>
          <a:p>
            <a:r>
              <a:rPr lang="en-US"/>
              <a:t>Click to edit Master title style</a:t>
            </a:r>
            <a:endParaRPr/>
          </a:p>
        </p:txBody>
      </p:sp>
      <p:sp>
        <p:nvSpPr>
          <p:cNvPr id="3" name="Text Placeholder 2"/>
          <p:cNvSpPr>
            <a:spLocks noGrp="1"/>
          </p:cNvSpPr>
          <p:nvPr>
            <p:ph type="body" idx="1"/>
          </p:nvPr>
        </p:nvSpPr>
        <p:spPr>
          <a:xfrm>
            <a:off x="1065491" y="3124200"/>
            <a:ext cx="8689063" cy="1371600"/>
          </a:xfrm>
        </p:spPr>
        <p:txBody>
          <a:bodyPr anchor="t">
            <a:normAutofit/>
          </a:bodyPr>
          <a:lstStyle>
            <a:lvl1pPr marL="0" indent="0">
              <a:spcBef>
                <a:spcPts val="600"/>
              </a:spcBef>
              <a:buNone/>
              <a:defRPr sz="2400">
                <a:solidFill>
                  <a:schemeClr val="tx1">
                    <a:lumMod val="65000"/>
                    <a:lumOff val="3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5380923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sz="half" idx="1"/>
          </p:nvPr>
        </p:nvSpPr>
        <p:spPr>
          <a:xfrm>
            <a:off x="1065489" y="1828800"/>
            <a:ext cx="4253068"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5466021" y="1828800"/>
            <a:ext cx="4253068" cy="4191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F9AEF4AA-AB96-41BD-AEC3-D4E9B9745606}" type="datetimeFigureOut">
              <a:rPr lang="en-US" smtClean="0"/>
              <a:t>12/30/2024</a:t>
            </a:fld>
            <a:endParaRPr lang="en-US"/>
          </a:p>
        </p:txBody>
      </p:sp>
      <p:sp>
        <p:nvSpPr>
          <p:cNvPr id="7" name="Slide Number Placeholder 6"/>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3889954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065488" y="533400"/>
            <a:ext cx="8689065" cy="10668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065490" y="1828800"/>
            <a:ext cx="4253068"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65490" y="2590800"/>
            <a:ext cx="4253068"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5501485" y="1828800"/>
            <a:ext cx="4253068" cy="685801"/>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01485" y="2590800"/>
            <a:ext cx="4253068" cy="3429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F9AEF4AA-AB96-41BD-AEC3-D4E9B9745606}" type="datetimeFigureOut">
              <a:rPr lang="en-US" smtClean="0"/>
              <a:t>12/30/2024</a:t>
            </a:fld>
            <a:endParaRPr lang="en-US"/>
          </a:p>
        </p:txBody>
      </p:sp>
      <p:sp>
        <p:nvSpPr>
          <p:cNvPr id="9" name="Slide Number Placeholder 8"/>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31667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F9AEF4AA-AB96-41BD-AEC3-D4E9B9745606}" type="datetimeFigureOut">
              <a:rPr lang="en-US" smtClean="0"/>
              <a:t>12/30/2024</a:t>
            </a:fld>
            <a:endParaRPr lang="en-US"/>
          </a:p>
        </p:txBody>
      </p:sp>
      <p:sp>
        <p:nvSpPr>
          <p:cNvPr id="5" name="Slide Number Placeholder 4"/>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6504500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F9AEF4AA-AB96-41BD-AEC3-D4E9B9745606}" type="datetimeFigureOut">
              <a:rPr lang="en-US" smtClean="0"/>
              <a:t>12/30/2024</a:t>
            </a:fld>
            <a:endParaRPr lang="en-US"/>
          </a:p>
        </p:txBody>
      </p:sp>
      <p:sp>
        <p:nvSpPr>
          <p:cNvPr id="4" name="Slide Number Placeholder 3"/>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30596539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5490" y="533400"/>
            <a:ext cx="4115872" cy="1524000"/>
          </a:xfrm>
        </p:spPr>
        <p:txBody>
          <a:bodyPr anchor="b">
            <a:normAutofit/>
          </a:bodyPr>
          <a:lstStyle>
            <a:lvl1pPr algn="l">
              <a:defRPr sz="3600" b="1"/>
            </a:lvl1pPr>
          </a:lstStyle>
          <a:p>
            <a:r>
              <a:rPr lang="en-US"/>
              <a:t>Click to edit Master title style</a:t>
            </a:r>
            <a:endParaRPr/>
          </a:p>
        </p:txBody>
      </p:sp>
      <p:sp>
        <p:nvSpPr>
          <p:cNvPr id="3" name="Content Placeholder 2"/>
          <p:cNvSpPr>
            <a:spLocks noGrp="1"/>
          </p:cNvSpPr>
          <p:nvPr>
            <p:ph idx="1"/>
          </p:nvPr>
        </p:nvSpPr>
        <p:spPr>
          <a:xfrm>
            <a:off x="5867341" y="533400"/>
            <a:ext cx="5868928" cy="54864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490" y="2209800"/>
            <a:ext cx="4115872" cy="3810000"/>
          </a:xfrm>
        </p:spPr>
        <p:txBody>
          <a:bodyPr>
            <a:normAutofit/>
          </a:bodyPr>
          <a:lstStyle>
            <a:lvl1pPr marL="0" indent="0">
              <a:lnSpc>
                <a:spcPct val="110000"/>
              </a:lnSpc>
              <a:spcBef>
                <a:spcPts val="600"/>
              </a:spcBef>
              <a:buNone/>
              <a:defRPr sz="1800">
                <a:solidFill>
                  <a:schemeClr val="tx1">
                    <a:lumMod val="65000"/>
                    <a:lumOff val="3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F9AEF4AA-AB96-41BD-AEC3-D4E9B9745606}" type="datetimeFigureOut">
              <a:rPr lang="en-US" smtClean="0"/>
              <a:t>12/30/2024</a:t>
            </a:fld>
            <a:endParaRPr lang="en-US"/>
          </a:p>
        </p:txBody>
      </p:sp>
      <p:sp>
        <p:nvSpPr>
          <p:cNvPr id="7" name="Slide Number Placeholder 6"/>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5733479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65490" y="533400"/>
            <a:ext cx="4115872" cy="1524000"/>
          </a:xfrm>
        </p:spPr>
        <p:txBody>
          <a:bodyPr anchor="b">
            <a:noAutofit/>
          </a:bodyPr>
          <a:lstStyle>
            <a:lvl1pPr algn="l">
              <a:defRPr sz="3600" b="1"/>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5867340" y="533400"/>
            <a:ext cx="5781679" cy="5791200"/>
          </a:xfrm>
          <a:ln w="50800">
            <a:solidFill>
              <a:schemeClr val="tx1">
                <a:lumMod val="65000"/>
                <a:lumOff val="35000"/>
              </a:schemeClr>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1065490" y="2209800"/>
            <a:ext cx="4115872" cy="3810000"/>
          </a:xfrm>
        </p:spPr>
        <p:txBody>
          <a:bodyPr>
            <a:normAutofit/>
          </a:bodyPr>
          <a:lstStyle>
            <a:lvl1pPr marL="0" indent="0">
              <a:lnSpc>
                <a:spcPct val="110000"/>
              </a:lnSpc>
              <a:spcBef>
                <a:spcPts val="6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Tree>
    <p:extLst>
      <p:ext uri="{BB962C8B-B14F-4D97-AF65-F5344CB8AC3E}">
        <p14:creationId xmlns:p14="http://schemas.microsoft.com/office/powerpoint/2010/main" val="16971585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32232066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63695" y="533400"/>
            <a:ext cx="2362816" cy="5486400"/>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1065491" y="533400"/>
            <a:ext cx="7469544" cy="54864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3057217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bg bwMode="ltGray">
      <p:bgPr>
        <a:blipFill dpi="0" rotWithShape="1">
          <a:blip r:embed="rId2">
            <a:lum/>
          </a:blip>
          <a:srcRect/>
          <a:stretch>
            <a:fillRect t="-17000" b="-17000"/>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065491" y="1828800"/>
            <a:ext cx="8231744" cy="2895600"/>
          </a:xfrm>
        </p:spPr>
        <p:txBody>
          <a:bodyPr anchor="b">
            <a:normAutofit/>
          </a:bodyPr>
          <a:lstStyle>
            <a:lvl1pPr>
              <a:lnSpc>
                <a:spcPct val="80000"/>
              </a:lnSpc>
              <a:defRPr sz="6600" b="1" cap="none" spc="0">
                <a:ln w="9525">
                  <a:noFill/>
                  <a:prstDash val="solid"/>
                </a:ln>
                <a:solidFill>
                  <a:schemeClr val="tx1"/>
                </a:solidFill>
                <a:effectLst/>
              </a:defRPr>
            </a:lvl1pPr>
          </a:lstStyle>
          <a:p>
            <a:r>
              <a:rPr lang="en-US"/>
              <a:t>Click to edit Master title style</a:t>
            </a:r>
            <a:endParaRPr dirty="0"/>
          </a:p>
        </p:txBody>
      </p:sp>
      <p:sp>
        <p:nvSpPr>
          <p:cNvPr id="3" name="Subtitle 2"/>
          <p:cNvSpPr>
            <a:spLocks noGrp="1"/>
          </p:cNvSpPr>
          <p:nvPr>
            <p:ph type="subTitle" idx="1"/>
          </p:nvPr>
        </p:nvSpPr>
        <p:spPr>
          <a:xfrm>
            <a:off x="1065490" y="4800600"/>
            <a:ext cx="8231744" cy="1219200"/>
          </a:xfrm>
        </p:spPr>
        <p:txBody>
          <a:bodyPr>
            <a:normAutofit/>
          </a:bodyPr>
          <a:lstStyle>
            <a:lvl1pPr marL="0" indent="0" algn="l">
              <a:spcBef>
                <a:spcPts val="0"/>
              </a:spcBef>
              <a:buNone/>
              <a:defRPr sz="2000" b="1" cap="all" spc="200" baseline="0">
                <a:solidFill>
                  <a:schemeClr val="accent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dirty="0"/>
          </a:p>
        </p:txBody>
      </p:sp>
      <p:sp>
        <p:nvSpPr>
          <p:cNvPr id="7" name="Date Placeholder 6"/>
          <p:cNvSpPr>
            <a:spLocks noGrp="1"/>
          </p:cNvSpPr>
          <p:nvPr>
            <p:ph type="dt" sz="half" idx="10"/>
          </p:nvPr>
        </p:nvSpPr>
        <p:spPr/>
        <p:txBody>
          <a:bodyPr/>
          <a:lstStyle>
            <a:lvl1pPr>
              <a:defRPr sz="1100"/>
            </a:lvl1pPr>
          </a:lstStyle>
          <a:p>
            <a:fld id="{A5B2C90F-3FE5-4332-BFB8-466F9F32ECD1}" type="datetimeFigureOut">
              <a:rPr lang="en-US" smtClean="0"/>
              <a:t>12/30/2024</a:t>
            </a:fld>
            <a:endParaRPr lang="en-US"/>
          </a:p>
        </p:txBody>
      </p:sp>
      <p:sp>
        <p:nvSpPr>
          <p:cNvPr id="8" name="Footer Placeholder 7"/>
          <p:cNvSpPr>
            <a:spLocks noGrp="1"/>
          </p:cNvSpPr>
          <p:nvPr>
            <p:ph type="ftr" sz="quarter" idx="11"/>
          </p:nvPr>
        </p:nvSpPr>
        <p:spPr/>
        <p:txBody>
          <a:bodyPr/>
          <a:lstStyle>
            <a:lvl1pPr>
              <a:defRPr sz="1100"/>
            </a:lvl1pPr>
          </a:lstStyle>
          <a:p>
            <a:endParaRPr lang="en-US"/>
          </a:p>
        </p:txBody>
      </p:sp>
      <p:sp>
        <p:nvSpPr>
          <p:cNvPr id="9" name="Slide Number Placeholder 8"/>
          <p:cNvSpPr>
            <a:spLocks noGrp="1"/>
          </p:cNvSpPr>
          <p:nvPr>
            <p:ph type="sldNum" sz="quarter" idx="12"/>
          </p:nvPr>
        </p:nvSpPr>
        <p:spPr/>
        <p:txBody>
          <a:bodyPr/>
          <a:lstStyle>
            <a:lvl1pPr>
              <a:defRPr sz="1100"/>
            </a:lvl1pPr>
          </a:lstStyle>
          <a:p>
            <a:fld id="{DB186D13-71A1-42DF-8C66-E1D27A86071F}" type="slidenum">
              <a:rPr lang="en-US" smtClean="0"/>
              <a:t>‹#›</a:t>
            </a:fld>
            <a:endParaRPr lang="en-US"/>
          </a:p>
        </p:txBody>
      </p:sp>
    </p:spTree>
    <p:extLst>
      <p:ext uri="{BB962C8B-B14F-4D97-AF65-F5344CB8AC3E}">
        <p14:creationId xmlns:p14="http://schemas.microsoft.com/office/powerpoint/2010/main" val="653790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vl6pPr>
              <a:defRPr/>
            </a:lvl6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2746679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59891" y="2514600"/>
            <a:ext cx="8694663" cy="2819400"/>
          </a:xfrm>
        </p:spPr>
        <p:txBody>
          <a:bodyPr anchor="b">
            <a:normAutofit/>
          </a:bodyPr>
          <a:lstStyle>
            <a:lvl1pPr algn="l">
              <a:lnSpc>
                <a:spcPct val="80000"/>
              </a:lnSpc>
              <a:defRPr sz="4800" b="0" cap="none" baseline="0">
                <a:effectLst/>
              </a:defRPr>
            </a:lvl1pPr>
          </a:lstStyle>
          <a:p>
            <a:r>
              <a:rPr lang="en-US"/>
              <a:t>Click to edit Master title style</a:t>
            </a:r>
            <a:endParaRPr dirty="0"/>
          </a:p>
        </p:txBody>
      </p:sp>
      <p:sp>
        <p:nvSpPr>
          <p:cNvPr id="3" name="Text Placeholder 2"/>
          <p:cNvSpPr>
            <a:spLocks noGrp="1"/>
          </p:cNvSpPr>
          <p:nvPr>
            <p:ph type="body" idx="1"/>
          </p:nvPr>
        </p:nvSpPr>
        <p:spPr>
          <a:xfrm>
            <a:off x="1065491" y="5410201"/>
            <a:ext cx="8689596" cy="609601"/>
          </a:xfrm>
        </p:spPr>
        <p:txBody>
          <a:bodyPr anchor="t">
            <a:normAutofit/>
          </a:bodyPr>
          <a:lstStyle>
            <a:lvl1pPr marL="0" indent="0">
              <a:spcBef>
                <a:spcPts val="0"/>
              </a:spcBef>
              <a:buNone/>
              <a:defRPr sz="2000" cap="all" spc="200" baseline="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3042677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522809" y="381000"/>
            <a:ext cx="9146384" cy="1371600"/>
          </a:xfrm>
        </p:spPr>
        <p:txBody>
          <a:bodyPr/>
          <a:lstStyle/>
          <a:p>
            <a:r>
              <a:rPr lang="en-US"/>
              <a:t>Click to edit Master title style</a:t>
            </a:r>
            <a:endParaRPr/>
          </a:p>
        </p:txBody>
      </p:sp>
      <p:sp>
        <p:nvSpPr>
          <p:cNvPr id="3" name="Content Placeholder 2"/>
          <p:cNvSpPr>
            <a:spLocks noGrp="1"/>
          </p:cNvSpPr>
          <p:nvPr>
            <p:ph sz="half" idx="1"/>
          </p:nvPr>
        </p:nvSpPr>
        <p:spPr>
          <a:xfrm>
            <a:off x="1505174" y="1905001"/>
            <a:ext cx="4420750"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Content Placeholder 3"/>
          <p:cNvSpPr>
            <a:spLocks noGrp="1"/>
          </p:cNvSpPr>
          <p:nvPr>
            <p:ph sz="half" idx="2"/>
          </p:nvPr>
        </p:nvSpPr>
        <p:spPr>
          <a:xfrm>
            <a:off x="6230806" y="1905001"/>
            <a:ext cx="4420751" cy="41148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4280184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522809" y="381000"/>
            <a:ext cx="9146384" cy="1371600"/>
          </a:xfrm>
        </p:spPr>
        <p:txBody>
          <a:bodyPr/>
          <a:lstStyle>
            <a:lvl1pPr>
              <a:defRPr/>
            </a:lvl1pPr>
          </a:lstStyle>
          <a:p>
            <a:r>
              <a:rPr lang="en-US"/>
              <a:t>Click to edit Master title style</a:t>
            </a:r>
            <a:endParaRPr/>
          </a:p>
        </p:txBody>
      </p:sp>
      <p:sp>
        <p:nvSpPr>
          <p:cNvPr id="3" name="Text Placeholder 2"/>
          <p:cNvSpPr>
            <a:spLocks noGrp="1"/>
          </p:cNvSpPr>
          <p:nvPr>
            <p:ph type="body" idx="1"/>
          </p:nvPr>
        </p:nvSpPr>
        <p:spPr>
          <a:xfrm>
            <a:off x="1522808"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522808"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51489" y="1905000"/>
            <a:ext cx="4417702" cy="762000"/>
          </a:xfrm>
        </p:spPr>
        <p:txBody>
          <a:bodyPr anchor="ctr">
            <a:noAutofit/>
          </a:bodyPr>
          <a:lstStyle>
            <a:lvl1pPr marL="0" indent="0">
              <a:spcBef>
                <a:spcPts val="0"/>
              </a:spcBef>
              <a:buNone/>
              <a:defRPr sz="2000" b="0" cap="all" spc="200"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51489" y="2743201"/>
            <a:ext cx="4417702" cy="32766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endParaRPr lang="en-US"/>
          </a:p>
        </p:txBody>
      </p:sp>
      <p:sp>
        <p:nvSpPr>
          <p:cNvPr id="7" name="Date Placeholder 6"/>
          <p:cNvSpPr>
            <a:spLocks noGrp="1"/>
          </p:cNvSpPr>
          <p:nvPr>
            <p:ph type="dt" sz="half" idx="10"/>
          </p:nvPr>
        </p:nvSpPr>
        <p:spPr/>
        <p:txBody>
          <a:bodyPr/>
          <a:lstStyle/>
          <a:p>
            <a:fld id="{A5B2C90F-3FE5-4332-BFB8-466F9F32ECD1}" type="datetimeFigureOut">
              <a:rPr lang="en-US" smtClean="0"/>
              <a:t>12/30/2024</a:t>
            </a:fld>
            <a:endParaRPr lang="en-US"/>
          </a:p>
        </p:txBody>
      </p:sp>
      <p:sp>
        <p:nvSpPr>
          <p:cNvPr id="9" name="Slide Number Placeholder 8"/>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35934223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4" name="Footer Placeholder 3"/>
          <p:cNvSpPr>
            <a:spLocks noGrp="1"/>
          </p:cNvSpPr>
          <p:nvPr>
            <p:ph type="ftr" sz="quarter" idx="11"/>
          </p:nvPr>
        </p:nvSpPr>
        <p:spPr/>
        <p:txBody>
          <a:bodyPr/>
          <a:lstStyle/>
          <a:p>
            <a:endParaRPr lang="en-US"/>
          </a:p>
        </p:txBody>
      </p:sp>
      <p:sp>
        <p:nvSpPr>
          <p:cNvPr id="3" name="Date Placeholder 2"/>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Slide Number Placeholder 4"/>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2854713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Footer Placeholder 2"/>
          <p:cNvSpPr>
            <a:spLocks noGrp="1"/>
          </p:cNvSpPr>
          <p:nvPr>
            <p:ph type="ftr" sz="quarter" idx="11"/>
          </p:nvPr>
        </p:nvSpPr>
        <p:spPr/>
        <p:txBody>
          <a:bodyPr/>
          <a:lstStyle/>
          <a:p>
            <a:endParaRPr lang="en-US"/>
          </a:p>
        </p:txBody>
      </p:sp>
      <p:sp>
        <p:nvSpPr>
          <p:cNvPr id="2" name="Date Placeholder 1"/>
          <p:cNvSpPr>
            <a:spLocks noGrp="1"/>
          </p:cNvSpPr>
          <p:nvPr>
            <p:ph type="dt" sz="half" idx="10"/>
          </p:nvPr>
        </p:nvSpPr>
        <p:spPr/>
        <p:txBody>
          <a:bodyPr/>
          <a:lstStyle/>
          <a:p>
            <a:fld id="{A5B2C90F-3FE5-4332-BFB8-466F9F32ECD1}" type="datetimeFigureOut">
              <a:rPr lang="en-US" smtClean="0"/>
              <a:t>12/30/2024</a:t>
            </a:fld>
            <a:endParaRPr lang="en-US"/>
          </a:p>
        </p:txBody>
      </p:sp>
      <p:sp>
        <p:nvSpPr>
          <p:cNvPr id="4" name="Slide Number Placeholder 3"/>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5455498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Autofit/>
          </a:bodyPr>
          <a:lstStyle>
            <a:lvl1pPr algn="l">
              <a:lnSpc>
                <a:spcPct val="90000"/>
              </a:lnSpc>
              <a:defRPr sz="3600" b="0" baseline="0">
                <a:solidFill>
                  <a:schemeClr val="tx1"/>
                </a:solidFill>
              </a:defRPr>
            </a:lvl1pPr>
          </a:lstStyle>
          <a:p>
            <a:r>
              <a:rPr lang="en-US"/>
              <a:t>Click to edit Master title style</a:t>
            </a:r>
            <a:endParaRPr/>
          </a:p>
        </p:txBody>
      </p:sp>
      <p:sp>
        <p:nvSpPr>
          <p:cNvPr id="3" name="Content Placeholder 2"/>
          <p:cNvSpPr>
            <a:spLocks noGrp="1"/>
          </p:cNvSpPr>
          <p:nvPr>
            <p:ph idx="1"/>
          </p:nvPr>
        </p:nvSpPr>
        <p:spPr>
          <a:xfrm>
            <a:off x="4952704" y="685800"/>
            <a:ext cx="6402467" cy="5334000"/>
          </a:xfrm>
        </p:spPr>
        <p:txBody>
          <a:bodyPr>
            <a:normAutofit/>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2100099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55879" y="1905000"/>
            <a:ext cx="3597544" cy="2667000"/>
          </a:xfrm>
        </p:spPr>
        <p:txBody>
          <a:bodyPr anchor="b">
            <a:normAutofit/>
          </a:bodyPr>
          <a:lstStyle>
            <a:lvl1pPr algn="l">
              <a:lnSpc>
                <a:spcPct val="90000"/>
              </a:lnSpc>
              <a:defRPr sz="3600" b="0" i="0" baseline="0">
                <a:solidFill>
                  <a:schemeClr val="tx1"/>
                </a:solidFill>
              </a:defRPr>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4952704" y="685800"/>
            <a:ext cx="6402466" cy="5334000"/>
          </a:xfrm>
          <a:solidFill>
            <a:schemeClr val="bg2"/>
          </a:solidFill>
          <a:ln w="76200">
            <a:solidFill>
              <a:schemeClr val="tx1"/>
            </a:solidFill>
            <a:miter lim="800000"/>
          </a:ln>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dirty="0"/>
          </a:p>
        </p:txBody>
      </p:sp>
      <p:sp>
        <p:nvSpPr>
          <p:cNvPr id="4" name="Text Placeholder 3"/>
          <p:cNvSpPr>
            <a:spLocks noGrp="1"/>
          </p:cNvSpPr>
          <p:nvPr>
            <p:ph type="body" sz="half" idx="2"/>
          </p:nvPr>
        </p:nvSpPr>
        <p:spPr>
          <a:xfrm>
            <a:off x="1065491" y="4648200"/>
            <a:ext cx="3582332" cy="1371600"/>
          </a:xfrm>
        </p:spPr>
        <p:txBody>
          <a:bodyPr>
            <a:normAutofit/>
          </a:bodyPr>
          <a:lstStyle>
            <a:lvl1pPr marL="0" indent="0">
              <a:lnSpc>
                <a:spcPct val="90000"/>
              </a:lnSpc>
              <a:spcBef>
                <a:spcPts val="1200"/>
              </a:spcBef>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306967150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3827720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144794" y="381001"/>
            <a:ext cx="1524398" cy="5638800"/>
          </a:xfrm>
        </p:spPr>
        <p:txBody>
          <a:bodyPr vert="eaVert"/>
          <a:lstStyle/>
          <a:p>
            <a:r>
              <a:rPr lang="en-US"/>
              <a:t>Click to edit Master title style</a:t>
            </a:r>
            <a:endParaRPr dirty="0"/>
          </a:p>
        </p:txBody>
      </p:sp>
      <p:sp>
        <p:nvSpPr>
          <p:cNvPr id="3" name="Vertical Text Placeholder 2"/>
          <p:cNvSpPr>
            <a:spLocks noGrp="1"/>
          </p:cNvSpPr>
          <p:nvPr>
            <p:ph type="body" orient="vert" idx="1"/>
          </p:nvPr>
        </p:nvSpPr>
        <p:spPr>
          <a:xfrm>
            <a:off x="1522809" y="381001"/>
            <a:ext cx="7393324" cy="56388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endParaRPr lang="en-US"/>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904684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57200" y="4960137"/>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Subtitle 2"/>
          <p:cNvSpPr>
            <a:spLocks noGrp="1"/>
          </p:cNvSpPr>
          <p:nvPr>
            <p:ph type="subTitle" idx="1"/>
          </p:nvPr>
        </p:nvSpPr>
        <p:spPr>
          <a:xfrm>
            <a:off x="8610600" y="4960137"/>
            <a:ext cx="3200400" cy="1463040"/>
          </a:xfrm>
        </p:spPr>
        <p:txBody>
          <a:bodyPr lIns="91440" rIns="91440" anchor="ctr">
            <a:normAutofit/>
          </a:bodyPr>
          <a:lstStyle>
            <a:lvl1pPr marL="0" indent="0" algn="l">
              <a:lnSpc>
                <a:spcPct val="100000"/>
              </a:lnSpc>
              <a:spcBef>
                <a:spcPts val="0"/>
              </a:spcBef>
              <a:buNone/>
              <a:defRPr sz="1800">
                <a:solidFill>
                  <a:schemeClr val="tx1">
                    <a:lumMod val="95000"/>
                    <a:lumOff val="5000"/>
                  </a:schemeClr>
                </a:solidFill>
              </a:defRPr>
            </a:lvl1pPr>
            <a:lvl2pPr marL="457200" indent="0" algn="ctr">
              <a:buNone/>
              <a:defRPr sz="1800"/>
            </a:lvl2pPr>
            <a:lvl3pPr marL="914400" indent="0" algn="ctr">
              <a:buNone/>
              <a:defRPr sz="1800"/>
            </a:lvl3pPr>
            <a:lvl4pPr marL="1371600" indent="0" algn="ctr">
              <a:buNone/>
              <a:defRPr sz="1800"/>
            </a:lvl4pPr>
            <a:lvl5pPr marL="1828800" indent="0" algn="ctr">
              <a:buNone/>
              <a:defRPr sz="1800"/>
            </a:lvl5pPr>
            <a:lvl6pPr marL="2286000" indent="0" algn="ctr">
              <a:buNone/>
              <a:defRPr sz="1800"/>
            </a:lvl6pPr>
            <a:lvl7pPr marL="2743200" indent="0" algn="ctr">
              <a:buNone/>
              <a:defRPr sz="1800"/>
            </a:lvl7pPr>
            <a:lvl8pPr marL="3200400" indent="0" algn="ctr">
              <a:buNone/>
              <a:defRPr sz="1800"/>
            </a:lvl8pPr>
            <a:lvl9pPr marL="3657600" indent="0" algn="ctr">
              <a:buNone/>
              <a:defRPr sz="18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A4737798-350B-4623-A1C6-19612A8A9D38}"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A3A1127-32C5-4CA9-8E2E-D4B4269A92AF}" type="slidenum">
              <a:rPr lang="en-US" smtClean="0"/>
              <a:t>‹#›</a:t>
            </a:fld>
            <a:endParaRPr lang="en-US"/>
          </a:p>
        </p:txBody>
      </p:sp>
      <p:sp>
        <p:nvSpPr>
          <p:cNvPr id="13" name="Rectangle 12"/>
          <p:cNvSpPr/>
          <p:nvPr/>
        </p:nvSpPr>
        <p:spPr>
          <a:xfrm>
            <a:off x="0" y="-1"/>
            <a:ext cx="12192000" cy="4572001"/>
          </a:xfrm>
          <a:prstGeom prst="rect">
            <a:avLst/>
          </a:prstGeom>
          <a:blipFill dpi="0" rotWithShape="1">
            <a:blip r:embed="rId2">
              <a:duotone>
                <a:schemeClr val="accent1">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4" name="Straight Connector 13"/>
          <p:cNvCxnSpPr/>
          <p:nvPr/>
        </p:nvCxnSpPr>
        <p:spPr>
          <a:xfrm flipV="1">
            <a:off x="8386842"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050698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22113799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7"/>
            <a:ext cx="7772400" cy="1463040"/>
          </a:xfrm>
        </p:spPr>
        <p:txBody>
          <a:bodyPr anchor="ctr">
            <a:normAutofit/>
          </a:bodyPr>
          <a:lstStyle>
            <a:lvl1pPr algn="r">
              <a:defRPr sz="50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8610600" y="4960137"/>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
        <p:nvSpPr>
          <p:cNvPr id="10" name="Rectangle 9"/>
          <p:cNvSpPr/>
          <p:nvPr/>
        </p:nvSpPr>
        <p:spPr>
          <a:xfrm>
            <a:off x="0" y="-1"/>
            <a:ext cx="12192000" cy="4572000"/>
          </a:xfrm>
          <a:prstGeom prst="rect">
            <a:avLst/>
          </a:prstGeom>
          <a:blipFill dpi="0" rotWithShape="1">
            <a:blip r:embed="rId2">
              <a:duotone>
                <a:schemeClr val="accent3">
                  <a:shade val="45000"/>
                  <a:satMod val="135000"/>
                </a:schemeClr>
                <a:prstClr val="white"/>
              </a:duotone>
            </a:blip>
            <a:srcRect/>
            <a:tile tx="25400" ty="6350" sx="71000" sy="71000" flip="none" algn="tl"/>
          </a:blipFill>
          <a:ln>
            <a:noFill/>
          </a:ln>
        </p:spPr>
        <p:style>
          <a:lnRef idx="2">
            <a:schemeClr val="accent1">
              <a:shade val="50000"/>
            </a:schemeClr>
          </a:lnRef>
          <a:fillRef idx="1">
            <a:schemeClr val="accent1"/>
          </a:fillRef>
          <a:effectRef idx="0">
            <a:schemeClr val="accent1"/>
          </a:effectRef>
          <a:fontRef idx="minor">
            <a:schemeClr val="lt1"/>
          </a:fontRef>
        </p:style>
      </p:sp>
      <p:cxnSp>
        <p:nvCxnSpPr>
          <p:cNvPr id="12" name="Straight Connector 11"/>
          <p:cNvCxnSpPr/>
          <p:nvPr/>
        </p:nvCxnSpPr>
        <p:spPr>
          <a:xfrm flipV="1">
            <a:off x="838684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276211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024128" y="585216"/>
            <a:ext cx="9720072"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024127"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989320" y="2286000"/>
            <a:ext cx="475488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22269809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lang="en-US" dirty="0"/>
          </a:p>
        </p:txBody>
      </p:sp>
      <p:sp>
        <p:nvSpPr>
          <p:cNvPr id="3" name="Text Placeholder 2"/>
          <p:cNvSpPr>
            <a:spLocks noGrp="1"/>
          </p:cNvSpPr>
          <p:nvPr>
            <p:ph type="body" idx="1"/>
          </p:nvPr>
        </p:nvSpPr>
        <p:spPr>
          <a:xfrm>
            <a:off x="1024128" y="2179636"/>
            <a:ext cx="4754880" cy="822960"/>
          </a:xfrm>
        </p:spPr>
        <p:txBody>
          <a:bodyPr lIns="137160" rIns="137160" anchor="ctr">
            <a:normAutofit/>
          </a:bodyPr>
          <a:lstStyle>
            <a:lvl1pPr marL="0" indent="0">
              <a:spcBef>
                <a:spcPts val="0"/>
              </a:spcBef>
              <a:spcAft>
                <a:spcPts val="0"/>
              </a:spcAft>
              <a:buNone/>
              <a:defRPr sz="2300" b="0" cap="none" baseline="0">
                <a:solidFill>
                  <a:schemeClr val="accent1"/>
                </a:solidFill>
                <a:latin typeface="+mn-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2412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990888" y="2179636"/>
            <a:ext cx="4754880" cy="822960"/>
          </a:xfrm>
        </p:spPr>
        <p:txBody>
          <a:bodyPr lIns="137160" rIns="137160" anchor="ctr">
            <a:normAutofit/>
          </a:bodyPr>
          <a:lstStyle>
            <a:lvl1pPr marL="0" indent="0">
              <a:spcBef>
                <a:spcPts val="0"/>
              </a:spcBef>
              <a:spcAft>
                <a:spcPts val="0"/>
              </a:spcAft>
              <a:buNone/>
              <a:defRPr lang="en-US" sz="2300" b="0" kern="1200" cap="none" baseline="0" dirty="0">
                <a:solidFill>
                  <a:schemeClr val="accent1"/>
                </a:solidFill>
                <a:latin typeface="+mn-lt"/>
                <a:ea typeface="+mn-ea"/>
                <a:cs typeface="+mn-cs"/>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marL="0" lvl="0" indent="0" algn="l" defTabSz="914400"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5990888" y="2967788"/>
            <a:ext cx="475488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F9AEF4AA-AB96-41BD-AEC3-D4E9B9745606}" type="datetimeFigureOut">
              <a:rPr lang="en-US" smtClean="0"/>
              <a:t>12/30/2024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974661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F9AEF4AA-AB96-41BD-AEC3-D4E9B9745606}" type="datetimeFigureOut">
              <a:rPr lang="en-US" smtClean="0"/>
              <a:t>12/30/2024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6775778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9AEF4AA-AB96-41BD-AEC3-D4E9B9745606}" type="datetimeFigureOut">
              <a:rPr lang="en-US" smtClean="0"/>
              <a:t>12/30/2024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29880965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1024128" y="471509"/>
            <a:ext cx="4389120" cy="1737360"/>
          </a:xfrm>
        </p:spPr>
        <p:txBody>
          <a:bodyPr>
            <a:noAutofit/>
          </a:bodyPr>
          <a:lstStyle>
            <a:lvl1pPr>
              <a:lnSpc>
                <a:spcPct val="80000"/>
              </a:lnSpc>
              <a:defRPr sz="4000"/>
            </a:lvl1pPr>
          </a:lstStyle>
          <a:p>
            <a:r>
              <a:rPr lang="en-US"/>
              <a:t>Click to edit Master title style</a:t>
            </a:r>
            <a:endParaRPr lang="en-US" dirty="0"/>
          </a:p>
        </p:txBody>
      </p:sp>
      <p:sp>
        <p:nvSpPr>
          <p:cNvPr id="3" name="Content Placeholder 2"/>
          <p:cNvSpPr>
            <a:spLocks noGrp="1"/>
          </p:cNvSpPr>
          <p:nvPr>
            <p:ph idx="1"/>
          </p:nvPr>
        </p:nvSpPr>
        <p:spPr>
          <a:xfrm>
            <a:off x="5715000" y="822960"/>
            <a:ext cx="5678424" cy="5184648"/>
          </a:xfrm>
        </p:spPr>
        <p:txBody>
          <a:bodyPr/>
          <a:lstStyle>
            <a:lvl1pPr>
              <a:defRPr sz="2400"/>
            </a:lvl1pPr>
            <a:lvl2pPr>
              <a:defRPr sz="20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024128" y="2257506"/>
            <a:ext cx="4389120" cy="3762294"/>
          </a:xfrm>
        </p:spPr>
        <p:txBody>
          <a:bodyPr lIns="91440" rIns="91440">
            <a:normAutofit/>
          </a:bodyPr>
          <a:lstStyle>
            <a:lvl1pPr marL="0" indent="0">
              <a:lnSpc>
                <a:spcPct val="108000"/>
              </a:lnSpc>
              <a:spcBef>
                <a:spcPts val="600"/>
              </a:spcBef>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F9AEF4AA-AB96-41BD-AEC3-D4E9B9745606}"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63830473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4960138"/>
            <a:ext cx="7772400" cy="1463040"/>
          </a:xfrm>
        </p:spPr>
        <p:txBody>
          <a:bodyPr anchor="ctr">
            <a:normAutofit/>
          </a:bodyPr>
          <a:lstStyle>
            <a:lvl1pPr algn="r">
              <a:defRPr sz="50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12188952" cy="4572000"/>
          </a:xfrm>
          <a:solidFill>
            <a:schemeClr val="accent1"/>
          </a:solidFill>
        </p:spPr>
        <p:txBody>
          <a:bodyPr lIns="457200" tIns="365760" rIns="45720" bIns="4572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610600" y="4960138"/>
            <a:ext cx="3200400" cy="1463040"/>
          </a:xfrm>
        </p:spPr>
        <p:txBody>
          <a:bodyPr lIns="91440" rIns="91440" anchor="ctr">
            <a:normAutofit/>
          </a:bodyPr>
          <a:lstStyle>
            <a:lvl1pPr marL="0" indent="0">
              <a:lnSpc>
                <a:spcPct val="100000"/>
              </a:lnSpc>
              <a:spcBef>
                <a:spcPts val="0"/>
              </a:spcBef>
              <a:buNone/>
              <a:defRPr sz="1800">
                <a:solidFill>
                  <a:schemeClr val="tx1">
                    <a:lumMod val="95000"/>
                    <a:lumOff val="5000"/>
                  </a:schemeClr>
                </a:solidFill>
              </a:defRPr>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03F41C87-7AD9-4845-A077-840E4A0F3F06}" type="datetimeFigureOut">
              <a:rPr lang="en-US" smtClean="0"/>
              <a:pPr/>
              <a:t>12/30/2024</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2A013F82-EE5E-44EE-A61D-E31C6657F26F}" type="slidenum">
              <a:rPr lang="en-US" smtClean="0"/>
              <a:pPr/>
              <a:t>‹#›</a:t>
            </a:fld>
            <a:endParaRPr lang="en-US"/>
          </a:p>
        </p:txBody>
      </p:sp>
      <p:cxnSp>
        <p:nvCxnSpPr>
          <p:cNvPr id="8" name="Straight Connector 7"/>
          <p:cNvCxnSpPr/>
          <p:nvPr/>
        </p:nvCxnSpPr>
        <p:spPr>
          <a:xfrm flipV="1">
            <a:off x="8386843" y="5264106"/>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937239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spTree>
    <p:extLst>
      <p:ext uri="{BB962C8B-B14F-4D97-AF65-F5344CB8AC3E}">
        <p14:creationId xmlns:p14="http://schemas.microsoft.com/office/powerpoint/2010/main" val="181037239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762000"/>
            <a:ext cx="2628900"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990601" y="762000"/>
            <a:ext cx="7581900"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F9AEF4AA-AB96-41BD-AEC3-D4E9B9745606}"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5C665ADF-BCEF-47A4-9A9E-097F7546154A}" type="slidenum">
              <a:rPr lang="en-US" smtClean="0"/>
              <a:t>‹#›</a:t>
            </a:fld>
            <a:endParaRPr lang="en-US"/>
          </a:p>
        </p:txBody>
      </p:sp>
      <p:cxnSp>
        <p:nvCxnSpPr>
          <p:cNvPr id="7" name="Straight Connector 6"/>
          <p:cNvCxnSpPr/>
          <p:nvPr/>
        </p:nvCxnSpPr>
        <p:spPr>
          <a:xfrm rot="5400000" flipV="1">
            <a:off x="10058400" y="59263"/>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50450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0" name="Group 9"/>
          <p:cNvGrpSpPr/>
          <p:nvPr/>
        </p:nvGrpSpPr>
        <p:grpSpPr>
          <a:xfrm>
            <a:off x="0" y="0"/>
            <a:ext cx="12188825" cy="6872226"/>
            <a:chOff x="0" y="0"/>
            <a:chExt cx="12188825" cy="6872226"/>
          </a:xfrm>
        </p:grpSpPr>
        <p:pic>
          <p:nvPicPr>
            <p:cNvPr id="9" name="Picture 8" descr="HD-PanelTitle-V.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l="2" r="47673"/>
            <a:stretch/>
          </p:blipFill>
          <p:spPr>
            <a:xfrm rot="5400000">
              <a:off x="5245268" y="530352"/>
              <a:ext cx="1673352" cy="612648"/>
            </a:xfrm>
            <a:prstGeom prst="rect">
              <a:avLst/>
            </a:prstGeom>
          </p:spPr>
        </p:pic>
        <p:pic>
          <p:nvPicPr>
            <p:cNvPr id="18" name="Picture 17"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r="48819"/>
            <a:stretch/>
          </p:blipFill>
          <p:spPr>
            <a:xfrm rot="5400000">
              <a:off x="5263556" y="5747514"/>
              <a:ext cx="1636776"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983232" y="5037663"/>
            <a:ext cx="897467" cy="279400"/>
          </a:xfrm>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DB186D13-71A1-42DF-8C66-E1D27A86071F}"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78438744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421107601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781213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734663354"/>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80671" y="2658533"/>
            <a:ext cx="4718304" cy="576262"/>
          </a:xfrm>
        </p:spPr>
        <p:txBody>
          <a:bodyPr anchor="b">
            <a:noAutofit/>
          </a:bodyPr>
          <a:lstStyle>
            <a:lvl1pPr marL="0" indent="0">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80671" y="3243262"/>
            <a:ext cx="4718304" cy="2632605"/>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A5B2C90F-3FE5-4332-BFB8-466F9F32ECD1}" type="datetimeFigureOut">
              <a:rPr lang="en-US" smtClean="0"/>
              <a:t>12/30/2024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B186D13-71A1-42DF-8C66-E1D27A86071F}"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00582272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5B2C90F-3FE5-4332-BFB8-466F9F32ECD1}" type="datetimeFigureOut">
              <a:rPr lang="en-US" smtClean="0"/>
              <a:t>12/30/2024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B186D13-71A1-42DF-8C66-E1D27A86071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794738273"/>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5B2C90F-3FE5-4332-BFB8-466F9F32ECD1}" type="datetimeFigureOut">
              <a:rPr lang="en-US" smtClean="0"/>
              <a:t>12/30/2024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2760985334"/>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7745640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en-US"/>
              <a:t>Click to edit Master title style</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1731212836"/>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5B2C90F-3FE5-4332-BFB8-466F9F32ECD1}" type="datetimeFigureOut">
              <a:rPr lang="en-US" smtClean="0"/>
              <a:t>12/30/2024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1129696756"/>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85554468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162127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Tree>
    <p:extLst>
      <p:ext uri="{BB962C8B-B14F-4D97-AF65-F5344CB8AC3E}">
        <p14:creationId xmlns:p14="http://schemas.microsoft.com/office/powerpoint/2010/main" val="237256941"/>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6"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58995602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4"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61286344"/>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0060365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A5B2C90F-3FE5-4332-BFB8-466F9F32ECD1}" type="datetimeFigureOut">
              <a:rPr lang="en-US" smtClean="0"/>
              <a:t>12/30/2024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B186D13-71A1-42DF-8C66-E1D27A86071F}"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410230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 /><Relationship Id="rId13" Type="http://schemas.openxmlformats.org/officeDocument/2006/relationships/image" Target="../media/image1.jpg" /><Relationship Id="rId3" Type="http://schemas.openxmlformats.org/officeDocument/2006/relationships/slideLayout" Target="../slideLayouts/slideLayout3.xml" /><Relationship Id="rId7" Type="http://schemas.openxmlformats.org/officeDocument/2006/relationships/slideLayout" Target="../slideLayouts/slideLayout7.xml" /><Relationship Id="rId12" Type="http://schemas.openxmlformats.org/officeDocument/2006/relationships/theme" Target="../theme/theme1.xml" /><Relationship Id="rId2" Type="http://schemas.openxmlformats.org/officeDocument/2006/relationships/slideLayout" Target="../slideLayouts/slideLayout2.xml" /><Relationship Id="rId1" Type="http://schemas.openxmlformats.org/officeDocument/2006/relationships/slideLayout" Target="../slideLayouts/slideLayout1.xml" /><Relationship Id="rId6" Type="http://schemas.openxmlformats.org/officeDocument/2006/relationships/slideLayout" Target="../slideLayouts/slideLayout6.xml" /><Relationship Id="rId11" Type="http://schemas.openxmlformats.org/officeDocument/2006/relationships/slideLayout" Target="../slideLayouts/slideLayout11.xml" /><Relationship Id="rId5" Type="http://schemas.openxmlformats.org/officeDocument/2006/relationships/slideLayout" Target="../slideLayouts/slideLayout5.xml" /><Relationship Id="rId10" Type="http://schemas.openxmlformats.org/officeDocument/2006/relationships/slideLayout" Target="../slideLayouts/slideLayout10.xml" /><Relationship Id="rId4" Type="http://schemas.openxmlformats.org/officeDocument/2006/relationships/slideLayout" Target="../slideLayouts/slideLayout4.xml" /><Relationship Id="rId9" Type="http://schemas.openxmlformats.org/officeDocument/2006/relationships/slideLayout" Target="../slideLayouts/slideLayout9.xml" /></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 /><Relationship Id="rId13" Type="http://schemas.openxmlformats.org/officeDocument/2006/relationships/image" Target="../media/image3.jpg" /><Relationship Id="rId3" Type="http://schemas.openxmlformats.org/officeDocument/2006/relationships/slideLayout" Target="../slideLayouts/slideLayout14.xml" /><Relationship Id="rId7" Type="http://schemas.openxmlformats.org/officeDocument/2006/relationships/slideLayout" Target="../slideLayouts/slideLayout18.xml" /><Relationship Id="rId12" Type="http://schemas.openxmlformats.org/officeDocument/2006/relationships/theme" Target="../theme/theme2.xml" /><Relationship Id="rId2" Type="http://schemas.openxmlformats.org/officeDocument/2006/relationships/slideLayout" Target="../slideLayouts/slideLayout13.xml" /><Relationship Id="rId1" Type="http://schemas.openxmlformats.org/officeDocument/2006/relationships/slideLayout" Target="../slideLayouts/slideLayout12.xml" /><Relationship Id="rId6" Type="http://schemas.openxmlformats.org/officeDocument/2006/relationships/slideLayout" Target="../slideLayouts/slideLayout17.xml" /><Relationship Id="rId11" Type="http://schemas.openxmlformats.org/officeDocument/2006/relationships/slideLayout" Target="../slideLayouts/slideLayout22.xml" /><Relationship Id="rId5" Type="http://schemas.openxmlformats.org/officeDocument/2006/relationships/slideLayout" Target="../slideLayouts/slideLayout16.xml" /><Relationship Id="rId10" Type="http://schemas.openxmlformats.org/officeDocument/2006/relationships/slideLayout" Target="../slideLayouts/slideLayout21.xml" /><Relationship Id="rId4" Type="http://schemas.openxmlformats.org/officeDocument/2006/relationships/slideLayout" Target="../slideLayouts/slideLayout15.xml" /><Relationship Id="rId9" Type="http://schemas.openxmlformats.org/officeDocument/2006/relationships/slideLayout" Target="../slideLayouts/slideLayout20.xml" /></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 /><Relationship Id="rId3" Type="http://schemas.openxmlformats.org/officeDocument/2006/relationships/slideLayout" Target="../slideLayouts/slideLayout25.xml" /><Relationship Id="rId7" Type="http://schemas.openxmlformats.org/officeDocument/2006/relationships/slideLayout" Target="../slideLayouts/slideLayout29.xml" /><Relationship Id="rId12" Type="http://schemas.openxmlformats.org/officeDocument/2006/relationships/theme" Target="../theme/theme3.xml" /><Relationship Id="rId2" Type="http://schemas.openxmlformats.org/officeDocument/2006/relationships/slideLayout" Target="../slideLayouts/slideLayout24.xml" /><Relationship Id="rId1" Type="http://schemas.openxmlformats.org/officeDocument/2006/relationships/slideLayout" Target="../slideLayouts/slideLayout23.xml" /><Relationship Id="rId6" Type="http://schemas.openxmlformats.org/officeDocument/2006/relationships/slideLayout" Target="../slideLayouts/slideLayout28.xml" /><Relationship Id="rId11" Type="http://schemas.openxmlformats.org/officeDocument/2006/relationships/slideLayout" Target="../slideLayouts/slideLayout33.xml" /><Relationship Id="rId5" Type="http://schemas.openxmlformats.org/officeDocument/2006/relationships/slideLayout" Target="../slideLayouts/slideLayout27.xml" /><Relationship Id="rId10" Type="http://schemas.openxmlformats.org/officeDocument/2006/relationships/slideLayout" Target="../slideLayouts/slideLayout32.xml" /><Relationship Id="rId4" Type="http://schemas.openxmlformats.org/officeDocument/2006/relationships/slideLayout" Target="../slideLayouts/slideLayout26.xml" /><Relationship Id="rId9" Type="http://schemas.openxmlformats.org/officeDocument/2006/relationships/slideLayout" Target="../slideLayouts/slideLayout31.xml" /></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1.xml" /><Relationship Id="rId13" Type="http://schemas.openxmlformats.org/officeDocument/2006/relationships/slideLayout" Target="../slideLayouts/slideLayout46.xml" /><Relationship Id="rId18" Type="http://schemas.openxmlformats.org/officeDocument/2006/relationships/theme" Target="../theme/theme4.xml" /><Relationship Id="rId3" Type="http://schemas.openxmlformats.org/officeDocument/2006/relationships/slideLayout" Target="../slideLayouts/slideLayout36.xml" /><Relationship Id="rId7" Type="http://schemas.openxmlformats.org/officeDocument/2006/relationships/slideLayout" Target="../slideLayouts/slideLayout40.xml" /><Relationship Id="rId12" Type="http://schemas.openxmlformats.org/officeDocument/2006/relationships/slideLayout" Target="../slideLayouts/slideLayout45.xml" /><Relationship Id="rId17" Type="http://schemas.openxmlformats.org/officeDocument/2006/relationships/slideLayout" Target="../slideLayouts/slideLayout50.xml" /><Relationship Id="rId2" Type="http://schemas.openxmlformats.org/officeDocument/2006/relationships/slideLayout" Target="../slideLayouts/slideLayout35.xml" /><Relationship Id="rId16" Type="http://schemas.openxmlformats.org/officeDocument/2006/relationships/slideLayout" Target="../slideLayouts/slideLayout49.xml" /><Relationship Id="rId20" Type="http://schemas.openxmlformats.org/officeDocument/2006/relationships/image" Target="../media/image10.png" /><Relationship Id="rId1" Type="http://schemas.openxmlformats.org/officeDocument/2006/relationships/slideLayout" Target="../slideLayouts/slideLayout34.xml" /><Relationship Id="rId6" Type="http://schemas.openxmlformats.org/officeDocument/2006/relationships/slideLayout" Target="../slideLayouts/slideLayout39.xml" /><Relationship Id="rId11" Type="http://schemas.openxmlformats.org/officeDocument/2006/relationships/slideLayout" Target="../slideLayouts/slideLayout44.xml" /><Relationship Id="rId5" Type="http://schemas.openxmlformats.org/officeDocument/2006/relationships/slideLayout" Target="../slideLayouts/slideLayout38.xml" /><Relationship Id="rId15" Type="http://schemas.openxmlformats.org/officeDocument/2006/relationships/slideLayout" Target="../slideLayouts/slideLayout48.xml" /><Relationship Id="rId10" Type="http://schemas.openxmlformats.org/officeDocument/2006/relationships/slideLayout" Target="../slideLayouts/slideLayout43.xml" /><Relationship Id="rId19" Type="http://schemas.openxmlformats.org/officeDocument/2006/relationships/image" Target="../media/image9.png" /><Relationship Id="rId4" Type="http://schemas.openxmlformats.org/officeDocument/2006/relationships/slideLayout" Target="../slideLayouts/slideLayout37.xml" /><Relationship Id="rId9" Type="http://schemas.openxmlformats.org/officeDocument/2006/relationships/slideLayout" Target="../slideLayouts/slideLayout42.xml" /><Relationship Id="rId14" Type="http://schemas.openxmlformats.org/officeDocument/2006/relationships/slideLayout" Target="../slideLayouts/slideLayout47.xml" /></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gray">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auto">
          <a:xfrm>
            <a:off x="1065490" y="533400"/>
            <a:ext cx="8689064" cy="1066800"/>
          </a:xfrm>
          <a:prstGeom prst="rect">
            <a:avLst/>
          </a:prstGeom>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065490" y="1828800"/>
            <a:ext cx="8689064" cy="41910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dirty="0"/>
          </a:p>
        </p:txBody>
      </p:sp>
      <p:sp>
        <p:nvSpPr>
          <p:cNvPr id="5" name="Footer Placeholder 4"/>
          <p:cNvSpPr>
            <a:spLocks noGrp="1"/>
          </p:cNvSpPr>
          <p:nvPr>
            <p:ph type="ftr" sz="quarter" idx="3"/>
          </p:nvPr>
        </p:nvSpPr>
        <p:spPr>
          <a:xfrm>
            <a:off x="1065491" y="6155268"/>
            <a:ext cx="5654560" cy="273049"/>
          </a:xfrm>
          <a:prstGeom prst="rect">
            <a:avLst/>
          </a:prstGeom>
        </p:spPr>
        <p:txBody>
          <a:bodyPr vert="horz" lIns="91440" tIns="45720" rIns="91440" bIns="45720" rtlCol="0" anchor="ctr"/>
          <a:lstStyle>
            <a:lvl1pPr algn="l">
              <a:defRPr sz="1100">
                <a:solidFill>
                  <a:schemeClr val="tx1"/>
                </a:solidFill>
              </a:defRPr>
            </a:lvl1pPr>
          </a:lstStyle>
          <a:p>
            <a:endParaRPr lang="en-US"/>
          </a:p>
        </p:txBody>
      </p:sp>
      <p:sp>
        <p:nvSpPr>
          <p:cNvPr id="4" name="Date Placeholder 3"/>
          <p:cNvSpPr>
            <a:spLocks noGrp="1"/>
          </p:cNvSpPr>
          <p:nvPr>
            <p:ph type="dt" sz="half" idx="2"/>
          </p:nvPr>
        </p:nvSpPr>
        <p:spPr>
          <a:xfrm>
            <a:off x="6934418" y="6155268"/>
            <a:ext cx="1371957" cy="273049"/>
          </a:xfrm>
          <a:prstGeom prst="rect">
            <a:avLst/>
          </a:prstGeom>
        </p:spPr>
        <p:txBody>
          <a:bodyPr vert="horz" lIns="91440" tIns="45720" rIns="91440" bIns="45720" rtlCol="0" anchor="ctr"/>
          <a:lstStyle>
            <a:lvl1pPr algn="r">
              <a:defRPr sz="1100">
                <a:solidFill>
                  <a:schemeClr val="tx1"/>
                </a:solidFill>
              </a:defRPr>
            </a:lvl1pPr>
          </a:lstStyle>
          <a:p>
            <a:fld id="{F9AEF4AA-AB96-41BD-AEC3-D4E9B9745606}" type="datetimeFigureOut">
              <a:rPr lang="en-US" smtClean="0"/>
              <a:t>12/30/2024</a:t>
            </a:fld>
            <a:endParaRPr lang="en-US"/>
          </a:p>
        </p:txBody>
      </p:sp>
      <p:sp>
        <p:nvSpPr>
          <p:cNvPr id="6" name="Slide Number Placeholder 5"/>
          <p:cNvSpPr>
            <a:spLocks noGrp="1"/>
          </p:cNvSpPr>
          <p:nvPr>
            <p:ph type="sldNum" sz="quarter" idx="4"/>
          </p:nvPr>
        </p:nvSpPr>
        <p:spPr>
          <a:xfrm>
            <a:off x="8535035" y="6155268"/>
            <a:ext cx="1219519" cy="273049"/>
          </a:xfrm>
          <a:prstGeom prst="rect">
            <a:avLst/>
          </a:prstGeom>
        </p:spPr>
        <p:txBody>
          <a:bodyPr vert="horz" lIns="91440" tIns="45720" rIns="91440" bIns="45720" rtlCol="0" anchor="ctr"/>
          <a:lstStyle>
            <a:lvl1pPr algn="r">
              <a:defRPr sz="1100">
                <a:solidFill>
                  <a:schemeClr val="tx1"/>
                </a:solidFill>
              </a:defRPr>
            </a:lvl1pPr>
          </a:lstStyle>
          <a:p>
            <a:fld id="{5C665ADF-BCEF-47A4-9A9E-097F7546154A}" type="slidenum">
              <a:rPr lang="en-US" smtClean="0"/>
              <a:t>‹#›</a:t>
            </a:fld>
            <a:endParaRPr lang="en-US"/>
          </a:p>
        </p:txBody>
      </p:sp>
    </p:spTree>
    <p:extLst>
      <p:ext uri="{BB962C8B-B14F-4D97-AF65-F5344CB8AC3E}">
        <p14:creationId xmlns:p14="http://schemas.microsoft.com/office/powerpoint/2010/main" val="1170090547"/>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3600" b="1" kern="1200">
          <a:solidFill>
            <a:schemeClr val="accent1"/>
          </a:solidFill>
          <a:latin typeface="+mj-lt"/>
          <a:ea typeface="+mj-ea"/>
          <a:cs typeface="+mj-cs"/>
        </a:defRPr>
      </a:lvl1pPr>
    </p:titleStyle>
    <p:bodyStyle>
      <a:lvl1pPr marL="274320" indent="-228600" algn="l" defTabSz="914400" rtl="0" eaLnBrk="1" latinLnBrk="0" hangingPunct="1">
        <a:lnSpc>
          <a:spcPct val="90000"/>
        </a:lnSpc>
        <a:spcBef>
          <a:spcPts val="1800"/>
        </a:spcBef>
        <a:buClr>
          <a:schemeClr val="tx1">
            <a:lumMod val="65000"/>
            <a:lumOff val="35000"/>
          </a:schemeClr>
        </a:buClr>
        <a:buSzPct val="80000"/>
        <a:buFont typeface="Arial" pitchFamily="34" charset="0"/>
        <a:buChar char="•"/>
        <a:defRPr sz="2000" kern="1200">
          <a:solidFill>
            <a:schemeClr val="tx1"/>
          </a:solidFill>
          <a:latin typeface="+mn-lt"/>
          <a:ea typeface="+mn-ea"/>
          <a:cs typeface="+mn-cs"/>
        </a:defRPr>
      </a:lvl1pPr>
      <a:lvl2pPr marL="594360" indent="-228600" algn="l" defTabSz="914400" rtl="0" eaLnBrk="1" latinLnBrk="0" hangingPunct="1">
        <a:lnSpc>
          <a:spcPct val="90000"/>
        </a:lnSpc>
        <a:spcBef>
          <a:spcPts val="1000"/>
        </a:spcBef>
        <a:buClr>
          <a:schemeClr val="tx1">
            <a:lumMod val="65000"/>
            <a:lumOff val="35000"/>
          </a:schemeClr>
        </a:buClr>
        <a:buSzPct val="80000"/>
        <a:buFont typeface="Arial" pitchFamily="34" charset="0"/>
        <a:buChar char="•"/>
        <a:defRPr sz="1800" kern="1200">
          <a:solidFill>
            <a:schemeClr val="tx1"/>
          </a:solidFill>
          <a:latin typeface="+mn-lt"/>
          <a:ea typeface="+mn-ea"/>
          <a:cs typeface="+mn-cs"/>
        </a:defRPr>
      </a:lvl2pPr>
      <a:lvl3pPr marL="77724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600" kern="1200">
          <a:solidFill>
            <a:schemeClr val="tx1"/>
          </a:solidFill>
          <a:latin typeface="+mn-lt"/>
          <a:ea typeface="+mn-ea"/>
          <a:cs typeface="+mn-cs"/>
        </a:defRPr>
      </a:lvl3pPr>
      <a:lvl4pPr marL="960120" indent="-18288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solidFill>
          <a:latin typeface="+mn-lt"/>
          <a:ea typeface="+mn-ea"/>
          <a:cs typeface="+mn-cs"/>
        </a:defRPr>
      </a:lvl4pPr>
      <a:lvl5pPr marL="1097280" indent="-137160" algn="l" defTabSz="914400" rtl="0" eaLnBrk="1" latinLnBrk="0" hangingPunct="1">
        <a:lnSpc>
          <a:spcPct val="90000"/>
        </a:lnSpc>
        <a:spcBef>
          <a:spcPts val="600"/>
        </a:spcBef>
        <a:buClr>
          <a:schemeClr val="tx1">
            <a:lumMod val="65000"/>
            <a:lumOff val="35000"/>
          </a:schemeClr>
        </a:buClr>
        <a:buSzPct val="80000"/>
        <a:buFont typeface="Arial" pitchFamily="34" charset="0"/>
        <a:buChar char="•"/>
        <a:defRPr sz="1400" kern="1200">
          <a:solidFill>
            <a:schemeClr val="tx1"/>
          </a:solidFill>
          <a:latin typeface="+mn-lt"/>
          <a:ea typeface="+mn-ea"/>
          <a:cs typeface="+mn-cs"/>
        </a:defRPr>
      </a:lvl5pPr>
      <a:lvl6pPr marL="123444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6pPr>
      <a:lvl7pPr marL="137160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7pPr>
      <a:lvl8pPr marL="150876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8pPr>
      <a:lvl9pPr marL="1645920" indent="-137160" algn="l" defTabSz="914400" rtl="0" eaLnBrk="1" latinLnBrk="0" hangingPunct="1">
        <a:spcBef>
          <a:spcPts val="600"/>
        </a:spcBef>
        <a:buSzPct val="80000"/>
        <a:buFont typeface="Arial" pitchFamily="34" charset="0"/>
        <a:buChar char="•"/>
        <a:defRPr sz="1400" kern="1200">
          <a:solidFill>
            <a:schemeClr val="tx1">
              <a:lumMod val="65000"/>
              <a:lumOff val="35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bwMode="invGray">
      <p:bgPr>
        <a:blipFill dpi="0" rotWithShape="1">
          <a:blip r:embed="rId13">
            <a:lum/>
          </a:blip>
          <a:srcRect/>
          <a:stretch>
            <a:fillRect t="-17000" b="-17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522810" y="381000"/>
            <a:ext cx="9146383" cy="1371600"/>
          </a:xfrm>
          <a:prstGeom prst="rect">
            <a:avLst/>
          </a:prstGeom>
          <a:ln>
            <a:noFill/>
          </a:ln>
        </p:spPr>
        <p:txBody>
          <a:bodyPr vert="horz" lIns="91440" tIns="45720" rIns="91440" bIns="45720" rtlCol="0" anchor="b">
            <a:normAutofit/>
          </a:bodyPr>
          <a:lstStyle/>
          <a:p>
            <a:r>
              <a:rPr lang="en-US"/>
              <a:t>Click to edit Master title style</a:t>
            </a:r>
            <a:endParaRPr dirty="0"/>
          </a:p>
        </p:txBody>
      </p:sp>
      <p:sp>
        <p:nvSpPr>
          <p:cNvPr id="3" name="Text Placeholder 2"/>
          <p:cNvSpPr>
            <a:spLocks noGrp="1"/>
          </p:cNvSpPr>
          <p:nvPr>
            <p:ph type="body" idx="1"/>
          </p:nvPr>
        </p:nvSpPr>
        <p:spPr>
          <a:xfrm>
            <a:off x="1522810" y="1904999"/>
            <a:ext cx="9136770" cy="411480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522810" y="6400800"/>
            <a:ext cx="6554906" cy="276228"/>
          </a:xfrm>
          <a:prstGeom prst="rect">
            <a:avLst/>
          </a:prstGeom>
        </p:spPr>
        <p:txBody>
          <a:bodyPr vert="horz" lIns="91440" tIns="45720" rIns="91440" bIns="45720" rtlCol="0" anchor="ctr"/>
          <a:lstStyle>
            <a:lvl1pPr algn="l">
              <a:defRPr sz="1100">
                <a:solidFill>
                  <a:schemeClr val="tx1">
                    <a:tint val="75000"/>
                  </a:schemeClr>
                </a:solidFill>
              </a:defRPr>
            </a:lvl1pPr>
          </a:lstStyle>
          <a:p>
            <a:endParaRPr lang="en-US"/>
          </a:p>
        </p:txBody>
      </p:sp>
      <p:sp>
        <p:nvSpPr>
          <p:cNvPr id="4" name="Date Placeholder 3"/>
          <p:cNvSpPr>
            <a:spLocks noGrp="1"/>
          </p:cNvSpPr>
          <p:nvPr>
            <p:ph type="dt" sz="half" idx="2"/>
          </p:nvPr>
        </p:nvSpPr>
        <p:spPr>
          <a:xfrm>
            <a:off x="8228565" y="6400800"/>
            <a:ext cx="1449767"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A5B2C90F-3FE5-4332-BFB8-466F9F32ECD1}" type="datetimeFigureOut">
              <a:rPr lang="en-US" smtClean="0"/>
              <a:t>12/30/2024</a:t>
            </a:fld>
            <a:endParaRPr lang="en-US"/>
          </a:p>
        </p:txBody>
      </p:sp>
      <p:sp>
        <p:nvSpPr>
          <p:cNvPr id="6" name="Slide Number Placeholder 5"/>
          <p:cNvSpPr>
            <a:spLocks noGrp="1"/>
          </p:cNvSpPr>
          <p:nvPr>
            <p:ph type="sldNum" sz="quarter" idx="4"/>
          </p:nvPr>
        </p:nvSpPr>
        <p:spPr>
          <a:xfrm>
            <a:off x="9830772" y="6400800"/>
            <a:ext cx="838419" cy="276228"/>
          </a:xfrm>
          <a:prstGeom prst="rect">
            <a:avLst/>
          </a:prstGeom>
        </p:spPr>
        <p:txBody>
          <a:bodyPr vert="horz" lIns="91440" tIns="45720" rIns="91440" bIns="45720" rtlCol="0" anchor="ctr"/>
          <a:lstStyle>
            <a:lvl1pPr algn="r">
              <a:defRPr sz="1100">
                <a:solidFill>
                  <a:schemeClr val="tx1">
                    <a:tint val="75000"/>
                  </a:schemeClr>
                </a:solidFill>
              </a:defRPr>
            </a:lvl1pPr>
          </a:lstStyle>
          <a:p>
            <a:fld id="{DB186D13-71A1-42DF-8C66-E1D27A86071F}" type="slidenum">
              <a:rPr lang="en-US" smtClean="0"/>
              <a:t>‹#›</a:t>
            </a:fld>
            <a:endParaRPr lang="en-US"/>
          </a:p>
        </p:txBody>
      </p:sp>
    </p:spTree>
    <p:extLst>
      <p:ext uri="{BB962C8B-B14F-4D97-AF65-F5344CB8AC3E}">
        <p14:creationId xmlns:p14="http://schemas.microsoft.com/office/powerpoint/2010/main" val="782829090"/>
      </p:ext>
    </p:extLst>
  </p:cSld>
  <p:clrMap bg1="dk1" tx1="lt1" bg2="dk2" tx2="lt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90000"/>
        </a:lnSpc>
        <a:spcBef>
          <a:spcPct val="0"/>
        </a:spcBef>
        <a:buNone/>
        <a:defRPr sz="3600" b="1" kern="1200" cap="none" spc="0" baseline="0">
          <a:ln w="9525">
            <a:noFill/>
            <a:prstDash val="solid"/>
          </a:ln>
          <a:solidFill>
            <a:schemeClr val="accent5"/>
          </a:solidFill>
          <a:effectLst/>
          <a:latin typeface="+mj-lt"/>
          <a:ea typeface="+mj-ea"/>
          <a:cs typeface="+mj-cs"/>
        </a:defRPr>
      </a:lvl1pPr>
    </p:titleStyle>
    <p:bodyStyle>
      <a:lvl1pPr marL="223838" indent="-223838" algn="l" defTabSz="914400" rtl="0" eaLnBrk="1" latinLnBrk="0" hangingPunct="1">
        <a:lnSpc>
          <a:spcPct val="90000"/>
        </a:lnSpc>
        <a:spcBef>
          <a:spcPts val="1800"/>
        </a:spcBef>
        <a:buClr>
          <a:schemeClr val="accent1"/>
        </a:buClr>
        <a:buSzPct val="100000"/>
        <a:buFont typeface="Arial" pitchFamily="34" charset="0"/>
        <a:buChar char="•"/>
        <a:defRPr sz="2400" kern="1200">
          <a:solidFill>
            <a:schemeClr val="tx1"/>
          </a:solidFill>
          <a:latin typeface="+mn-lt"/>
          <a:ea typeface="+mn-ea"/>
          <a:cs typeface="+mn-cs"/>
        </a:defRPr>
      </a:lvl1pPr>
      <a:lvl2pPr marL="463550" indent="-231775" algn="l" defTabSz="914400" rtl="0" eaLnBrk="1" latinLnBrk="0" hangingPunct="1">
        <a:lnSpc>
          <a:spcPct val="90000"/>
        </a:lnSpc>
        <a:spcBef>
          <a:spcPts val="1200"/>
        </a:spcBef>
        <a:buClr>
          <a:schemeClr val="accent1"/>
        </a:buClr>
        <a:buSzPct val="100000"/>
        <a:buFont typeface="Arial" pitchFamily="34" charset="0"/>
        <a:buChar char="•"/>
        <a:defRPr sz="2000" kern="1200">
          <a:solidFill>
            <a:schemeClr val="tx1"/>
          </a:solidFill>
          <a:latin typeface="+mn-lt"/>
          <a:ea typeface="+mn-ea"/>
          <a:cs typeface="+mn-cs"/>
        </a:defRPr>
      </a:lvl2pPr>
      <a:lvl3pPr marL="682625" indent="-21907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3pPr>
      <a:lvl4pPr marL="857250" indent="-174625"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4pPr>
      <a:lvl5pPr marL="1030288" indent="-173038" algn="l" defTabSz="914400" rtl="0" eaLnBrk="1" latinLnBrk="0" hangingPunct="1">
        <a:lnSpc>
          <a:spcPct val="90000"/>
        </a:lnSpc>
        <a:spcBef>
          <a:spcPts val="600"/>
        </a:spcBef>
        <a:buClr>
          <a:schemeClr val="accent1"/>
        </a:buClr>
        <a:buSzPct val="100000"/>
        <a:buFont typeface="Arial" pitchFamily="34" charset="0"/>
        <a:buChar char="•"/>
        <a:defRPr sz="1800" kern="1200">
          <a:solidFill>
            <a:schemeClr val="tx1"/>
          </a:solidFill>
          <a:latin typeface="+mn-lt"/>
          <a:ea typeface="+mn-ea"/>
          <a:cs typeface="+mn-cs"/>
        </a:defRPr>
      </a:lvl5pPr>
      <a:lvl6pPr marL="1207008"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6pPr>
      <a:lvl7pPr marL="1380744"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7pPr>
      <a:lvl8pPr marL="1554480"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8pPr>
      <a:lvl9pPr marL="1728216" indent="-173736" algn="l" defTabSz="914400" rtl="0" eaLnBrk="1" latinLnBrk="0" hangingPunct="1">
        <a:spcBef>
          <a:spcPts val="600"/>
        </a:spcBef>
        <a:buClr>
          <a:schemeClr val="accent1"/>
        </a:buClr>
        <a:buFont typeface="Arial" pitchFamily="34" charset="0"/>
        <a:buChar char="•"/>
        <a:defRPr sz="18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2">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024128" y="585216"/>
            <a:ext cx="9720072"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024128" y="2286000"/>
            <a:ext cx="9720073"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24129" y="6470704"/>
            <a:ext cx="2154143"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F9AEF4AA-AB96-41BD-AEC3-D4E9B9745606}" type="datetimeFigureOut">
              <a:rPr lang="en-US" smtClean="0"/>
              <a:t>12/30/2024</a:t>
            </a:fld>
            <a:endParaRPr lang="en-US"/>
          </a:p>
        </p:txBody>
      </p:sp>
      <p:sp>
        <p:nvSpPr>
          <p:cNvPr id="5" name="Footer Placeholder 4"/>
          <p:cNvSpPr>
            <a:spLocks noGrp="1"/>
          </p:cNvSpPr>
          <p:nvPr>
            <p:ph type="ftr" sz="quarter" idx="3"/>
          </p:nvPr>
        </p:nvSpPr>
        <p:spPr>
          <a:xfrm>
            <a:off x="4842932" y="6470704"/>
            <a:ext cx="5901459" cy="274320"/>
          </a:xfrm>
          <a:prstGeom prst="rect">
            <a:avLst/>
          </a:prstGeom>
        </p:spPr>
        <p:txBody>
          <a:bodyPr vert="horz" lIns="91440" tIns="45720" rIns="91440" bIns="45720" rtlCol="0" anchor="ctr"/>
          <a:lstStyle>
            <a:lvl1pPr algn="r">
              <a:defRPr sz="1000" cap="all" baseline="0">
                <a:solidFill>
                  <a:schemeClr val="tx1">
                    <a:lumMod val="95000"/>
                    <a:lumOff val="5000"/>
                  </a:schemeClr>
                </a:solidFill>
                <a:latin typeface="+mj-lt"/>
              </a:defRPr>
            </a:lvl1pPr>
          </a:lstStyle>
          <a:p>
            <a:endParaRPr lang="en-US"/>
          </a:p>
        </p:txBody>
      </p:sp>
      <p:sp>
        <p:nvSpPr>
          <p:cNvPr id="6" name="Slide Number Placeholder 5"/>
          <p:cNvSpPr>
            <a:spLocks noGrp="1"/>
          </p:cNvSpPr>
          <p:nvPr>
            <p:ph type="sldNum" sz="quarter" idx="4"/>
          </p:nvPr>
        </p:nvSpPr>
        <p:spPr>
          <a:xfrm>
            <a:off x="10837333" y="6470704"/>
            <a:ext cx="973667" cy="274320"/>
          </a:xfrm>
          <a:prstGeom prst="rect">
            <a:avLst/>
          </a:prstGeom>
        </p:spPr>
        <p:txBody>
          <a:bodyPr vert="horz" lIns="91440" tIns="45720" rIns="91440" bIns="45720" rtlCol="0" anchor="ctr"/>
          <a:lstStyle>
            <a:lvl1pPr algn="l">
              <a:defRPr sz="1000">
                <a:solidFill>
                  <a:schemeClr val="tx1">
                    <a:lumMod val="95000"/>
                    <a:lumOff val="5000"/>
                  </a:schemeClr>
                </a:solidFill>
                <a:latin typeface="+mj-lt"/>
              </a:defRPr>
            </a:lvl1pPr>
          </a:lstStyle>
          <a:p>
            <a:fld id="{5C665ADF-BCEF-47A4-9A9E-097F7546154A}" type="slidenum">
              <a:rPr lang="en-US" smtClean="0"/>
              <a:t>‹#›</a:t>
            </a:fld>
            <a:endParaRPr lang="en-US"/>
          </a:p>
        </p:txBody>
      </p:sp>
      <p:cxnSp>
        <p:nvCxnSpPr>
          <p:cNvPr id="7" name="Straight Connector 6"/>
          <p:cNvCxnSpPr/>
          <p:nvPr/>
        </p:nvCxnSpPr>
        <p:spPr>
          <a:xfrm flipV="1">
            <a:off x="762000" y="826324"/>
            <a:ext cx="0" cy="91440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0444672"/>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914400" rtl="0" eaLnBrk="1" latinLnBrk="0" hangingPunct="1">
        <a:lnSpc>
          <a:spcPct val="80000"/>
        </a:lnSpc>
        <a:spcBef>
          <a:spcPct val="0"/>
        </a:spcBef>
        <a:buNone/>
        <a:defRPr sz="5000" kern="1200" cap="all" spc="100" baseline="0">
          <a:solidFill>
            <a:schemeClr val="tx1">
              <a:lumMod val="95000"/>
              <a:lumOff val="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Tw Cen MT" panose="020B0602020104020603" pitchFamily="34" charset="0"/>
        <a:buChar char=" "/>
        <a:defRPr sz="2200" kern="1200">
          <a:solidFill>
            <a:schemeClr val="tx1"/>
          </a:solidFill>
          <a:latin typeface="+mn-lt"/>
          <a:ea typeface="+mn-ea"/>
          <a:cs typeface="+mn-cs"/>
        </a:defRPr>
      </a:lvl1pPr>
      <a:lvl2pPr marL="26517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800" kern="1200">
          <a:solidFill>
            <a:schemeClr val="tx1"/>
          </a:solidFill>
          <a:latin typeface="+mn-lt"/>
          <a:ea typeface="+mn-ea"/>
          <a:cs typeface="+mn-cs"/>
        </a:defRPr>
      </a:lvl2pPr>
      <a:lvl3pPr marL="4480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3pPr>
      <a:lvl4pPr marL="59436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4pPr>
      <a:lvl5pPr marL="77724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5pPr>
      <a:lvl6pPr marL="914400"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6pPr>
      <a:lvl7pPr marL="1060704"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7pPr>
      <a:lvl8pPr marL="1216152"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8pPr>
      <a:lvl9pPr marL="1362456" indent="-137160" algn="l" defTabSz="914400" rtl="0" eaLnBrk="1" latinLnBrk="0" hangingPunct="1">
        <a:lnSpc>
          <a:spcPct val="90000"/>
        </a:lnSpc>
        <a:spcBef>
          <a:spcPts val="200"/>
        </a:spcBef>
        <a:spcAft>
          <a:spcPts val="400"/>
        </a:spcAft>
        <a:buClr>
          <a:schemeClr val="accent1"/>
        </a:buClr>
        <a:buFont typeface="Wingdings 3" pitchFamily="18" charset="2"/>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0" y="0"/>
            <a:ext cx="12188825" cy="6856215"/>
            <a:chOff x="0" y="0"/>
            <a:chExt cx="12188825" cy="6856215"/>
          </a:xfrm>
        </p:grpSpPr>
        <p:pic>
          <p:nvPicPr>
            <p:cNvPr id="8" name="Picture 7" descr="HD-PanelContent-V.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1" y="76265"/>
              <a:ext cx="758952"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r="5093"/>
            <a:stretch/>
          </p:blipFill>
          <p:spPr>
            <a:xfrm rot="5400000">
              <a:off x="5706470" y="6173526"/>
              <a:ext cx="758952"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A5B2C90F-3FE5-4332-BFB8-466F9F32ECD1}" type="datetimeFigureOut">
              <a:rPr lang="en-US" smtClean="0"/>
              <a:t>12/30/2024</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B186D13-71A1-42DF-8C66-E1D27A86071F}" type="slidenum">
              <a:rPr lang="en-US" smtClean="0"/>
              <a:t>‹#›</a:t>
            </a:fld>
            <a:endParaRPr lang="en-US"/>
          </a:p>
        </p:txBody>
      </p:sp>
    </p:spTree>
    <p:extLst>
      <p:ext uri="{BB962C8B-B14F-4D97-AF65-F5344CB8AC3E}">
        <p14:creationId xmlns:p14="http://schemas.microsoft.com/office/powerpoint/2010/main" val="3349654725"/>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 id="2147483733" r:id="rId13"/>
    <p:sldLayoutId id="2147483734" r:id="rId14"/>
    <p:sldLayoutId id="2147483735" r:id="rId15"/>
    <p:sldLayoutId id="2147483736" r:id="rId16"/>
    <p:sldLayoutId id="214748373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2.xml" /></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 /><Relationship Id="rId1" Type="http://schemas.openxmlformats.org/officeDocument/2006/relationships/slideLayout" Target="../slideLayouts/slideLayout2.xml" /></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3.xml" /><Relationship Id="rId1" Type="http://schemas.openxmlformats.org/officeDocument/2006/relationships/slideLayout" Target="../slideLayouts/slideLayout5.xml" /></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4.xml" /><Relationship Id="rId1" Type="http://schemas.openxmlformats.org/officeDocument/2006/relationships/slideLayout" Target="../slideLayouts/slideLayout2.xml" /></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 /><Relationship Id="rId1" Type="http://schemas.openxmlformats.org/officeDocument/2006/relationships/slideLayout" Target="../slideLayouts/slideLayout2.xml" /></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6.xml" /><Relationship Id="rId1" Type="http://schemas.openxmlformats.org/officeDocument/2006/relationships/slideLayout" Target="../slideLayouts/slideLayout2.xml" /></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 standalone="yes"?>
<Relationships xmlns="http://schemas.openxmlformats.org/package/2006/relationships"><Relationship Id="rId2" Type="http://schemas.openxmlformats.org/officeDocument/2006/relationships/image" Target="../media/image13.png" /><Relationship Id="rId1" Type="http://schemas.openxmlformats.org/officeDocument/2006/relationships/slideLayout" Target="../slideLayouts/slideLayout2.xml" /></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 standalone="yes"?>
<Relationships xmlns="http://schemas.openxmlformats.org/package/2006/relationships"><Relationship Id="rId2" Type="http://schemas.openxmlformats.org/officeDocument/2006/relationships/image" Target="../media/image14.png" /><Relationship Id="rId1" Type="http://schemas.openxmlformats.org/officeDocument/2006/relationships/slideLayout" Target="../slideLayouts/slideLayout1.xml" /></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 /></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6.xml" /></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1.xml.rels><?xml version="1.0" encoding="UTF-8" standalone="yes"?>
<Relationships xmlns="http://schemas.openxmlformats.org/package/2006/relationships"><Relationship Id="rId2" Type="http://schemas.openxmlformats.org/officeDocument/2006/relationships/image" Target="../media/image15.png" /><Relationship Id="rId1" Type="http://schemas.openxmlformats.org/officeDocument/2006/relationships/slideLayout" Target="../slideLayouts/slideLayout2.xml" /></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algn="l"/>
            <a:r>
              <a:rPr lang="en-US" dirty="0"/>
              <a:t>COMPUTING RESEARCH PROJECT</a:t>
            </a:r>
          </a:p>
        </p:txBody>
      </p:sp>
      <p:sp>
        <p:nvSpPr>
          <p:cNvPr id="3" name="Subtitle 2"/>
          <p:cNvSpPr>
            <a:spLocks noGrp="1"/>
          </p:cNvSpPr>
          <p:nvPr>
            <p:ph type="subTitle" idx="1"/>
          </p:nvPr>
        </p:nvSpPr>
        <p:spPr>
          <a:xfrm>
            <a:off x="1209040" y="4683760"/>
            <a:ext cx="9144000" cy="1163320"/>
          </a:xfrm>
        </p:spPr>
        <p:txBody>
          <a:bodyPr vert="horz" lIns="91440" tIns="45720" rIns="91440" bIns="45720" rtlCol="0" anchor="t">
            <a:normAutofit/>
          </a:bodyPr>
          <a:lstStyle/>
          <a:p>
            <a:pPr algn="l"/>
            <a:r>
              <a:rPr lang="en-US" dirty="0"/>
              <a:t>Ms. Sajeetha</a:t>
            </a:r>
          </a:p>
          <a:p>
            <a:pPr algn="l"/>
            <a:r>
              <a:rPr lang="en-US" dirty="0"/>
              <a:t>Lecturer IT</a:t>
            </a:r>
          </a:p>
          <a:p>
            <a:pPr algn="l"/>
            <a:endParaRPr lang="en-US" dirty="0"/>
          </a:p>
        </p:txBody>
      </p:sp>
    </p:spTree>
    <p:extLst>
      <p:ext uri="{BB962C8B-B14F-4D97-AF65-F5344CB8AC3E}">
        <p14:creationId xmlns:p14="http://schemas.microsoft.com/office/powerpoint/2010/main" val="34530586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2932" y="826851"/>
            <a:ext cx="11399067" cy="1325563"/>
          </a:xfrm>
        </p:spPr>
        <p:txBody>
          <a:bodyPr>
            <a:normAutofit fontScale="90000"/>
          </a:bodyPr>
          <a:lstStyle/>
          <a:p>
            <a:r>
              <a:rPr lang="en-US" sz="4000" b="1" dirty="0"/>
              <a:t>L01 Examine appropriate research methodologies and approaches as part of the research process</a:t>
            </a:r>
            <a:br>
              <a:rPr lang="en-US" dirty="0"/>
            </a:br>
            <a:endParaRPr lang="en-US" dirty="0"/>
          </a:p>
        </p:txBody>
      </p:sp>
      <p:sp>
        <p:nvSpPr>
          <p:cNvPr id="3" name="Content Placeholder 2"/>
          <p:cNvSpPr>
            <a:spLocks noGrp="1"/>
          </p:cNvSpPr>
          <p:nvPr>
            <p:ph idx="1"/>
          </p:nvPr>
        </p:nvSpPr>
        <p:spPr>
          <a:xfrm>
            <a:off x="838200" y="2263365"/>
            <a:ext cx="10515600" cy="3913597"/>
          </a:xfrm>
        </p:spPr>
        <p:txBody>
          <a:bodyPr vert="horz" lIns="91440" tIns="45720" rIns="91440" bIns="45720" rtlCol="0" anchor="t">
            <a:normAutofit fontScale="92500" lnSpcReduction="20000"/>
          </a:bodyPr>
          <a:lstStyle/>
          <a:p>
            <a:pPr marL="457200" indent="-457200">
              <a:buFont typeface="+mj-lt"/>
              <a:buAutoNum type="arabicPeriod"/>
            </a:pPr>
            <a:r>
              <a:rPr lang="en-US" b="1" dirty="0"/>
              <a:t>What is research?</a:t>
            </a:r>
          </a:p>
          <a:p>
            <a:pPr marL="457200" indent="-457200">
              <a:buFont typeface="+mj-lt"/>
              <a:buAutoNum type="arabicPeriod"/>
            </a:pPr>
            <a:r>
              <a:rPr lang="en-US" b="1" dirty="0"/>
              <a:t>Objectives/ Purposes of Research </a:t>
            </a:r>
          </a:p>
          <a:p>
            <a:pPr marL="457200" indent="-457200">
              <a:buFont typeface="+mj-lt"/>
              <a:buAutoNum type="arabicPeriod"/>
            </a:pPr>
            <a:r>
              <a:rPr lang="en-US" b="1" dirty="0"/>
              <a:t>The importance of developing a methodical approach and discussing the benefits</a:t>
            </a:r>
          </a:p>
          <a:p>
            <a:pPr marL="457200" indent="-457200">
              <a:buFont typeface="+mj-lt"/>
              <a:buAutoNum type="arabicPeriod"/>
            </a:pPr>
            <a:r>
              <a:rPr lang="en-US" b="1" dirty="0"/>
              <a:t>How to Develop a Research Proposition?</a:t>
            </a:r>
          </a:p>
          <a:p>
            <a:pPr marL="457200" indent="-457200">
              <a:buFont typeface="+mj-lt"/>
              <a:buAutoNum type="arabicPeriod"/>
            </a:pPr>
            <a:r>
              <a:rPr lang="en-US" b="1" dirty="0"/>
              <a:t>Saunders’ Research Onion (Research philosophies)</a:t>
            </a:r>
          </a:p>
          <a:p>
            <a:pPr marL="457200" indent="-457200">
              <a:buClr>
                <a:srgbClr val="595959"/>
              </a:buClr>
              <a:buAutoNum type="arabicPeriod"/>
            </a:pPr>
            <a:r>
              <a:rPr lang="en-US" b="1" dirty="0"/>
              <a:t>How to write Research Questions (Dependent and independent variables)</a:t>
            </a:r>
          </a:p>
          <a:p>
            <a:pPr marL="457200" indent="-457200">
              <a:buClr>
                <a:srgbClr val="595959"/>
              </a:buClr>
              <a:buAutoNum type="arabicPeriod"/>
            </a:pPr>
            <a:r>
              <a:rPr lang="en-US" b="1" dirty="0"/>
              <a:t>Write your Theory</a:t>
            </a:r>
          </a:p>
          <a:p>
            <a:pPr marL="457200" indent="-457200">
              <a:buClr>
                <a:srgbClr val="595959"/>
              </a:buClr>
              <a:buAutoNum type="arabicPeriod"/>
            </a:pPr>
            <a:r>
              <a:rPr lang="en-US" b="1" dirty="0"/>
              <a:t>How to write your Theoretical gap</a:t>
            </a:r>
          </a:p>
          <a:p>
            <a:pPr marL="457200" indent="-457200">
              <a:buClr>
                <a:srgbClr val="595959"/>
              </a:buClr>
              <a:buAutoNum type="arabicPeriod"/>
            </a:pPr>
            <a:r>
              <a:rPr lang="en-US" b="1" dirty="0"/>
              <a:t>How to write the Hypothesis </a:t>
            </a:r>
          </a:p>
          <a:p>
            <a:pPr>
              <a:buClr>
                <a:prstClr val="black">
                  <a:lumMod val="65000"/>
                  <a:lumOff val="35000"/>
                </a:prstClr>
              </a:buClr>
            </a:pPr>
            <a:endParaRPr lang="en-US" dirty="0"/>
          </a:p>
        </p:txBody>
      </p:sp>
    </p:spTree>
    <p:extLst>
      <p:ext uri="{BB962C8B-B14F-4D97-AF65-F5344CB8AC3E}">
        <p14:creationId xmlns:p14="http://schemas.microsoft.com/office/powerpoint/2010/main" val="18794253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Research?</a:t>
            </a:r>
          </a:p>
        </p:txBody>
      </p:sp>
      <p:sp>
        <p:nvSpPr>
          <p:cNvPr id="3" name="Content Placeholder 2"/>
          <p:cNvSpPr>
            <a:spLocks noGrp="1"/>
          </p:cNvSpPr>
          <p:nvPr>
            <p:ph idx="1"/>
          </p:nvPr>
        </p:nvSpPr>
        <p:spPr>
          <a:xfrm>
            <a:off x="1065490" y="1828800"/>
            <a:ext cx="9555447" cy="4191000"/>
          </a:xfrm>
        </p:spPr>
        <p:txBody>
          <a:bodyPr vert="horz" lIns="91440" tIns="45720" rIns="91440" bIns="45720" rtlCol="0" anchor="t">
            <a:normAutofit/>
          </a:bodyPr>
          <a:lstStyle/>
          <a:p>
            <a:pPr algn="just"/>
            <a:r>
              <a:rPr lang="en-US" dirty="0"/>
              <a:t>There is various definition of Research by various researchers, as per the fields of their study and the availability of resources at the given time. As a basic definition of Research, we can say Research is the process of gathering information and data to discover a new knowledge/concept or advancement of existing theories, which is a new understanding that was not previously known.</a:t>
            </a:r>
          </a:p>
          <a:p>
            <a:pPr algn="just"/>
            <a:r>
              <a:rPr lang="en-US" dirty="0"/>
              <a:t>According to (Rocco, 2011), "Research is a careful investigation or inquiry especially through search for new facts in any branch of knowledge." Research is a movement from the known to the unknown (Redman and Mory, 2010).</a:t>
            </a:r>
          </a:p>
          <a:p>
            <a:pPr algn="just"/>
            <a:r>
              <a:rPr lang="en-US" dirty="0"/>
              <a:t>Also, Research is a scientific approach of answering a research question, solving a problem or generating new knowledge through a systematic and orderly collection, organization, and analysis of information with an ultimate goal of making the research useful in decision-making. </a:t>
            </a:r>
          </a:p>
          <a:p>
            <a:pPr algn="just"/>
            <a:endParaRPr lang="en-US" dirty="0"/>
          </a:p>
        </p:txBody>
      </p:sp>
    </p:spTree>
    <p:extLst>
      <p:ext uri="{BB962C8B-B14F-4D97-AF65-F5344CB8AC3E}">
        <p14:creationId xmlns:p14="http://schemas.microsoft.com/office/powerpoint/2010/main" val="1129363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When defining the Research the following terms must be understood also </a:t>
            </a:r>
          </a:p>
        </p:txBody>
      </p:sp>
      <p:sp>
        <p:nvSpPr>
          <p:cNvPr id="3" name="Content Placeholder 2"/>
          <p:cNvSpPr>
            <a:spLocks noGrp="1"/>
          </p:cNvSpPr>
          <p:nvPr>
            <p:ph idx="1"/>
          </p:nvPr>
        </p:nvSpPr>
        <p:spPr/>
        <p:txBody>
          <a:bodyPr vert="horz" lIns="91440" tIns="45720" rIns="91440" bIns="45720" rtlCol="0" anchor="t">
            <a:normAutofit/>
          </a:bodyPr>
          <a:lstStyle/>
          <a:p>
            <a:pPr marL="457200" indent="-457200">
              <a:buFont typeface="+mj-lt"/>
              <a:buAutoNum type="arabicPeriod"/>
            </a:pPr>
            <a:r>
              <a:rPr lang="en-US" dirty="0"/>
              <a:t>Research is a continuous activity in majority of disciplines and professions</a:t>
            </a:r>
          </a:p>
          <a:p>
            <a:pPr marL="457200" indent="-457200">
              <a:buFont typeface="+mj-lt"/>
              <a:buAutoNum type="arabicPeriod"/>
            </a:pPr>
            <a:r>
              <a:rPr lang="en-US" dirty="0"/>
              <a:t>It is helpful in critical assessment of the way we work, execute policies, and give instructions in our professions</a:t>
            </a:r>
            <a:endParaRPr lang="en-US"/>
          </a:p>
          <a:p>
            <a:pPr marL="457200" indent="-457200">
              <a:buFont typeface="+mj-lt"/>
              <a:buAutoNum type="arabicPeriod"/>
            </a:pPr>
            <a:r>
              <a:rPr lang="en-US" dirty="0"/>
              <a:t>It is a systematic observation of processes to find better ways to do things and to reduce the effort being put in to achieve an objective and identifying the validity of the targets</a:t>
            </a:r>
            <a:endParaRPr lang="en-US"/>
          </a:p>
          <a:p>
            <a:pPr marL="457200" indent="-457200">
              <a:buFont typeface="+mj-lt"/>
              <a:buAutoNum type="arabicPeriod"/>
            </a:pPr>
            <a:r>
              <a:rPr lang="en-US" dirty="0"/>
              <a:t>In fact, research is a subconscious activity that we are involved in at all times whether it is purchase of daily use articles , a car, an electronic good or planning a holiday</a:t>
            </a:r>
            <a:endParaRPr lang="en-US"/>
          </a:p>
        </p:txBody>
      </p:sp>
    </p:spTree>
    <p:extLst>
      <p:ext uri="{BB962C8B-B14F-4D97-AF65-F5344CB8AC3E}">
        <p14:creationId xmlns:p14="http://schemas.microsoft.com/office/powerpoint/2010/main" val="3094729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vert="horz" lIns="91440" tIns="45720" rIns="91440" bIns="45720" rtlCol="0" anchor="t">
            <a:normAutofit/>
          </a:bodyPr>
          <a:lstStyle/>
          <a:p>
            <a:pPr marL="45720" indent="0" algn="ctr">
              <a:buNone/>
            </a:pPr>
            <a:r>
              <a:rPr lang="en-US" sz="6600" dirty="0"/>
              <a:t>“Research is a </a:t>
            </a:r>
            <a:r>
              <a:rPr lang="en-US" sz="6600" dirty="0">
                <a:solidFill>
                  <a:srgbClr val="FF0000"/>
                </a:solidFill>
              </a:rPr>
              <a:t>Systematic Process</a:t>
            </a:r>
            <a:r>
              <a:rPr lang="en-US" sz="6600" dirty="0"/>
              <a:t> that creates </a:t>
            </a:r>
            <a:r>
              <a:rPr lang="en-US" sz="6600" dirty="0">
                <a:solidFill>
                  <a:srgbClr val="FF0000"/>
                </a:solidFill>
              </a:rPr>
              <a:t>new Knowledge</a:t>
            </a:r>
            <a:r>
              <a:rPr lang="en-US" sz="6600" dirty="0"/>
              <a:t>“</a:t>
            </a:r>
            <a:endParaRPr lang="en-US"/>
          </a:p>
        </p:txBody>
      </p:sp>
    </p:spTree>
    <p:extLst>
      <p:ext uri="{BB962C8B-B14F-4D97-AF65-F5344CB8AC3E}">
        <p14:creationId xmlns:p14="http://schemas.microsoft.com/office/powerpoint/2010/main" val="581093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Systematic research in any field of inquiry involves three basic operations</a:t>
            </a:r>
          </a:p>
        </p:txBody>
      </p:sp>
      <p:sp>
        <p:nvSpPr>
          <p:cNvPr id="3" name="Content Placeholder 2"/>
          <p:cNvSpPr>
            <a:spLocks noGrp="1"/>
          </p:cNvSpPr>
          <p:nvPr>
            <p:ph idx="1"/>
          </p:nvPr>
        </p:nvSpPr>
        <p:spPr/>
        <p:txBody>
          <a:bodyPr vert="horz" lIns="91440" tIns="45720" rIns="91440" bIns="45720" rtlCol="0" anchor="t">
            <a:normAutofit/>
          </a:bodyPr>
          <a:lstStyle/>
          <a:p>
            <a:endParaRPr lang="en-US" b="1" dirty="0"/>
          </a:p>
          <a:p>
            <a:pPr marL="45720" indent="0">
              <a:buNone/>
            </a:pPr>
            <a:r>
              <a:rPr lang="en-US" b="1" dirty="0"/>
              <a:t>1. Data collection:</a:t>
            </a:r>
            <a:r>
              <a:rPr lang="en-US" dirty="0"/>
              <a:t> It refers to observing, measuring, and recording information. </a:t>
            </a:r>
          </a:p>
          <a:p>
            <a:pPr marL="45720" indent="0">
              <a:buNone/>
            </a:pPr>
            <a:r>
              <a:rPr lang="en-US" b="1" dirty="0"/>
              <a:t>2. Data analysis: </a:t>
            </a:r>
            <a:r>
              <a:rPr lang="en-US" dirty="0"/>
              <a:t>It refers to arranging and organizing the collected data so that we may be able to find out what their significance is and generalize about them. </a:t>
            </a:r>
          </a:p>
          <a:p>
            <a:pPr marL="45720" indent="0">
              <a:buNone/>
            </a:pPr>
            <a:r>
              <a:rPr lang="en-US" b="1" dirty="0"/>
              <a:t>3. Report writing: </a:t>
            </a:r>
            <a:r>
              <a:rPr lang="en-US" dirty="0"/>
              <a:t>It is an inseparable part and a final outcome of a research study. Its purpose is to convey information contained in it to the readers or audience.</a:t>
            </a:r>
          </a:p>
        </p:txBody>
      </p:sp>
    </p:spTree>
    <p:extLst>
      <p:ext uri="{BB962C8B-B14F-4D97-AF65-F5344CB8AC3E}">
        <p14:creationId xmlns:p14="http://schemas.microsoft.com/office/powerpoint/2010/main" val="24177416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85B895-2E44-F4AA-9D6F-ADC6020AAE76}"/>
              </a:ext>
            </a:extLst>
          </p:cNvPr>
          <p:cNvSpPr>
            <a:spLocks noGrp="1"/>
          </p:cNvSpPr>
          <p:nvPr>
            <p:ph type="title"/>
          </p:nvPr>
        </p:nvSpPr>
        <p:spPr/>
        <p:txBody>
          <a:bodyPr/>
          <a:lstStyle/>
          <a:p>
            <a:r>
              <a:rPr lang="en-US" dirty="0"/>
              <a:t>Some ways in which the term Research is used wrongly</a:t>
            </a:r>
          </a:p>
        </p:txBody>
      </p:sp>
      <p:sp>
        <p:nvSpPr>
          <p:cNvPr id="3" name="Content Placeholder 2">
            <a:extLst>
              <a:ext uri="{FF2B5EF4-FFF2-40B4-BE49-F238E27FC236}">
                <a16:creationId xmlns:a16="http://schemas.microsoft.com/office/drawing/2014/main" id="{C9F41341-8F91-9B48-49E7-EE4505870DFC}"/>
              </a:ext>
            </a:extLst>
          </p:cNvPr>
          <p:cNvSpPr>
            <a:spLocks noGrp="1"/>
          </p:cNvSpPr>
          <p:nvPr>
            <p:ph idx="1"/>
          </p:nvPr>
        </p:nvSpPr>
        <p:spPr/>
        <p:txBody>
          <a:bodyPr vert="horz" lIns="91440" tIns="45720" rIns="91440" bIns="45720" rtlCol="0" anchor="t">
            <a:normAutofit/>
          </a:bodyPr>
          <a:lstStyle/>
          <a:p>
            <a:pPr marL="502920" indent="-457200">
              <a:buAutoNum type="arabicPeriod"/>
            </a:pPr>
            <a:r>
              <a:rPr lang="en-US" dirty="0"/>
              <a:t>Just collecting facts or information with no clear purpose,</a:t>
            </a:r>
          </a:p>
          <a:p>
            <a:pPr marL="502920" indent="-457200">
              <a:buClr>
                <a:srgbClr val="595959"/>
              </a:buClr>
              <a:buAutoNum type="arabicPeriod"/>
            </a:pPr>
            <a:r>
              <a:rPr lang="en-US" dirty="0"/>
              <a:t>Reassembling and reordering facts or information without interpretation.</a:t>
            </a:r>
            <a:endParaRPr lang="en-US"/>
          </a:p>
          <a:p>
            <a:pPr marL="502920" indent="-457200">
              <a:buClr>
                <a:srgbClr val="595959"/>
              </a:buClr>
              <a:buAutoNum type="arabicPeriod"/>
            </a:pPr>
            <a:r>
              <a:rPr lang="en-US" dirty="0"/>
              <a:t>As a term to get your product or idea noticed and respected</a:t>
            </a:r>
            <a:endParaRPr lang="en-US"/>
          </a:p>
          <a:p>
            <a:pPr marL="502920" indent="-457200">
              <a:buClr>
                <a:srgbClr val="595959"/>
              </a:buClr>
              <a:buAutoNum type="arabicPeriod"/>
            </a:pPr>
            <a:endParaRPr lang="en-US"/>
          </a:p>
        </p:txBody>
      </p:sp>
    </p:spTree>
    <p:extLst>
      <p:ext uri="{BB962C8B-B14F-4D97-AF65-F5344CB8AC3E}">
        <p14:creationId xmlns:p14="http://schemas.microsoft.com/office/powerpoint/2010/main" val="25610103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2075" y="254746"/>
            <a:ext cx="10844349" cy="5954486"/>
          </a:xfrm>
        </p:spPr>
        <p:txBody>
          <a:bodyPr vert="horz" lIns="91440" tIns="45720" rIns="91440" bIns="45720" rtlCol="0" anchor="t">
            <a:noAutofit/>
          </a:bodyPr>
          <a:lstStyle/>
          <a:p>
            <a:pPr marL="457200" indent="-457200" algn="just">
              <a:lnSpc>
                <a:spcPct val="100000"/>
              </a:lnSpc>
              <a:buFont typeface="+mj-lt"/>
              <a:buAutoNum type="arabicPeriod"/>
            </a:pPr>
            <a:endParaRPr lang="en-US" sz="1600" dirty="0"/>
          </a:p>
          <a:p>
            <a:pPr marL="0" indent="0" algn="just">
              <a:lnSpc>
                <a:spcPct val="100000"/>
              </a:lnSpc>
              <a:buNone/>
            </a:pPr>
            <a:r>
              <a:rPr lang="en-US" sz="2400" b="1" dirty="0">
                <a:solidFill>
                  <a:schemeClr val="bg2">
                    <a:lumMod val="25000"/>
                  </a:schemeClr>
                </a:solidFill>
              </a:rPr>
              <a:t>When you need to conduct Research Study?</a:t>
            </a:r>
          </a:p>
          <a:p>
            <a:pPr marL="457200" indent="-457200" algn="just">
              <a:lnSpc>
                <a:spcPct val="100000"/>
              </a:lnSpc>
              <a:buClr>
                <a:srgbClr val="595959"/>
              </a:buClr>
              <a:buAutoNum type="arabicPeriod"/>
            </a:pPr>
            <a:r>
              <a:rPr lang="en-US" sz="1400" dirty="0"/>
              <a:t>To students who are to write a master’s or PhD thesis, research may mean a way to attain a high position in the social structure.</a:t>
            </a:r>
          </a:p>
          <a:p>
            <a:pPr marL="457200" indent="-457200" algn="just">
              <a:lnSpc>
                <a:spcPct val="100000"/>
              </a:lnSpc>
              <a:buFont typeface="+mj-lt"/>
              <a:buAutoNum type="arabicPeriod"/>
            </a:pPr>
            <a:r>
              <a:rPr lang="en-US" sz="1400" dirty="0"/>
              <a:t>Research is important for researchers in studying social relationship and in seeking answers to various social problems.</a:t>
            </a:r>
          </a:p>
          <a:p>
            <a:pPr marL="457200" indent="-457200" algn="just">
              <a:lnSpc>
                <a:spcPct val="100000"/>
              </a:lnSpc>
              <a:buFont typeface="+mj-lt"/>
              <a:buAutoNum type="arabicPeriod"/>
            </a:pPr>
            <a:r>
              <a:rPr lang="en-US" sz="1400" dirty="0"/>
              <a:t>Research provides the basis for nearly all government policies in our economic system.</a:t>
            </a:r>
          </a:p>
          <a:p>
            <a:pPr marL="457200" indent="-457200" algn="just">
              <a:lnSpc>
                <a:spcPct val="100000"/>
              </a:lnSpc>
              <a:buFont typeface="+mj-lt"/>
              <a:buAutoNum type="arabicPeriod"/>
            </a:pPr>
            <a:r>
              <a:rPr lang="en-US" sz="1400" dirty="0"/>
              <a:t>Research has its special significance in solving various operational and planning of business and industry. </a:t>
            </a:r>
          </a:p>
          <a:p>
            <a:pPr marL="457200" indent="-457200" algn="just">
              <a:lnSpc>
                <a:spcPct val="100000"/>
              </a:lnSpc>
              <a:buFont typeface="+mj-lt"/>
              <a:buAutoNum type="arabicPeriod"/>
            </a:pPr>
            <a:r>
              <a:rPr lang="en-US" sz="1400" dirty="0"/>
              <a:t>Research is needed to develop strategies and models in rural development. </a:t>
            </a:r>
          </a:p>
          <a:p>
            <a:pPr marL="457200" indent="-457200" algn="just">
              <a:lnSpc>
                <a:spcPct val="100000"/>
              </a:lnSpc>
              <a:buFont typeface="+mj-lt"/>
              <a:buAutoNum type="arabicPeriod"/>
            </a:pPr>
            <a:r>
              <a:rPr lang="en-US" sz="1400" dirty="0"/>
              <a:t>The role of research in several fields of applied economics, whether related to business or to the economy as a whole, has greatly increased in modern items. </a:t>
            </a:r>
          </a:p>
          <a:p>
            <a:pPr marL="457200" indent="-457200" algn="just">
              <a:lnSpc>
                <a:spcPct val="100000"/>
              </a:lnSpc>
              <a:buFont typeface="+mj-lt"/>
              <a:buAutoNum type="arabicPeriod"/>
            </a:pPr>
            <a:r>
              <a:rPr lang="en-US" sz="1400" dirty="0"/>
              <a:t>Research inculcates scientific and inductive thinking and it promotes the development of logical habits of thinking and organization. </a:t>
            </a:r>
          </a:p>
          <a:p>
            <a:pPr marL="457200" indent="-457200" algn="just">
              <a:lnSpc>
                <a:spcPct val="100000"/>
              </a:lnSpc>
              <a:buFont typeface="+mj-lt"/>
              <a:buAutoNum type="arabicPeriod"/>
            </a:pPr>
            <a:r>
              <a:rPr lang="en-US" sz="1400" dirty="0"/>
              <a:t>To professionals, research may mean a source of livelihood. </a:t>
            </a:r>
          </a:p>
          <a:p>
            <a:pPr marL="457200" indent="-457200" algn="just">
              <a:lnSpc>
                <a:spcPct val="100000"/>
              </a:lnSpc>
              <a:buFont typeface="+mj-lt"/>
              <a:buAutoNum type="arabicPeriod"/>
            </a:pPr>
            <a:r>
              <a:rPr lang="en-US" sz="1400" dirty="0"/>
              <a:t>To analysts and intellectuals, research may mean the generalizations of new theories. Thus, research is the foundation of knowledge for the sake of knowledge and an important source for providing guidelines for solving different business, government and social problems</a:t>
            </a:r>
          </a:p>
        </p:txBody>
      </p:sp>
    </p:spTree>
    <p:extLst>
      <p:ext uri="{BB962C8B-B14F-4D97-AF65-F5344CB8AC3E}">
        <p14:creationId xmlns:p14="http://schemas.microsoft.com/office/powerpoint/2010/main" val="307130042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Characteristics of a Good Research</a:t>
            </a:r>
            <a:endParaRPr lang="en-US" dirty="0"/>
          </a:p>
        </p:txBody>
      </p:sp>
      <p:sp>
        <p:nvSpPr>
          <p:cNvPr id="8" name="Text Placeholder 7"/>
          <p:cNvSpPr>
            <a:spLocks noGrp="1"/>
          </p:cNvSpPr>
          <p:nvPr>
            <p:ph type="body" idx="1"/>
          </p:nvPr>
        </p:nvSpPr>
        <p:spPr>
          <a:xfrm>
            <a:off x="1097280" y="1846052"/>
            <a:ext cx="9834880" cy="736282"/>
          </a:xfrm>
        </p:spPr>
        <p:txBody>
          <a:bodyPr>
            <a:normAutofit fontScale="92500" lnSpcReduction="20000"/>
          </a:bodyPr>
          <a:lstStyle/>
          <a:p>
            <a:pPr algn="just"/>
            <a:r>
              <a:rPr lang="en-US" cap="none" dirty="0">
                <a:solidFill>
                  <a:schemeClr val="tx1"/>
                </a:solidFill>
              </a:rPr>
              <a:t>Characteristics of research determine whether a research is free of biases, prejudices, and subjective errors or not. The terms are very commonly used in research and the success of any research depends on these terms. They can be summarized as following terms:</a:t>
            </a:r>
          </a:p>
        </p:txBody>
      </p:sp>
      <p:sp>
        <p:nvSpPr>
          <p:cNvPr id="3" name="Content Placeholder 2"/>
          <p:cNvSpPr>
            <a:spLocks noGrp="1"/>
          </p:cNvSpPr>
          <p:nvPr>
            <p:ph sz="half" idx="2"/>
          </p:nvPr>
        </p:nvSpPr>
        <p:spPr>
          <a:xfrm>
            <a:off x="1076960" y="2866814"/>
            <a:ext cx="4937760" cy="3378200"/>
          </a:xfrm>
        </p:spPr>
        <p:txBody>
          <a:bodyPr>
            <a:normAutofit/>
          </a:bodyPr>
          <a:lstStyle/>
          <a:p>
            <a:pPr marL="0" indent="0">
              <a:buNone/>
            </a:pPr>
            <a:r>
              <a:rPr lang="en-US" dirty="0"/>
              <a:t>1. Generalized</a:t>
            </a:r>
          </a:p>
          <a:p>
            <a:pPr marL="0" indent="0">
              <a:buNone/>
            </a:pPr>
            <a:r>
              <a:rPr lang="en-US" dirty="0"/>
              <a:t>2. Controlled</a:t>
            </a:r>
          </a:p>
          <a:p>
            <a:pPr marL="0" indent="0">
              <a:buNone/>
            </a:pPr>
            <a:r>
              <a:rPr lang="en-US" dirty="0"/>
              <a:t>3. Rigorous</a:t>
            </a:r>
          </a:p>
          <a:p>
            <a:pPr marL="0" indent="0">
              <a:buNone/>
            </a:pPr>
            <a:r>
              <a:rPr lang="en-US" dirty="0"/>
              <a:t>4. Empirical</a:t>
            </a:r>
          </a:p>
          <a:p>
            <a:pPr marL="0" indent="0">
              <a:buNone/>
            </a:pPr>
            <a:r>
              <a:rPr lang="en-US" dirty="0"/>
              <a:t>5. Systematic </a:t>
            </a:r>
          </a:p>
          <a:p>
            <a:pPr fontAlgn="base"/>
            <a:endParaRPr lang="en-US" dirty="0"/>
          </a:p>
        </p:txBody>
      </p:sp>
      <p:sp>
        <p:nvSpPr>
          <p:cNvPr id="10" name="Content Placeholder 9"/>
          <p:cNvSpPr>
            <a:spLocks noGrp="1"/>
          </p:cNvSpPr>
          <p:nvPr>
            <p:ph sz="quarter" idx="4"/>
          </p:nvPr>
        </p:nvSpPr>
        <p:spPr>
          <a:xfrm>
            <a:off x="6217920" y="2805854"/>
            <a:ext cx="4937760" cy="3378200"/>
          </a:xfrm>
        </p:spPr>
        <p:txBody>
          <a:bodyPr/>
          <a:lstStyle/>
          <a:p>
            <a:pPr marL="0" indent="0">
              <a:buNone/>
            </a:pPr>
            <a:r>
              <a:rPr lang="en-US" dirty="0"/>
              <a:t>6. Reliability</a:t>
            </a:r>
          </a:p>
          <a:p>
            <a:pPr marL="0" indent="0">
              <a:buNone/>
            </a:pPr>
            <a:r>
              <a:rPr lang="en-US" dirty="0"/>
              <a:t>7. Validity</a:t>
            </a:r>
          </a:p>
          <a:p>
            <a:pPr marL="0" indent="0">
              <a:buNone/>
            </a:pPr>
            <a:r>
              <a:rPr lang="en-US" dirty="0"/>
              <a:t>8. Employs hypothesis </a:t>
            </a:r>
          </a:p>
          <a:p>
            <a:pPr marL="0" indent="0">
              <a:buNone/>
            </a:pPr>
            <a:r>
              <a:rPr lang="en-US" dirty="0"/>
              <a:t>9. Analytical &amp; Accuracy </a:t>
            </a:r>
          </a:p>
          <a:p>
            <a:pPr marL="0" indent="0">
              <a:buNone/>
            </a:pPr>
            <a:r>
              <a:rPr lang="en-US" dirty="0"/>
              <a:t>10. Credibility</a:t>
            </a:r>
          </a:p>
          <a:p>
            <a:pPr marL="0" indent="0">
              <a:buNone/>
            </a:pPr>
            <a:r>
              <a:rPr lang="en-US" dirty="0"/>
              <a:t>11. Critical </a:t>
            </a:r>
          </a:p>
          <a:p>
            <a:endParaRPr lang="en-US" dirty="0"/>
          </a:p>
        </p:txBody>
      </p:sp>
    </p:spTree>
    <p:extLst>
      <p:ext uri="{BB962C8B-B14F-4D97-AF65-F5344CB8AC3E}">
        <p14:creationId xmlns:p14="http://schemas.microsoft.com/office/powerpoint/2010/main" val="3948964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the purpose of research</a:t>
            </a:r>
            <a:endParaRPr lang="en-US" dirty="0"/>
          </a:p>
        </p:txBody>
      </p:sp>
      <p:sp>
        <p:nvSpPr>
          <p:cNvPr id="3" name="Content Placeholder 2"/>
          <p:cNvSpPr>
            <a:spLocks noGrp="1"/>
          </p:cNvSpPr>
          <p:nvPr>
            <p:ph idx="1"/>
          </p:nvPr>
        </p:nvSpPr>
        <p:spPr>
          <a:xfrm>
            <a:off x="1065490" y="1828800"/>
            <a:ext cx="9287778" cy="4191000"/>
          </a:xfrm>
        </p:spPr>
        <p:txBody>
          <a:bodyPr vert="horz" lIns="91440" tIns="45720" rIns="91440" bIns="45720" rtlCol="0" anchor="t">
            <a:normAutofit fontScale="92500"/>
          </a:bodyPr>
          <a:lstStyle/>
          <a:p>
            <a:pPr algn="just" fontAlgn="base"/>
            <a:r>
              <a:rPr lang="en-US" sz="2400" dirty="0"/>
              <a:t>The principal objective or purpose of research in any field of inquiry is to add to what is known about the phenomenon under the investigation through the application of scientific methods. The purpose of research is the following</a:t>
            </a:r>
          </a:p>
          <a:p>
            <a:pPr marL="45720" indent="0" algn="just" fontAlgn="base">
              <a:buNone/>
            </a:pPr>
            <a:r>
              <a:rPr lang="en-US" sz="2400" b="1" dirty="0"/>
              <a:t>1. Exploratory: </a:t>
            </a:r>
            <a:r>
              <a:rPr lang="en-US" sz="2400" dirty="0"/>
              <a:t>Exploratory research is the first unstructured research for solving new problems that haven’t been explored/discovered before.  </a:t>
            </a:r>
          </a:p>
          <a:p>
            <a:pPr algn="just"/>
            <a:r>
              <a:rPr lang="en-US" sz="2400" dirty="0"/>
              <a:t>As the name suggests, researchers conduct exploratory studies to explore a group of questions. The answers and analytics may not offer a conclusion to the perceived problem. It is undertaken to handle new problem areas that haven’t been explored before. This exploratory data analysis process lays the foundation for more conclusive data collection and analysis.</a:t>
            </a:r>
          </a:p>
          <a:p>
            <a:endParaRPr lang="en-US" dirty="0"/>
          </a:p>
        </p:txBody>
      </p:sp>
    </p:spTree>
    <p:extLst>
      <p:ext uri="{BB962C8B-B14F-4D97-AF65-F5344CB8AC3E}">
        <p14:creationId xmlns:p14="http://schemas.microsoft.com/office/powerpoint/2010/main" val="222608168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vert="horz" lIns="91440" tIns="45720" rIns="91440" bIns="45720" rtlCol="0" anchor="t">
            <a:normAutofit fontScale="92500"/>
          </a:bodyPr>
          <a:lstStyle/>
          <a:p>
            <a:pPr marL="45720" indent="0">
              <a:buNone/>
            </a:pPr>
            <a:r>
              <a:rPr lang="en-US" sz="2400" b="1" dirty="0"/>
              <a:t>2. Descriptive: </a:t>
            </a:r>
            <a:r>
              <a:rPr lang="en-US" sz="2400" dirty="0"/>
              <a:t> Descriptive research expands knowledge of an existing research problem in a structured way. </a:t>
            </a:r>
            <a:endParaRPr lang="en-US"/>
          </a:p>
          <a:p>
            <a:pPr algn="just"/>
            <a:r>
              <a:rPr lang="en-US" sz="2400" dirty="0"/>
              <a:t>It focuses on expanding knowledge on current issues through a process of data collection. Descriptive research describe the behavior of a sample population. </a:t>
            </a:r>
          </a:p>
          <a:p>
            <a:pPr algn="just">
              <a:buClr>
                <a:srgbClr val="595959"/>
              </a:buClr>
            </a:pPr>
            <a:r>
              <a:rPr lang="en-US" sz="2400" dirty="0"/>
              <a:t>Only one research variable is required to conduct the study. The three primary purposes of descriptive studies are describing, explaining, and validating the findings.</a:t>
            </a:r>
            <a:endParaRPr lang="en-US" dirty="0"/>
          </a:p>
          <a:p>
            <a:pPr algn="just">
              <a:buClr>
                <a:srgbClr val="595959"/>
              </a:buClr>
            </a:pPr>
            <a:r>
              <a:rPr lang="en-US" sz="2400" dirty="0"/>
              <a:t>For example, a study conducted to know if top-level management leaders in the 21st century possess the moral right to receive a considerable sum of money from the company profit.</a:t>
            </a:r>
            <a:endParaRPr lang="en-US"/>
          </a:p>
          <a:p>
            <a:endParaRPr lang="en-US" dirty="0"/>
          </a:p>
        </p:txBody>
      </p:sp>
    </p:spTree>
    <p:extLst>
      <p:ext uri="{BB962C8B-B14F-4D97-AF65-F5344CB8AC3E}">
        <p14:creationId xmlns:p14="http://schemas.microsoft.com/office/powerpoint/2010/main" val="20673608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What is the purpose of research</a:t>
            </a:r>
            <a:endParaRPr lang="en-US" dirty="0"/>
          </a:p>
        </p:txBody>
      </p:sp>
      <p:sp>
        <p:nvSpPr>
          <p:cNvPr id="3" name="Content Placeholder 2"/>
          <p:cNvSpPr>
            <a:spLocks noGrp="1"/>
          </p:cNvSpPr>
          <p:nvPr>
            <p:ph idx="1"/>
          </p:nvPr>
        </p:nvSpPr>
        <p:spPr/>
        <p:txBody>
          <a:bodyPr vert="horz" lIns="91440" tIns="45720" rIns="91440" bIns="45720" rtlCol="0" anchor="t">
            <a:normAutofit/>
          </a:bodyPr>
          <a:lstStyle/>
          <a:p>
            <a:pPr marL="45720" indent="0" algn="just">
              <a:buNone/>
            </a:pPr>
            <a:r>
              <a:rPr lang="en-US" sz="2400" b="1" dirty="0"/>
              <a:t>3. Explanatory: </a:t>
            </a:r>
            <a:r>
              <a:rPr lang="en-US" sz="2400" dirty="0"/>
              <a:t>Explanatory research is a casual </a:t>
            </a:r>
            <a:r>
              <a:rPr lang="en-US" sz="2400"/>
              <a:t>and experiential </a:t>
            </a:r>
            <a:r>
              <a:rPr lang="en-US" sz="2400" dirty="0"/>
              <a:t>research. It is conducted to check the result of specific changes in an existing procedure or system.</a:t>
            </a:r>
            <a:endParaRPr lang="en-US"/>
          </a:p>
          <a:p>
            <a:pPr algn="just"/>
            <a:r>
              <a:rPr lang="en-US" sz="2400" dirty="0"/>
              <a:t>Causal research or explanatory research is conducted to understand the impact of specific changes in existing standard procedures. Running experiments is the most popular form. For example, a study that is conducted to understand the effect of rebranding on customer loyalty.</a:t>
            </a:r>
          </a:p>
          <a:p>
            <a:endParaRPr lang="en-US" sz="2400" dirty="0"/>
          </a:p>
        </p:txBody>
      </p:sp>
    </p:spTree>
    <p:extLst>
      <p:ext uri="{BB962C8B-B14F-4D97-AF65-F5344CB8AC3E}">
        <p14:creationId xmlns:p14="http://schemas.microsoft.com/office/powerpoint/2010/main" val="22056550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solidFill>
                  <a:schemeClr val="tx1"/>
                </a:solidFill>
                <a:latin typeface="Fira Sans"/>
              </a:rPr>
              <a:t>Here is a comparative analysis chart for a better understanding</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14987625"/>
              </p:ext>
            </p:extLst>
          </p:nvPr>
        </p:nvGraphicFramePr>
        <p:xfrm>
          <a:off x="1291167" y="2032001"/>
          <a:ext cx="9569872" cy="4165598"/>
        </p:xfrm>
        <a:graphic>
          <a:graphicData uri="http://schemas.openxmlformats.org/drawingml/2006/table">
            <a:tbl>
              <a:tblPr/>
              <a:tblGrid>
                <a:gridCol w="2392468">
                  <a:extLst>
                    <a:ext uri="{9D8B030D-6E8A-4147-A177-3AD203B41FA5}">
                      <a16:colId xmlns:a16="http://schemas.microsoft.com/office/drawing/2014/main" val="20000"/>
                    </a:ext>
                  </a:extLst>
                </a:gridCol>
                <a:gridCol w="2392468">
                  <a:extLst>
                    <a:ext uri="{9D8B030D-6E8A-4147-A177-3AD203B41FA5}">
                      <a16:colId xmlns:a16="http://schemas.microsoft.com/office/drawing/2014/main" val="20001"/>
                    </a:ext>
                  </a:extLst>
                </a:gridCol>
                <a:gridCol w="2392468">
                  <a:extLst>
                    <a:ext uri="{9D8B030D-6E8A-4147-A177-3AD203B41FA5}">
                      <a16:colId xmlns:a16="http://schemas.microsoft.com/office/drawing/2014/main" val="20002"/>
                    </a:ext>
                  </a:extLst>
                </a:gridCol>
                <a:gridCol w="2392468">
                  <a:extLst>
                    <a:ext uri="{9D8B030D-6E8A-4147-A177-3AD203B41FA5}">
                      <a16:colId xmlns:a16="http://schemas.microsoft.com/office/drawing/2014/main" val="20003"/>
                    </a:ext>
                  </a:extLst>
                </a:gridCol>
              </a:tblGrid>
              <a:tr h="857623">
                <a:tc>
                  <a:txBody>
                    <a:bodyPr/>
                    <a:lstStyle/>
                    <a:p>
                      <a:pPr algn="l" fontAlgn="ctr" latinLnBrk="0"/>
                      <a:endParaRPr lang="en-US" dirty="0">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1">
                          <a:effectLst/>
                          <a:latin typeface="Fira Sans"/>
                        </a:rPr>
                        <a:t>Exploratory Research</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1">
                          <a:effectLst/>
                          <a:latin typeface="Fira Sans"/>
                        </a:rPr>
                        <a:t>Descriptive Research</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1">
                          <a:effectLst/>
                          <a:latin typeface="Fira Sans"/>
                        </a:rPr>
                        <a:t>Explanatory Research</a:t>
                      </a:r>
                      <a:endParaRPr lang="en-US">
                        <a:effectLst/>
                        <a:latin typeface="Fira Sans"/>
                      </a:endParaRPr>
                    </a:p>
                  </a:txBody>
                  <a:tcPr anchor="ctr">
                    <a:lnL>
                      <a:noFill/>
                    </a:lnL>
                    <a:lnR>
                      <a:noFill/>
                    </a:lnR>
                    <a:lnT>
                      <a:noFill/>
                    </a:lnT>
                    <a:lnB>
                      <a:noFill/>
                    </a:lnB>
                    <a:solidFill>
                      <a:srgbClr val="FFFFFF"/>
                    </a:solidFill>
                  </a:tcPr>
                </a:tc>
                <a:extLst>
                  <a:ext uri="{0D108BD9-81ED-4DB2-BD59-A6C34878D82A}">
                    <a16:rowId xmlns:a16="http://schemas.microsoft.com/office/drawing/2014/main" val="10000"/>
                  </a:ext>
                </a:extLst>
              </a:tr>
              <a:tr h="857623">
                <a:tc>
                  <a:txBody>
                    <a:bodyPr/>
                    <a:lstStyle/>
                    <a:p>
                      <a:pPr algn="l" fontAlgn="ctr" latinLnBrk="0"/>
                      <a:r>
                        <a:rPr lang="en-US" b="0">
                          <a:effectLst/>
                          <a:latin typeface="Fira Sans"/>
                        </a:rPr>
                        <a:t>Approach used</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Unstructured</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Structured</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Highly structured</a:t>
                      </a:r>
                      <a:endParaRPr lang="en-US">
                        <a:effectLst/>
                        <a:latin typeface="Fira Sans"/>
                      </a:endParaRPr>
                    </a:p>
                  </a:txBody>
                  <a:tcPr anchor="ctr">
                    <a:lnL>
                      <a:noFill/>
                    </a:lnL>
                    <a:lnR>
                      <a:noFill/>
                    </a:lnR>
                    <a:lnT>
                      <a:noFill/>
                    </a:lnT>
                    <a:lnB>
                      <a:noFill/>
                    </a:lnB>
                    <a:solidFill>
                      <a:srgbClr val="FFFFFF"/>
                    </a:solidFill>
                  </a:tcPr>
                </a:tc>
                <a:extLst>
                  <a:ext uri="{0D108BD9-81ED-4DB2-BD59-A6C34878D82A}">
                    <a16:rowId xmlns:a16="http://schemas.microsoft.com/office/drawing/2014/main" val="10001"/>
                  </a:ext>
                </a:extLst>
              </a:tr>
              <a:tr h="857623">
                <a:tc>
                  <a:txBody>
                    <a:bodyPr/>
                    <a:lstStyle/>
                    <a:p>
                      <a:pPr algn="l" fontAlgn="ctr" latinLnBrk="0"/>
                      <a:r>
                        <a:rPr lang="en-US" b="0" dirty="0">
                          <a:effectLst/>
                          <a:latin typeface="Fira Sans"/>
                        </a:rPr>
                        <a:t>Conducted through</a:t>
                      </a:r>
                      <a:endParaRPr lang="en-US" dirty="0">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Asking questions</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Asking questions</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By using hypotheses.</a:t>
                      </a:r>
                      <a:endParaRPr lang="en-US">
                        <a:effectLst/>
                        <a:latin typeface="Fira Sans"/>
                      </a:endParaRPr>
                    </a:p>
                  </a:txBody>
                  <a:tcPr anchor="ctr">
                    <a:lnL>
                      <a:noFill/>
                    </a:lnL>
                    <a:lnR>
                      <a:noFill/>
                    </a:lnR>
                    <a:lnT>
                      <a:noFill/>
                    </a:lnT>
                    <a:lnB>
                      <a:noFill/>
                    </a:lnB>
                    <a:solidFill>
                      <a:srgbClr val="FFFFFF"/>
                    </a:solidFill>
                  </a:tcPr>
                </a:tc>
                <a:extLst>
                  <a:ext uri="{0D108BD9-81ED-4DB2-BD59-A6C34878D82A}">
                    <a16:rowId xmlns:a16="http://schemas.microsoft.com/office/drawing/2014/main" val="10002"/>
                  </a:ext>
                </a:extLst>
              </a:tr>
              <a:tr h="1592729">
                <a:tc>
                  <a:txBody>
                    <a:bodyPr/>
                    <a:lstStyle/>
                    <a:p>
                      <a:pPr algn="l" fontAlgn="ctr" latinLnBrk="0"/>
                      <a:r>
                        <a:rPr lang="en-US" b="0" dirty="0">
                          <a:effectLst/>
                          <a:latin typeface="Fira Sans"/>
                        </a:rPr>
                        <a:t>Time</a:t>
                      </a:r>
                      <a:endParaRPr lang="en-US" dirty="0">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Early stages of decision making</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a:effectLst/>
                          <a:latin typeface="Fira Sans"/>
                        </a:rPr>
                        <a:t>Later stages of decision making</a:t>
                      </a:r>
                      <a:endParaRPr lang="en-US">
                        <a:effectLst/>
                        <a:latin typeface="Fira Sans"/>
                      </a:endParaRPr>
                    </a:p>
                  </a:txBody>
                  <a:tcPr anchor="ctr">
                    <a:lnL>
                      <a:noFill/>
                    </a:lnL>
                    <a:lnR>
                      <a:noFill/>
                    </a:lnR>
                    <a:lnT>
                      <a:noFill/>
                    </a:lnT>
                    <a:lnB>
                      <a:noFill/>
                    </a:lnB>
                    <a:solidFill>
                      <a:srgbClr val="FFFFFF"/>
                    </a:solidFill>
                  </a:tcPr>
                </a:tc>
                <a:tc>
                  <a:txBody>
                    <a:bodyPr/>
                    <a:lstStyle/>
                    <a:p>
                      <a:pPr algn="l" fontAlgn="ctr" latinLnBrk="0"/>
                      <a:r>
                        <a:rPr lang="en-US" b="0" dirty="0">
                          <a:effectLst/>
                          <a:latin typeface="Fira Sans"/>
                        </a:rPr>
                        <a:t>Later stages of decision making</a:t>
                      </a:r>
                      <a:endParaRPr lang="en-US" dirty="0">
                        <a:effectLst/>
                        <a:latin typeface="Fira Sans"/>
                      </a:endParaRPr>
                    </a:p>
                  </a:txBody>
                  <a:tcPr anchor="ctr">
                    <a:lnL>
                      <a:noFill/>
                    </a:lnL>
                    <a:lnR>
                      <a:noFill/>
                    </a:lnR>
                    <a:lnT>
                      <a:noFill/>
                    </a:lnT>
                    <a:lnB>
                      <a:noFill/>
                    </a:lnB>
                    <a:solidFill>
                      <a:srgbClr val="FFFFFF"/>
                    </a:solidFill>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1030515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sz="2400" dirty="0"/>
              <a:t>It begins by asking the right questions and choosing an appropriate method to investigate the problem. After collecting answers to your questions, you can analyze the findings or observations to draw reasonable conclusions.</a:t>
            </a:r>
          </a:p>
          <a:p>
            <a:pPr algn="just"/>
            <a:r>
              <a:rPr lang="en-US" sz="2400" dirty="0"/>
              <a:t>To make sense of your study and get insights faster, it helps to use a research repository as a single source of truth in your organization and manage your research data in one centralized data repository.</a:t>
            </a:r>
          </a:p>
          <a:p>
            <a:endParaRPr lang="en-US" dirty="0"/>
          </a:p>
        </p:txBody>
      </p:sp>
    </p:spTree>
    <p:extLst>
      <p:ext uri="{BB962C8B-B14F-4D97-AF65-F5344CB8AC3E}">
        <p14:creationId xmlns:p14="http://schemas.microsoft.com/office/powerpoint/2010/main" val="29066177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8 tips for conducting accurate research</a:t>
            </a:r>
            <a:br>
              <a:rPr lang="en-US" dirty="0"/>
            </a:br>
            <a:endParaRPr lang="en-US" dirty="0"/>
          </a:p>
        </p:txBody>
      </p:sp>
      <p:sp>
        <p:nvSpPr>
          <p:cNvPr id="3" name="Content Placeholder 2"/>
          <p:cNvSpPr>
            <a:spLocks noGrp="1"/>
          </p:cNvSpPr>
          <p:nvPr>
            <p:ph idx="1"/>
          </p:nvPr>
        </p:nvSpPr>
        <p:spPr/>
        <p:txBody>
          <a:bodyPr>
            <a:normAutofit fontScale="92500" lnSpcReduction="20000"/>
          </a:bodyPr>
          <a:lstStyle/>
          <a:p>
            <a:pPr marL="457200" indent="-457200">
              <a:buFont typeface="+mj-lt"/>
              <a:buAutoNum type="arabicPeriod"/>
            </a:pPr>
            <a:r>
              <a:rPr lang="en-US" dirty="0"/>
              <a:t>Identify the main trends and issues, opportunities, and problems you observe. Write a sentence describing each one.</a:t>
            </a:r>
          </a:p>
          <a:p>
            <a:pPr marL="457200" indent="-457200">
              <a:buFont typeface="+mj-lt"/>
              <a:buAutoNum type="arabicPeriod"/>
            </a:pPr>
            <a:r>
              <a:rPr lang="en-US" dirty="0"/>
              <a:t>Keep track of the frequency with which each of the main findings appears.</a:t>
            </a:r>
          </a:p>
          <a:p>
            <a:pPr marL="457200" indent="-457200">
              <a:buFont typeface="+mj-lt"/>
              <a:buAutoNum type="arabicPeriod"/>
            </a:pPr>
            <a:r>
              <a:rPr lang="en-US" dirty="0"/>
              <a:t>Make a list of your findings from the most common to the least common.</a:t>
            </a:r>
          </a:p>
          <a:p>
            <a:pPr marL="457200" indent="-457200">
              <a:buFont typeface="+mj-lt"/>
              <a:buAutoNum type="arabicPeriod"/>
            </a:pPr>
            <a:r>
              <a:rPr lang="en-US" dirty="0"/>
              <a:t>Evaluate a list of the strengths, weaknesses, opportunities, and threats identified in a SWOT analysis.</a:t>
            </a:r>
          </a:p>
          <a:p>
            <a:pPr marL="457200" indent="-457200">
              <a:buFont typeface="+mj-lt"/>
              <a:buAutoNum type="arabicPeriod"/>
            </a:pPr>
            <a:r>
              <a:rPr lang="en-US" dirty="0"/>
              <a:t>Prepare conclusions and recommendations about your study.</a:t>
            </a:r>
          </a:p>
          <a:p>
            <a:pPr marL="457200" indent="-457200">
              <a:buFont typeface="+mj-lt"/>
              <a:buAutoNum type="arabicPeriod"/>
            </a:pPr>
            <a:r>
              <a:rPr lang="en-US" dirty="0"/>
              <a:t>Act on your strategies</a:t>
            </a:r>
          </a:p>
          <a:p>
            <a:pPr marL="457200" indent="-457200">
              <a:buFont typeface="+mj-lt"/>
              <a:buAutoNum type="arabicPeriod"/>
            </a:pPr>
            <a:r>
              <a:rPr lang="en-US" dirty="0"/>
              <a:t>Look for gaps in the information, and consider doing additional inquiry if necessary</a:t>
            </a:r>
          </a:p>
          <a:p>
            <a:pPr marL="457200" indent="-457200">
              <a:buFont typeface="+mj-lt"/>
              <a:buAutoNum type="arabicPeriod"/>
            </a:pPr>
            <a:r>
              <a:rPr lang="en-US" dirty="0"/>
              <a:t>Plan to review the results and consider efficient methods to analyze and interpret results.</a:t>
            </a:r>
          </a:p>
          <a:p>
            <a:endParaRPr lang="en-US" dirty="0"/>
          </a:p>
        </p:txBody>
      </p:sp>
    </p:spTree>
    <p:extLst>
      <p:ext uri="{BB962C8B-B14F-4D97-AF65-F5344CB8AC3E}">
        <p14:creationId xmlns:p14="http://schemas.microsoft.com/office/powerpoint/2010/main" val="16709946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54430" y="2778343"/>
            <a:ext cx="10058400" cy="1450757"/>
          </a:xfrm>
        </p:spPr>
        <p:txBody>
          <a:bodyPr>
            <a:normAutofit fontScale="90000"/>
          </a:bodyPr>
          <a:lstStyle/>
          <a:p>
            <a:r>
              <a:rPr lang="en-US" sz="6000" b="1" dirty="0"/>
              <a:t>Computing Research Project Brief </a:t>
            </a:r>
          </a:p>
        </p:txBody>
      </p:sp>
    </p:spTree>
    <p:extLst>
      <p:ext uri="{BB962C8B-B14F-4D97-AF65-F5344CB8AC3E}">
        <p14:creationId xmlns:p14="http://schemas.microsoft.com/office/powerpoint/2010/main" val="35221942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490" y="2309"/>
            <a:ext cx="8689064" cy="1066800"/>
          </a:xfrm>
        </p:spPr>
        <p:txBody>
          <a:bodyPr/>
          <a:lstStyle/>
          <a:p>
            <a:r>
              <a:rPr lang="en-US" dirty="0"/>
              <a:t>Computing Research Project Brief </a:t>
            </a:r>
          </a:p>
        </p:txBody>
      </p:sp>
      <p:sp>
        <p:nvSpPr>
          <p:cNvPr id="3" name="Content Placeholder 2"/>
          <p:cNvSpPr>
            <a:spLocks noGrp="1"/>
          </p:cNvSpPr>
          <p:nvPr>
            <p:ph idx="1"/>
          </p:nvPr>
        </p:nvSpPr>
        <p:spPr>
          <a:xfrm>
            <a:off x="1065490" y="1332345"/>
            <a:ext cx="8689064" cy="4191000"/>
          </a:xfrm>
        </p:spPr>
        <p:txBody>
          <a:bodyPr vert="horz" lIns="91440" tIns="45720" rIns="91440" bIns="45720" rtlCol="0" anchor="t">
            <a:noAutofit/>
          </a:bodyPr>
          <a:lstStyle/>
          <a:p>
            <a:pPr marL="457200" indent="-457200">
              <a:buFont typeface="+mj-lt"/>
              <a:buAutoNum type="arabicPeriod"/>
            </a:pPr>
            <a:r>
              <a:rPr lang="en-US" sz="1500" dirty="0"/>
              <a:t>Define your research problem or question. This can be stated as a research question, objectives or hypothesis. </a:t>
            </a:r>
          </a:p>
          <a:p>
            <a:pPr marL="457200" indent="-457200">
              <a:buFont typeface="+mj-lt"/>
              <a:buAutoNum type="arabicPeriod"/>
            </a:pPr>
            <a:r>
              <a:rPr lang="en-US" sz="1500" dirty="0"/>
              <a:t> Provide a literature review giving the background and conceptualization of your proposed area of study. This would provide existing knowledge and benchmarks by which your data can be judged. </a:t>
            </a:r>
          </a:p>
          <a:p>
            <a:pPr marL="457200" indent="-457200">
              <a:buFont typeface="+mj-lt"/>
              <a:buAutoNum type="arabicPeriod"/>
            </a:pPr>
            <a:r>
              <a:rPr lang="en-US" sz="1500" dirty="0"/>
              <a:t> Consider and define your research methodology and research process. Demonstrate understanding of the pitfalls and limitations of the methods chosen and ethical issues that might arise. </a:t>
            </a:r>
          </a:p>
          <a:p>
            <a:pPr marL="457200" indent="-457200">
              <a:buFont typeface="+mj-lt"/>
              <a:buAutoNum type="arabicPeriod"/>
            </a:pPr>
            <a:r>
              <a:rPr lang="en-US" sz="1500" dirty="0"/>
              <a:t>Draw points (1–3, above) together into a research proposal for agreement with your tutor. </a:t>
            </a:r>
          </a:p>
          <a:p>
            <a:pPr marL="457200" indent="-457200">
              <a:buFont typeface="+mj-lt"/>
              <a:buAutoNum type="arabicPeriod"/>
            </a:pPr>
            <a:r>
              <a:rPr lang="en-US" sz="1500" dirty="0"/>
              <a:t> Conduct your research as outlined in your proposal. Keep track of your findings as you work. </a:t>
            </a:r>
          </a:p>
          <a:p>
            <a:pPr marL="457200" indent="-457200">
              <a:buFont typeface="+mj-lt"/>
              <a:buAutoNum type="arabicPeriod"/>
            </a:pPr>
            <a:r>
              <a:rPr lang="en-US" sz="1500" dirty="0"/>
              <a:t> Carry out your research and </a:t>
            </a:r>
            <a:r>
              <a:rPr lang="en-US" sz="1500" err="1"/>
              <a:t>analyse</a:t>
            </a:r>
            <a:r>
              <a:rPr lang="en-US" sz="1500" dirty="0"/>
              <a:t> your findings in relation to your original research question. Draw conclusions. </a:t>
            </a:r>
          </a:p>
          <a:p>
            <a:pPr marL="457200" indent="-457200">
              <a:buFont typeface="+mj-lt"/>
              <a:buAutoNum type="arabicPeriod"/>
            </a:pPr>
            <a:r>
              <a:rPr lang="en-US" sz="1500" dirty="0"/>
              <a:t> Communicate the outcomes of your research project to the identified audience. </a:t>
            </a:r>
          </a:p>
          <a:p>
            <a:pPr marL="457200" indent="-457200">
              <a:buFont typeface="+mj-lt"/>
              <a:buAutoNum type="arabicPeriod"/>
            </a:pPr>
            <a:r>
              <a:rPr lang="en-US" sz="1500" dirty="0"/>
              <a:t> Reflect on the success of your research project and your performance at the end of the project with the inclusion of a project evaluation and recommendations</a:t>
            </a:r>
          </a:p>
        </p:txBody>
      </p:sp>
    </p:spTree>
    <p:extLst>
      <p:ext uri="{BB962C8B-B14F-4D97-AF65-F5344CB8AC3E}">
        <p14:creationId xmlns:p14="http://schemas.microsoft.com/office/powerpoint/2010/main" val="40047828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Research Process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3200" dirty="0"/>
              <a:t>Research methodology is specific procedure or techniques used to identify, select, process and analysis information about the topic. It follows scientific investigation principles </a:t>
            </a:r>
            <a:endParaRPr lang="en-US"/>
          </a:p>
        </p:txBody>
      </p:sp>
    </p:spTree>
    <p:extLst>
      <p:ext uri="{BB962C8B-B14F-4D97-AF65-F5344CB8AC3E}">
        <p14:creationId xmlns:p14="http://schemas.microsoft.com/office/powerpoint/2010/main" val="12242840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Definition of Research Process</a:t>
            </a:r>
          </a:p>
        </p:txBody>
      </p:sp>
      <p:sp>
        <p:nvSpPr>
          <p:cNvPr id="3" name="Content Placeholder 2"/>
          <p:cNvSpPr>
            <a:spLocks noGrp="1"/>
          </p:cNvSpPr>
          <p:nvPr>
            <p:ph idx="1"/>
          </p:nvPr>
        </p:nvSpPr>
        <p:spPr/>
        <p:txBody>
          <a:bodyPr vert="horz" lIns="91440" tIns="45720" rIns="91440" bIns="45720" rtlCol="0" anchor="t">
            <a:normAutofit/>
          </a:bodyPr>
          <a:lstStyle/>
          <a:p>
            <a:pPr marL="514350" indent="-514350">
              <a:buAutoNum type="arabicPeriod"/>
            </a:pPr>
            <a:r>
              <a:rPr lang="en-US" sz="2800" dirty="0"/>
              <a:t>Identification</a:t>
            </a:r>
          </a:p>
          <a:p>
            <a:pPr marL="514350" indent="-514350">
              <a:buAutoNum type="arabicPeriod"/>
            </a:pPr>
            <a:r>
              <a:rPr lang="en-US" sz="2800" dirty="0"/>
              <a:t>Collection of data</a:t>
            </a:r>
          </a:p>
          <a:p>
            <a:pPr marL="514350" indent="-514350">
              <a:buAutoNum type="arabicPeriod"/>
            </a:pPr>
            <a:r>
              <a:rPr lang="en-US" sz="2800" dirty="0"/>
              <a:t>Analysis</a:t>
            </a:r>
          </a:p>
          <a:p>
            <a:pPr marL="514350" indent="-514350">
              <a:buAutoNum type="arabicPeriod"/>
            </a:pPr>
            <a:r>
              <a:rPr lang="en-US" sz="2800" dirty="0"/>
              <a:t>Dissemination</a:t>
            </a:r>
          </a:p>
          <a:p>
            <a:pPr marL="514350" indent="-514350">
              <a:buAutoNum type="arabicPeriod"/>
            </a:pPr>
            <a:r>
              <a:rPr lang="en-US" sz="2800" dirty="0"/>
              <a:t>Use of Information </a:t>
            </a:r>
          </a:p>
        </p:txBody>
      </p:sp>
    </p:spTree>
    <p:extLst>
      <p:ext uri="{BB962C8B-B14F-4D97-AF65-F5344CB8AC3E}">
        <p14:creationId xmlns:p14="http://schemas.microsoft.com/office/powerpoint/2010/main" val="4287403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vert="horz" lIns="91440" tIns="45720" rIns="91440" bIns="45720" rtlCol="0" anchor="t">
            <a:normAutofit/>
          </a:bodyPr>
          <a:lstStyle/>
          <a:p>
            <a:r>
              <a:rPr lang="en-US" sz="2400" dirty="0"/>
              <a:t>What is Research Method?</a:t>
            </a:r>
          </a:p>
          <a:p>
            <a:pPr marL="0" indent="0">
              <a:buNone/>
            </a:pPr>
            <a:endParaRPr lang="en-US" sz="2400" dirty="0"/>
          </a:p>
          <a:p>
            <a:pPr marL="0" indent="0">
              <a:buNone/>
            </a:pPr>
            <a:r>
              <a:rPr lang="en-US" sz="2400" dirty="0"/>
              <a:t>The techniques and procedures used to obtain data</a:t>
            </a:r>
          </a:p>
          <a:p>
            <a:endParaRPr lang="en-US" sz="2400" dirty="0"/>
          </a:p>
          <a:p>
            <a:r>
              <a:rPr lang="en-US" sz="2400" dirty="0"/>
              <a:t>What is Research Methodology?</a:t>
            </a:r>
          </a:p>
          <a:p>
            <a:pPr marL="0" indent="0">
              <a:buNone/>
            </a:pPr>
            <a:endParaRPr lang="en-US" sz="2400" dirty="0"/>
          </a:p>
          <a:p>
            <a:pPr marL="0" indent="0">
              <a:buNone/>
            </a:pPr>
            <a:r>
              <a:rPr lang="en-US" sz="2400" dirty="0"/>
              <a:t>The theory of how the research should be undertaken</a:t>
            </a:r>
          </a:p>
        </p:txBody>
      </p:sp>
    </p:spTree>
    <p:extLst>
      <p:ext uri="{BB962C8B-B14F-4D97-AF65-F5344CB8AC3E}">
        <p14:creationId xmlns:p14="http://schemas.microsoft.com/office/powerpoint/2010/main" val="10771188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8F3942E-DCC6-74C3-1D7F-9EB02BA40331}"/>
              </a:ext>
            </a:extLst>
          </p:cNvPr>
          <p:cNvSpPr>
            <a:spLocks noGrp="1"/>
          </p:cNvSpPr>
          <p:nvPr>
            <p:ph type="title"/>
          </p:nvPr>
        </p:nvSpPr>
        <p:spPr/>
        <p:txBody>
          <a:bodyPr/>
          <a:lstStyle/>
          <a:p>
            <a:r>
              <a:rPr lang="en-US" dirty="0"/>
              <a:t>Research Classification</a:t>
            </a:r>
          </a:p>
        </p:txBody>
      </p:sp>
      <p:sp>
        <p:nvSpPr>
          <p:cNvPr id="3" name="Content Placeholder 2">
            <a:extLst>
              <a:ext uri="{FF2B5EF4-FFF2-40B4-BE49-F238E27FC236}">
                <a16:creationId xmlns:a16="http://schemas.microsoft.com/office/drawing/2014/main" id="{B70B674F-FBAB-16D9-F177-7C5D57645F01}"/>
              </a:ext>
            </a:extLst>
          </p:cNvPr>
          <p:cNvSpPr>
            <a:spLocks noGrp="1"/>
          </p:cNvSpPr>
          <p:nvPr>
            <p:ph idx="1"/>
          </p:nvPr>
        </p:nvSpPr>
        <p:spPr/>
        <p:txBody>
          <a:bodyPr vert="horz" lIns="91440" tIns="45720" rIns="91440" bIns="45720" rtlCol="0" anchor="t">
            <a:normAutofit/>
          </a:bodyPr>
          <a:lstStyle/>
          <a:p>
            <a:pPr marL="502920" indent="-457200">
              <a:buAutoNum type="arabicPeriod"/>
            </a:pPr>
            <a:r>
              <a:rPr lang="en-US" sz="3200" dirty="0"/>
              <a:t>Basic Research/ F</a:t>
            </a:r>
            <a:r>
              <a:rPr lang="en-US" sz="3200" dirty="0">
                <a:solidFill>
                  <a:srgbClr val="111111"/>
                </a:solidFill>
                <a:ea typeface="+mn-lt"/>
                <a:cs typeface="+mn-lt"/>
              </a:rPr>
              <a:t>undamental Research</a:t>
            </a:r>
            <a:endParaRPr lang="en-US" sz="3200" dirty="0"/>
          </a:p>
          <a:p>
            <a:pPr marL="45720" indent="0" algn="just">
              <a:buClr>
                <a:srgbClr val="595959"/>
              </a:buClr>
              <a:buNone/>
            </a:pPr>
            <a:r>
              <a:rPr lang="en-US" sz="2800" dirty="0">
                <a:solidFill>
                  <a:srgbClr val="111111"/>
                </a:solidFill>
                <a:ea typeface="+mn-lt"/>
                <a:cs typeface="+mn-lt"/>
              </a:rPr>
              <a:t>Basic research aims to </a:t>
            </a:r>
            <a:r>
              <a:rPr lang="en-US" sz="2800" b="1" dirty="0">
                <a:solidFill>
                  <a:srgbClr val="111111"/>
                </a:solidFill>
                <a:ea typeface="+mn-lt"/>
                <a:cs typeface="+mn-lt"/>
              </a:rPr>
              <a:t>advance knowledge</a:t>
            </a:r>
            <a:r>
              <a:rPr lang="en-US" sz="2800" dirty="0">
                <a:solidFill>
                  <a:srgbClr val="111111"/>
                </a:solidFill>
                <a:ea typeface="+mn-lt"/>
                <a:cs typeface="+mn-lt"/>
              </a:rPr>
              <a:t> and deepen our understanding of various phenomena, laws of nature, or specific subjects. </a:t>
            </a:r>
            <a:endParaRPr lang="en-US" sz="2800" dirty="0">
              <a:solidFill>
                <a:srgbClr val="000000"/>
              </a:solidFill>
              <a:ea typeface="+mn-lt"/>
              <a:cs typeface="+mn-lt"/>
            </a:endParaRPr>
          </a:p>
          <a:p>
            <a:pPr marL="45720" indent="0" algn="just">
              <a:buNone/>
            </a:pPr>
            <a:r>
              <a:rPr lang="en-US" sz="2800" b="1" dirty="0">
                <a:solidFill>
                  <a:srgbClr val="111111"/>
                </a:solidFill>
                <a:ea typeface="+mn-lt"/>
                <a:cs typeface="+mn-lt"/>
              </a:rPr>
              <a:t>Curiosity-Driven</a:t>
            </a:r>
            <a:r>
              <a:rPr lang="en-US" sz="2800" dirty="0">
                <a:solidFill>
                  <a:srgbClr val="111111"/>
                </a:solidFill>
                <a:ea typeface="+mn-lt"/>
                <a:cs typeface="+mn-lt"/>
              </a:rPr>
              <a:t>: Researchers in basic research explore questions like “how,” “what,” and “why.”</a:t>
            </a:r>
            <a:endParaRPr lang="en-US" sz="2800" dirty="0">
              <a:solidFill>
                <a:srgbClr val="000000"/>
              </a:solidFill>
              <a:ea typeface="+mn-lt"/>
              <a:cs typeface="+mn-lt"/>
            </a:endParaRPr>
          </a:p>
          <a:p>
            <a:pPr marL="45720" indent="0" algn="just">
              <a:buNone/>
            </a:pPr>
            <a:r>
              <a:rPr lang="en-US" sz="2800" dirty="0">
                <a:solidFill>
                  <a:srgbClr val="111111"/>
                </a:solidFill>
                <a:ea typeface="+mn-lt"/>
                <a:cs typeface="+mn-lt"/>
              </a:rPr>
              <a:t>They seek to unravel the unknown and satisfy their intellectual curiosity.</a:t>
            </a:r>
            <a:endParaRPr lang="en-US" sz="2800"/>
          </a:p>
          <a:p>
            <a:pPr marL="45720" indent="0">
              <a:buNone/>
            </a:pPr>
            <a:endParaRPr lang="en-US" sz="1600" dirty="0">
              <a:solidFill>
                <a:srgbClr val="111111"/>
              </a:solidFill>
            </a:endParaRPr>
          </a:p>
          <a:p>
            <a:pPr marL="45720" indent="0">
              <a:buClr>
                <a:srgbClr val="595959"/>
              </a:buClr>
              <a:buNone/>
            </a:pPr>
            <a:endParaRPr lang="en-US" dirty="0"/>
          </a:p>
        </p:txBody>
      </p:sp>
    </p:spTree>
    <p:extLst>
      <p:ext uri="{BB962C8B-B14F-4D97-AF65-F5344CB8AC3E}">
        <p14:creationId xmlns:p14="http://schemas.microsoft.com/office/powerpoint/2010/main" val="3296358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9CE94E-FB9C-1C86-AC3C-0592167B3A47}"/>
              </a:ext>
            </a:extLst>
          </p:cNvPr>
          <p:cNvSpPr>
            <a:spLocks noGrp="1"/>
          </p:cNvSpPr>
          <p:nvPr>
            <p:ph type="title"/>
          </p:nvPr>
        </p:nvSpPr>
        <p:spPr/>
        <p:txBody>
          <a:bodyPr/>
          <a:lstStyle/>
          <a:p>
            <a:r>
              <a:rPr lang="en-US" dirty="0">
                <a:solidFill>
                  <a:srgbClr val="111111"/>
                </a:solidFill>
                <a:latin typeface="Palatino Linotype"/>
              </a:rPr>
              <a:t>Examples</a:t>
            </a:r>
            <a:endParaRPr lang="en-US" b="0" dirty="0">
              <a:solidFill>
                <a:srgbClr val="111111"/>
              </a:solidFill>
              <a:latin typeface="Palatino Linotype"/>
            </a:endParaRPr>
          </a:p>
        </p:txBody>
      </p:sp>
      <p:sp>
        <p:nvSpPr>
          <p:cNvPr id="3" name="Content Placeholder 2">
            <a:extLst>
              <a:ext uri="{FF2B5EF4-FFF2-40B4-BE49-F238E27FC236}">
                <a16:creationId xmlns:a16="http://schemas.microsoft.com/office/drawing/2014/main" id="{56435C0A-A51F-3EEE-784B-6F172D2FDCDE}"/>
              </a:ext>
            </a:extLst>
          </p:cNvPr>
          <p:cNvSpPr>
            <a:spLocks noGrp="1"/>
          </p:cNvSpPr>
          <p:nvPr>
            <p:ph idx="1"/>
          </p:nvPr>
        </p:nvSpPr>
        <p:spPr/>
        <p:txBody>
          <a:bodyPr vert="horz" lIns="91440" tIns="45720" rIns="91440" bIns="45720" rtlCol="0" anchor="t">
            <a:noAutofit/>
          </a:bodyPr>
          <a:lstStyle/>
          <a:p>
            <a:pPr marL="708660" lvl="1" indent="-342900">
              <a:buClr>
                <a:srgbClr val="595959"/>
              </a:buClr>
              <a:buAutoNum type="arabicPeriod"/>
            </a:pPr>
            <a:r>
              <a:rPr lang="en-US" sz="2800" dirty="0">
                <a:solidFill>
                  <a:srgbClr val="111111"/>
                </a:solidFill>
                <a:ea typeface="+mn-lt"/>
                <a:cs typeface="+mn-lt"/>
              </a:rPr>
              <a:t>Identifying the components that make up human DNA.</a:t>
            </a:r>
            <a:endParaRPr lang="en-US" sz="2800"/>
          </a:p>
          <a:p>
            <a:pPr marL="708660" lvl="1" indent="-342900">
              <a:buClr>
                <a:srgbClr val="595959"/>
              </a:buClr>
              <a:buAutoNum type="arabicPeriod"/>
            </a:pPr>
            <a:r>
              <a:rPr lang="en-US" sz="2800" dirty="0">
                <a:solidFill>
                  <a:srgbClr val="111111"/>
                </a:solidFill>
                <a:ea typeface="+mn-lt"/>
                <a:cs typeface="+mn-lt"/>
              </a:rPr>
              <a:t>Studying whether stress levels correlate with aggression.</a:t>
            </a:r>
            <a:endParaRPr lang="en-US" sz="2800"/>
          </a:p>
          <a:p>
            <a:pPr marL="708660" lvl="1" indent="-342900">
              <a:buClr>
                <a:srgbClr val="595959"/>
              </a:buClr>
              <a:buAutoNum type="arabicPeriod"/>
            </a:pPr>
            <a:r>
              <a:rPr lang="en-US" sz="2800" dirty="0">
                <a:solidFill>
                  <a:srgbClr val="111111"/>
                </a:solidFill>
                <a:ea typeface="+mn-lt"/>
                <a:cs typeface="+mn-lt"/>
              </a:rPr>
              <a:t>Uncovering the causative factors of cancer.</a:t>
            </a:r>
            <a:endParaRPr lang="en-US" sz="2800"/>
          </a:p>
          <a:p>
            <a:pPr marL="708660" lvl="1" indent="-342900">
              <a:buClr>
                <a:srgbClr val="595959"/>
              </a:buClr>
              <a:buAutoNum type="arabicPeriod"/>
            </a:pPr>
            <a:r>
              <a:rPr lang="en-US" sz="2800" dirty="0">
                <a:solidFill>
                  <a:srgbClr val="111111"/>
                </a:solidFill>
                <a:ea typeface="+mn-lt"/>
                <a:cs typeface="+mn-lt"/>
              </a:rPr>
              <a:t>Examining rainfall patterns across different regions in the Sri Lanka.</a:t>
            </a:r>
            <a:endParaRPr lang="en-US" sz="2800"/>
          </a:p>
          <a:p>
            <a:pPr marL="708660" lvl="1" indent="-342900">
              <a:buClr>
                <a:srgbClr val="595959"/>
              </a:buClr>
              <a:buAutoNum type="arabicPeriod"/>
            </a:pPr>
            <a:r>
              <a:rPr lang="en-US" sz="2800" dirty="0">
                <a:solidFill>
                  <a:srgbClr val="111111"/>
                </a:solidFill>
                <a:ea typeface="+mn-lt"/>
                <a:cs typeface="+mn-lt"/>
              </a:rPr>
              <a:t>Tracing the origins of cryptocurrency.</a:t>
            </a:r>
            <a:endParaRPr lang="en-US" sz="2800" dirty="0"/>
          </a:p>
          <a:p>
            <a:pPr>
              <a:buClr>
                <a:srgbClr val="595959"/>
              </a:buClr>
            </a:pPr>
            <a:endParaRPr lang="en-US" sz="1200" dirty="0">
              <a:solidFill>
                <a:srgbClr val="111111"/>
              </a:solidFill>
            </a:endParaRPr>
          </a:p>
          <a:p>
            <a:pPr>
              <a:buClr>
                <a:srgbClr val="595959"/>
              </a:buClr>
            </a:pPr>
            <a:endParaRPr lang="en-US" dirty="0">
              <a:solidFill>
                <a:srgbClr val="000000"/>
              </a:solidFill>
            </a:endParaRPr>
          </a:p>
        </p:txBody>
      </p:sp>
    </p:spTree>
    <p:extLst>
      <p:ext uri="{BB962C8B-B14F-4D97-AF65-F5344CB8AC3E}">
        <p14:creationId xmlns:p14="http://schemas.microsoft.com/office/powerpoint/2010/main" val="6520369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240CF9-511D-C650-6779-532482EA05DB}"/>
              </a:ext>
            </a:extLst>
          </p:cNvPr>
          <p:cNvSpPr>
            <a:spLocks noGrp="1"/>
          </p:cNvSpPr>
          <p:nvPr>
            <p:ph type="title"/>
          </p:nvPr>
        </p:nvSpPr>
        <p:spPr/>
        <p:txBody>
          <a:bodyPr/>
          <a:lstStyle/>
          <a:p>
            <a:r>
              <a:rPr lang="en-US" dirty="0">
                <a:solidFill>
                  <a:srgbClr val="111111"/>
                </a:solidFill>
                <a:latin typeface="Palatino Linotype"/>
              </a:rPr>
              <a:t>Benefits</a:t>
            </a:r>
            <a:endParaRPr lang="en-US" b="0" dirty="0">
              <a:solidFill>
                <a:srgbClr val="111111"/>
              </a:solidFill>
              <a:latin typeface="Palatino Linotype"/>
            </a:endParaRPr>
          </a:p>
        </p:txBody>
      </p:sp>
      <p:sp>
        <p:nvSpPr>
          <p:cNvPr id="3" name="Content Placeholder 2">
            <a:extLst>
              <a:ext uri="{FF2B5EF4-FFF2-40B4-BE49-F238E27FC236}">
                <a16:creationId xmlns:a16="http://schemas.microsoft.com/office/drawing/2014/main" id="{6BCDDB58-83A4-B6EA-C406-B470326BD7F3}"/>
              </a:ext>
            </a:extLst>
          </p:cNvPr>
          <p:cNvSpPr>
            <a:spLocks noGrp="1"/>
          </p:cNvSpPr>
          <p:nvPr>
            <p:ph idx="1"/>
          </p:nvPr>
        </p:nvSpPr>
        <p:spPr/>
        <p:txBody>
          <a:bodyPr vert="horz" lIns="91440" tIns="45720" rIns="91440" bIns="45720" rtlCol="0" anchor="t">
            <a:normAutofit/>
          </a:bodyPr>
          <a:lstStyle/>
          <a:p>
            <a:endParaRPr lang="en-US" sz="1100" dirty="0">
              <a:solidFill>
                <a:srgbClr val="111111"/>
              </a:solidFill>
            </a:endParaRPr>
          </a:p>
          <a:p>
            <a:pPr lvl="1">
              <a:buClr>
                <a:srgbClr val="595959"/>
              </a:buClr>
            </a:pPr>
            <a:r>
              <a:rPr lang="en-US" sz="3200" b="1" dirty="0">
                <a:solidFill>
                  <a:srgbClr val="111111"/>
                </a:solidFill>
              </a:rPr>
              <a:t>Expanding Knowledge</a:t>
            </a:r>
            <a:r>
              <a:rPr lang="en-US" sz="3200" dirty="0">
                <a:solidFill>
                  <a:srgbClr val="111111"/>
                </a:solidFill>
              </a:rPr>
              <a:t>: Basic research lays the groundwork for future discoveries.</a:t>
            </a:r>
            <a:endParaRPr lang="en-US" sz="3200"/>
          </a:p>
          <a:p>
            <a:pPr lvl="1">
              <a:buClr>
                <a:srgbClr val="595959"/>
              </a:buClr>
            </a:pPr>
            <a:r>
              <a:rPr lang="en-US" sz="3200" b="1" dirty="0">
                <a:solidFill>
                  <a:srgbClr val="111111"/>
                </a:solidFill>
              </a:rPr>
              <a:t>Preparation for the Future</a:t>
            </a:r>
            <a:r>
              <a:rPr lang="en-US" sz="3200" dirty="0">
                <a:solidFill>
                  <a:srgbClr val="111111"/>
                </a:solidFill>
              </a:rPr>
              <a:t>: It equips society to tackle emerging issues.</a:t>
            </a:r>
            <a:endParaRPr lang="en-US" sz="3200"/>
          </a:p>
          <a:p>
            <a:pPr lvl="1">
              <a:buClr>
                <a:srgbClr val="595959"/>
              </a:buClr>
            </a:pPr>
            <a:r>
              <a:rPr lang="en-US" sz="3200" b="1" dirty="0">
                <a:solidFill>
                  <a:srgbClr val="111111"/>
                </a:solidFill>
              </a:rPr>
              <a:t>Contributing to Medical Advances</a:t>
            </a:r>
            <a:r>
              <a:rPr lang="en-US" sz="3200" dirty="0">
                <a:solidFill>
                  <a:srgbClr val="111111"/>
                </a:solidFill>
              </a:rPr>
              <a:t>.</a:t>
            </a:r>
            <a:endParaRPr lang="en-US" sz="3200" dirty="0"/>
          </a:p>
        </p:txBody>
      </p:sp>
    </p:spTree>
    <p:extLst>
      <p:ext uri="{BB962C8B-B14F-4D97-AF65-F5344CB8AC3E}">
        <p14:creationId xmlns:p14="http://schemas.microsoft.com/office/powerpoint/2010/main" val="36130559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612F5B-638C-E823-6380-D77D46F668F2}"/>
              </a:ext>
            </a:extLst>
          </p:cNvPr>
          <p:cNvSpPr>
            <a:spLocks noGrp="1"/>
          </p:cNvSpPr>
          <p:nvPr>
            <p:ph type="title"/>
          </p:nvPr>
        </p:nvSpPr>
        <p:spPr/>
        <p:txBody>
          <a:bodyPr/>
          <a:lstStyle/>
          <a:p>
            <a:r>
              <a:rPr lang="en-US" sz="3200" b="0" dirty="0">
                <a:solidFill>
                  <a:srgbClr val="000000"/>
                </a:solidFill>
                <a:latin typeface="Palatino Linotype"/>
              </a:rPr>
              <a:t>2. Applied Research</a:t>
            </a:r>
            <a:r>
              <a:rPr lang="en-US" sz="2000" b="0" dirty="0">
                <a:solidFill>
                  <a:srgbClr val="000000"/>
                </a:solidFill>
                <a:latin typeface="Palatino Linotype"/>
              </a:rPr>
              <a:t> </a:t>
            </a:r>
            <a:endParaRPr lang="en-US" dirty="0"/>
          </a:p>
        </p:txBody>
      </p:sp>
      <p:sp>
        <p:nvSpPr>
          <p:cNvPr id="3" name="Content Placeholder 2">
            <a:extLst>
              <a:ext uri="{FF2B5EF4-FFF2-40B4-BE49-F238E27FC236}">
                <a16:creationId xmlns:a16="http://schemas.microsoft.com/office/drawing/2014/main" id="{00904583-7713-A70E-8C52-846B9DA92E6A}"/>
              </a:ext>
            </a:extLst>
          </p:cNvPr>
          <p:cNvSpPr>
            <a:spLocks noGrp="1"/>
          </p:cNvSpPr>
          <p:nvPr>
            <p:ph idx="1"/>
          </p:nvPr>
        </p:nvSpPr>
        <p:spPr/>
        <p:txBody>
          <a:bodyPr vert="horz" lIns="91440" tIns="45720" rIns="91440" bIns="45720" rtlCol="0" anchor="t">
            <a:noAutofit/>
          </a:bodyPr>
          <a:lstStyle/>
          <a:p>
            <a:pPr marL="285750" indent="-285750" algn="just">
              <a:buClr>
                <a:srgbClr val="595959"/>
              </a:buClr>
              <a:buFont typeface="Arial"/>
              <a:buChar char="•"/>
            </a:pPr>
            <a:r>
              <a:rPr lang="en-US" sz="2400" dirty="0">
                <a:solidFill>
                  <a:srgbClr val="111111"/>
                </a:solidFill>
                <a:ea typeface="+mn-lt"/>
                <a:cs typeface="+mn-lt"/>
              </a:rPr>
              <a:t>Applied research seeks </a:t>
            </a:r>
            <a:r>
              <a:rPr lang="en-US" sz="2400" b="1" dirty="0">
                <a:solidFill>
                  <a:srgbClr val="111111"/>
                </a:solidFill>
                <a:ea typeface="+mn-lt"/>
                <a:cs typeface="+mn-lt"/>
              </a:rPr>
              <a:t>practical solutions</a:t>
            </a:r>
            <a:r>
              <a:rPr lang="en-US" sz="2400" dirty="0">
                <a:solidFill>
                  <a:srgbClr val="111111"/>
                </a:solidFill>
                <a:ea typeface="+mn-lt"/>
                <a:cs typeface="+mn-lt"/>
              </a:rPr>
              <a:t> to existing problems. It addresses challenges in various domains such as workplaces, education, and society.</a:t>
            </a:r>
            <a:endParaRPr lang="en-US" sz="2400" dirty="0"/>
          </a:p>
          <a:p>
            <a:pPr marL="285750" indent="-285750" algn="just">
              <a:buClr>
                <a:srgbClr val="595959"/>
              </a:buClr>
              <a:buFont typeface="Arial"/>
              <a:buChar char="•"/>
            </a:pPr>
            <a:r>
              <a:rPr lang="en-US" sz="2400" b="1" dirty="0">
                <a:solidFill>
                  <a:srgbClr val="111111"/>
                </a:solidFill>
                <a:ea typeface="+mn-lt"/>
                <a:cs typeface="+mn-lt"/>
              </a:rPr>
              <a:t>Empirical Approach</a:t>
            </a:r>
            <a:r>
              <a:rPr lang="en-US" sz="2400" dirty="0">
                <a:solidFill>
                  <a:srgbClr val="111111"/>
                </a:solidFill>
                <a:ea typeface="+mn-lt"/>
                <a:cs typeface="+mn-lt"/>
              </a:rPr>
              <a:t>: Researchers in applied research use empirical methodologies (such as experiments) to collect data relevant to a specific area of study.</a:t>
            </a:r>
            <a:endParaRPr lang="en-US" sz="2400"/>
          </a:p>
          <a:p>
            <a:pPr marL="285750" indent="-285750" algn="just">
              <a:buClr>
                <a:srgbClr val="595959"/>
              </a:buClr>
              <a:buFont typeface="Arial"/>
              <a:buChar char="•"/>
            </a:pPr>
            <a:r>
              <a:rPr lang="en-US" sz="2400" b="1" dirty="0">
                <a:solidFill>
                  <a:srgbClr val="111111"/>
                </a:solidFill>
                <a:ea typeface="+mn-lt"/>
                <a:cs typeface="+mn-lt"/>
              </a:rPr>
              <a:t>Application</a:t>
            </a:r>
            <a:r>
              <a:rPr lang="en-US" sz="2400" dirty="0">
                <a:solidFill>
                  <a:srgbClr val="111111"/>
                </a:solidFill>
                <a:ea typeface="+mn-lt"/>
                <a:cs typeface="+mn-lt"/>
              </a:rPr>
              <a:t>: Findings from applied research are directly applicable and often implemented to address real-world issues.</a:t>
            </a:r>
            <a:endParaRPr lang="en-US" sz="2400"/>
          </a:p>
          <a:p>
            <a:pPr marL="285750" indent="-285750" algn="just">
              <a:buClr>
                <a:srgbClr val="595959"/>
              </a:buClr>
              <a:buFont typeface="Arial"/>
              <a:buChar char="•"/>
            </a:pPr>
            <a:r>
              <a:rPr lang="en-US" sz="2400" b="1" dirty="0">
                <a:solidFill>
                  <a:srgbClr val="111111"/>
                </a:solidFill>
                <a:ea typeface="+mn-lt"/>
                <a:cs typeface="+mn-lt"/>
              </a:rPr>
              <a:t>Client-Driven</a:t>
            </a:r>
            <a:r>
              <a:rPr lang="en-US" sz="2400" dirty="0">
                <a:solidFill>
                  <a:srgbClr val="111111"/>
                </a:solidFill>
                <a:ea typeface="+mn-lt"/>
                <a:cs typeface="+mn-lt"/>
              </a:rPr>
              <a:t>: Applied researchers often work with clients and are guided by their specific needs and desires.</a:t>
            </a:r>
            <a:endParaRPr lang="en-US" sz="2400" dirty="0"/>
          </a:p>
          <a:p>
            <a:pPr marL="45720" indent="0">
              <a:buNone/>
            </a:pPr>
            <a:endParaRPr lang="en-US" dirty="0"/>
          </a:p>
        </p:txBody>
      </p:sp>
    </p:spTree>
    <p:extLst>
      <p:ext uri="{BB962C8B-B14F-4D97-AF65-F5344CB8AC3E}">
        <p14:creationId xmlns:p14="http://schemas.microsoft.com/office/powerpoint/2010/main" val="2317570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Basic Research &amp; Applied Research</a:t>
            </a:r>
          </a:p>
        </p:txBody>
      </p:sp>
      <p:sp>
        <p:nvSpPr>
          <p:cNvPr id="3" name="Content Placeholder 2"/>
          <p:cNvSpPr>
            <a:spLocks noGrp="1"/>
          </p:cNvSpPr>
          <p:nvPr>
            <p:ph idx="1"/>
          </p:nvPr>
        </p:nvSpPr>
        <p:spPr/>
        <p:txBody>
          <a:bodyPr/>
          <a:lstStyle/>
          <a:p>
            <a:endParaRPr lang="en-US"/>
          </a:p>
        </p:txBody>
      </p:sp>
      <p:pic>
        <p:nvPicPr>
          <p:cNvPr id="4" name="Picture 3"/>
          <p:cNvPicPr>
            <a:picLocks noChangeAspect="1"/>
          </p:cNvPicPr>
          <p:nvPr/>
        </p:nvPicPr>
        <p:blipFill>
          <a:blip r:embed="rId2"/>
          <a:stretch>
            <a:fillRect/>
          </a:stretch>
        </p:blipFill>
        <p:spPr>
          <a:xfrm>
            <a:off x="864485" y="1839504"/>
            <a:ext cx="9816231" cy="3890505"/>
          </a:xfrm>
          <a:prstGeom prst="rect">
            <a:avLst/>
          </a:prstGeom>
        </p:spPr>
      </p:pic>
    </p:spTree>
    <p:extLst>
      <p:ext uri="{BB962C8B-B14F-4D97-AF65-F5344CB8AC3E}">
        <p14:creationId xmlns:p14="http://schemas.microsoft.com/office/powerpoint/2010/main" val="177914347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7954" y="279400"/>
            <a:ext cx="11124046" cy="1325563"/>
          </a:xfrm>
        </p:spPr>
        <p:txBody>
          <a:bodyPr>
            <a:normAutofit/>
          </a:bodyPr>
          <a:lstStyle/>
          <a:p>
            <a:r>
              <a:rPr lang="en-US" sz="4000" dirty="0"/>
              <a:t>The Research Process </a:t>
            </a:r>
            <a:br>
              <a:rPr lang="en-US" sz="4000" dirty="0"/>
            </a:br>
            <a:r>
              <a:rPr lang="en-US" sz="4000" dirty="0"/>
              <a:t>Stages of Research Methodology</a:t>
            </a:r>
          </a:p>
        </p:txBody>
      </p:sp>
      <p:sp>
        <p:nvSpPr>
          <p:cNvPr id="3" name="Content Placeholder 2"/>
          <p:cNvSpPr>
            <a:spLocks noGrp="1"/>
          </p:cNvSpPr>
          <p:nvPr>
            <p:ph idx="1"/>
          </p:nvPr>
        </p:nvSpPr>
        <p:spPr>
          <a:xfrm>
            <a:off x="1065490" y="2255982"/>
            <a:ext cx="8689064" cy="4191000"/>
          </a:xfrm>
        </p:spPr>
        <p:txBody>
          <a:bodyPr vert="horz" lIns="91440" tIns="45720" rIns="91440" bIns="45720" rtlCol="0" anchor="t">
            <a:normAutofit/>
          </a:bodyPr>
          <a:lstStyle/>
          <a:p>
            <a:pPr marL="514350" indent="-514350">
              <a:buFont typeface="+mj-lt"/>
              <a:buAutoNum type="arabicPeriod"/>
            </a:pPr>
            <a:r>
              <a:rPr lang="en-US" sz="2400" dirty="0"/>
              <a:t>Formulating and clarifying a topic</a:t>
            </a:r>
          </a:p>
          <a:p>
            <a:pPr marL="514350" indent="-514350">
              <a:buFont typeface="+mj-lt"/>
              <a:buAutoNum type="arabicPeriod"/>
            </a:pPr>
            <a:r>
              <a:rPr lang="en-US" sz="2400" dirty="0"/>
              <a:t>Reviewing the Literature</a:t>
            </a:r>
          </a:p>
          <a:p>
            <a:pPr marL="514350" indent="-514350">
              <a:buFont typeface="+mj-lt"/>
              <a:buAutoNum type="arabicPeriod"/>
            </a:pPr>
            <a:r>
              <a:rPr lang="en-US" sz="2400" dirty="0"/>
              <a:t>Design the research</a:t>
            </a:r>
          </a:p>
          <a:p>
            <a:pPr marL="514350" indent="-514350">
              <a:buFont typeface="+mj-lt"/>
              <a:buAutoNum type="arabicPeriod"/>
            </a:pPr>
            <a:r>
              <a:rPr lang="en-US" sz="2400" dirty="0"/>
              <a:t>Collecting Data</a:t>
            </a:r>
          </a:p>
          <a:p>
            <a:pPr marL="514350" indent="-514350">
              <a:buFont typeface="+mj-lt"/>
              <a:buAutoNum type="arabicPeriod"/>
            </a:pPr>
            <a:r>
              <a:rPr lang="en-US" sz="2400" dirty="0"/>
              <a:t>Analyzing</a:t>
            </a:r>
          </a:p>
          <a:p>
            <a:pPr marL="514350" indent="-514350">
              <a:buFont typeface="+mj-lt"/>
              <a:buAutoNum type="arabicPeriod"/>
            </a:pPr>
            <a:r>
              <a:rPr lang="en-US" sz="2400" dirty="0"/>
              <a:t>Writing </a:t>
            </a:r>
          </a:p>
          <a:p>
            <a:endParaRPr lang="en-US" dirty="0"/>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19830300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141CF7-6058-ECC0-D18F-69471A9357BE}"/>
              </a:ext>
            </a:extLst>
          </p:cNvPr>
          <p:cNvSpPr>
            <a:spLocks noGrp="1"/>
          </p:cNvSpPr>
          <p:nvPr>
            <p:ph type="ctrTitle"/>
          </p:nvPr>
        </p:nvSpPr>
        <p:spPr/>
        <p:txBody>
          <a:bodyPr/>
          <a:lstStyle/>
          <a:p>
            <a:r>
              <a:rPr lang="en-US" dirty="0"/>
              <a:t>Selecting a Topic</a:t>
            </a:r>
          </a:p>
        </p:txBody>
      </p:sp>
      <p:pic>
        <p:nvPicPr>
          <p:cNvPr id="4" name="Picture 3" descr="A screen shot of a computer&#10;&#10;Description automatically generated">
            <a:extLst>
              <a:ext uri="{FF2B5EF4-FFF2-40B4-BE49-F238E27FC236}">
                <a16:creationId xmlns:a16="http://schemas.microsoft.com/office/drawing/2014/main" id="{C3B8C961-0A8E-4D83-E7F8-D6DE7FDD1FC8}"/>
              </a:ext>
            </a:extLst>
          </p:cNvPr>
          <p:cNvPicPr>
            <a:picLocks noChangeAspect="1"/>
          </p:cNvPicPr>
          <p:nvPr/>
        </p:nvPicPr>
        <p:blipFill>
          <a:blip r:embed="rId2"/>
          <a:stretch>
            <a:fillRect/>
          </a:stretch>
        </p:blipFill>
        <p:spPr>
          <a:xfrm>
            <a:off x="8245652" y="0"/>
            <a:ext cx="3946998" cy="6858000"/>
          </a:xfrm>
          <a:prstGeom prst="rect">
            <a:avLst/>
          </a:prstGeom>
        </p:spPr>
      </p:pic>
    </p:spTree>
    <p:extLst>
      <p:ext uri="{BB962C8B-B14F-4D97-AF65-F5344CB8AC3E}">
        <p14:creationId xmlns:p14="http://schemas.microsoft.com/office/powerpoint/2010/main" val="21667773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F80E2-BA20-BF67-2B17-FFCAC64AF610}"/>
              </a:ext>
            </a:extLst>
          </p:cNvPr>
          <p:cNvSpPr>
            <a:spLocks noGrp="1"/>
          </p:cNvSpPr>
          <p:nvPr>
            <p:ph type="title"/>
          </p:nvPr>
        </p:nvSpPr>
        <p:spPr/>
        <p:txBody>
          <a:bodyPr/>
          <a:lstStyle/>
          <a:p>
            <a:r>
              <a:rPr lang="en-US" dirty="0"/>
              <a:t>Formulating and clarifying a topic</a:t>
            </a:r>
          </a:p>
        </p:txBody>
      </p:sp>
      <p:sp>
        <p:nvSpPr>
          <p:cNvPr id="3" name="Content Placeholder 2">
            <a:extLst>
              <a:ext uri="{FF2B5EF4-FFF2-40B4-BE49-F238E27FC236}">
                <a16:creationId xmlns:a16="http://schemas.microsoft.com/office/drawing/2014/main" id="{22D82C22-6949-8679-6D99-05106B27C72E}"/>
              </a:ext>
            </a:extLst>
          </p:cNvPr>
          <p:cNvSpPr>
            <a:spLocks noGrp="1"/>
          </p:cNvSpPr>
          <p:nvPr>
            <p:ph idx="1"/>
          </p:nvPr>
        </p:nvSpPr>
        <p:spPr/>
        <p:txBody>
          <a:bodyPr vert="horz" lIns="91440" tIns="45720" rIns="91440" bIns="45720" rtlCol="0" anchor="t">
            <a:normAutofit/>
          </a:bodyPr>
          <a:lstStyle/>
          <a:p>
            <a:pPr marL="45720" indent="0">
              <a:buNone/>
            </a:pPr>
            <a:r>
              <a:rPr lang="en-US" dirty="0"/>
              <a:t>• Identify the attributes of a good research topic</a:t>
            </a:r>
          </a:p>
          <a:p>
            <a:pPr marL="45720" indent="0">
              <a:buClr>
                <a:srgbClr val="595959"/>
              </a:buClr>
              <a:buNone/>
            </a:pPr>
            <a:r>
              <a:rPr lang="en-US" dirty="0"/>
              <a:t>• Generate and refine research ideas to choose a suitable research topic; </a:t>
            </a:r>
          </a:p>
          <a:p>
            <a:pPr marL="45720" indent="0">
              <a:buClr>
                <a:srgbClr val="595959"/>
              </a:buClr>
              <a:buNone/>
            </a:pPr>
            <a:r>
              <a:rPr lang="en-US" dirty="0"/>
              <a:t>• Turn your research idea into a research project that has a clear research question(s), aim and objectives; </a:t>
            </a:r>
            <a:endParaRPr lang="en-US"/>
          </a:p>
          <a:p>
            <a:pPr marL="45720" indent="0">
              <a:buClr>
                <a:srgbClr val="595959"/>
              </a:buClr>
              <a:buNone/>
            </a:pPr>
            <a:r>
              <a:rPr lang="en-US" dirty="0"/>
              <a:t>• Understand the relationship between a research question(s), a research aim and research objectives; </a:t>
            </a:r>
          </a:p>
          <a:p>
            <a:pPr marL="45720" indent="0">
              <a:buClr>
                <a:srgbClr val="595959"/>
              </a:buClr>
              <a:buNone/>
            </a:pPr>
            <a:r>
              <a:rPr lang="en-US" dirty="0"/>
              <a:t>• </a:t>
            </a:r>
            <a:r>
              <a:rPr lang="en-US" dirty="0" err="1"/>
              <a:t>Recognise</a:t>
            </a:r>
            <a:r>
              <a:rPr lang="en-US" dirty="0"/>
              <a:t> the role of theory in developing a research question(s), a research aim and research objectives; </a:t>
            </a:r>
          </a:p>
          <a:p>
            <a:pPr marL="45720" indent="0">
              <a:buClr>
                <a:srgbClr val="595959"/>
              </a:buClr>
              <a:buNone/>
            </a:pPr>
            <a:r>
              <a:rPr lang="en-US" dirty="0"/>
              <a:t>• Draft a research proposal that outlines your proposed research project. </a:t>
            </a:r>
            <a:endParaRPr lang="en-US"/>
          </a:p>
        </p:txBody>
      </p:sp>
    </p:spTree>
    <p:extLst>
      <p:ext uri="{BB962C8B-B14F-4D97-AF65-F5344CB8AC3E}">
        <p14:creationId xmlns:p14="http://schemas.microsoft.com/office/powerpoint/2010/main" val="3236841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B24B1F-DC37-F153-1762-79C361397F32}"/>
              </a:ext>
            </a:extLst>
          </p:cNvPr>
          <p:cNvSpPr>
            <a:spLocks noGrp="1"/>
          </p:cNvSpPr>
          <p:nvPr>
            <p:ph type="title"/>
          </p:nvPr>
        </p:nvSpPr>
        <p:spPr/>
        <p:txBody>
          <a:bodyPr/>
          <a:lstStyle/>
          <a:p>
            <a:r>
              <a:rPr lang="en-US" dirty="0"/>
              <a:t>Attributes of a good research topic </a:t>
            </a:r>
          </a:p>
        </p:txBody>
      </p:sp>
      <p:sp>
        <p:nvSpPr>
          <p:cNvPr id="4" name="Content Placeholder 3">
            <a:extLst>
              <a:ext uri="{FF2B5EF4-FFF2-40B4-BE49-F238E27FC236}">
                <a16:creationId xmlns:a16="http://schemas.microsoft.com/office/drawing/2014/main" id="{A5BE3A4B-4A8F-B2C0-837C-5AD93B61CE0F}"/>
              </a:ext>
            </a:extLst>
          </p:cNvPr>
          <p:cNvSpPr>
            <a:spLocks noGrp="1"/>
          </p:cNvSpPr>
          <p:nvPr>
            <p:ph sz="half" idx="2"/>
          </p:nvPr>
        </p:nvSpPr>
        <p:spPr>
          <a:xfrm>
            <a:off x="1065490" y="1719943"/>
            <a:ext cx="4318382" cy="4299857"/>
          </a:xfrm>
        </p:spPr>
        <p:txBody>
          <a:bodyPr vert="horz" lIns="91440" tIns="45720" rIns="91440" bIns="45720" rtlCol="0" anchor="t">
            <a:normAutofit fontScale="77500" lnSpcReduction="20000"/>
          </a:bodyPr>
          <a:lstStyle/>
          <a:p>
            <a:r>
              <a:rPr lang="en-US" b="1" dirty="0"/>
              <a:t>Capability: is it feasible? </a:t>
            </a:r>
            <a:endParaRPr lang="en-US" b="1"/>
          </a:p>
          <a:p>
            <a:pPr marL="45720" indent="0">
              <a:buClr>
                <a:srgbClr val="595959"/>
              </a:buClr>
              <a:buNone/>
            </a:pPr>
            <a:r>
              <a:rPr lang="en-US" dirty="0"/>
              <a:t>✔ Is the topic something with which you are really fascinated? </a:t>
            </a:r>
            <a:endParaRPr lang="en-US"/>
          </a:p>
          <a:p>
            <a:pPr marL="45720" indent="0">
              <a:buClr>
                <a:srgbClr val="595959"/>
              </a:buClr>
              <a:buNone/>
            </a:pPr>
            <a:r>
              <a:rPr lang="en-US" dirty="0"/>
              <a:t>✔ Do you have, or can you develop within the project time frame, the necessary research skills to undertake the topic? </a:t>
            </a:r>
          </a:p>
          <a:p>
            <a:pPr marL="45720" indent="0">
              <a:buClr>
                <a:srgbClr val="595959"/>
              </a:buClr>
              <a:buNone/>
            </a:pPr>
            <a:r>
              <a:rPr lang="en-US" dirty="0"/>
              <a:t>✔ Is the research topic achievable within the available time? </a:t>
            </a:r>
            <a:endParaRPr lang="en-US"/>
          </a:p>
          <a:p>
            <a:pPr marL="45720" indent="0">
              <a:buClr>
                <a:srgbClr val="595959"/>
              </a:buClr>
              <a:buNone/>
            </a:pPr>
            <a:r>
              <a:rPr lang="en-US" dirty="0"/>
              <a:t>✔ Will the topic still be current when you finish your project? </a:t>
            </a:r>
          </a:p>
          <a:p>
            <a:pPr marL="45720" indent="0">
              <a:buClr>
                <a:srgbClr val="595959"/>
              </a:buClr>
              <a:buNone/>
            </a:pPr>
            <a:r>
              <a:rPr lang="en-US" dirty="0"/>
              <a:t>✔ Is the topic achievable within the financial resources that are likely to be available? </a:t>
            </a:r>
            <a:endParaRPr lang="en-US"/>
          </a:p>
          <a:p>
            <a:pPr marL="45720" indent="0">
              <a:buClr>
                <a:srgbClr val="595959"/>
              </a:buClr>
              <a:buNone/>
            </a:pPr>
            <a:r>
              <a:rPr lang="en-US"/>
              <a:t>✔ Are you reasonably certain </a:t>
            </a:r>
            <a:r>
              <a:rPr lang="en-US" dirty="0"/>
              <a:t>of being able to gain access to data you are likely to require for this topic? </a:t>
            </a:r>
          </a:p>
        </p:txBody>
      </p:sp>
      <p:sp>
        <p:nvSpPr>
          <p:cNvPr id="6" name="Content Placeholder 5">
            <a:extLst>
              <a:ext uri="{FF2B5EF4-FFF2-40B4-BE49-F238E27FC236}">
                <a16:creationId xmlns:a16="http://schemas.microsoft.com/office/drawing/2014/main" id="{2164A43A-AB37-A62D-6532-9E6FD1AE53C0}"/>
              </a:ext>
            </a:extLst>
          </p:cNvPr>
          <p:cNvSpPr>
            <a:spLocks noGrp="1"/>
          </p:cNvSpPr>
          <p:nvPr>
            <p:ph sz="quarter" idx="4"/>
          </p:nvPr>
        </p:nvSpPr>
        <p:spPr>
          <a:xfrm>
            <a:off x="5501485" y="1719943"/>
            <a:ext cx="4721153" cy="4299857"/>
          </a:xfrm>
        </p:spPr>
        <p:txBody>
          <a:bodyPr vert="horz" lIns="91440" tIns="45720" rIns="91440" bIns="45720" rtlCol="0" anchor="t">
            <a:normAutofit fontScale="77500" lnSpcReduction="20000"/>
          </a:bodyPr>
          <a:lstStyle/>
          <a:p>
            <a:r>
              <a:rPr lang="en-US" sz="2300" b="1" dirty="0"/>
              <a:t>Appropriateness: is it worthwhile? </a:t>
            </a:r>
          </a:p>
          <a:p>
            <a:pPr marL="45720" indent="0">
              <a:buClr>
                <a:srgbClr val="595959"/>
              </a:buClr>
              <a:buNone/>
            </a:pPr>
            <a:r>
              <a:rPr lang="en-US" dirty="0"/>
              <a:t>✔ Does the topic fit the specifications and meet the standards set by the examining institution</a:t>
            </a:r>
          </a:p>
          <a:p>
            <a:pPr marL="45720" indent="0">
              <a:buClr>
                <a:srgbClr val="595959"/>
              </a:buClr>
              <a:buNone/>
            </a:pPr>
            <a:r>
              <a:rPr lang="en-US" dirty="0"/>
              <a:t>✔ Does your topic contain issues that have a clear link to theory? </a:t>
            </a:r>
          </a:p>
          <a:p>
            <a:pPr marL="45720" indent="0">
              <a:buClr>
                <a:srgbClr val="595959"/>
              </a:buClr>
              <a:buNone/>
            </a:pPr>
            <a:r>
              <a:rPr lang="en-US" dirty="0"/>
              <a:t>✔ Are you able to state your research question(s), aim and objectives clearly? </a:t>
            </a:r>
            <a:endParaRPr lang="en-US"/>
          </a:p>
          <a:p>
            <a:pPr marL="45720" indent="0">
              <a:buClr>
                <a:srgbClr val="595959"/>
              </a:buClr>
              <a:buNone/>
            </a:pPr>
            <a:r>
              <a:rPr lang="en-US" dirty="0"/>
              <a:t>✔ Will your proposed research be able to provide fresh insights into this topic? </a:t>
            </a:r>
          </a:p>
          <a:p>
            <a:pPr marL="45720" indent="0">
              <a:buClr>
                <a:srgbClr val="595959"/>
              </a:buClr>
              <a:buNone/>
            </a:pPr>
            <a:r>
              <a:rPr lang="en-US" dirty="0"/>
              <a:t>✔ Does your topic relate clearly to the idea you have been given (perhaps by an </a:t>
            </a:r>
            <a:r>
              <a:rPr lang="en-US" dirty="0" err="1"/>
              <a:t>organisation</a:t>
            </a:r>
            <a:r>
              <a:rPr lang="en-US" dirty="0"/>
              <a:t>)? </a:t>
            </a:r>
            <a:endParaRPr lang="en-US"/>
          </a:p>
          <a:p>
            <a:pPr marL="45720" indent="0">
              <a:buClr>
                <a:srgbClr val="595959"/>
              </a:buClr>
              <a:buNone/>
            </a:pPr>
            <a:r>
              <a:rPr lang="en-US" dirty="0"/>
              <a:t>✔ Are the findings for this topic likely to be symmetrical: that is, of similar value whatever the outcome? </a:t>
            </a:r>
          </a:p>
          <a:p>
            <a:pPr marL="45720" indent="0">
              <a:buClr>
                <a:srgbClr val="595959"/>
              </a:buClr>
              <a:buNone/>
            </a:pPr>
            <a:r>
              <a:rPr lang="en-US" dirty="0"/>
              <a:t>✔ Does the topic match your career goals? ? </a:t>
            </a:r>
            <a:endParaRPr lang="en-US"/>
          </a:p>
          <a:p>
            <a:pPr>
              <a:buClr>
                <a:srgbClr val="595959"/>
              </a:buClr>
            </a:pPr>
            <a:endParaRPr lang="en-US" dirty="0"/>
          </a:p>
        </p:txBody>
      </p:sp>
    </p:spTree>
    <p:extLst>
      <p:ext uri="{BB962C8B-B14F-4D97-AF65-F5344CB8AC3E}">
        <p14:creationId xmlns:p14="http://schemas.microsoft.com/office/powerpoint/2010/main" val="37640780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154430" y="2778343"/>
            <a:ext cx="10058400" cy="1450757"/>
          </a:xfrm>
        </p:spPr>
        <p:txBody>
          <a:bodyPr>
            <a:normAutofit/>
          </a:bodyPr>
          <a:lstStyle/>
          <a:p>
            <a:r>
              <a:rPr lang="en-US" sz="6000" b="1" dirty="0"/>
              <a:t>Writing Research Proposal</a:t>
            </a:r>
          </a:p>
        </p:txBody>
      </p:sp>
    </p:spTree>
    <p:extLst>
      <p:ext uri="{BB962C8B-B14F-4D97-AF65-F5344CB8AC3E}">
        <p14:creationId xmlns:p14="http://schemas.microsoft.com/office/powerpoint/2010/main" val="1730373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your research proposal</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sz="3600" dirty="0"/>
              <a:t>The research proposal, occasionally referred to as a protocol or outline, is a structured plan of your proposed research project. </a:t>
            </a:r>
          </a:p>
          <a:p>
            <a:pPr algn="just"/>
            <a:endParaRPr lang="en-US" b="1" dirty="0"/>
          </a:p>
          <a:p>
            <a:endParaRPr lang="en-US" dirty="0"/>
          </a:p>
        </p:txBody>
      </p:sp>
    </p:spTree>
    <p:extLst>
      <p:ext uri="{BB962C8B-B14F-4D97-AF65-F5344CB8AC3E}">
        <p14:creationId xmlns:p14="http://schemas.microsoft.com/office/powerpoint/2010/main" val="24846810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3200" dirty="0"/>
              <a:t>Why is a research proposal necessary?</a:t>
            </a:r>
            <a:br>
              <a:rPr lang="en-US" sz="3200" dirty="0"/>
            </a:br>
            <a:endParaRPr lang="en-US" sz="3200"/>
          </a:p>
        </p:txBody>
      </p:sp>
      <p:sp>
        <p:nvSpPr>
          <p:cNvPr id="3" name="Content Placeholder 2"/>
          <p:cNvSpPr>
            <a:spLocks noGrp="1"/>
          </p:cNvSpPr>
          <p:nvPr>
            <p:ph idx="1"/>
          </p:nvPr>
        </p:nvSpPr>
        <p:spPr/>
        <p:txBody>
          <a:bodyPr vert="horz" lIns="91440" tIns="45720" rIns="91440" bIns="45720" rtlCol="0" anchor="t">
            <a:normAutofit fontScale="85000" lnSpcReduction="20000"/>
          </a:bodyPr>
          <a:lstStyle/>
          <a:p>
            <a:pPr algn="just"/>
            <a:r>
              <a:rPr lang="en-US" dirty="0"/>
              <a:t>Your research project is likely to be a large element in your course. It is also yours! You will be responsible for conceiving, conducting and concluding this project and creating the report, dissertation or thesis. Apart from applying your research methods training and the advice you receive from your project tutor, it will be your piece of work. From this perspective, developing a research proposal offers you the opportunity to think carefully about your research project </a:t>
            </a:r>
          </a:p>
          <a:p>
            <a:pPr algn="just"/>
            <a:r>
              <a:rPr lang="en-US" dirty="0"/>
              <a:t>A well-thought-out and well-written research proposal has the potential to provide you with a clear specification of the </a:t>
            </a:r>
            <a:r>
              <a:rPr lang="en-US" b="1" dirty="0"/>
              <a:t>what, why, how, when and where </a:t>
            </a:r>
            <a:r>
              <a:rPr lang="en-US" dirty="0"/>
              <a:t>of your research project.</a:t>
            </a:r>
            <a:endParaRPr lang="en-US"/>
          </a:p>
          <a:p>
            <a:pPr algn="just"/>
            <a:r>
              <a:rPr lang="en-US" dirty="0"/>
              <a:t>Producing a research proposal is demanding: thinking through what you wish to do and why, identifying and </a:t>
            </a:r>
            <a:r>
              <a:rPr lang="en-US" dirty="0" err="1"/>
              <a:t>synthesising</a:t>
            </a:r>
            <a:r>
              <a:rPr lang="en-US" dirty="0"/>
              <a:t> literature and then envisaging all of the stages of your research will be time consuming, as will the necessary revisions to create a coherent and clearly written proposal. </a:t>
            </a:r>
            <a:endParaRPr lang="en-US"/>
          </a:p>
          <a:p>
            <a:pPr algn="just"/>
            <a:r>
              <a:rPr lang="en-US" dirty="0"/>
              <a:t>However, the effort is likely to prove to be very worthwhile. As you juggle several activities during the period of your research project, there may be occasions when you pick up your research proposal and feel glad that you spent so much time producing a clear specification to guide your project through its various stages.</a:t>
            </a:r>
            <a:endParaRPr lang="en-US"/>
          </a:p>
        </p:txBody>
      </p:sp>
    </p:spTree>
    <p:extLst>
      <p:ext uri="{BB962C8B-B14F-4D97-AF65-F5344CB8AC3E}">
        <p14:creationId xmlns:p14="http://schemas.microsoft.com/office/powerpoint/2010/main" val="29293521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Meeting the requirements  of those who approve and assess your project</a:t>
            </a:r>
          </a:p>
        </p:txBody>
      </p:sp>
      <p:sp>
        <p:nvSpPr>
          <p:cNvPr id="3" name="Content Placeholder 2"/>
          <p:cNvSpPr>
            <a:spLocks noGrp="1"/>
          </p:cNvSpPr>
          <p:nvPr>
            <p:ph idx="1"/>
          </p:nvPr>
        </p:nvSpPr>
        <p:spPr/>
        <p:txBody>
          <a:bodyPr vert="horz" lIns="91440" tIns="45720" rIns="91440" bIns="45720" rtlCol="0" anchor="t">
            <a:normAutofit lnSpcReduction="10000"/>
          </a:bodyPr>
          <a:lstStyle/>
          <a:p>
            <a:pPr algn="just"/>
            <a:r>
              <a:rPr lang="en-US" dirty="0"/>
              <a:t>It is likely that your research proposal will be assessed before you are allowed to carry on with your research project. A proportion of the overall marks available for your project report may be given for the research proposal. </a:t>
            </a:r>
            <a:endParaRPr lang="en-US"/>
          </a:p>
          <a:p>
            <a:pPr algn="just">
              <a:buClr>
                <a:srgbClr val="595959"/>
              </a:buClr>
            </a:pPr>
            <a:r>
              <a:rPr lang="en-US" dirty="0"/>
              <a:t>Alternatively, a research proposal may be subject to approval before you are permitted to proceed with your research project. In either case, it will be necessary to reach a certain standard before being allowed to progress. There are potentially a number of different criteria that may be used to assess a research proposal. These may include criteria that are specific to each of the components of the proposal. Part of the assessment and approval process may also </a:t>
            </a:r>
            <a:r>
              <a:rPr lang="en-US" dirty="0" err="1"/>
              <a:t>centre</a:t>
            </a:r>
            <a:r>
              <a:rPr lang="en-US" dirty="0"/>
              <a:t> on criteria that focus on more general concerns. </a:t>
            </a:r>
          </a:p>
          <a:p>
            <a:pPr algn="just"/>
            <a:r>
              <a:rPr lang="en-US" dirty="0"/>
              <a:t>We first consider three such criteria that are likely to be used to assess your research proposal: coherence, ethical clearance and feasibility.</a:t>
            </a:r>
            <a:endParaRPr lang="en-US"/>
          </a:p>
        </p:txBody>
      </p:sp>
    </p:spTree>
    <p:extLst>
      <p:ext uri="{BB962C8B-B14F-4D97-AF65-F5344CB8AC3E}">
        <p14:creationId xmlns:p14="http://schemas.microsoft.com/office/powerpoint/2010/main" val="35782539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Coherence</a:t>
            </a:r>
          </a:p>
        </p:txBody>
      </p:sp>
      <p:sp>
        <p:nvSpPr>
          <p:cNvPr id="3" name="Content Placeholder 2"/>
          <p:cNvSpPr>
            <a:spLocks noGrp="1"/>
          </p:cNvSpPr>
          <p:nvPr>
            <p:ph idx="1"/>
          </p:nvPr>
        </p:nvSpPr>
        <p:spPr/>
        <p:txBody>
          <a:bodyPr>
            <a:normAutofit/>
          </a:bodyPr>
          <a:lstStyle/>
          <a:p>
            <a:pPr algn="just"/>
            <a:r>
              <a:rPr lang="en-US" dirty="0"/>
              <a:t>A research project is a complex and time-consuming activity. As we indicated earlier, you are likely to benefit from creating a clear specification to guide your research project. Your project tutor and any other assessor will be looking for evidence of coherence and lucidity in the way you have written your research proposal, to demonstrate that it will be fit for purpose and able to direct your research activity. Coherence refers to the logical and orderly connection between different components and sections of the proposal.</a:t>
            </a:r>
          </a:p>
        </p:txBody>
      </p:sp>
    </p:spTree>
    <p:extLst>
      <p:ext uri="{BB962C8B-B14F-4D97-AF65-F5344CB8AC3E}">
        <p14:creationId xmlns:p14="http://schemas.microsoft.com/office/powerpoint/2010/main" val="22952279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Ethical clearance</a:t>
            </a:r>
          </a:p>
        </p:txBody>
      </p:sp>
      <p:sp>
        <p:nvSpPr>
          <p:cNvPr id="3" name="Content Placeholder 2"/>
          <p:cNvSpPr>
            <a:spLocks noGrp="1"/>
          </p:cNvSpPr>
          <p:nvPr>
            <p:ph idx="1"/>
          </p:nvPr>
        </p:nvSpPr>
        <p:spPr/>
        <p:txBody>
          <a:bodyPr>
            <a:normAutofit lnSpcReduction="10000"/>
          </a:bodyPr>
          <a:lstStyle/>
          <a:p>
            <a:pPr algn="just"/>
            <a:r>
              <a:rPr lang="en-US" dirty="0"/>
              <a:t>Part of the approval process for your research proposal may involve it being considered and approved by a research ethics committee. Your university’s code of ethical practice is likely to require all research involving human participants to be considered and approved, especially where research involves young or vulnerable participants. It may also be necessary to state how data will be stored, whether they will be kept subsequently and under what conditions, in order to ensure the continuing anonymity of the participants and confidentiality of their data. </a:t>
            </a:r>
          </a:p>
          <a:p>
            <a:pPr algn="just"/>
            <a:r>
              <a:rPr lang="en-US" dirty="0"/>
              <a:t>You will need to be aware of and abide by the ethical requirements of your institution. These requirements will add to the time that you will need to allow for the planning stage of your research project. </a:t>
            </a:r>
          </a:p>
          <a:p>
            <a:pPr algn="just"/>
            <a:r>
              <a:rPr lang="en-US" dirty="0"/>
              <a:t>As a professional student you may also need to be aware of and abide by the ethical requirements of your professional institute.</a:t>
            </a:r>
          </a:p>
        </p:txBody>
      </p:sp>
    </p:spTree>
    <p:extLst>
      <p:ext uri="{BB962C8B-B14F-4D97-AF65-F5344CB8AC3E}">
        <p14:creationId xmlns:p14="http://schemas.microsoft.com/office/powerpoint/2010/main" val="6932229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Feasibility</a:t>
            </a:r>
          </a:p>
        </p:txBody>
      </p:sp>
      <p:sp>
        <p:nvSpPr>
          <p:cNvPr id="3" name="Content Placeholder 2"/>
          <p:cNvSpPr>
            <a:spLocks noGrp="1"/>
          </p:cNvSpPr>
          <p:nvPr>
            <p:ph idx="1"/>
          </p:nvPr>
        </p:nvSpPr>
        <p:spPr/>
        <p:txBody>
          <a:bodyPr>
            <a:normAutofit fontScale="85000" lnSpcReduction="10000"/>
          </a:bodyPr>
          <a:lstStyle/>
          <a:p>
            <a:pPr algn="just"/>
            <a:r>
              <a:rPr lang="en-US" dirty="0"/>
              <a:t>You may have devised a coherent and well-structured research proposal that would create much interest but it may not be possible to achieve, or sensible to contemplate.</a:t>
            </a:r>
          </a:p>
          <a:p>
            <a:pPr algn="just"/>
            <a:r>
              <a:rPr lang="en-US" dirty="0"/>
              <a:t>Feasibility is a multifaceted criterion that your assessors will be concerned about. Your proposal may not be possible to achieve in the time available to undertake the research project and produce your dissertation or management report. It may be that data collection would not be possible because you would not be able to gain access to participants, or it might not be practical and your tutor will tell you so! </a:t>
            </a:r>
          </a:p>
          <a:p>
            <a:pPr algn="just"/>
            <a:r>
              <a:rPr lang="en-US" dirty="0"/>
              <a:t>The proposal may require resources that are not available, finance commitments that are unaffordable or skills that you have not developed and would not be able to acquire in the timescale of the project.</a:t>
            </a:r>
          </a:p>
          <a:p>
            <a:pPr algn="just"/>
            <a:r>
              <a:rPr lang="en-US" dirty="0"/>
              <a:t>It is always helpful to discuss your research proposal with a tutor. Where there are concerns about any of the issues just considered, it will be possible to discuss these to work out how the proposed research may be amended. For example, in relation to feasibility something more modest in scope may be discussed. Your task will then be to amend initial ideas and convince your tutor that the proposed research is achievable within the time and other resources available.</a:t>
            </a:r>
          </a:p>
          <a:p>
            <a:pPr algn="just"/>
            <a:endParaRPr lang="en-US" dirty="0"/>
          </a:p>
        </p:txBody>
      </p:sp>
    </p:spTree>
    <p:extLst>
      <p:ext uri="{BB962C8B-B14F-4D97-AF65-F5344CB8AC3E}">
        <p14:creationId xmlns:p14="http://schemas.microsoft.com/office/powerpoint/2010/main" val="49420722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Ensuring that your research project isn’t based on preconceived ideas</a:t>
            </a:r>
          </a:p>
        </p:txBody>
      </p:sp>
      <p:sp>
        <p:nvSpPr>
          <p:cNvPr id="3" name="Content Placeholder 2"/>
          <p:cNvSpPr>
            <a:spLocks noGrp="1"/>
          </p:cNvSpPr>
          <p:nvPr>
            <p:ph idx="1"/>
          </p:nvPr>
        </p:nvSpPr>
        <p:spPr/>
        <p:txBody>
          <a:bodyPr>
            <a:normAutofit/>
          </a:bodyPr>
          <a:lstStyle/>
          <a:p>
            <a:r>
              <a:rPr lang="en-US" dirty="0"/>
              <a:t>Your research project offers a valuable way to learn the skills involved in this activity. These skills are transferable to many other situations, including the world of work. It is about process as well as outcome. </a:t>
            </a:r>
          </a:p>
          <a:p>
            <a:r>
              <a:rPr lang="en-US" dirty="0"/>
              <a:t>Do not be like the student who came to Phil to talk over a research proposal and said, ‘Of course, I know what the answer will be’. When asked to explain the purpose of doing the research if he already knew the answer, he became rather defensive and eventually looked for another supervisor and, probably, another topic.</a:t>
            </a:r>
          </a:p>
          <a:p>
            <a:r>
              <a:rPr lang="en-US" dirty="0"/>
              <a:t>Approval of your research proposal implies that it is satisfactory. While this is no guarantee of subsequent success, it will reassure you to know that you have started your research journey with an appropriate destination and journey plan. It will be for you to ensure that you do not get lost!</a:t>
            </a:r>
          </a:p>
        </p:txBody>
      </p:sp>
    </p:spTree>
    <p:extLst>
      <p:ext uri="{BB962C8B-B14F-4D97-AF65-F5344CB8AC3E}">
        <p14:creationId xmlns:p14="http://schemas.microsoft.com/office/powerpoint/2010/main" val="82913233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How may your research project be structured?</a:t>
            </a:r>
          </a:p>
        </p:txBody>
      </p:sp>
      <p:sp>
        <p:nvSpPr>
          <p:cNvPr id="3" name="Content Placeholder 2"/>
          <p:cNvSpPr>
            <a:spLocks noGrp="1"/>
          </p:cNvSpPr>
          <p:nvPr>
            <p:ph idx="1"/>
          </p:nvPr>
        </p:nvSpPr>
        <p:spPr/>
        <p:txBody>
          <a:bodyPr>
            <a:normAutofit/>
          </a:bodyPr>
          <a:lstStyle/>
          <a:p>
            <a:r>
              <a:rPr lang="en-US" dirty="0"/>
              <a:t>There are potentially different ways to structure your research proposal. Different research traditions may lead to different ways of structuring your proposal and, later on, your project report. The followings describe what may be thought of as the standard approach to structuring your research proposal.</a:t>
            </a:r>
          </a:p>
          <a:p>
            <a:r>
              <a:rPr lang="en-US" dirty="0"/>
              <a:t> You will need to make yourself aware if there is any variation to this in your institution’s or faculty’s requirements. Whichever structure you are required to adopt, this will be driven by and focused on your research question, aim and research objectives, and you will need to ensure that you produce a coherent proposal.</a:t>
            </a:r>
          </a:p>
        </p:txBody>
      </p:sp>
    </p:spTree>
    <p:extLst>
      <p:ext uri="{BB962C8B-B14F-4D97-AF65-F5344CB8AC3E}">
        <p14:creationId xmlns:p14="http://schemas.microsoft.com/office/powerpoint/2010/main" val="41600645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48327" y="257574"/>
            <a:ext cx="11143672" cy="1450757"/>
          </a:xfrm>
        </p:spPr>
        <p:txBody>
          <a:bodyPr>
            <a:normAutofit fontScale="90000"/>
          </a:bodyPr>
          <a:lstStyle/>
          <a:p>
            <a:r>
              <a:rPr lang="en-US" sz="4000" b="1" dirty="0"/>
              <a:t>The importance of developing valid research proposal as the foundation for a research project</a:t>
            </a:r>
          </a:p>
        </p:txBody>
      </p:sp>
      <p:sp>
        <p:nvSpPr>
          <p:cNvPr id="3" name="Content Placeholder 2"/>
          <p:cNvSpPr>
            <a:spLocks noGrp="1"/>
          </p:cNvSpPr>
          <p:nvPr>
            <p:ph idx="1"/>
          </p:nvPr>
        </p:nvSpPr>
        <p:spPr>
          <a:xfrm>
            <a:off x="649855" y="2082800"/>
            <a:ext cx="9612699" cy="4191000"/>
          </a:xfrm>
        </p:spPr>
        <p:txBody>
          <a:bodyPr vert="horz" lIns="91440" tIns="45720" rIns="91440" bIns="45720" rtlCol="0" anchor="t">
            <a:normAutofit fontScale="92500" lnSpcReduction="20000"/>
          </a:bodyPr>
          <a:lstStyle/>
          <a:p>
            <a:pPr marL="560070" indent="-514350">
              <a:buClr>
                <a:srgbClr val="595959"/>
              </a:buClr>
              <a:buAutoNum type="arabicPeriod"/>
            </a:pPr>
            <a:r>
              <a:rPr lang="en-US" sz="2800" dirty="0"/>
              <a:t>A good project proposal title should meet the following criteria: </a:t>
            </a:r>
            <a:endParaRPr lang="en-US"/>
          </a:p>
          <a:p>
            <a:pPr marL="880110" lvl="1" indent="-514350">
              <a:buClr>
                <a:srgbClr val="595959"/>
              </a:buClr>
              <a:buFont typeface="Courier New" pitchFamily="34" charset="0"/>
              <a:buChar char="o"/>
            </a:pPr>
            <a:r>
              <a:rPr lang="en-US" sz="2600" dirty="0"/>
              <a:t>Specific and accurate</a:t>
            </a:r>
          </a:p>
          <a:p>
            <a:pPr marL="880110" lvl="1" indent="-514350">
              <a:buClr>
                <a:srgbClr val="595959"/>
              </a:buClr>
              <a:buFont typeface="Courier New" pitchFamily="34" charset="0"/>
              <a:buChar char="o"/>
            </a:pPr>
            <a:r>
              <a:rPr lang="en-US" sz="2600" dirty="0"/>
              <a:t>Not too long</a:t>
            </a:r>
          </a:p>
          <a:p>
            <a:pPr marL="880110" lvl="1" indent="-514350">
              <a:buClr>
                <a:srgbClr val="595959"/>
              </a:buClr>
              <a:buFont typeface="Courier New" pitchFamily="34" charset="0"/>
              <a:buChar char="o"/>
            </a:pPr>
            <a:r>
              <a:rPr lang="en-US" sz="2600" dirty="0"/>
              <a:t>Contain the main idea</a:t>
            </a:r>
          </a:p>
          <a:p>
            <a:pPr marL="560070" indent="-514350">
              <a:buAutoNum type="arabicPeriod"/>
            </a:pPr>
            <a:r>
              <a:rPr lang="en-US" sz="2800" dirty="0"/>
              <a:t>The proposal is one that has an existing body of literature or source material that can be reviewed. </a:t>
            </a:r>
          </a:p>
          <a:p>
            <a:pPr marL="560070" indent="-514350">
              <a:buAutoNum type="arabicPeriod"/>
            </a:pPr>
            <a:r>
              <a:rPr lang="en-US" sz="2800" dirty="0"/>
              <a:t>The proposal extends a current line of learning that will lend itself to further rigorous exploration</a:t>
            </a:r>
          </a:p>
          <a:p>
            <a:pPr marL="560070" indent="-514350">
              <a:buAutoNum type="arabicPeriod"/>
            </a:pPr>
            <a:r>
              <a:rPr lang="en-US" sz="2800" dirty="0"/>
              <a:t>Ensure that your proposal is ethical, reliable and valid</a:t>
            </a:r>
          </a:p>
        </p:txBody>
      </p:sp>
    </p:spTree>
    <p:extLst>
      <p:ext uri="{BB962C8B-B14F-4D97-AF65-F5344CB8AC3E}">
        <p14:creationId xmlns:p14="http://schemas.microsoft.com/office/powerpoint/2010/main" val="25681207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Writing your own Research Proposal</a:t>
            </a:r>
          </a:p>
        </p:txBody>
      </p:sp>
      <p:sp>
        <p:nvSpPr>
          <p:cNvPr id="3" name="Content Placeholder 2"/>
          <p:cNvSpPr>
            <a:spLocks noGrp="1"/>
          </p:cNvSpPr>
          <p:nvPr>
            <p:ph idx="1"/>
          </p:nvPr>
        </p:nvSpPr>
        <p:spPr/>
        <p:txBody>
          <a:bodyPr vert="horz" lIns="91440" tIns="45720" rIns="91440" bIns="45720" rtlCol="0" anchor="t">
            <a:normAutofit/>
          </a:bodyPr>
          <a:lstStyle/>
          <a:p>
            <a:pPr marL="0" indent="0" algn="just">
              <a:buNone/>
            </a:pPr>
            <a:r>
              <a:rPr lang="en-US" dirty="0"/>
              <a:t>Before you can write your research proposal you will need to be aware of Followings:</a:t>
            </a:r>
          </a:p>
          <a:p>
            <a:pPr marL="502920" indent="-457200" algn="just">
              <a:buAutoNum type="arabicPeriod"/>
            </a:pPr>
            <a:r>
              <a:rPr lang="en-US" dirty="0"/>
              <a:t>Available literature and appropriate theory,</a:t>
            </a:r>
          </a:p>
          <a:p>
            <a:pPr marL="502920" indent="-457200" algn="just">
              <a:buAutoNum type="arabicPeriod"/>
            </a:pPr>
            <a:r>
              <a:rPr lang="en-US" dirty="0"/>
              <a:t>The research philosophy and approach that you wish to use, </a:t>
            </a:r>
          </a:p>
          <a:p>
            <a:pPr marL="502920" indent="-457200" algn="just">
              <a:buAutoNum type="arabicPeriod"/>
            </a:pPr>
            <a:r>
              <a:rPr lang="en-US" dirty="0"/>
              <a:t>Your research design including methodological choice, </a:t>
            </a:r>
          </a:p>
          <a:p>
            <a:pPr marL="502920" indent="-457200" algn="just">
              <a:buAutoNum type="arabicPeriod"/>
            </a:pPr>
            <a:r>
              <a:rPr lang="en-US" dirty="0"/>
              <a:t>Research strategy and time frame, </a:t>
            </a:r>
          </a:p>
          <a:p>
            <a:pPr marL="502920" indent="-457200" algn="just">
              <a:buAutoNum type="arabicPeriod"/>
            </a:pPr>
            <a:r>
              <a:rPr lang="en-US" dirty="0"/>
              <a:t>Access and ethical issues, </a:t>
            </a:r>
          </a:p>
          <a:p>
            <a:pPr marL="502920" indent="-457200" algn="just">
              <a:buAutoNum type="arabicPeriod"/>
            </a:pPr>
            <a:r>
              <a:rPr lang="en-US" dirty="0"/>
              <a:t>Sample selection, data collection methods and data analysis techniques.</a:t>
            </a:r>
          </a:p>
          <a:p>
            <a:pPr>
              <a:buAutoNum type="arabicPeriod"/>
            </a:pPr>
            <a:endParaRPr lang="en-US" dirty="0"/>
          </a:p>
        </p:txBody>
      </p:sp>
    </p:spTree>
    <p:extLst>
      <p:ext uri="{BB962C8B-B14F-4D97-AF65-F5344CB8AC3E}">
        <p14:creationId xmlns:p14="http://schemas.microsoft.com/office/powerpoint/2010/main" val="3326796653"/>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General Contents of Research Proposal</a:t>
            </a:r>
          </a:p>
        </p:txBody>
      </p:sp>
      <p:sp>
        <p:nvSpPr>
          <p:cNvPr id="3" name="Content Placeholder 2"/>
          <p:cNvSpPr>
            <a:spLocks noGrp="1"/>
          </p:cNvSpPr>
          <p:nvPr>
            <p:ph idx="1"/>
          </p:nvPr>
        </p:nvSpPr>
        <p:spPr/>
        <p:txBody>
          <a:bodyPr vert="horz" lIns="91440" tIns="45720" rIns="91440" bIns="45720" rtlCol="0" anchor="t">
            <a:normAutofit lnSpcReduction="10000"/>
          </a:bodyPr>
          <a:lstStyle/>
          <a:p>
            <a:pPr marL="457200" indent="-457200">
              <a:buAutoNum type="arabicPeriod"/>
            </a:pPr>
            <a:r>
              <a:rPr lang="en-US" dirty="0"/>
              <a:t>Title</a:t>
            </a:r>
          </a:p>
          <a:p>
            <a:pPr marL="457200" indent="-457200">
              <a:buClr>
                <a:srgbClr val="595959"/>
              </a:buClr>
              <a:buAutoNum type="arabicPeriod"/>
            </a:pPr>
            <a:r>
              <a:rPr lang="en-US" dirty="0"/>
              <a:t>Background/ Introduction</a:t>
            </a:r>
          </a:p>
          <a:p>
            <a:pPr marL="457200" indent="-457200">
              <a:buFont typeface="+mj-lt"/>
              <a:buAutoNum type="arabicPeriod"/>
            </a:pPr>
            <a:r>
              <a:rPr lang="en-US" dirty="0"/>
              <a:t>Research Question/s </a:t>
            </a:r>
          </a:p>
          <a:p>
            <a:pPr marL="457200" indent="-457200">
              <a:buFont typeface="+mj-lt"/>
              <a:buAutoNum type="arabicPeriod"/>
            </a:pPr>
            <a:r>
              <a:rPr lang="en-US" dirty="0"/>
              <a:t>Rationale/Why?</a:t>
            </a:r>
          </a:p>
          <a:p>
            <a:pPr marL="457200" indent="-457200">
              <a:buFont typeface="+mj-lt"/>
              <a:buAutoNum type="arabicPeriod"/>
            </a:pPr>
            <a:r>
              <a:rPr lang="en-US" dirty="0"/>
              <a:t>Aim &amp; Objectives</a:t>
            </a:r>
          </a:p>
          <a:p>
            <a:pPr marL="457200" indent="-457200">
              <a:buFont typeface="+mj-lt"/>
              <a:buAutoNum type="arabicPeriod"/>
            </a:pPr>
            <a:r>
              <a:rPr lang="en-US" dirty="0"/>
              <a:t>Methodology/ Approach</a:t>
            </a:r>
          </a:p>
          <a:p>
            <a:pPr marL="457200" indent="-457200">
              <a:buFont typeface="+mj-lt"/>
              <a:buAutoNum type="arabicPeriod"/>
            </a:pPr>
            <a:r>
              <a:rPr lang="en-US" dirty="0"/>
              <a:t>Expected Outcome</a:t>
            </a:r>
          </a:p>
          <a:p>
            <a:pPr marL="457200" indent="-457200">
              <a:buFont typeface="+mj-lt"/>
              <a:buAutoNum type="arabicPeriod"/>
            </a:pPr>
            <a:r>
              <a:rPr lang="en-US" dirty="0"/>
              <a:t>Schedule/ Timeline (Gantt Chart)</a:t>
            </a:r>
          </a:p>
          <a:p>
            <a:pPr marL="457200" indent="-457200">
              <a:buFont typeface="+mj-lt"/>
              <a:buAutoNum type="arabicPeriod"/>
            </a:pPr>
            <a:r>
              <a:rPr lang="en-US" dirty="0"/>
              <a:t>Reference </a:t>
            </a:r>
          </a:p>
          <a:p>
            <a:pPr algn="r"/>
            <a:endParaRPr lang="en-US" dirty="0"/>
          </a:p>
          <a:p>
            <a:endParaRPr lang="en-US" dirty="0"/>
          </a:p>
        </p:txBody>
      </p:sp>
    </p:spTree>
    <p:extLst>
      <p:ext uri="{BB962C8B-B14F-4D97-AF65-F5344CB8AC3E}">
        <p14:creationId xmlns:p14="http://schemas.microsoft.com/office/powerpoint/2010/main" val="641799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Contents of Research Proposal – Pearson Set</a:t>
            </a:r>
            <a:endParaRPr lang="en-US" b="0" dirty="0">
              <a:solidFill>
                <a:srgbClr val="000000"/>
              </a:solidFill>
            </a:endParaRPr>
          </a:p>
        </p:txBody>
      </p:sp>
      <p:sp>
        <p:nvSpPr>
          <p:cNvPr id="3" name="Content Placeholder 2"/>
          <p:cNvSpPr>
            <a:spLocks noGrp="1"/>
          </p:cNvSpPr>
          <p:nvPr>
            <p:ph idx="1"/>
          </p:nvPr>
        </p:nvSpPr>
        <p:spPr/>
        <p:txBody>
          <a:bodyPr vert="horz" lIns="91440" tIns="45720" rIns="91440" bIns="45720" rtlCol="0" anchor="t">
            <a:noAutofit/>
          </a:bodyPr>
          <a:lstStyle/>
          <a:p>
            <a:pPr marL="45720" indent="0" algn="just">
              <a:buNone/>
            </a:pPr>
            <a:r>
              <a:rPr lang="en-US" b="1" dirty="0"/>
              <a:t>Title, objective, responsibilities</a:t>
            </a:r>
            <a:endParaRPr lang="en-US" dirty="0"/>
          </a:p>
          <a:p>
            <a:pPr algn="just"/>
            <a:r>
              <a:rPr lang="en-US" dirty="0"/>
              <a:t>Title or working title of research project (in the form of a question, objective or hypothesis): Research project objectives (e.g. what is the question you want to answer? What do you want to learn how to do? What do you want to find out?):</a:t>
            </a:r>
          </a:p>
          <a:p>
            <a:pPr marL="45720" indent="0" algn="just">
              <a:buNone/>
            </a:pPr>
            <a:r>
              <a:rPr lang="en-US" b="1" dirty="0"/>
              <a:t>Reasons for choosing this research project</a:t>
            </a:r>
          </a:p>
          <a:p>
            <a:pPr algn="just"/>
            <a:r>
              <a:rPr lang="en-US" dirty="0"/>
              <a:t>Reasons for choosing the project (e.g. links to other subjects you are studying, personal interest, future plans, knowledge/skills you want to improve, why the topic is important)</a:t>
            </a:r>
          </a:p>
          <a:p>
            <a:pPr marL="45720" indent="0" algn="just">
              <a:buNone/>
            </a:pPr>
            <a:r>
              <a:rPr lang="en-US" b="1" dirty="0"/>
              <a:t>Literature sources searched</a:t>
            </a:r>
          </a:p>
          <a:p>
            <a:pPr algn="just"/>
            <a:r>
              <a:rPr lang="en-US" dirty="0"/>
              <a:t>Use of key literature sources to support your research question, objective or hypothesis</a:t>
            </a:r>
          </a:p>
        </p:txBody>
      </p:sp>
    </p:spTree>
    <p:extLst>
      <p:ext uri="{BB962C8B-B14F-4D97-AF65-F5344CB8AC3E}">
        <p14:creationId xmlns:p14="http://schemas.microsoft.com/office/powerpoint/2010/main" val="14616819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vert="horz" lIns="91440" tIns="45720" rIns="91440" bIns="45720" rtlCol="0" anchor="t">
            <a:normAutofit/>
          </a:bodyPr>
          <a:lstStyle/>
          <a:p>
            <a:pPr marL="45720" indent="0" algn="just">
              <a:buNone/>
            </a:pPr>
            <a:r>
              <a:rPr lang="en-US" sz="2200" b="1" dirty="0"/>
              <a:t>Activities and timescales</a:t>
            </a:r>
            <a:endParaRPr lang="en-US" sz="2200" dirty="0"/>
          </a:p>
          <a:p>
            <a:pPr algn="just">
              <a:buClr>
                <a:srgbClr val="595959"/>
              </a:buClr>
            </a:pPr>
            <a:r>
              <a:rPr lang="en-US" sz="2200" dirty="0"/>
              <a:t>Activities to be carried out during the research project (e.g. research, development, analysis of ideas, writing, data collection, numerical analysis, tutor meetings, production of final outcome, evaluation, writing the report) and likely durations</a:t>
            </a:r>
          </a:p>
          <a:p>
            <a:pPr marL="45720" indent="0" algn="just">
              <a:buClr>
                <a:srgbClr val="595959"/>
              </a:buClr>
              <a:buNone/>
            </a:pPr>
            <a:r>
              <a:rPr lang="en-US" sz="2200" b="1" dirty="0"/>
              <a:t>Research approach and methodologies</a:t>
            </a:r>
          </a:p>
          <a:p>
            <a:pPr algn="just"/>
            <a:r>
              <a:rPr lang="en-US" sz="2200" dirty="0"/>
              <a:t>Type of research approach and methodologies you are likely to use, and reasons for your choice: What your areas of research will cover</a:t>
            </a:r>
          </a:p>
        </p:txBody>
      </p:sp>
    </p:spTree>
    <p:extLst>
      <p:ext uri="{BB962C8B-B14F-4D97-AF65-F5344CB8AC3E}">
        <p14:creationId xmlns:p14="http://schemas.microsoft.com/office/powerpoint/2010/main" val="36972267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65490" y="424543"/>
            <a:ext cx="8689064" cy="1066800"/>
          </a:xfrm>
        </p:spPr>
        <p:txBody>
          <a:bodyPr>
            <a:normAutofit/>
          </a:bodyPr>
          <a:lstStyle/>
          <a:p>
            <a:r>
              <a:rPr lang="en-US" dirty="0"/>
              <a:t>The purpose and significance for research question and hypothesis</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dirty="0"/>
              <a:t>A </a:t>
            </a:r>
            <a:r>
              <a:rPr lang="en-US" b="1" dirty="0"/>
              <a:t>research question</a:t>
            </a:r>
            <a:r>
              <a:rPr lang="en-US" dirty="0"/>
              <a:t> will allow you to say what the issue or problem is that you wish to study and what your research project will seek to find out, explain and answer. One of the key criteria of your research success will be whether you have developed a set of clear conclusions from the data you have collected. The extent to which you can do that will be determined largely by the clarity with which you have posed your research question.</a:t>
            </a:r>
            <a:endParaRPr lang="en-US"/>
          </a:p>
          <a:p>
            <a:pPr algn="just">
              <a:buClr>
                <a:srgbClr val="595959"/>
              </a:buClr>
            </a:pPr>
            <a:r>
              <a:rPr lang="en-US" dirty="0"/>
              <a:t>Research question will be at the </a:t>
            </a:r>
            <a:r>
              <a:rPr lang="en-US" dirty="0" err="1"/>
              <a:t>centre</a:t>
            </a:r>
            <a:r>
              <a:rPr lang="en-US" dirty="0"/>
              <a:t> of your research project. It will influence your choice of literature to review, your research design, the access you need to negotiate, your approach to sampling, your choice of data collection and analysis methods, and help to shape the way in which you write your project report. This overarching research question is sometimes referred to as a ‘general research question’, ‘general focus research question’ or ‘central research question’. </a:t>
            </a:r>
          </a:p>
        </p:txBody>
      </p:sp>
    </p:spTree>
    <p:extLst>
      <p:ext uri="{BB962C8B-B14F-4D97-AF65-F5344CB8AC3E}">
        <p14:creationId xmlns:p14="http://schemas.microsoft.com/office/powerpoint/2010/main" val="31451532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53430C-4731-E6CA-C341-56C71C03ACC9}"/>
              </a:ext>
            </a:extLst>
          </p:cNvPr>
          <p:cNvSpPr>
            <a:spLocks noGrp="1"/>
          </p:cNvSpPr>
          <p:nvPr>
            <p:ph type="title"/>
          </p:nvPr>
        </p:nvSpPr>
        <p:spPr/>
        <p:txBody>
          <a:bodyPr/>
          <a:lstStyle/>
          <a:p>
            <a:r>
              <a:rPr lang="en-US" dirty="0"/>
              <a:t>Hypothesis</a:t>
            </a:r>
          </a:p>
        </p:txBody>
      </p:sp>
      <p:sp>
        <p:nvSpPr>
          <p:cNvPr id="3" name="Content Placeholder 2">
            <a:extLst>
              <a:ext uri="{FF2B5EF4-FFF2-40B4-BE49-F238E27FC236}">
                <a16:creationId xmlns:a16="http://schemas.microsoft.com/office/drawing/2014/main" id="{766B4C15-F680-28DB-0914-2928CA1F8A1A}"/>
              </a:ext>
            </a:extLst>
          </p:cNvPr>
          <p:cNvSpPr>
            <a:spLocks noGrp="1"/>
          </p:cNvSpPr>
          <p:nvPr>
            <p:ph idx="1"/>
          </p:nvPr>
        </p:nvSpPr>
        <p:spPr/>
        <p:txBody>
          <a:bodyPr vert="horz" lIns="91440" tIns="45720" rIns="91440" bIns="45720" rtlCol="0" anchor="t">
            <a:normAutofit/>
          </a:bodyPr>
          <a:lstStyle/>
          <a:p>
            <a:endParaRPr lang="en-US"/>
          </a:p>
          <a:p>
            <a:pPr>
              <a:buClr>
                <a:srgbClr val="595959"/>
              </a:buClr>
            </a:pPr>
            <a:r>
              <a:rPr lang="en-US" dirty="0"/>
              <a:t>A hypothesis is a testable statement that predicts the relationship between variables based on the research question. It’s a proposed explanation made on the basis of limited evidence that can be proven or disproven through research and experimentation.</a:t>
            </a:r>
          </a:p>
          <a:p>
            <a:pPr>
              <a:buClr>
                <a:srgbClr val="595959"/>
              </a:buClr>
            </a:pPr>
            <a:r>
              <a:rPr lang="en-US" dirty="0"/>
              <a:t>There are usually two types of hypotheses:</a:t>
            </a:r>
          </a:p>
          <a:p>
            <a:pPr>
              <a:buClr>
                <a:srgbClr val="595959"/>
              </a:buClr>
            </a:pPr>
            <a:r>
              <a:rPr lang="en-US" dirty="0"/>
              <a:t>Null Hypothesis (H0): Suggests that there is no effect or relationship between variables.</a:t>
            </a:r>
          </a:p>
          <a:p>
            <a:pPr>
              <a:buClr>
                <a:srgbClr val="595959"/>
              </a:buClr>
            </a:pPr>
            <a:r>
              <a:rPr lang="en-US" dirty="0"/>
              <a:t>Alternative Hypothesis (H1 or Ha): Suggests that there is an effect or relationship between variables.</a:t>
            </a:r>
          </a:p>
          <a:p>
            <a:pPr>
              <a:buClr>
                <a:srgbClr val="595959"/>
              </a:buClr>
            </a:pPr>
            <a:endParaRPr lang="en-US" dirty="0"/>
          </a:p>
        </p:txBody>
      </p:sp>
    </p:spTree>
    <p:extLst>
      <p:ext uri="{BB962C8B-B14F-4D97-AF65-F5344CB8AC3E}">
        <p14:creationId xmlns:p14="http://schemas.microsoft.com/office/powerpoint/2010/main" val="9285097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Title</a:t>
            </a:r>
          </a:p>
        </p:txBody>
      </p:sp>
      <p:sp>
        <p:nvSpPr>
          <p:cNvPr id="3" name="Content Placeholder 2"/>
          <p:cNvSpPr>
            <a:spLocks noGrp="1"/>
          </p:cNvSpPr>
          <p:nvPr>
            <p:ph idx="1"/>
          </p:nvPr>
        </p:nvSpPr>
        <p:spPr/>
        <p:txBody>
          <a:bodyPr/>
          <a:lstStyle/>
          <a:p>
            <a:r>
              <a:rPr lang="en-US" dirty="0"/>
              <a:t>The title should simply and concisely </a:t>
            </a:r>
            <a:r>
              <a:rPr lang="en-US" dirty="0" err="1"/>
              <a:t>summarise</a:t>
            </a:r>
            <a:r>
              <a:rPr lang="en-US" dirty="0"/>
              <a:t> the research question. It should avoid unnecessary phrases such as, ‘A study to explore ...’ Instead it should reflect the concepts or variables in your research. If your research question changes, this will naturally lead to a change to your title.</a:t>
            </a:r>
          </a:p>
        </p:txBody>
      </p:sp>
    </p:spTree>
    <p:extLst>
      <p:ext uri="{BB962C8B-B14F-4D97-AF65-F5344CB8AC3E}">
        <p14:creationId xmlns:p14="http://schemas.microsoft.com/office/powerpoint/2010/main" val="10065751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Background</a:t>
            </a:r>
          </a:p>
        </p:txBody>
      </p:sp>
      <p:sp>
        <p:nvSpPr>
          <p:cNvPr id="3" name="Content Placeholder 2"/>
          <p:cNvSpPr>
            <a:spLocks noGrp="1"/>
          </p:cNvSpPr>
          <p:nvPr>
            <p:ph idx="1"/>
          </p:nvPr>
        </p:nvSpPr>
        <p:spPr/>
        <p:txBody>
          <a:bodyPr>
            <a:normAutofit fontScale="85000" lnSpcReduction="10000"/>
          </a:bodyPr>
          <a:lstStyle/>
          <a:p>
            <a:pPr algn="just"/>
            <a:r>
              <a:rPr lang="en-US" dirty="0"/>
              <a:t>This section has a number of related functions. It needs to introduce the reader to the research issue or problem. This addresses the question, ‘what am I going to do?’ You also need to provide a rationale for your proposed research and to justify this. This may be composed of two elements, one relating to you and the other relating to the value of the work. </a:t>
            </a:r>
          </a:p>
          <a:p>
            <a:pPr algn="just"/>
            <a:r>
              <a:rPr lang="en-US" dirty="0"/>
              <a:t>Your reader will be looking for some evidence that this is a topic in which you have sufficient interest to sustain the effort that will be required from you over the period of the research project. </a:t>
            </a:r>
          </a:p>
          <a:p>
            <a:pPr algn="just"/>
            <a:r>
              <a:rPr lang="en-US" dirty="0"/>
              <a:t>This may relate to the need to tackle a problem, to your intellectual curiosity, or to your intended career direction. It relates to the question, ‘why am I going to do this?’ The rationale will also need to address the question, ‘why is it worth doing?’ </a:t>
            </a:r>
          </a:p>
          <a:p>
            <a:pPr algn="just"/>
            <a:r>
              <a:rPr lang="en-US" dirty="0"/>
              <a:t>This will relate to one of the following types of justification: the application of a theory to a particular context (such as within an </a:t>
            </a:r>
            <a:r>
              <a:rPr lang="en-US" dirty="0" err="1"/>
              <a:t>organisation</a:t>
            </a:r>
            <a:r>
              <a:rPr lang="en-US" dirty="0"/>
              <a:t>); the development of a theory within a research setting; testing a theory within a given context. Your research may propose other such justifications depending on its nature.</a:t>
            </a:r>
          </a:p>
        </p:txBody>
      </p:sp>
    </p:spTree>
    <p:extLst>
      <p:ext uri="{BB962C8B-B14F-4D97-AF65-F5344CB8AC3E}">
        <p14:creationId xmlns:p14="http://schemas.microsoft.com/office/powerpoint/2010/main" val="22550554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normAutofit/>
          </a:bodyPr>
          <a:lstStyle/>
          <a:p>
            <a:pPr algn="just"/>
            <a:r>
              <a:rPr lang="en-US" dirty="0"/>
              <a:t>This leads to another function of this section: to demonstrate ‘how my research relates to what has been done before in this subject area’. In achieving this you will show your knowledge of relevant literature and clarify where your proposal fits into the debate in this literature. You will also be able to begin to show ‘which theory or theories will inform what I am doing and how I will use it or them’. </a:t>
            </a:r>
          </a:p>
          <a:p>
            <a:pPr algn="just"/>
            <a:r>
              <a:rPr lang="en-US" dirty="0"/>
              <a:t>The intention will be not to write a detailed review of the literature but rather to provide an overview of key literature sources from which you will draw and the theory or theories within them. This will not be the same as the critical literature review that you will present in your final project report but the start of the process that leads to it.</a:t>
            </a:r>
          </a:p>
        </p:txBody>
      </p:sp>
    </p:spTree>
    <p:extLst>
      <p:ext uri="{BB962C8B-B14F-4D97-AF65-F5344CB8AC3E}">
        <p14:creationId xmlns:p14="http://schemas.microsoft.com/office/powerpoint/2010/main" val="5731279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latin typeface="+mn-lt"/>
              </a:rPr>
              <a:t>Example: Background/Problem Statement:</a:t>
            </a:r>
            <a:r>
              <a:rPr lang="en-US" dirty="0">
                <a:latin typeface="+mn-lt"/>
              </a:rPr>
              <a:t> </a:t>
            </a:r>
          </a:p>
        </p:txBody>
      </p:sp>
      <p:sp>
        <p:nvSpPr>
          <p:cNvPr id="3" name="Content Placeholder 2"/>
          <p:cNvSpPr>
            <a:spLocks noGrp="1"/>
          </p:cNvSpPr>
          <p:nvPr>
            <p:ph idx="1"/>
          </p:nvPr>
        </p:nvSpPr>
        <p:spPr/>
        <p:txBody>
          <a:bodyPr vert="horz" lIns="91440" tIns="45720" rIns="91440" bIns="45720" rtlCol="0" anchor="t">
            <a:normAutofit/>
          </a:bodyPr>
          <a:lstStyle/>
          <a:p>
            <a:pPr algn="just"/>
            <a:r>
              <a:rPr lang="en-US" dirty="0"/>
              <a:t>With the rapid urbanization of the XYZ region, there has been a corresponding surge in traffic congestion, leading to increased air pollution and decreased quality of life for residents. Current transportation infrastructure is ill-equipped to handle this growth, resulting in significant economic and environmental consequences. Existing studies (cite references) indicate a pressing need for sustainable urban mobility solutions to alleviate congestion, reduce emissions, and enhance overall urban livability. This proposal aims to address these challenges by implementing a comprehensive public transportation improvement project."</a:t>
            </a:r>
            <a:endParaRPr lang="en-US"/>
          </a:p>
          <a:p>
            <a:r>
              <a:rPr lang="en-US" dirty="0"/>
              <a:t>In this example, the background provides context for the identified problem of traffic congestion and its associated consequences. It cites existing literature to emphasize the urgency of the issue and clearly connects the problem to the proposed project's goals.</a:t>
            </a:r>
          </a:p>
        </p:txBody>
      </p:sp>
    </p:spTree>
    <p:extLst>
      <p:ext uri="{BB962C8B-B14F-4D97-AF65-F5344CB8AC3E}">
        <p14:creationId xmlns:p14="http://schemas.microsoft.com/office/powerpoint/2010/main" val="36584393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Research questions, aim and objectives</a:t>
            </a:r>
          </a:p>
        </p:txBody>
      </p:sp>
      <p:sp>
        <p:nvSpPr>
          <p:cNvPr id="3" name="Content Placeholder 2"/>
          <p:cNvSpPr>
            <a:spLocks noGrp="1"/>
          </p:cNvSpPr>
          <p:nvPr>
            <p:ph idx="1"/>
          </p:nvPr>
        </p:nvSpPr>
        <p:spPr/>
        <p:txBody>
          <a:bodyPr/>
          <a:lstStyle/>
          <a:p>
            <a:r>
              <a:rPr lang="en-US" dirty="0"/>
              <a:t>The Background section should lead logically into a statement of your research question, aim and research objectives. These should leave the reader in no doubt about what your research seeks to achieve. Be careful here to ensure that your objectives are precisely written and will lead to observable outcomes.</a:t>
            </a:r>
          </a:p>
          <a:p>
            <a:r>
              <a:rPr lang="en-US" dirty="0"/>
              <a:t>The </a:t>
            </a:r>
            <a:r>
              <a:rPr lang="en-US" b="1" dirty="0"/>
              <a:t>aim</a:t>
            </a:r>
            <a:r>
              <a:rPr lang="en-US" dirty="0"/>
              <a:t> is a concise and overarching statement that outlines the primary goal or purpose of the proposed project. The aim provides a broad perspective on what you intend to achieve, serving as the guiding principle for the specific objectives and activities outlined in your proposal.</a:t>
            </a:r>
          </a:p>
        </p:txBody>
      </p:sp>
    </p:spTree>
    <p:extLst>
      <p:ext uri="{BB962C8B-B14F-4D97-AF65-F5344CB8AC3E}">
        <p14:creationId xmlns:p14="http://schemas.microsoft.com/office/powerpoint/2010/main" val="126825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 Aim</a:t>
            </a:r>
          </a:p>
        </p:txBody>
      </p:sp>
      <p:sp>
        <p:nvSpPr>
          <p:cNvPr id="3" name="Content Placeholder 2"/>
          <p:cNvSpPr>
            <a:spLocks noGrp="1"/>
          </p:cNvSpPr>
          <p:nvPr>
            <p:ph idx="1"/>
          </p:nvPr>
        </p:nvSpPr>
        <p:spPr/>
        <p:txBody>
          <a:bodyPr>
            <a:normAutofit fontScale="85000" lnSpcReduction="10000"/>
          </a:bodyPr>
          <a:lstStyle/>
          <a:p>
            <a:pPr marL="228600" lvl="1" indent="-171450"/>
            <a:r>
              <a:rPr lang="en-US" sz="2600" dirty="0"/>
              <a:t>Begin the aim with a verb that conveys action and purpose. For example: "To develop," "To investigate," "To enhance," etc.</a:t>
            </a:r>
          </a:p>
          <a:p>
            <a:pPr marL="228600" lvl="1" indent="-171450"/>
            <a:r>
              <a:rPr lang="en-US" sz="2600" dirty="0"/>
              <a:t>Follow the action verb with a description of the main goal or outcome.</a:t>
            </a:r>
          </a:p>
          <a:p>
            <a:pPr marL="0" indent="0">
              <a:buNone/>
            </a:pPr>
            <a:r>
              <a:rPr lang="en-US" b="1" dirty="0"/>
              <a:t>Example:</a:t>
            </a:r>
            <a:r>
              <a:rPr lang="en-US" dirty="0"/>
              <a:t> "To develop an innovative, sustainable waste management system that reduces landfill waste by 50% in the local community within the next two years."</a:t>
            </a:r>
          </a:p>
          <a:p>
            <a:r>
              <a:rPr lang="en-US" dirty="0"/>
              <a:t>In this example, the aim is specific (developing a waste management system), measurable (reducing landfill waste by 50%), achievable (within the next two years), and aligned with the broader goal of promoting sustainability.</a:t>
            </a:r>
          </a:p>
          <a:p>
            <a:r>
              <a:rPr lang="en-US" dirty="0"/>
              <a:t>The aim sets the stage for the rest of your proposal, guiding the formulation of specific objectives and the development of a detailed project plan. It should capture the essence of why the project is being undertaken and what it aims to accomplish.</a:t>
            </a:r>
          </a:p>
        </p:txBody>
      </p:sp>
    </p:spTree>
    <p:extLst>
      <p:ext uri="{BB962C8B-B14F-4D97-AF65-F5344CB8AC3E}">
        <p14:creationId xmlns:p14="http://schemas.microsoft.com/office/powerpoint/2010/main" val="332421110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DEF2EB-6871-105F-A5FD-A9E64D56F448}"/>
              </a:ext>
            </a:extLst>
          </p:cNvPr>
          <p:cNvSpPr>
            <a:spLocks noGrp="1"/>
          </p:cNvSpPr>
          <p:nvPr>
            <p:ph type="title"/>
          </p:nvPr>
        </p:nvSpPr>
        <p:spPr/>
        <p:txBody>
          <a:bodyPr/>
          <a:lstStyle/>
          <a:p>
            <a:r>
              <a:rPr lang="en-US" dirty="0"/>
              <a:t>Example: Objectives</a:t>
            </a:r>
          </a:p>
        </p:txBody>
      </p:sp>
      <p:sp>
        <p:nvSpPr>
          <p:cNvPr id="3" name="Content Placeholder 2">
            <a:extLst>
              <a:ext uri="{FF2B5EF4-FFF2-40B4-BE49-F238E27FC236}">
                <a16:creationId xmlns:a16="http://schemas.microsoft.com/office/drawing/2014/main" id="{0967455B-F715-3EC5-D629-999CED5644C8}"/>
              </a:ext>
            </a:extLst>
          </p:cNvPr>
          <p:cNvSpPr>
            <a:spLocks noGrp="1"/>
          </p:cNvSpPr>
          <p:nvPr>
            <p:ph idx="1"/>
          </p:nvPr>
        </p:nvSpPr>
        <p:spPr/>
        <p:txBody>
          <a:bodyPr vert="horz" lIns="91440" tIns="45720" rIns="91440" bIns="45720" rtlCol="0" anchor="t">
            <a:normAutofit/>
          </a:bodyPr>
          <a:lstStyle/>
          <a:p>
            <a:r>
              <a:rPr lang="en-US" dirty="0"/>
              <a:t>Specific</a:t>
            </a:r>
          </a:p>
          <a:p>
            <a:pPr>
              <a:buClr>
                <a:srgbClr val="595959"/>
              </a:buClr>
            </a:pPr>
            <a:r>
              <a:rPr lang="en-US" dirty="0"/>
              <a:t>Measurable </a:t>
            </a:r>
          </a:p>
          <a:p>
            <a:pPr>
              <a:buClr>
                <a:srgbClr val="595959"/>
              </a:buClr>
            </a:pPr>
            <a:r>
              <a:rPr lang="en-US" dirty="0"/>
              <a:t>Achievable</a:t>
            </a:r>
          </a:p>
          <a:p>
            <a:pPr>
              <a:buClr>
                <a:srgbClr val="595959"/>
              </a:buClr>
            </a:pPr>
            <a:r>
              <a:rPr lang="en-US" dirty="0"/>
              <a:t>Relevant</a:t>
            </a:r>
          </a:p>
          <a:p>
            <a:pPr>
              <a:buClr>
                <a:srgbClr val="595959"/>
              </a:buClr>
            </a:pPr>
            <a:r>
              <a:rPr lang="en-US" dirty="0"/>
              <a:t>Time-bound</a:t>
            </a:r>
          </a:p>
        </p:txBody>
      </p:sp>
    </p:spTree>
    <p:extLst>
      <p:ext uri="{BB962C8B-B14F-4D97-AF65-F5344CB8AC3E}">
        <p14:creationId xmlns:p14="http://schemas.microsoft.com/office/powerpoint/2010/main" val="23343001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a:t>
            </a:r>
          </a:p>
        </p:txBody>
      </p:sp>
      <p:sp>
        <p:nvSpPr>
          <p:cNvPr id="3" name="Content Placeholder 2"/>
          <p:cNvSpPr>
            <a:spLocks noGrp="1"/>
          </p:cNvSpPr>
          <p:nvPr>
            <p:ph idx="1"/>
          </p:nvPr>
        </p:nvSpPr>
        <p:spPr/>
        <p:txBody>
          <a:bodyPr>
            <a:normAutofit lnSpcReduction="10000"/>
          </a:bodyPr>
          <a:lstStyle/>
          <a:p>
            <a:pPr algn="just"/>
            <a:r>
              <a:rPr lang="en-US" dirty="0"/>
              <a:t>The Background and Method will be the longest sections of your proposal. The Method is designed to answer the question, ‘how shall I conduct my research?’ The Method may be divided into sub-sections that deal with </a:t>
            </a:r>
            <a:r>
              <a:rPr lang="en-US" b="1" dirty="0"/>
              <a:t>research design, participants, techniques and procedures and ethical considerations</a:t>
            </a:r>
            <a:r>
              <a:rPr lang="en-US" dirty="0"/>
              <a:t>. This final element may need to be dealt with in a discrete section of your research proposal.</a:t>
            </a:r>
          </a:p>
          <a:p>
            <a:pPr algn="just"/>
            <a:r>
              <a:rPr lang="en-US" dirty="0"/>
              <a:t>Research design involves you making a number of decisions about, ‘what is my research design?’ You will need to make a methodological choice between a quantitative, qualitative or multiple methods design. You will also need to select one or more research strategies (e.g. an experiment, a case study, a survey, a Grounded Theory strategy) and determine an appropriate time frame for your project depending on the nature of your research. You will need to describe each of these and justify your choice by the way these elements fit together to form a coherent whole.</a:t>
            </a:r>
          </a:p>
        </p:txBody>
      </p:sp>
    </p:spTree>
    <p:extLst>
      <p:ext uri="{BB962C8B-B14F-4D97-AF65-F5344CB8AC3E}">
        <p14:creationId xmlns:p14="http://schemas.microsoft.com/office/powerpoint/2010/main" val="247183010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a:t>
            </a:r>
          </a:p>
        </p:txBody>
      </p:sp>
      <p:sp>
        <p:nvSpPr>
          <p:cNvPr id="3" name="Content Placeholder 2"/>
          <p:cNvSpPr>
            <a:spLocks noGrp="1"/>
          </p:cNvSpPr>
          <p:nvPr>
            <p:ph idx="1"/>
          </p:nvPr>
        </p:nvSpPr>
        <p:spPr/>
        <p:txBody>
          <a:bodyPr vert="horz" lIns="91440" tIns="45720" rIns="91440" bIns="45720" rtlCol="0" anchor="t">
            <a:normAutofit fontScale="92500" lnSpcReduction="10000"/>
          </a:bodyPr>
          <a:lstStyle/>
          <a:p>
            <a:pPr algn="just"/>
            <a:r>
              <a:rPr lang="en-US" dirty="0"/>
              <a:t>How you design your research will affect the type of data you require, where you intend to locate them and from whom you will collect them. Your data may be collected from human participants, or they may be secondary data such as from archival research or a combination of these. </a:t>
            </a:r>
            <a:endParaRPr lang="en-US"/>
          </a:p>
          <a:p>
            <a:pPr algn="just"/>
            <a:r>
              <a:rPr lang="en-US" dirty="0"/>
              <a:t>You will therefore need to address the question, ‘what type of data do I need?’ If you are using secondary data you will need to explain what these are, where they are located, any issues related to access and justify this choice. If you intend to collect data from human participants, you will need to answer, ‘who and where are my intended participants?’ </a:t>
            </a:r>
          </a:p>
          <a:p>
            <a:pPr algn="just"/>
            <a:r>
              <a:rPr lang="en-US" dirty="0"/>
              <a:t>You may be intending to conduct research in a single </a:t>
            </a:r>
            <a:r>
              <a:rPr lang="en-US" err="1"/>
              <a:t>organisation</a:t>
            </a:r>
            <a:r>
              <a:rPr lang="en-US" dirty="0"/>
              <a:t> or across a number of </a:t>
            </a:r>
            <a:r>
              <a:rPr lang="en-US" err="1"/>
              <a:t>organisations</a:t>
            </a:r>
            <a:r>
              <a:rPr lang="en-US" dirty="0"/>
              <a:t>. You will need to explain and justify the nature of the </a:t>
            </a:r>
            <a:r>
              <a:rPr lang="en-US" err="1"/>
              <a:t>organisation</a:t>
            </a:r>
            <a:r>
              <a:rPr lang="en-US" dirty="0"/>
              <a:t> or </a:t>
            </a:r>
            <a:r>
              <a:rPr lang="en-US" err="1"/>
              <a:t>organisations</a:t>
            </a:r>
            <a:r>
              <a:rPr lang="en-US" dirty="0"/>
              <a:t> and possibly the sector or sectors within which it operates (or they operate). Your intended participants may be located within a specific part of an </a:t>
            </a:r>
            <a:r>
              <a:rPr lang="en-US" err="1"/>
              <a:t>organisation</a:t>
            </a:r>
            <a:r>
              <a:rPr lang="en-US" dirty="0"/>
              <a:t> or be drawn from across it. You will need to explain and justify this.</a:t>
            </a:r>
          </a:p>
          <a:p>
            <a:endParaRPr lang="en-US" dirty="0"/>
          </a:p>
        </p:txBody>
      </p:sp>
    </p:spTree>
    <p:extLst>
      <p:ext uri="{BB962C8B-B14F-4D97-AF65-F5344CB8AC3E}">
        <p14:creationId xmlns:p14="http://schemas.microsoft.com/office/powerpoint/2010/main" val="10238943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a:t>
            </a:r>
          </a:p>
        </p:txBody>
      </p:sp>
      <p:sp>
        <p:nvSpPr>
          <p:cNvPr id="3" name="Content Placeholder 2"/>
          <p:cNvSpPr>
            <a:spLocks noGrp="1"/>
          </p:cNvSpPr>
          <p:nvPr>
            <p:ph idx="1"/>
          </p:nvPr>
        </p:nvSpPr>
        <p:spPr/>
        <p:txBody>
          <a:bodyPr vert="horz" lIns="91440" tIns="45720" rIns="91440" bIns="45720" rtlCol="0" anchor="t">
            <a:normAutofit fontScale="85000" lnSpcReduction="10000"/>
          </a:bodyPr>
          <a:lstStyle/>
          <a:p>
            <a:pPr algn="just"/>
            <a:r>
              <a:rPr lang="en-US" dirty="0"/>
              <a:t>You will also need to explain the nature of your research population and why you chose it. For example, they may be entrepreneurs, managerial employees, non-managerial employees, a particular occupational group, trade union officials or some combination of these. Where you need to select a sample from within a research population you will need to address the question, ‘how shall I select them?’</a:t>
            </a:r>
            <a:endParaRPr lang="en-US"/>
          </a:p>
          <a:p>
            <a:pPr algn="just"/>
            <a:r>
              <a:rPr lang="en-US" dirty="0"/>
              <a:t>You will also need to describe the data collection and analysis techniques you intend to use by answering the questions, ‘how will I collect my data?’ and ‘how will I </a:t>
            </a:r>
            <a:r>
              <a:rPr lang="en-US" err="1"/>
              <a:t>analyse</a:t>
            </a:r>
            <a:r>
              <a:rPr lang="en-US" dirty="0"/>
              <a:t> it and use this to develop theoretical explanations?’ Data collection techniques include examination of secondary data, questionnaires, interviews and observation. </a:t>
            </a:r>
          </a:p>
          <a:p>
            <a:pPr algn="just"/>
            <a:r>
              <a:rPr lang="en-US" dirty="0"/>
              <a:t>You will not need to explain the precise details of the technique you intend to use, such as including a copy of your questionnaire, interview questions or the content of an observation schedule but you will need to describe how you will use it. </a:t>
            </a:r>
          </a:p>
          <a:p>
            <a:pPr algn="just"/>
            <a:r>
              <a:rPr lang="en-US" dirty="0"/>
              <a:t>For example, if you are using interviews, what type will you use, how many will you conduct, with what type of participant, their intended duration, how will you record the data (e.g. note taking and/or audio-recording). You will also need to describe briefly, how you intend to </a:t>
            </a:r>
            <a:r>
              <a:rPr lang="en-US" err="1"/>
              <a:t>analyse</a:t>
            </a:r>
            <a:r>
              <a:rPr lang="en-US" dirty="0"/>
              <a:t> each type of data that you collect.</a:t>
            </a:r>
          </a:p>
        </p:txBody>
      </p:sp>
    </p:spTree>
    <p:extLst>
      <p:ext uri="{BB962C8B-B14F-4D97-AF65-F5344CB8AC3E}">
        <p14:creationId xmlns:p14="http://schemas.microsoft.com/office/powerpoint/2010/main" val="4527426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Methodology </a:t>
            </a:r>
          </a:p>
        </p:txBody>
      </p:sp>
      <p:sp>
        <p:nvSpPr>
          <p:cNvPr id="3" name="Content Placeholder 2"/>
          <p:cNvSpPr>
            <a:spLocks noGrp="1"/>
          </p:cNvSpPr>
          <p:nvPr>
            <p:ph idx="1"/>
          </p:nvPr>
        </p:nvSpPr>
        <p:spPr/>
        <p:txBody>
          <a:bodyPr>
            <a:normAutofit/>
          </a:bodyPr>
          <a:lstStyle/>
          <a:p>
            <a:pPr algn="just"/>
            <a:r>
              <a:rPr lang="en-US" dirty="0"/>
              <a:t>It will also be important to discuss ethical considerations so that you anticipate these and demonstrate to your tutor and ethics committee that your research design and proposal has been formulated to </a:t>
            </a:r>
            <a:r>
              <a:rPr lang="en-US" dirty="0" err="1"/>
              <a:t>minimise</a:t>
            </a:r>
            <a:r>
              <a:rPr lang="en-US" dirty="0"/>
              <a:t> ethical concerns and avoid unethical practice. </a:t>
            </a:r>
          </a:p>
          <a:p>
            <a:pPr algn="just"/>
            <a:r>
              <a:rPr lang="en-US" dirty="0"/>
              <a:t>This will be essential where you are dealing with human participants, and sometimes even if using secondary data already collected from human participants. </a:t>
            </a:r>
          </a:p>
          <a:p>
            <a:pPr algn="just"/>
            <a:r>
              <a:rPr lang="en-US" dirty="0"/>
              <a:t>There may be a reduced need for some of you undertaking certain types of research (e.g. where this is based on macro-level, completely </a:t>
            </a:r>
            <a:r>
              <a:rPr lang="en-US" dirty="0" err="1"/>
              <a:t>anonymised</a:t>
            </a:r>
            <a:r>
              <a:rPr lang="en-US" dirty="0"/>
              <a:t> data) but in nearly all cases this requirement is very likely to mean that you need to be sensitive to ethical concerns.</a:t>
            </a:r>
          </a:p>
        </p:txBody>
      </p:sp>
    </p:spTree>
    <p:extLst>
      <p:ext uri="{BB962C8B-B14F-4D97-AF65-F5344CB8AC3E}">
        <p14:creationId xmlns:p14="http://schemas.microsoft.com/office/powerpoint/2010/main" val="41754961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Timescale</a:t>
            </a:r>
          </a:p>
        </p:txBody>
      </p:sp>
      <p:sp>
        <p:nvSpPr>
          <p:cNvPr id="3" name="Content Placeholder 2"/>
          <p:cNvSpPr>
            <a:spLocks noGrp="1"/>
          </p:cNvSpPr>
          <p:nvPr>
            <p:ph idx="1"/>
          </p:nvPr>
        </p:nvSpPr>
        <p:spPr/>
        <p:txBody>
          <a:bodyPr>
            <a:normAutofit/>
          </a:bodyPr>
          <a:lstStyle/>
          <a:p>
            <a:pPr algn="just"/>
            <a:r>
              <a:rPr lang="en-US" dirty="0"/>
              <a:t>This will help you and your reader to decide on the viability of your research proposal. It will be helpful if you divide your research plan into stages. This will give you a clear idea as to what is possible in the given timescale. Experience has shown that however well the researcher’s time is </a:t>
            </a:r>
            <a:r>
              <a:rPr lang="en-US" dirty="0" err="1"/>
              <a:t>organised</a:t>
            </a:r>
            <a:r>
              <a:rPr lang="en-US" dirty="0"/>
              <a:t>, the whole process seems to take longer than anticipated.</a:t>
            </a:r>
          </a:p>
          <a:p>
            <a:pPr algn="just"/>
            <a:r>
              <a:rPr lang="en-US" dirty="0"/>
              <a:t>As part of this section of their proposal, many researchers find it useful to produce a schedule for their research using a Gantt chart. Developed by Henry Gantt in 1917, this provides a simple visual representation of the tasks or activities that make up your research project, each being plotted against a timeline. The time we estimate each task will take is represented by the length of an associated horizontal bar, while the task’s start and finish times are represented by its position on the timeline.</a:t>
            </a:r>
          </a:p>
        </p:txBody>
      </p:sp>
    </p:spTree>
    <p:extLst>
      <p:ext uri="{BB962C8B-B14F-4D97-AF65-F5344CB8AC3E}">
        <p14:creationId xmlns:p14="http://schemas.microsoft.com/office/powerpoint/2010/main" val="25795136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Resources</a:t>
            </a:r>
          </a:p>
        </p:txBody>
      </p:sp>
      <p:sp>
        <p:nvSpPr>
          <p:cNvPr id="3" name="Content Placeholder 2"/>
          <p:cNvSpPr>
            <a:spLocks noGrp="1"/>
          </p:cNvSpPr>
          <p:nvPr>
            <p:ph idx="1"/>
          </p:nvPr>
        </p:nvSpPr>
        <p:spPr/>
        <p:txBody>
          <a:bodyPr>
            <a:normAutofit fontScale="77500" lnSpcReduction="20000"/>
          </a:bodyPr>
          <a:lstStyle/>
          <a:p>
            <a:r>
              <a:rPr lang="en-US" dirty="0"/>
              <a:t>This is another facet of feasibility. Including this discussion in your research proposal will allow you and your tutor to assess whether what you are proposing can be resourced. Resource considerations may be </a:t>
            </a:r>
            <a:r>
              <a:rPr lang="en-US" dirty="0" err="1"/>
              <a:t>categorised</a:t>
            </a:r>
            <a:r>
              <a:rPr lang="en-US" dirty="0"/>
              <a:t> as finance, data access and equipment.</a:t>
            </a:r>
          </a:p>
          <a:p>
            <a:r>
              <a:rPr lang="en-US" dirty="0"/>
              <a:t>Conducting research costs money. This may include for example: travel, subsistence, help with data entry or transcription, or postage for questionnaires. Think through the expenses involved and ensure that you can meet them.</a:t>
            </a:r>
          </a:p>
          <a:p>
            <a:r>
              <a:rPr lang="en-US" dirty="0"/>
              <a:t>Assessors of your proposal will need to be convinced that you have access to the data you need to conduct your research. This may be unproblematic if you are carrying out research in your own </a:t>
            </a:r>
            <a:r>
              <a:rPr lang="en-US" dirty="0" err="1"/>
              <a:t>organisation</a:t>
            </a:r>
            <a:r>
              <a:rPr lang="en-US" dirty="0"/>
              <a:t>. Many academic committees wish to see written approval from host </a:t>
            </a:r>
            <a:r>
              <a:rPr lang="en-US" dirty="0" err="1"/>
              <a:t>organisations</a:t>
            </a:r>
            <a:r>
              <a:rPr lang="en-US" dirty="0"/>
              <a:t> in which researchers are planning to conduct research. You will also need to convince your reader of the likely response rate to any questionnaire that you send.</a:t>
            </a:r>
          </a:p>
          <a:p>
            <a:r>
              <a:rPr lang="en-US" dirty="0"/>
              <a:t>It is surprising how many research proposals have ambitious plans for large-scale data collection with no thought given to how the data will be </a:t>
            </a:r>
            <a:r>
              <a:rPr lang="en-US" dirty="0" err="1"/>
              <a:t>analysed</a:t>
            </a:r>
            <a:r>
              <a:rPr lang="en-US" dirty="0"/>
              <a:t>. It is important that you convince the reader of your proposal that you have access to the necessary computer software to </a:t>
            </a:r>
            <a:r>
              <a:rPr lang="en-US" dirty="0" err="1"/>
              <a:t>analyse</a:t>
            </a:r>
            <a:r>
              <a:rPr lang="en-US" dirty="0"/>
              <a:t> your data. </a:t>
            </a:r>
          </a:p>
          <a:p>
            <a:r>
              <a:rPr lang="en-US" dirty="0"/>
              <a:t>Moreover, it will be necessary for you to demonstrate that you have either the necessary skills to perform the analysis or can learn the skills in an appropriate time, or you have access to help.</a:t>
            </a:r>
          </a:p>
          <a:p>
            <a:endParaRPr lang="en-US" dirty="0"/>
          </a:p>
        </p:txBody>
      </p:sp>
    </p:spTree>
    <p:extLst>
      <p:ext uri="{BB962C8B-B14F-4D97-AF65-F5344CB8AC3E}">
        <p14:creationId xmlns:p14="http://schemas.microsoft.com/office/powerpoint/2010/main" val="16136684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lstStyle/>
          <a:p>
            <a:r>
              <a:rPr lang="en-US" dirty="0"/>
              <a:t>It is not necessary to try to impress your proposal reader with an enormous list of references. A few key literature sources to which you have referred in the background section and which relate to the previous work and theory that directly informs your own proposal, as well as references to the methods literature, should be all that is necessary.</a:t>
            </a:r>
          </a:p>
        </p:txBody>
      </p:sp>
    </p:spTree>
    <p:extLst>
      <p:ext uri="{BB962C8B-B14F-4D97-AF65-F5344CB8AC3E}">
        <p14:creationId xmlns:p14="http://schemas.microsoft.com/office/powerpoint/2010/main" val="2976676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7408" y="802179"/>
            <a:ext cx="9692640" cy="1325562"/>
          </a:xfrm>
        </p:spPr>
        <p:txBody>
          <a:bodyPr>
            <a:normAutofit fontScale="90000"/>
          </a:bodyPr>
          <a:lstStyle/>
          <a:p>
            <a:r>
              <a:rPr lang="en-US" dirty="0"/>
              <a:t>Use of Saunders’ Research Onion as a guide to establishing a methodological approach.</a:t>
            </a:r>
          </a:p>
        </p:txBody>
      </p:sp>
      <p:sp>
        <p:nvSpPr>
          <p:cNvPr id="3" name="Content Placeholder 2"/>
          <p:cNvSpPr>
            <a:spLocks noGrp="1"/>
          </p:cNvSpPr>
          <p:nvPr>
            <p:ph idx="1"/>
          </p:nvPr>
        </p:nvSpPr>
        <p:spPr>
          <a:xfrm>
            <a:off x="1261872" y="2506664"/>
            <a:ext cx="8595360" cy="3197946"/>
          </a:xfrm>
        </p:spPr>
        <p:txBody>
          <a:bodyPr vert="horz" lIns="91440" tIns="45720" rIns="91440" bIns="45720" rtlCol="0" anchor="t">
            <a:normAutofit fontScale="92500" lnSpcReduction="10000"/>
          </a:bodyPr>
          <a:lstStyle/>
          <a:p>
            <a:pPr algn="just"/>
            <a:r>
              <a:rPr lang="en-US" dirty="0"/>
              <a:t>Saunders' Research Onion is a conceptual framework that helps researchers understand the layers of complexity involved in designing a research project. </a:t>
            </a:r>
            <a:endParaRPr lang="en-US"/>
          </a:p>
          <a:p>
            <a:pPr algn="just">
              <a:buClr>
                <a:srgbClr val="595959"/>
              </a:buClr>
            </a:pPr>
            <a:r>
              <a:rPr lang="en-US" dirty="0"/>
              <a:t>It provides a systematic approach to developing a research methodology.</a:t>
            </a:r>
          </a:p>
          <a:p>
            <a:pPr algn="just">
              <a:buClr>
                <a:srgbClr val="595959"/>
              </a:buClr>
            </a:pPr>
            <a:r>
              <a:rPr lang="en-US" dirty="0"/>
              <a:t>The research onion, developed by Mark Saunders, Philip Lewis, and Adrian Thornhill, consists of different layers, each representing a stage in the research process. </a:t>
            </a:r>
          </a:p>
          <a:p>
            <a:pPr algn="just">
              <a:buClr>
                <a:srgbClr val="595959"/>
              </a:buClr>
            </a:pPr>
            <a:r>
              <a:rPr lang="en-US" dirty="0"/>
              <a:t>The layers include research philosophy, </a:t>
            </a:r>
            <a:r>
              <a:rPr lang="en-US" sz="2100" dirty="0"/>
              <a:t>research </a:t>
            </a:r>
            <a:r>
              <a:rPr lang="en-US" dirty="0"/>
              <a:t>approach, </a:t>
            </a:r>
            <a:r>
              <a:rPr lang="en-US" sz="2100" dirty="0"/>
              <a:t>research </a:t>
            </a:r>
            <a:r>
              <a:rPr lang="en-US" dirty="0"/>
              <a:t>strategy, choices, time horizon, and data collection and analysis techniques/ procedures</a:t>
            </a:r>
          </a:p>
        </p:txBody>
      </p:sp>
    </p:spTree>
    <p:extLst>
      <p:ext uri="{BB962C8B-B14F-4D97-AF65-F5344CB8AC3E}">
        <p14:creationId xmlns:p14="http://schemas.microsoft.com/office/powerpoint/2010/main" val="27138106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4F1B1-23D8-9F09-F65A-00BD2E550DEE}"/>
              </a:ext>
            </a:extLst>
          </p:cNvPr>
          <p:cNvSpPr>
            <a:spLocks noGrp="1"/>
          </p:cNvSpPr>
          <p:nvPr>
            <p:ph type="title"/>
          </p:nvPr>
        </p:nvSpPr>
        <p:spPr/>
        <p:txBody>
          <a:bodyPr/>
          <a:lstStyle/>
          <a:p>
            <a:endParaRPr lang="en-US"/>
          </a:p>
        </p:txBody>
      </p:sp>
      <p:pic>
        <p:nvPicPr>
          <p:cNvPr id="4" name="Content Placeholder 3" descr="A diagram of a diagram&#10;&#10;Description automatically generated">
            <a:extLst>
              <a:ext uri="{FF2B5EF4-FFF2-40B4-BE49-F238E27FC236}">
                <a16:creationId xmlns:a16="http://schemas.microsoft.com/office/drawing/2014/main" id="{FE467DD8-D0D9-BD53-E3A8-82D9C5CC8A93}"/>
              </a:ext>
            </a:extLst>
          </p:cNvPr>
          <p:cNvPicPr>
            <a:picLocks noGrp="1" noChangeAspect="1"/>
          </p:cNvPicPr>
          <p:nvPr>
            <p:ph idx="1"/>
          </p:nvPr>
        </p:nvPicPr>
        <p:blipFill>
          <a:blip r:embed="rId2"/>
          <a:srcRect t="3377"/>
          <a:stretch/>
        </p:blipFill>
        <p:spPr>
          <a:xfrm>
            <a:off x="1061341" y="0"/>
            <a:ext cx="9470247" cy="6858000"/>
          </a:xfrm>
        </p:spPr>
      </p:pic>
    </p:spTree>
    <p:extLst>
      <p:ext uri="{BB962C8B-B14F-4D97-AF65-F5344CB8AC3E}">
        <p14:creationId xmlns:p14="http://schemas.microsoft.com/office/powerpoint/2010/main" val="1529994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A0D2E2-EF1A-D9EA-02E4-87070C961EB4}"/>
              </a:ext>
            </a:extLst>
          </p:cNvPr>
          <p:cNvSpPr>
            <a:spLocks noGrp="1"/>
          </p:cNvSpPr>
          <p:nvPr>
            <p:ph type="title"/>
          </p:nvPr>
        </p:nvSpPr>
        <p:spPr/>
        <p:txBody>
          <a:bodyPr/>
          <a:lstStyle/>
          <a:p>
            <a:r>
              <a:rPr lang="en-US" dirty="0"/>
              <a:t>Research Philosophy </a:t>
            </a:r>
          </a:p>
        </p:txBody>
      </p:sp>
      <p:sp>
        <p:nvSpPr>
          <p:cNvPr id="3" name="Content Placeholder 2">
            <a:extLst>
              <a:ext uri="{FF2B5EF4-FFF2-40B4-BE49-F238E27FC236}">
                <a16:creationId xmlns:a16="http://schemas.microsoft.com/office/drawing/2014/main" id="{CD38E89F-15D6-2926-617D-68DF57A03DC8}"/>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32929729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D7A365-4BDD-7B34-E21E-5AACE928653C}"/>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81CA95EA-C94A-065F-0EFD-DA4615BD51F4}"/>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6104298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B2FB1-A980-EAA0-8192-429A2D676D8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2169067-A9A9-0220-2AB5-BBB7C71EBA52}"/>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0460224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_rels/theme3.xml.rels><?xml version="1.0" encoding="UTF-8" standalone="yes"?>
<Relationships xmlns="http://schemas.openxmlformats.org/package/2006/relationships"><Relationship Id="rId1" Type="http://schemas.openxmlformats.org/officeDocument/2006/relationships/image" Target="../media/image5.jpeg" /></Relationships>
</file>

<file path=ppt/theme/_rels/theme4.xml.rels><?xml version="1.0" encoding="UTF-8" standalone="yes"?>
<Relationships xmlns="http://schemas.openxmlformats.org/package/2006/relationships"><Relationship Id="rId2" Type="http://schemas.openxmlformats.org/officeDocument/2006/relationships/image" Target="../media/image8.jpeg" /><Relationship Id="rId1" Type="http://schemas.openxmlformats.org/officeDocument/2006/relationships/image" Target="../media/image7.jpeg" /></Relationships>
</file>

<file path=ppt/theme/theme1.xml><?xml version="1.0" encoding="utf-8"?>
<a:theme xmlns:a="http://schemas.openxmlformats.org/drawingml/2006/main" name="Theme8">
  <a:themeElements>
    <a:clrScheme name="Blue Red">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Century Gothic-Palatino Linotype">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1">
          <a:schemeClr val="accent2"/>
        </a:lnRef>
        <a:fillRef idx="2">
          <a:schemeClr val="accent2"/>
        </a:fillRef>
        <a:effectRef idx="1">
          <a:schemeClr val="accent2"/>
        </a:effectRef>
        <a:fontRef idx="minor">
          <a:schemeClr val="dk1"/>
        </a:fontRef>
      </a:style>
    </a:spDef>
    <a:lnDef>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heme8" id="{D33B166A-6007-43EB-8C23-EDB70CA410A0}" vid="{15442B74-B94E-4128-91CB-9072E75BFDCA}"/>
    </a:ext>
  </a:extLst>
</a:theme>
</file>

<file path=ppt/theme/theme2.xml><?xml version="1.0" encoding="utf-8"?>
<a:theme xmlns:a="http://schemas.openxmlformats.org/drawingml/2006/main" name="Theme6">
  <a:themeElements>
    <a:clrScheme name="Green Yellow">
      <a:dk1>
        <a:sysClr val="windowText" lastClr="000000"/>
      </a:dk1>
      <a:lt1>
        <a:sysClr val="window" lastClr="FFFFFF"/>
      </a:lt1>
      <a:dk2>
        <a:srgbClr val="455F51"/>
      </a:dk2>
      <a:lt2>
        <a:srgbClr val="E2DFCC"/>
      </a:lt2>
      <a:accent1>
        <a:srgbClr val="99CB38"/>
      </a:accent1>
      <a:accent2>
        <a:srgbClr val="63A537"/>
      </a:accent2>
      <a:accent3>
        <a:srgbClr val="37A76F"/>
      </a:accent3>
      <a:accent4>
        <a:srgbClr val="44C1A3"/>
      </a:accent4>
      <a:accent5>
        <a:srgbClr val="4EB3CF"/>
      </a:accent5>
      <a:accent6>
        <a:srgbClr val="51C3F9"/>
      </a:accent6>
      <a:hlink>
        <a:srgbClr val="EE7B08"/>
      </a:hlink>
      <a:folHlink>
        <a:srgbClr val="977B2D"/>
      </a:folHlink>
    </a:clrScheme>
    <a:fontScheme name="Century Gothic">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dirty="0"/>
        </a:defPPr>
      </a:lstStyle>
      <a:style>
        <a:lnRef idx="3">
          <a:schemeClr val="lt1"/>
        </a:lnRef>
        <a:fillRef idx="1">
          <a:schemeClr val="accent5"/>
        </a:fillRef>
        <a:effectRef idx="1">
          <a:schemeClr val="accent5"/>
        </a:effectRef>
        <a:fontRef idx="minor">
          <a:schemeClr val="lt1"/>
        </a:fontRef>
      </a:style>
    </a:spDef>
    <a:lnDef>
      <a:spPr>
        <a:ln>
          <a:solidFill>
            <a:schemeClr val="accent5"/>
          </a:solidFill>
        </a:ln>
      </a:spPr>
      <a:bodyPr/>
      <a:lstStyle/>
      <a:style>
        <a:lnRef idx="1">
          <a:schemeClr val="accent1"/>
        </a:lnRef>
        <a:fillRef idx="0">
          <a:schemeClr val="accent1"/>
        </a:fillRef>
        <a:effectRef idx="0">
          <a:schemeClr val="accent1"/>
        </a:effectRef>
        <a:fontRef idx="minor">
          <a:schemeClr val="tx1"/>
        </a:fontRef>
      </a:style>
    </a:lnDef>
    <a:txDef>
      <a:spPr>
        <a:noFill/>
        <a:ln>
          <a:solidFill>
            <a:schemeClr val="bg2"/>
          </a:solidFill>
        </a:ln>
      </a:spPr>
      <a:bodyPr wrap="square" rtlCol="0" anchor="ctr" anchorCtr="1">
        <a:spAutoFit/>
      </a:bodyPr>
      <a:lstStyle>
        <a:defPPr>
          <a:defRPr dirty="0" smtClean="0"/>
        </a:defPPr>
      </a:lstStyle>
    </a:txDef>
  </a:objectDefaults>
  <a:extraClrSchemeLst/>
  <a:extLst>
    <a:ext uri="{05A4C25C-085E-4340-85A3-A5531E510DB2}">
      <thm15:themeFamily xmlns:thm15="http://schemas.microsoft.com/office/thememl/2012/main" name="Theme6" id="{E5D1B44C-BBF4-4716-960A-1E55BD1C52B7}" vid="{069ADC42-89E8-4F65-94F2-D120AB77D9C7}"/>
    </a:ext>
  </a:extLst>
</a:theme>
</file>

<file path=ppt/theme/theme3.xml><?xml version="1.0" encoding="utf-8"?>
<a:theme xmlns:a="http://schemas.openxmlformats.org/drawingml/2006/main" name="Theme2">
  <a:themeElements>
    <a:clrScheme name="Paper">
      <a:dk1>
        <a:sysClr val="windowText" lastClr="000000"/>
      </a:dk1>
      <a:lt1>
        <a:sysClr val="window" lastClr="FFFFFF"/>
      </a:lt1>
      <a:dk2>
        <a:srgbClr val="444D26"/>
      </a:dk2>
      <a:lt2>
        <a:srgbClr val="FEFAC9"/>
      </a:lt2>
      <a:accent1>
        <a:srgbClr val="A5B592"/>
      </a:accent1>
      <a:accent2>
        <a:srgbClr val="F3A447"/>
      </a:accent2>
      <a:accent3>
        <a:srgbClr val="E7BC29"/>
      </a:accent3>
      <a:accent4>
        <a:srgbClr val="D092A7"/>
      </a:accent4>
      <a:accent5>
        <a:srgbClr val="9C85C0"/>
      </a:accent5>
      <a:accent6>
        <a:srgbClr val="809EC2"/>
      </a:accent6>
      <a:hlink>
        <a:srgbClr val="8E58B6"/>
      </a:hlink>
      <a:folHlink>
        <a:srgbClr val="7F6F6F"/>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solidFill>
          <a:schemeClr val="phClr">
            <a:tint val="95000"/>
            <a:shade val="85000"/>
            <a:satMod val="125000"/>
          </a:schemeClr>
        </a:solidFill>
        <a:blipFill rotWithShape="1">
          <a:blip xmlns:r="http://schemas.openxmlformats.org/officeDocument/2006/relationships" r:embed="rId1">
            <a:duotone>
              <a:schemeClr val="phClr">
                <a:tint val="95000"/>
                <a:shade val="74000"/>
                <a:satMod val="230000"/>
              </a:schemeClr>
              <a:schemeClr val="phClr">
                <a:tint val="92000"/>
                <a:shade val="69000"/>
                <a:satMod val="250000"/>
              </a:schemeClr>
            </a:duotone>
          </a:blip>
          <a:tile tx="0" ty="0" sx="40000" sy="40000" flip="none" algn="tl"/>
        </a:blipFill>
      </a:bgFillStyleLst>
    </a:fmtScheme>
  </a:themeElements>
  <a:objectDefaults/>
  <a:extraClrSchemeLst/>
  <a:extLst>
    <a:ext uri="{05A4C25C-085E-4340-85A3-A5531E510DB2}">
      <thm15:themeFamily xmlns:thm15="http://schemas.microsoft.com/office/thememl/2012/main" name="Theme2" id="{ADF2478C-0A0B-4066-93FA-988A5695F93C}" vid="{8F27AF0F-CE2D-4D2A-B731-4AB66B3E470F}"/>
    </a:ext>
  </a:extLst>
</a:theme>
</file>

<file path=ppt/theme/theme4.xml><?xml version="1.0" encoding="utf-8"?>
<a:theme xmlns:a="http://schemas.openxmlformats.org/drawingml/2006/main" name="Organic">
  <a:themeElements>
    <a:clrScheme name="Organic">
      <a:dk1>
        <a:sysClr val="windowText" lastClr="000000"/>
      </a:dk1>
      <a:lt1>
        <a:sysClr val="window" lastClr="FFFFFF"/>
      </a:lt1>
      <a:dk2>
        <a:srgbClr val="212121"/>
      </a:dk2>
      <a:lt2>
        <a:srgbClr val="DADADA"/>
      </a:lt2>
      <a:accent1>
        <a:srgbClr val="B15E28"/>
      </a:accent1>
      <a:accent2>
        <a:srgbClr val="B13228"/>
      </a:accent2>
      <a:accent3>
        <a:srgbClr val="8B7B56"/>
      </a:accent3>
      <a:accent4>
        <a:srgbClr val="E09C41"/>
      </a:accent4>
      <a:accent5>
        <a:srgbClr val="9EAE51"/>
      </a:accent5>
      <a:accent6>
        <a:srgbClr val="6E7355"/>
      </a:accent6>
      <a:hlink>
        <a:srgbClr val="D37A21"/>
      </a:hlink>
      <a:folHlink>
        <a:srgbClr val="CA8F55"/>
      </a:folHlink>
    </a:clrScheme>
    <a:fontScheme name="Organic">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Organic">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039A4B3-0617-4CFC-B614-27363ECC28AC}"/>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Theme8</Template>
  <TotalTime>3758</TotalTime>
  <Words>5394</Words>
  <Application>Microsoft Office PowerPoint</Application>
  <PresentationFormat>Widescreen</PresentationFormat>
  <Paragraphs>249</Paragraphs>
  <Slides>64</Slides>
  <Notes>6</Notes>
  <HiddenSlides>0</HiddenSlides>
  <MMClips>0</MMClips>
  <ScaleCrop>false</ScaleCrop>
  <HeadingPairs>
    <vt:vector size="4" baseType="variant">
      <vt:variant>
        <vt:lpstr>Theme</vt:lpstr>
      </vt:variant>
      <vt:variant>
        <vt:i4>4</vt:i4>
      </vt:variant>
      <vt:variant>
        <vt:lpstr>Slide Titles</vt:lpstr>
      </vt:variant>
      <vt:variant>
        <vt:i4>64</vt:i4>
      </vt:variant>
    </vt:vector>
  </HeadingPairs>
  <TitlesOfParts>
    <vt:vector size="68" baseType="lpstr">
      <vt:lpstr>Theme8</vt:lpstr>
      <vt:lpstr>Theme6</vt:lpstr>
      <vt:lpstr>Theme2</vt:lpstr>
      <vt:lpstr>Organic</vt:lpstr>
      <vt:lpstr>COMPUTING RESEARCH PROJECT</vt:lpstr>
      <vt:lpstr>L01 Examine appropriate research methodologies and approaches as part of the research process </vt:lpstr>
      <vt:lpstr>What is Research?</vt:lpstr>
      <vt:lpstr>When defining the Research the following terms must be understood also </vt:lpstr>
      <vt:lpstr>PowerPoint Presentation</vt:lpstr>
      <vt:lpstr>Systematic research in any field of inquiry involves three basic operations</vt:lpstr>
      <vt:lpstr>Some ways in which the term Research is used wrongly</vt:lpstr>
      <vt:lpstr>PowerPoint Presentation</vt:lpstr>
      <vt:lpstr>Characteristics of a Good Research</vt:lpstr>
      <vt:lpstr>What is the purpose of research</vt:lpstr>
      <vt:lpstr>PowerPoint Presentation</vt:lpstr>
      <vt:lpstr>What is the purpose of research</vt:lpstr>
      <vt:lpstr>Here is a comparative analysis chart for a better understanding</vt:lpstr>
      <vt:lpstr>PowerPoint Presentation</vt:lpstr>
      <vt:lpstr>8 tips for conducting accurate research </vt:lpstr>
      <vt:lpstr>Computing Research Project Brief </vt:lpstr>
      <vt:lpstr>Computing Research Project Brief </vt:lpstr>
      <vt:lpstr>Definition of Research Process</vt:lpstr>
      <vt:lpstr>Definition of Research Process</vt:lpstr>
      <vt:lpstr>PowerPoint Presentation</vt:lpstr>
      <vt:lpstr>Research Classification</vt:lpstr>
      <vt:lpstr>Examples</vt:lpstr>
      <vt:lpstr>Benefits</vt:lpstr>
      <vt:lpstr>2. Applied Research </vt:lpstr>
      <vt:lpstr>Basic Research &amp; Applied Research</vt:lpstr>
      <vt:lpstr>The Research Process  Stages of Research Methodology</vt:lpstr>
      <vt:lpstr>Selecting a Topic</vt:lpstr>
      <vt:lpstr>Formulating and clarifying a topic</vt:lpstr>
      <vt:lpstr>Attributes of a good research topic </vt:lpstr>
      <vt:lpstr>Writing Research Proposal</vt:lpstr>
      <vt:lpstr>Writing your research proposal</vt:lpstr>
      <vt:lpstr>Why is a research proposal necessary? </vt:lpstr>
      <vt:lpstr>Meeting the requirements  of those who approve and assess your project</vt:lpstr>
      <vt:lpstr>Coherence</vt:lpstr>
      <vt:lpstr>Ethical clearance</vt:lpstr>
      <vt:lpstr>Feasibility</vt:lpstr>
      <vt:lpstr>Ensuring that your research project isn’t based on preconceived ideas</vt:lpstr>
      <vt:lpstr>How may your research project be structured?</vt:lpstr>
      <vt:lpstr>The importance of developing valid research proposal as the foundation for a research project</vt:lpstr>
      <vt:lpstr>Writing your own Research Proposal</vt:lpstr>
      <vt:lpstr>General Contents of Research Proposal</vt:lpstr>
      <vt:lpstr>Contents of Research Proposal – Pearson Set</vt:lpstr>
      <vt:lpstr>PowerPoint Presentation</vt:lpstr>
      <vt:lpstr>The purpose and significance for research question and hypothesis</vt:lpstr>
      <vt:lpstr>Hypothesis</vt:lpstr>
      <vt:lpstr>Title</vt:lpstr>
      <vt:lpstr>Background</vt:lpstr>
      <vt:lpstr>PowerPoint Presentation</vt:lpstr>
      <vt:lpstr>Example: Background/Problem Statement: </vt:lpstr>
      <vt:lpstr>Research questions, aim and objectives</vt:lpstr>
      <vt:lpstr>Example: Aim</vt:lpstr>
      <vt:lpstr>Example: Objectives</vt:lpstr>
      <vt:lpstr>Methodology </vt:lpstr>
      <vt:lpstr>Methodology </vt:lpstr>
      <vt:lpstr>Methodology </vt:lpstr>
      <vt:lpstr>Methodology </vt:lpstr>
      <vt:lpstr>Timescale</vt:lpstr>
      <vt:lpstr>Resources</vt:lpstr>
      <vt:lpstr>References</vt:lpstr>
      <vt:lpstr>Use of Saunders’ Research Onion as a guide to establishing a methodological approach.</vt:lpstr>
      <vt:lpstr>PowerPoint Presentation</vt:lpstr>
      <vt:lpstr>Research Philosophy </vt:lpstr>
      <vt:lpstr>PowerPoint Presentation</vt:lpstr>
      <vt:lpstr>PowerPoint Presentation</vt:lpstr>
    </vt:vector>
  </TitlesOfParts>
  <Company>HP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Mohamed Rafeek Ahamed Ahnaf</cp:lastModifiedBy>
  <cp:revision>469</cp:revision>
  <dcterms:created xsi:type="dcterms:W3CDTF">2023-12-11T08:33:35Z</dcterms:created>
  <dcterms:modified xsi:type="dcterms:W3CDTF">2024-12-30T06:00:16Z</dcterms:modified>
</cp:coreProperties>
</file>