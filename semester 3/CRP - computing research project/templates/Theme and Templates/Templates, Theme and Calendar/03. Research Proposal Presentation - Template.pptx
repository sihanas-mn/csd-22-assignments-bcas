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4"/>
  </p:notesMasterIdLst>
  <p:sldIdLst>
    <p:sldId id="256" r:id="rId2"/>
    <p:sldId id="322" r:id="rId3"/>
    <p:sldId id="340" r:id="rId4"/>
    <p:sldId id="342" r:id="rId5"/>
    <p:sldId id="327" r:id="rId6"/>
    <p:sldId id="328" r:id="rId7"/>
    <p:sldId id="336" r:id="rId8"/>
    <p:sldId id="338" r:id="rId9"/>
    <p:sldId id="329" r:id="rId10"/>
    <p:sldId id="330" r:id="rId11"/>
    <p:sldId id="334" r:id="rId12"/>
    <p:sldId id="331" r:id="rId13"/>
    <p:sldId id="332" r:id="rId14"/>
    <p:sldId id="344" r:id="rId15"/>
    <p:sldId id="346" r:id="rId16"/>
    <p:sldId id="348" r:id="rId17"/>
    <p:sldId id="350" r:id="rId18"/>
    <p:sldId id="352" r:id="rId19"/>
    <p:sldId id="355" r:id="rId20"/>
    <p:sldId id="370" r:id="rId21"/>
    <p:sldId id="357" r:id="rId22"/>
    <p:sldId id="358" r:id="rId23"/>
    <p:sldId id="364" r:id="rId24"/>
    <p:sldId id="365" r:id="rId25"/>
    <p:sldId id="360" r:id="rId26"/>
    <p:sldId id="361" r:id="rId27"/>
    <p:sldId id="362" r:id="rId28"/>
    <p:sldId id="367" r:id="rId29"/>
    <p:sldId id="369" r:id="rId30"/>
    <p:sldId id="326" r:id="rId31"/>
    <p:sldId id="264" r:id="rId32"/>
    <p:sldId id="284" r:id="rId3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9280C3-D31A-7A0A-1AA2-A01DE294A465}" v="27" dt="2025-02-04T07:38:20.5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83" d="100"/>
          <a:sy n="83" d="100"/>
        </p:scale>
        <p:origin x="1435" y="67"/>
      </p:cViewPr>
      <p:guideLst/>
    </p:cSldViewPr>
  </p:slideViewPr>
  <p:notesTextViewPr>
    <p:cViewPr>
      <p:scale>
        <a:sx n="1" d="1"/>
        <a:sy n="1" d="1"/>
      </p:scale>
      <p:origin x="0" y="0"/>
    </p:cViewPr>
  </p:notesTextViewPr>
  <p:notesViewPr>
    <p:cSldViewPr snapToGrid="0">
      <p:cViewPr varScale="1">
        <p:scale>
          <a:sx n="55" d="100"/>
          <a:sy n="55" d="100"/>
        </p:scale>
        <p:origin x="2880" y="7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yar Lebbey Fathima Sajeetha" userId="S::sajeetha@bcas.lk::0556f7fc-8b45-4322-ac5a-e871e4d727c3" providerId="AD" clId="Web-{599280C3-D31A-7A0A-1AA2-A01DE294A465}"/>
    <pc:docChg chg="modSld">
      <pc:chgData name="Aliyar Lebbey Fathima Sajeetha" userId="S::sajeetha@bcas.lk::0556f7fc-8b45-4322-ac5a-e871e4d727c3" providerId="AD" clId="Web-{599280C3-D31A-7A0A-1AA2-A01DE294A465}" dt="2025-02-04T07:38:20.560" v="26" actId="20577"/>
      <pc:docMkLst>
        <pc:docMk/>
      </pc:docMkLst>
      <pc:sldChg chg="modSp">
        <pc:chgData name="Aliyar Lebbey Fathima Sajeetha" userId="S::sajeetha@bcas.lk::0556f7fc-8b45-4322-ac5a-e871e4d727c3" providerId="AD" clId="Web-{599280C3-D31A-7A0A-1AA2-A01DE294A465}" dt="2025-02-04T07:38:20.560" v="26" actId="20577"/>
        <pc:sldMkLst>
          <pc:docMk/>
          <pc:sldMk cId="2019341643" sldId="322"/>
        </pc:sldMkLst>
        <pc:spChg chg="mod">
          <ac:chgData name="Aliyar Lebbey Fathima Sajeetha" userId="S::sajeetha@bcas.lk::0556f7fc-8b45-4322-ac5a-e871e4d727c3" providerId="AD" clId="Web-{599280C3-D31A-7A0A-1AA2-A01DE294A465}" dt="2025-02-04T07:38:20.560" v="26" actId="20577"/>
          <ac:spMkLst>
            <pc:docMk/>
            <pc:sldMk cId="2019341643" sldId="322"/>
            <ac:spMk id="3" creationId="{7CB860C7-93AD-4311-8CD4-4580644B47D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5AEE48-3EEF-4DA2-BEBE-93CA9C2F3890}" type="datetimeFigureOut">
              <a:rPr lang="en-US" smtClean="0"/>
              <a:t>2/3/2025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A6C2AB-DC89-436C-A83C-5E1EE7329A7C}" type="slidenum">
              <a:rPr lang="en-US" smtClean="0"/>
              <a:t>‹#›</a:t>
            </a:fld>
            <a:endParaRPr lang="en-US"/>
          </a:p>
        </p:txBody>
      </p:sp>
    </p:spTree>
    <p:extLst>
      <p:ext uri="{BB962C8B-B14F-4D97-AF65-F5344CB8AC3E}">
        <p14:creationId xmlns:p14="http://schemas.microsoft.com/office/powerpoint/2010/main" val="386046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0A6C2AB-DC89-436C-A83C-5E1EE7329A7C}" type="slidenum">
              <a:rPr lang="en-US" smtClean="0"/>
              <a:t>2</a:t>
            </a:fld>
            <a:endParaRPr lang="en-US"/>
          </a:p>
        </p:txBody>
      </p:sp>
    </p:spTree>
    <p:extLst>
      <p:ext uri="{BB962C8B-B14F-4D97-AF65-F5344CB8AC3E}">
        <p14:creationId xmlns:p14="http://schemas.microsoft.com/office/powerpoint/2010/main" val="2854307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0A6C2AB-DC89-436C-A83C-5E1EE7329A7C}" type="slidenum">
              <a:rPr lang="en-US" smtClean="0"/>
              <a:t>4</a:t>
            </a:fld>
            <a:endParaRPr lang="en-US"/>
          </a:p>
        </p:txBody>
      </p:sp>
    </p:spTree>
    <p:extLst>
      <p:ext uri="{BB962C8B-B14F-4D97-AF65-F5344CB8AC3E}">
        <p14:creationId xmlns:p14="http://schemas.microsoft.com/office/powerpoint/2010/main" val="9723097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0A6C2AB-DC89-436C-A83C-5E1EE7329A7C}" type="slidenum">
              <a:rPr lang="en-US" smtClean="0"/>
              <a:t>6</a:t>
            </a:fld>
            <a:endParaRPr lang="en-US"/>
          </a:p>
        </p:txBody>
      </p:sp>
    </p:spTree>
    <p:extLst>
      <p:ext uri="{BB962C8B-B14F-4D97-AF65-F5344CB8AC3E}">
        <p14:creationId xmlns:p14="http://schemas.microsoft.com/office/powerpoint/2010/main" val="19566446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B0A6C2AB-DC89-436C-A83C-5E1EE7329A7C}" type="slidenum">
              <a:rPr lang="en-US" smtClean="0"/>
              <a:t>8</a:t>
            </a:fld>
            <a:endParaRPr lang="en-US"/>
          </a:p>
        </p:txBody>
      </p:sp>
    </p:spTree>
    <p:extLst>
      <p:ext uri="{BB962C8B-B14F-4D97-AF65-F5344CB8AC3E}">
        <p14:creationId xmlns:p14="http://schemas.microsoft.com/office/powerpoint/2010/main" val="3922665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B0A6C2AB-DC89-436C-A83C-5E1EE7329A7C}" type="slidenum">
              <a:rPr lang="en-US" smtClean="0"/>
              <a:t>32</a:t>
            </a:fld>
            <a:endParaRPr lang="en-US"/>
          </a:p>
        </p:txBody>
      </p:sp>
    </p:spTree>
    <p:extLst>
      <p:ext uri="{BB962C8B-B14F-4D97-AF65-F5344CB8AC3E}">
        <p14:creationId xmlns:p14="http://schemas.microsoft.com/office/powerpoint/2010/main" val="1136107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fld id="{019B8730-14A0-465E-8FFD-5882E05B5AB5}" type="datetime1">
              <a:rPr lang="en-US" smtClean="0"/>
              <a:t>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494970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B83CE1-CFD0-4252-B676-229062FE8D1B}" type="datetime1">
              <a:rPr lang="en-US" smtClean="0"/>
              <a:t>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215007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6D753D-38C6-4D94-9497-89143DFFFEC0}" type="datetime1">
              <a:rPr lang="en-US" smtClean="0"/>
              <a:t>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18369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A42DFC-ECBF-4EF6-8F83-45966AE3486E}" type="datetime1">
              <a:rPr lang="en-US" smtClean="0"/>
              <a:t>2/3/2025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937998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0E1EBC-9302-43EF-9D14-A534D4126133}" type="datetime1">
              <a:rPr lang="en-US" smtClean="0"/>
              <a:t>2/3/2025</a:t>
            </a:fld>
            <a:endParaRPr lang="en-US"/>
          </a:p>
        </p:txBody>
      </p:sp>
      <p:sp>
        <p:nvSpPr>
          <p:cNvPr id="8" name="Footer Placeholder 7"/>
          <p:cNvSpPr>
            <a:spLocks noGrp="1"/>
          </p:cNvSpPr>
          <p:nvPr>
            <p:ph type="ftr" sz="quarter" idx="11"/>
          </p:nvPr>
        </p:nvSpPr>
        <p:spPr/>
        <p:txBody>
          <a:bodyPr/>
          <a:lstStyle/>
          <a:p>
            <a:r>
              <a:rPr lang="en-US"/>
              <a:t>CRP</a:t>
            </a:r>
          </a:p>
        </p:txBody>
      </p:sp>
      <p:sp>
        <p:nvSpPr>
          <p:cNvPr id="9" name="Slide Number Placeholder 8"/>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22247106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2202BF1-F25A-4744-9086-A785090A3FB1}" type="datetime1">
              <a:rPr lang="en-US" smtClean="0"/>
              <a:t>2/3/2025</a:t>
            </a:fld>
            <a:endParaRPr lang="en-US"/>
          </a:p>
        </p:txBody>
      </p:sp>
      <p:sp>
        <p:nvSpPr>
          <p:cNvPr id="4" name="Footer Placeholder 3"/>
          <p:cNvSpPr>
            <a:spLocks noGrp="1"/>
          </p:cNvSpPr>
          <p:nvPr>
            <p:ph type="ftr" sz="quarter" idx="11"/>
          </p:nvPr>
        </p:nvSpPr>
        <p:spPr/>
        <p:txBody>
          <a:bodyPr/>
          <a:lstStyle/>
          <a:p>
            <a:r>
              <a:rPr lang="en-US"/>
              <a:t>CRP</a:t>
            </a:r>
          </a:p>
        </p:txBody>
      </p:sp>
      <p:sp>
        <p:nvSpPr>
          <p:cNvPr id="5" name="Slide Number Placeholder 4"/>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5087921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B6BCD37-525F-4600-96CE-5DC139B9ED91}" type="datetime1">
              <a:rPr lang="en-US" smtClean="0"/>
              <a:t>2/3/2025</a:t>
            </a:fld>
            <a:endParaRPr lang="en-US"/>
          </a:p>
        </p:txBody>
      </p:sp>
      <p:sp>
        <p:nvSpPr>
          <p:cNvPr id="3" name="Footer Placeholder 2"/>
          <p:cNvSpPr>
            <a:spLocks noGrp="1"/>
          </p:cNvSpPr>
          <p:nvPr>
            <p:ph type="ftr" sz="quarter" idx="11"/>
          </p:nvPr>
        </p:nvSpPr>
        <p:spPr/>
        <p:txBody>
          <a:bodyPr/>
          <a:lstStyle/>
          <a:p>
            <a:r>
              <a:rPr lang="en-US"/>
              <a:t>CRP</a:t>
            </a:r>
          </a:p>
        </p:txBody>
      </p:sp>
      <p:sp>
        <p:nvSpPr>
          <p:cNvPr id="4" name="Slide Number Placeholder 3"/>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35473064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8FE66A5-FCD1-433D-B28A-BD40D972C5F4}" type="datetime1">
              <a:rPr lang="en-US" smtClean="0"/>
              <a:t>2/3/2025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14361927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7179505-56FA-4462-9016-365C57F775C8}" type="datetime1">
              <a:rPr lang="en-US" smtClean="0"/>
              <a:t>2/3/2025</a:t>
            </a:fld>
            <a:endParaRPr lang="en-US"/>
          </a:p>
        </p:txBody>
      </p:sp>
      <p:sp>
        <p:nvSpPr>
          <p:cNvPr id="6" name="Footer Placeholder 5"/>
          <p:cNvSpPr>
            <a:spLocks noGrp="1"/>
          </p:cNvSpPr>
          <p:nvPr>
            <p:ph type="ftr" sz="quarter" idx="11"/>
          </p:nvPr>
        </p:nvSpPr>
        <p:spPr/>
        <p:txBody>
          <a:bodyPr/>
          <a:lstStyle/>
          <a:p>
            <a:r>
              <a:rPr lang="en-US"/>
              <a:t>CRP</a:t>
            </a:r>
          </a:p>
        </p:txBody>
      </p:sp>
      <p:sp>
        <p:nvSpPr>
          <p:cNvPr id="7" name="Slide Number Placeholder 6"/>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4546653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2566CF-AD5A-464A-9A68-9B5077EEF0F2}" type="datetime1">
              <a:rPr lang="en-US" smtClean="0"/>
              <a:t>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2454325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747E81-6994-47D6-B547-9DCB41450D0C}" type="datetime1">
              <a:rPr lang="en-US" smtClean="0"/>
              <a:t>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mtClean="0"/>
              <a:t>‹#›</a:t>
            </a:fld>
            <a:endParaRPr lang="en-US"/>
          </a:p>
        </p:txBody>
      </p:sp>
    </p:spTree>
    <p:extLst>
      <p:ext uri="{BB962C8B-B14F-4D97-AF65-F5344CB8AC3E}">
        <p14:creationId xmlns:p14="http://schemas.microsoft.com/office/powerpoint/2010/main" val="631722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AD7713E-5BC1-4140-B1D8-8B57A9984E9D}" type="datetime1">
              <a:rPr lang="en-US" smtClean="0"/>
              <a:t>2/3/2025</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CRP</a:t>
            </a:r>
          </a:p>
        </p:txBody>
      </p:sp>
      <p:sp>
        <p:nvSpPr>
          <p:cNvPr id="6" name="Slide Number Placeholder 5"/>
          <p:cNvSpPr>
            <a:spLocks noGrp="1"/>
          </p:cNvSpPr>
          <p:nvPr>
            <p:ph type="sldNum" sz="quarter" idx="4"/>
          </p:nvPr>
        </p:nvSpPr>
        <p:spPr>
          <a:xfrm>
            <a:off x="6457950" y="6176963"/>
            <a:ext cx="2057400" cy="544513"/>
          </a:xfrm>
          <a:prstGeom prst="rect">
            <a:avLst/>
          </a:prstGeom>
        </p:spPr>
        <p:txBody>
          <a:bodyPr vert="horz" lIns="91440" tIns="45720" rIns="91440" bIns="45720" rtlCol="0" anchor="ctr"/>
          <a:lstStyle>
            <a:lvl1pPr algn="r">
              <a:defRPr sz="3600" b="1">
                <a:solidFill>
                  <a:srgbClr val="002060"/>
                </a:solidFill>
              </a:defRPr>
            </a:lvl1pPr>
          </a:lstStyle>
          <a:p>
            <a:fld id="{849F1A12-756A-4552-B54B-B66CFF5610E9}" type="slidenum">
              <a:rPr lang="en-US" smtClean="0"/>
              <a:pPr/>
              <a:t>‹#›</a:t>
            </a:fld>
            <a:endParaRPr lang="en-US"/>
          </a:p>
        </p:txBody>
      </p:sp>
    </p:spTree>
    <p:extLst>
      <p:ext uri="{BB962C8B-B14F-4D97-AF65-F5344CB8AC3E}">
        <p14:creationId xmlns:p14="http://schemas.microsoft.com/office/powerpoint/2010/main" val="188092760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FDA4B-B8D0-411B-9352-91737DF3F812}"/>
              </a:ext>
            </a:extLst>
          </p:cNvPr>
          <p:cNvSpPr>
            <a:spLocks noGrp="1"/>
          </p:cNvSpPr>
          <p:nvPr>
            <p:ph type="ctrTitle"/>
          </p:nvPr>
        </p:nvSpPr>
        <p:spPr>
          <a:xfrm>
            <a:off x="768925" y="941399"/>
            <a:ext cx="7772400" cy="562707"/>
          </a:xfrm>
        </p:spPr>
        <p:txBody>
          <a:bodyPr>
            <a:noAutofit/>
          </a:bodyPr>
          <a:lstStyle/>
          <a:p>
            <a:r>
              <a:rPr lang="en-GB" sz="3200" dirty="0">
                <a:solidFill>
                  <a:schemeClr val="tx1">
                    <a:lumMod val="95000"/>
                    <a:lumOff val="5000"/>
                  </a:schemeClr>
                </a:solidFill>
                <a:highlight>
                  <a:srgbClr val="FFFF00"/>
                </a:highlight>
              </a:rPr>
              <a:t>Research Topic </a:t>
            </a:r>
            <a:endParaRPr lang="en-US" sz="3200" dirty="0">
              <a:solidFill>
                <a:schemeClr val="tx1">
                  <a:lumMod val="95000"/>
                  <a:lumOff val="5000"/>
                </a:schemeClr>
              </a:solidFill>
              <a:highlight>
                <a:srgbClr val="FFFF00"/>
              </a:highlight>
            </a:endParaRPr>
          </a:p>
        </p:txBody>
      </p:sp>
      <p:sp>
        <p:nvSpPr>
          <p:cNvPr id="3" name="Subtitle 2">
            <a:extLst>
              <a:ext uri="{FF2B5EF4-FFF2-40B4-BE49-F238E27FC236}">
                <a16:creationId xmlns:a16="http://schemas.microsoft.com/office/drawing/2014/main" id="{06594787-82F1-457D-A305-66ECDCF187DC}"/>
              </a:ext>
            </a:extLst>
          </p:cNvPr>
          <p:cNvSpPr>
            <a:spLocks noGrp="1"/>
          </p:cNvSpPr>
          <p:nvPr>
            <p:ph type="subTitle" idx="1"/>
          </p:nvPr>
        </p:nvSpPr>
        <p:spPr>
          <a:xfrm>
            <a:off x="1226126" y="3840801"/>
            <a:ext cx="6858000" cy="2088944"/>
          </a:xfrm>
          <a:noFill/>
        </p:spPr>
        <p:txBody>
          <a:bodyPr>
            <a:normAutofit lnSpcReduction="10000"/>
          </a:bodyPr>
          <a:lstStyle/>
          <a:p>
            <a:r>
              <a:rPr lang="en-GB" sz="1800" dirty="0">
                <a:latin typeface="Times New Roman" panose="02020603050405020304" pitchFamily="18" charset="0"/>
                <a:cs typeface="Times New Roman" panose="02020603050405020304" pitchFamily="18" charset="0"/>
              </a:rPr>
              <a:t>Learner Name</a:t>
            </a:r>
          </a:p>
          <a:p>
            <a:r>
              <a:rPr lang="en-GB" sz="1800" dirty="0">
                <a:latin typeface="Times New Roman" panose="02020603050405020304" pitchFamily="18" charset="0"/>
                <a:cs typeface="Times New Roman" panose="02020603050405020304" pitchFamily="18" charset="0"/>
              </a:rPr>
              <a:t>Student Id</a:t>
            </a:r>
            <a:endParaRPr lang="en-US" sz="1800" dirty="0">
              <a:latin typeface="Times New Roman" panose="02020603050405020304" pitchFamily="18" charset="0"/>
              <a:cs typeface="Times New Roman" panose="02020603050405020304" pitchFamily="18" charset="0"/>
            </a:endParaRPr>
          </a:p>
          <a:p>
            <a:r>
              <a:rPr lang="en-GB"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Course &amp; Batch </a:t>
            </a:r>
            <a:endPar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sz="18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r>
              <a:rPr lang="en-US" sz="19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Assessor</a:t>
            </a:r>
            <a:r>
              <a:rPr lang="en-US" sz="1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GB" sz="1800" b="1" dirty="0">
              <a:solidFill>
                <a:srgbClr val="000000"/>
              </a:solidFill>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endParaRPr>
          </a:p>
          <a:p>
            <a:r>
              <a:rPr lang="en-GB" sz="1800" b="1" dirty="0">
                <a:solidFill>
                  <a:srgbClr val="000000"/>
                </a:solidFill>
                <a:highlight>
                  <a:srgbClr val="FFFF00"/>
                </a:highlight>
                <a:latin typeface="Times New Roman" panose="02020603050405020304" pitchFamily="18" charset="0"/>
                <a:ea typeface="Times New Roman" panose="02020603050405020304" pitchFamily="18" charset="0"/>
                <a:cs typeface="Times New Roman" panose="02020603050405020304" pitchFamily="18" charset="0"/>
              </a:rPr>
              <a:t>Supervisor:</a:t>
            </a:r>
            <a:endParaRPr lang="en-US" sz="18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1026" name="Picture 2" descr="British College of Applied Studies – Building Careers Transforming Live">
            <a:extLst>
              <a:ext uri="{FF2B5EF4-FFF2-40B4-BE49-F238E27FC236}">
                <a16:creationId xmlns:a16="http://schemas.microsoft.com/office/drawing/2014/main" id="{3AAAFF53-3A69-97C0-6C4E-BE0B837172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97838" y="2169402"/>
            <a:ext cx="2314575" cy="1266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62798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598840" y="278094"/>
            <a:ext cx="4916510" cy="6281531"/>
          </a:xfrm>
        </p:spPr>
        <p:txBody>
          <a:bodyPr anchor="ctr">
            <a:normAutofit/>
          </a:bodyPr>
          <a:lstStyle/>
          <a:p>
            <a:pPr marL="342900" marR="0" indent="-342900" algn="just">
              <a:spcBef>
                <a:spcPts val="0"/>
              </a:spcBef>
              <a:spcAft>
                <a:spcPts val="1000"/>
              </a:spcAft>
              <a:buAutoNum type="arabicPeriod"/>
            </a:pPr>
            <a:endParaRPr lang="en-US" sz="1800" dirty="0">
              <a:effectLst/>
              <a:ea typeface="SimSun" panose="02010600030101010101" pitchFamily="2" charset="-122"/>
              <a:cs typeface="Arial" panose="020B0604020202020204"/>
            </a:endParaRPr>
          </a:p>
          <a:p>
            <a:pPr marL="342900" marR="0" indent="-342900" algn="just">
              <a:spcBef>
                <a:spcPts val="0"/>
              </a:spcBef>
              <a:spcAft>
                <a:spcPts val="1000"/>
              </a:spcAft>
              <a:buAutoNum type="arabicPeriod"/>
            </a:pPr>
            <a:r>
              <a:rPr lang="en-US" sz="1800" dirty="0">
                <a:ea typeface="SimSun" panose="02010600030101010101" pitchFamily="2" charset="-122"/>
              </a:rPr>
              <a:t>Introduction</a:t>
            </a:r>
            <a:r>
              <a:rPr lang="en-US" sz="1800" dirty="0">
                <a:effectLst/>
                <a:ea typeface="SimSun" panose="02010600030101010101" pitchFamily="2" charset="-122"/>
              </a:rPr>
              <a:t>.</a:t>
            </a:r>
            <a:endParaRPr lang="en-US" sz="1800" dirty="0">
              <a:effectLst/>
              <a:ea typeface="SimSun" panose="02010600030101010101" pitchFamily="2" charset="-122"/>
              <a:cs typeface="Arial"/>
            </a:endParaRPr>
          </a:p>
          <a:p>
            <a:pPr marL="342900" marR="0" indent="-342900" algn="just">
              <a:spcBef>
                <a:spcPts val="0"/>
              </a:spcBef>
              <a:spcAft>
                <a:spcPts val="1000"/>
              </a:spcAft>
              <a:buAutoNum type="arabicPeriod"/>
            </a:pPr>
            <a:r>
              <a:rPr lang="en-US" sz="1800" dirty="0">
                <a:ea typeface="SimSun"/>
              </a:rPr>
              <a:t>Aim of research.</a:t>
            </a:r>
            <a:endParaRPr lang="en-US" sz="1800" dirty="0">
              <a:ea typeface="SimSun"/>
              <a:cs typeface="Arial"/>
            </a:endParaRPr>
          </a:p>
          <a:p>
            <a:pPr marL="342900" indent="-342900" algn="just">
              <a:spcBef>
                <a:spcPts val="0"/>
              </a:spcBef>
              <a:spcAft>
                <a:spcPts val="1000"/>
              </a:spcAft>
              <a:buAutoNum type="arabicPeriod"/>
            </a:pPr>
            <a:r>
              <a:rPr lang="en-US" sz="1800" dirty="0">
                <a:effectLst/>
                <a:ea typeface="SimSun"/>
              </a:rPr>
              <a:t>Research question</a:t>
            </a:r>
            <a:r>
              <a:rPr lang="en-US" sz="1800" dirty="0">
                <a:ea typeface="SimSun"/>
              </a:rPr>
              <a:t> &amp; Hypothesis</a:t>
            </a:r>
            <a:r>
              <a:rPr lang="en-US" sz="1800" dirty="0">
                <a:effectLst/>
                <a:ea typeface="SimSun"/>
              </a:rPr>
              <a:t>.</a:t>
            </a:r>
            <a:r>
              <a:rPr lang="en-US" sz="1800" dirty="0">
                <a:ea typeface="SimSun"/>
              </a:rPr>
              <a:t> - IV,DV</a:t>
            </a:r>
            <a:endParaRPr lang="en-US" sz="1800" dirty="0">
              <a:effectLst/>
              <a:ea typeface="SimSun" panose="02010600030101010101" pitchFamily="2" charset="-122"/>
              <a:cs typeface="Arial"/>
            </a:endParaRPr>
          </a:p>
          <a:p>
            <a:pPr marL="342900" marR="0" indent="-342900" algn="just">
              <a:spcBef>
                <a:spcPts val="0"/>
              </a:spcBef>
              <a:spcAft>
                <a:spcPts val="1000"/>
              </a:spcAft>
              <a:buAutoNum type="arabicPeriod"/>
            </a:pPr>
            <a:r>
              <a:rPr lang="en-US" sz="1800" dirty="0">
                <a:ea typeface="SimSun"/>
              </a:rPr>
              <a:t>Objective of research.</a:t>
            </a:r>
            <a:endParaRPr lang="en-US" sz="1800" dirty="0">
              <a:ea typeface="SimSun"/>
              <a:cs typeface="Arial"/>
            </a:endParaRPr>
          </a:p>
          <a:p>
            <a:pPr marL="342900" indent="-342900" algn="just">
              <a:spcBef>
                <a:spcPts val="0"/>
              </a:spcBef>
              <a:spcAft>
                <a:spcPts val="1000"/>
              </a:spcAft>
              <a:buAutoNum type="arabicPeriod"/>
            </a:pPr>
            <a:r>
              <a:rPr lang="en-US" sz="1800">
                <a:ea typeface="SimSun"/>
                <a:cs typeface="Arial"/>
              </a:rPr>
              <a:t>Literature Review. </a:t>
            </a:r>
            <a:endParaRPr lang="en-US" sz="1800" dirty="0">
              <a:ea typeface="SimSun"/>
              <a:cs typeface="Arial" panose="020B0604020202020204"/>
            </a:endParaRPr>
          </a:p>
          <a:p>
            <a:pPr marL="342900" marR="0" indent="-342900" algn="just">
              <a:spcBef>
                <a:spcPts val="0"/>
              </a:spcBef>
              <a:spcAft>
                <a:spcPts val="1000"/>
              </a:spcAft>
              <a:buAutoNum type="arabicPeriod"/>
            </a:pPr>
            <a:r>
              <a:rPr lang="en-US" sz="1800" dirty="0">
                <a:effectLst/>
                <a:ea typeface="SimSun"/>
              </a:rPr>
              <a:t>Scope </a:t>
            </a:r>
            <a:r>
              <a:rPr lang="en-US" sz="1800" dirty="0">
                <a:ea typeface="SimSun"/>
              </a:rPr>
              <a:t>of research.</a:t>
            </a:r>
            <a:endParaRPr lang="en-US" sz="1800" dirty="0">
              <a:ea typeface="SimSun"/>
              <a:cs typeface="Arial"/>
            </a:endParaRPr>
          </a:p>
          <a:p>
            <a:pPr marL="342900" indent="-342900" algn="just">
              <a:spcBef>
                <a:spcPts val="0"/>
              </a:spcBef>
              <a:spcAft>
                <a:spcPts val="1000"/>
              </a:spcAft>
              <a:buAutoNum type="arabicPeriod"/>
            </a:pPr>
            <a:r>
              <a:rPr lang="en-US" sz="1800" dirty="0">
                <a:ea typeface="SimSun"/>
                <a:cs typeface="Arial" panose="020B0604020202020204"/>
              </a:rPr>
              <a:t>Top level architecture &amp; WBS.</a:t>
            </a:r>
          </a:p>
          <a:p>
            <a:pPr marL="342900" marR="0" indent="-342900" algn="just">
              <a:spcBef>
                <a:spcPts val="0"/>
              </a:spcBef>
              <a:spcAft>
                <a:spcPts val="1000"/>
              </a:spcAft>
              <a:buAutoNum type="arabicPeriod"/>
            </a:pPr>
            <a:r>
              <a:rPr lang="en-US" sz="1800" dirty="0">
                <a:ea typeface="SimSun"/>
                <a:cs typeface="Arial"/>
              </a:rPr>
              <a:t>Methodology. </a:t>
            </a:r>
          </a:p>
          <a:p>
            <a:pPr marL="342900" indent="-342900" algn="just">
              <a:spcBef>
                <a:spcPts val="0"/>
              </a:spcBef>
              <a:spcAft>
                <a:spcPts val="1000"/>
              </a:spcAft>
              <a:buAutoNum type="arabicPeriod"/>
            </a:pPr>
            <a:r>
              <a:rPr lang="en-US" sz="1800" dirty="0">
                <a:ea typeface="SimSun"/>
                <a:cs typeface="Arial"/>
              </a:rPr>
              <a:t>Limitations of research.</a:t>
            </a:r>
          </a:p>
          <a:p>
            <a:pPr marL="342900" marR="0" indent="-342900" algn="just">
              <a:spcBef>
                <a:spcPts val="0"/>
              </a:spcBef>
              <a:spcAft>
                <a:spcPts val="1000"/>
              </a:spcAft>
              <a:buAutoNum type="arabicPeriod"/>
            </a:pPr>
            <a:r>
              <a:rPr lang="en-US" sz="1800" dirty="0">
                <a:ea typeface="SimSun" panose="02010600030101010101" pitchFamily="2" charset="-122"/>
              </a:rPr>
              <a:t>Timeline.</a:t>
            </a:r>
            <a:endParaRPr lang="en-US" sz="1800" dirty="0">
              <a:ea typeface="SimSun" panose="02010600030101010101" pitchFamily="2" charset="-122"/>
              <a:cs typeface="Arial"/>
            </a:endParaRPr>
          </a:p>
          <a:p>
            <a:pPr marL="342900" marR="0" indent="-342900" algn="just">
              <a:spcBef>
                <a:spcPts val="0"/>
              </a:spcBef>
              <a:spcAft>
                <a:spcPts val="1000"/>
              </a:spcAft>
              <a:buAutoNum type="arabicPeriod"/>
            </a:pPr>
            <a:r>
              <a:rPr lang="en-US" sz="1800" dirty="0">
                <a:ea typeface="SimSun"/>
              </a:rPr>
              <a:t>Cost &amp; Benefit.</a:t>
            </a:r>
            <a:endParaRPr lang="en-US" sz="1800" dirty="0">
              <a:ea typeface="SimSun"/>
              <a:cs typeface="Arial"/>
            </a:endParaRPr>
          </a:p>
          <a:p>
            <a:pPr marL="342900" marR="0" indent="-342900" algn="just">
              <a:spcBef>
                <a:spcPts val="0"/>
              </a:spcBef>
              <a:spcAft>
                <a:spcPts val="1000"/>
              </a:spcAft>
              <a:buAutoNum type="arabicPeriod"/>
            </a:pPr>
            <a:r>
              <a:rPr lang="en-US" sz="1800" dirty="0">
                <a:ea typeface="SimSun"/>
              </a:rPr>
              <a:t>Conclusion.</a:t>
            </a:r>
            <a:r>
              <a:rPr lang="en-US" sz="1800" dirty="0">
                <a:effectLst/>
                <a:ea typeface="SimSun"/>
              </a:rPr>
              <a:t> </a:t>
            </a:r>
            <a:endParaRPr lang="en-US" sz="1800" dirty="0">
              <a:effectLst/>
              <a:ea typeface="SimSun"/>
              <a:cs typeface="Arial"/>
            </a:endParaRPr>
          </a:p>
          <a:p>
            <a:pPr marL="342900" marR="0" indent="-342900" algn="just">
              <a:spcBef>
                <a:spcPts val="0"/>
              </a:spcBef>
              <a:spcAft>
                <a:spcPts val="1000"/>
              </a:spcAft>
              <a:buAutoNum type="arabicPeriod"/>
            </a:pPr>
            <a:r>
              <a:rPr lang="en-US" sz="1800" dirty="0">
                <a:ea typeface="SimSun" panose="02010600030101010101" pitchFamily="2" charset="-122"/>
              </a:rPr>
              <a:t>Acknowledgement.</a:t>
            </a:r>
            <a:endParaRPr lang="en-US" sz="1800" dirty="0">
              <a:effectLst/>
              <a:ea typeface="SimSun" panose="02010600030101010101" pitchFamily="2" charset="-122"/>
              <a:cs typeface="Arial" panose="020B0604020202020204"/>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DB46B643-623A-444A-AFDE-301468806DB0}" type="datetime1">
              <a:rPr lang="en-US" smtClean="0"/>
              <a:t>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r>
              <a:rPr lang="en-US" sz="1000" b="0" dirty="0"/>
              <a:t>2</a:t>
            </a:r>
          </a:p>
        </p:txBody>
      </p:sp>
      <p:sp>
        <p:nvSpPr>
          <p:cNvPr id="6" name="Title 5"/>
          <p:cNvSpPr>
            <a:spLocks noGrp="1"/>
          </p:cNvSpPr>
          <p:nvPr>
            <p:ph type="title"/>
          </p:nvPr>
        </p:nvSpPr>
        <p:spPr>
          <a:xfrm>
            <a:off x="3301293" y="-16383"/>
            <a:ext cx="7886700" cy="1325563"/>
          </a:xfrm>
        </p:spPr>
        <p:txBody>
          <a:bodyPr>
            <a:normAutofit/>
          </a:bodyPr>
          <a:lstStyle/>
          <a:p>
            <a:r>
              <a:rPr lang="en-US" sz="2800" b="1" dirty="0"/>
              <a:t>Table of Contents</a:t>
            </a:r>
            <a:endParaRPr lang="en-GB" sz="2800" b="1" dirty="0"/>
          </a:p>
        </p:txBody>
      </p:sp>
      <p:sp>
        <p:nvSpPr>
          <p:cNvPr id="7" name="Footer Placeholder 6"/>
          <p:cNvSpPr>
            <a:spLocks noGrp="1"/>
          </p:cNvSpPr>
          <p:nvPr>
            <p:ph type="ftr" sz="quarter" idx="11"/>
          </p:nvPr>
        </p:nvSpPr>
        <p:spPr/>
        <p:txBody>
          <a:bodyPr/>
          <a:lstStyle/>
          <a:p>
            <a:r>
              <a:rPr lang="en-US"/>
              <a:t>CRP</a:t>
            </a:r>
          </a:p>
        </p:txBody>
      </p:sp>
      <p:sp>
        <p:nvSpPr>
          <p:cNvPr id="14" name="Title 1">
            <a:extLst>
              <a:ext uri="{FF2B5EF4-FFF2-40B4-BE49-F238E27FC236}">
                <a16:creationId xmlns:a16="http://schemas.microsoft.com/office/drawing/2014/main" id="{634380F5-514D-4989-966A-49BC47C96416}"/>
              </a:ext>
            </a:extLst>
          </p:cNvPr>
          <p:cNvSpPr txBox="1">
            <a:spLocks/>
          </p:cNvSpPr>
          <p:nvPr/>
        </p:nvSpPr>
        <p:spPr>
          <a:xfrm>
            <a:off x="350041" y="3325091"/>
            <a:ext cx="2401025" cy="649261"/>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Table of Contents</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93416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marL="514350" indent="-514350" algn="ctr">
              <a:buAutoNum type="arabicPeriod"/>
            </a:pPr>
            <a:r>
              <a:rPr lang="en-US" sz="3500" dirty="0"/>
              <a:t>Introduction.</a:t>
            </a:r>
            <a:endParaRPr lang="en-US" dirty="0"/>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9CE768F5-6F8D-4DB0-80B3-47627E038267}" type="datetime1">
              <a:rPr lang="en-US" smtClean="0">
                <a:solidFill>
                  <a:schemeClr val="bg1"/>
                </a:solidFill>
                <a:latin typeface="Calibri" panose="020F0502020204030204"/>
              </a:rPr>
              <a:t>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3</a:t>
            </a:fld>
            <a:endParaRPr lang="en-US" sz="1200" b="0" dirty="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44678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pPr>
            <a:r>
              <a:rPr lang="en-US" sz="1800" dirty="0">
                <a:cs typeface="Arial"/>
              </a:rPr>
              <a:t>The introduction in a research proposal serves as the opening section that lays the foundation for your research. It sets the context and provides the background needed to understand the significance and rationale of the study. The introduction typically includes several key components to engage the reader and establish the importance of the research</a:t>
            </a:r>
          </a:p>
          <a:p>
            <a:pPr marR="0" algn="just">
              <a:lnSpc>
                <a:spcPct val="150000"/>
              </a:lnSpc>
              <a:spcBef>
                <a:spcPts val="0"/>
              </a:spcBef>
              <a:spcAft>
                <a:spcPts val="1000"/>
              </a:spcAft>
            </a:pPr>
            <a:endParaRPr lang="en-US" sz="1800" dirty="0">
              <a:effectLst/>
              <a:latin typeface="Times New Roman" panose="02020603050405020304" pitchFamily="18" charset="0"/>
              <a:ea typeface="SimSun" panose="02010600030101010101" pitchFamily="2" charset="-122"/>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C8C397A2-765E-4AE3-A9E7-46359EC11418}" type="datetime1">
              <a:rPr lang="en-US" smtClean="0"/>
              <a:t>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100" b="0" smtClean="0"/>
              <a:t>4</a:t>
            </a:fld>
            <a:endParaRPr lang="en-US" sz="1100" b="0" dirty="0"/>
          </a:p>
        </p:txBody>
      </p:sp>
      <p:sp>
        <p:nvSpPr>
          <p:cNvPr id="6" name="Footer Placeholder 5"/>
          <p:cNvSpPr>
            <a:spLocks noGrp="1"/>
          </p:cNvSpPr>
          <p:nvPr>
            <p:ph type="ftr" sz="quarter" idx="11"/>
          </p:nvPr>
        </p:nvSpPr>
        <p:spPr/>
        <p:txBody>
          <a:bodyPr/>
          <a:lstStyle/>
          <a:p>
            <a:r>
              <a:rPr lang="en-US"/>
              <a:t>CRP</a:t>
            </a:r>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Introduction</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001834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2. Aim of Research.</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F1CAC4CA-D9ED-4B8F-978A-C04F520FE6BA}" type="datetime1">
              <a:rPr lang="en-US" smtClean="0">
                <a:solidFill>
                  <a:schemeClr val="bg1"/>
                </a:solidFill>
                <a:latin typeface="Calibri" panose="020F0502020204030204"/>
              </a:rPr>
              <a:t>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5</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692805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fontScale="92500" lnSpcReduction="20000"/>
          </a:bodyPr>
          <a:lstStyle/>
          <a:p>
            <a:pPr>
              <a:lnSpc>
                <a:spcPct val="150000"/>
              </a:lnSpc>
            </a:pPr>
            <a:endParaRPr lang="en-GB" sz="1800" dirty="0"/>
          </a:p>
          <a:p>
            <a:pPr>
              <a:lnSpc>
                <a:spcPct val="150000"/>
              </a:lnSpc>
            </a:pPr>
            <a:r>
              <a:rPr lang="en-GB" sz="1800" dirty="0">
                <a:cs typeface="Arial"/>
              </a:rPr>
              <a:t>The aim of the research is a broad statement that defines the overall purpose or goal of your study. It outlines what you intend to achieve through your research and provides direction for the entire study. The research aim is typically more general than specific research objectives, and it is usually formulated in a way that encapsulates the core focus of the research</a:t>
            </a:r>
            <a:endParaRPr lang="en-GB" sz="1800" dirty="0"/>
          </a:p>
          <a:p>
            <a:pPr>
              <a:lnSpc>
                <a:spcPct val="150000"/>
              </a:lnSpc>
            </a:pPr>
            <a:r>
              <a:rPr lang="en-GB" sz="1800" b="1" dirty="0"/>
              <a:t>Example: The aim of the research is to assess the effectiveness of CNN in detecting and classifying Covid – 19 infection in lung images, also comparing the performance of CNNs with traditional methods commonly used for Covid – 19 detection. </a:t>
            </a:r>
            <a:endParaRPr lang="en-GB" b="1"/>
          </a:p>
          <a:p>
            <a:pPr marL="0" indent="0">
              <a:buNone/>
            </a:pPr>
            <a:endParaRPr lang="en-GB" sz="1800" dirty="0"/>
          </a:p>
          <a:p>
            <a:pPr marR="0" algn="just">
              <a:spcBef>
                <a:spcPts val="0"/>
              </a:spcBef>
              <a:spcAft>
                <a:spcPts val="1000"/>
              </a:spcAft>
            </a:pPr>
            <a:endParaRPr lang="en-US" sz="1800" dirty="0">
              <a:effectLst/>
              <a:latin typeface="Times New Roman" panose="02020603050405020304" pitchFamily="18" charset="0"/>
              <a:ea typeface="SimSun" panose="02010600030101010101" pitchFamily="2" charset="-122"/>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12F6DFE3-88EC-4E66-9523-87EA3C417268}" type="datetime1">
              <a:rPr lang="en-US" smtClean="0"/>
              <a:t>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100" b="0" smtClean="0"/>
              <a:t>6</a:t>
            </a:fld>
            <a:endParaRPr lang="en-US" sz="1100" b="0" dirty="0"/>
          </a:p>
        </p:txBody>
      </p:sp>
      <p:sp>
        <p:nvSpPr>
          <p:cNvPr id="6" name="Footer Placeholder 5"/>
          <p:cNvSpPr>
            <a:spLocks noGrp="1"/>
          </p:cNvSpPr>
          <p:nvPr>
            <p:ph type="ftr" sz="quarter" idx="11"/>
          </p:nvPr>
        </p:nvSpPr>
        <p:spPr/>
        <p:txBody>
          <a:bodyPr/>
          <a:lstStyle/>
          <a:p>
            <a:r>
              <a:rPr lang="en-US"/>
              <a:t>CRP</a:t>
            </a:r>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Aim</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0326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3. Research Question</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D1C8D1F7-E20F-45CC-A011-50B610F72C5D}" type="datetime1">
              <a:rPr lang="en-US" smtClean="0">
                <a:solidFill>
                  <a:schemeClr val="bg1"/>
                </a:solidFill>
                <a:latin typeface="Calibri" panose="020F0502020204030204"/>
              </a:rPr>
              <a:t>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7</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8962430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pPr>
            <a:r>
              <a:rPr lang="en-GB" sz="1800" b="1" dirty="0">
                <a:cs typeface="Arial"/>
              </a:rPr>
              <a:t>Research Question:</a:t>
            </a:r>
            <a:endParaRPr lang="en-GB" sz="1800" b="1" dirty="0"/>
          </a:p>
          <a:p>
            <a:pPr>
              <a:lnSpc>
                <a:spcPct val="150000"/>
              </a:lnSpc>
            </a:pPr>
            <a:r>
              <a:rPr lang="en-GB" sz="1800" b="1" dirty="0">
                <a:cs typeface="Arial"/>
              </a:rPr>
              <a:t>Dependent Variables:</a:t>
            </a:r>
          </a:p>
          <a:p>
            <a:pPr>
              <a:lnSpc>
                <a:spcPct val="150000"/>
              </a:lnSpc>
            </a:pPr>
            <a:r>
              <a:rPr lang="en-GB" sz="1800" b="1" dirty="0">
                <a:cs typeface="Arial"/>
              </a:rPr>
              <a:t>Independent Variable </a:t>
            </a:r>
          </a:p>
          <a:p>
            <a:pPr>
              <a:lnSpc>
                <a:spcPct val="150000"/>
              </a:lnSpc>
            </a:pPr>
            <a:r>
              <a:rPr lang="en-GB" sz="1800" b="1" dirty="0"/>
              <a:t>Example</a:t>
            </a:r>
            <a:r>
              <a:rPr lang="en-GB" sz="1800" dirty="0"/>
              <a:t>: Can a Convolutional Neural Network effectively detect and classify Covid -19 infection using the images of X-rays of lungs.</a:t>
            </a:r>
            <a:endParaRPr lang="en-GB"/>
          </a:p>
          <a:p>
            <a:pPr lvl="0">
              <a:lnSpc>
                <a:spcPct val="150000"/>
              </a:lnSpc>
            </a:pPr>
            <a:r>
              <a:rPr lang="en-GB" sz="1800" dirty="0"/>
              <a:t>How does the performance of CNN compare to traditional methods like PCR, Antigen, Serological tests.</a:t>
            </a:r>
          </a:p>
          <a:p>
            <a:pPr marL="0" indent="0">
              <a:lnSpc>
                <a:spcPct val="150000"/>
              </a:lnSpc>
              <a:buNone/>
            </a:pPr>
            <a:endParaRPr lang="en-GB" sz="1800" dirty="0"/>
          </a:p>
          <a:p>
            <a:pPr marL="0" indent="0">
              <a:lnSpc>
                <a:spcPct val="150000"/>
              </a:lnSpc>
              <a:buNone/>
            </a:pPr>
            <a:endParaRPr lang="en-GB" sz="1800" dirty="0"/>
          </a:p>
          <a:p>
            <a:pPr marR="0">
              <a:lnSpc>
                <a:spcPct val="150000"/>
              </a:lnSpc>
              <a:spcBef>
                <a:spcPts val="0"/>
              </a:spcBef>
              <a:spcAft>
                <a:spcPts val="1000"/>
              </a:spcAft>
            </a:pPr>
            <a:endParaRPr lang="en-US" sz="1800" dirty="0">
              <a:effectLst/>
              <a:latin typeface="Times New Roman" panose="02020603050405020304" pitchFamily="18" charset="0"/>
              <a:ea typeface="SimSun" panose="02010600030101010101" pitchFamily="2" charset="-122"/>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77BE8CD8-B5C0-427D-BE8F-A30532367F74}" type="datetime1">
              <a:rPr lang="en-US" smtClean="0"/>
              <a:t>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100" b="0" smtClean="0"/>
              <a:t>8</a:t>
            </a:fld>
            <a:endParaRPr lang="en-US" sz="1100" b="0" dirty="0"/>
          </a:p>
        </p:txBody>
      </p:sp>
      <p:sp>
        <p:nvSpPr>
          <p:cNvPr id="6" name="Footer Placeholder 5"/>
          <p:cNvSpPr>
            <a:spLocks noGrp="1"/>
          </p:cNvSpPr>
          <p:nvPr>
            <p:ph type="ftr" sz="quarter" idx="11"/>
          </p:nvPr>
        </p:nvSpPr>
        <p:spPr/>
        <p:txBody>
          <a:bodyPr/>
          <a:lstStyle/>
          <a:p>
            <a:r>
              <a:rPr lang="en-US"/>
              <a:t>CRP</a:t>
            </a:r>
          </a:p>
        </p:txBody>
      </p:sp>
      <p:sp>
        <p:nvSpPr>
          <p:cNvPr id="1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fontScale="90000"/>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Research Question</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3186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4. Objective of Research </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DA4042C5-0E2C-4FD3-A6EF-8C0BB8DE3BB1}" type="datetime1">
              <a:rPr lang="en-US" smtClean="0">
                <a:solidFill>
                  <a:schemeClr val="bg1"/>
                </a:solidFill>
                <a:latin typeface="Calibri" panose="020F0502020204030204"/>
              </a:rPr>
              <a:t>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9</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4612522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marL="0" indent="0">
              <a:lnSpc>
                <a:spcPct val="150000"/>
              </a:lnSpc>
              <a:buNone/>
            </a:pPr>
            <a:r>
              <a:rPr lang="en-US" sz="1800" dirty="0">
                <a:ea typeface="+mn-lt"/>
                <a:cs typeface="+mn-lt"/>
              </a:rPr>
              <a:t>Objectives break down the aim into manageable parts and guide the methodology </a:t>
            </a:r>
            <a:r>
              <a:rPr lang="en-US" sz="1800">
                <a:ea typeface="+mn-lt"/>
                <a:cs typeface="+mn-lt"/>
              </a:rPr>
              <a:t>and analysis</a:t>
            </a:r>
            <a:endParaRPr lang="en-US" b="1">
              <a:ea typeface="+mn-lt"/>
              <a:cs typeface="+mn-lt"/>
            </a:endParaRPr>
          </a:p>
          <a:p>
            <a:pPr marL="0" indent="0">
              <a:lnSpc>
                <a:spcPct val="150000"/>
              </a:lnSpc>
              <a:buNone/>
            </a:pPr>
            <a:r>
              <a:rPr lang="en-US" sz="1800" b="1" dirty="0"/>
              <a:t>Example:</a:t>
            </a:r>
            <a:endParaRPr lang="en-US" b="1" dirty="0">
              <a:cs typeface="Arial" panose="020B0604020202020204"/>
            </a:endParaRPr>
          </a:p>
          <a:p>
            <a:pPr marL="342900" indent="-342900">
              <a:lnSpc>
                <a:spcPct val="150000"/>
              </a:lnSpc>
              <a:buAutoNum type="arabicPeriod"/>
            </a:pPr>
            <a:r>
              <a:rPr lang="en-US" sz="1800" dirty="0"/>
              <a:t>To evaluate the effectiveness of CNN in the detection &amp; classification of covid-19 infection using chest x-ray images.</a:t>
            </a:r>
            <a:endParaRPr lang="en-US">
              <a:cs typeface="Arial" panose="020B0604020202020204"/>
            </a:endParaRPr>
          </a:p>
          <a:p>
            <a:pPr>
              <a:lnSpc>
                <a:spcPct val="150000"/>
              </a:lnSpc>
              <a:buAutoNum type="arabicPeriod"/>
            </a:pPr>
            <a:r>
              <a:rPr lang="en-US" sz="1800" dirty="0"/>
              <a:t>To evaluate the sensitivity and specificity of CNN in detecting covid-19 infection using chest x-ray images comparing the accuracy of CNN based classification with traditional methods. </a:t>
            </a:r>
            <a:endParaRPr lang="en-US" sz="1800" dirty="0">
              <a:cs typeface="Arial" panose="020B0604020202020204"/>
            </a:endParaRPr>
          </a:p>
          <a:p>
            <a:pPr marL="0" indent="0">
              <a:lnSpc>
                <a:spcPct val="150000"/>
              </a:lnSpc>
              <a:buNone/>
            </a:pPr>
            <a:endParaRPr lang="en-GB" sz="1800" dirty="0"/>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AB304D7D-A11F-4C1E-9CA2-8E5EFE465FC1}" type="datetime1">
              <a:rPr lang="en-US" smtClean="0"/>
              <a:t>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r>
              <a:rPr lang="en-US" sz="1200" b="0" dirty="0"/>
              <a:t>10</a:t>
            </a:r>
          </a:p>
        </p:txBody>
      </p:sp>
      <p:sp>
        <p:nvSpPr>
          <p:cNvPr id="6" name="Footer Placeholder 5"/>
          <p:cNvSpPr>
            <a:spLocks noGrp="1"/>
          </p:cNvSpPr>
          <p:nvPr>
            <p:ph type="ftr" sz="quarter" idx="11"/>
          </p:nvPr>
        </p:nvSpPr>
        <p:spPr/>
        <p:txBody>
          <a:bodyPr/>
          <a:lstStyle/>
          <a:p>
            <a:r>
              <a:rPr lang="en-US"/>
              <a:t>CRP</a:t>
            </a:r>
          </a:p>
        </p:txBody>
      </p:sp>
      <p:sp>
        <p:nvSpPr>
          <p:cNvPr id="13"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fontScale="90000"/>
          </a:bodyPr>
          <a:lstStyle/>
          <a:p>
            <a:pPr algn="ctr"/>
            <a:r>
              <a:rPr lang="en-US" sz="2400" dirty="0">
                <a:solidFill>
                  <a:srgbClr val="FFFFFF"/>
                </a:solidFill>
                <a:latin typeface="Times New Roman"/>
                <a:ea typeface="Arial Unicode MS"/>
                <a:cs typeface="Times New Roman"/>
              </a:rPr>
              <a:t>Objective &amp; Sub objectives</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21257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pPr>
            <a:r>
              <a:rPr lang="en-US" sz="1800" dirty="0"/>
              <a:t>To analyze the performance of diverse datasets to investigate the robustness of Convolutional Neural Network.</a:t>
            </a:r>
          </a:p>
          <a:p>
            <a:pPr>
              <a:lnSpc>
                <a:spcPct val="150000"/>
              </a:lnSpc>
            </a:pPr>
            <a:r>
              <a:rPr lang="en-US" sz="1800" dirty="0"/>
              <a:t>To compare the accuracy of my trained model with already trained model, </a:t>
            </a:r>
            <a:r>
              <a:rPr lang="en-GB" sz="1800" dirty="0"/>
              <a:t>create a better model along with its algorithm with minimum accuracy of 90%. </a:t>
            </a:r>
          </a:p>
          <a:p>
            <a:pPr>
              <a:lnSpc>
                <a:spcPct val="150000"/>
              </a:lnSpc>
            </a:pPr>
            <a:endParaRPr lang="en-GB" sz="1800" dirty="0"/>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5FA1EC22-AA10-4EE1-A30B-F269FD4ED93A}" type="datetime1">
              <a:rPr lang="en-US" smtClean="0"/>
              <a:t>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11</a:t>
            </a:fld>
            <a:endParaRPr lang="en-US" sz="1200" b="0" dirty="0"/>
          </a:p>
        </p:txBody>
      </p:sp>
      <p:sp>
        <p:nvSpPr>
          <p:cNvPr id="6" name="Footer Placeholder 5"/>
          <p:cNvSpPr>
            <a:spLocks noGrp="1"/>
          </p:cNvSpPr>
          <p:nvPr>
            <p:ph type="ftr" sz="quarter" idx="11"/>
          </p:nvPr>
        </p:nvSpPr>
        <p:spPr/>
        <p:txBody>
          <a:bodyPr/>
          <a:lstStyle/>
          <a:p>
            <a:r>
              <a:rPr lang="en-US"/>
              <a:t>CRP</a:t>
            </a:r>
          </a:p>
        </p:txBody>
      </p:sp>
      <p:sp>
        <p:nvSpPr>
          <p:cNvPr id="13"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Objective</a:t>
            </a:r>
            <a:endParaRPr lang="en-US" sz="2400" dirty="0">
              <a:solidFill>
                <a:srgbClr val="FFFFFF"/>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363744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5. Scope of Research</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44B029B9-4455-4E32-8B16-6D97F5FFAFAC}" type="datetime1">
              <a:rPr lang="en-US" smtClean="0">
                <a:solidFill>
                  <a:schemeClr val="bg1"/>
                </a:solidFill>
                <a:latin typeface="Calibri" panose="020F0502020204030204"/>
              </a:rPr>
              <a:t>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12</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7580656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Scope</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spcBef>
                <a:spcPts val="0"/>
              </a:spcBef>
              <a:spcAft>
                <a:spcPts val="1000"/>
              </a:spcAft>
            </a:pPr>
            <a:r>
              <a:rPr lang="en-US" sz="1800" dirty="0">
                <a:ea typeface="Calibri" panose="020F0502020204030204" pitchFamily="34" charset="0"/>
                <a:cs typeface="Times New Roman"/>
              </a:rPr>
              <a:t>The scope defines </a:t>
            </a:r>
            <a:r>
              <a:rPr lang="en-US" sz="1800" dirty="0">
                <a:effectLst/>
                <a:ea typeface="Calibri" panose="020F0502020204030204" pitchFamily="34" charset="0"/>
                <a:cs typeface="Times New Roman"/>
              </a:rPr>
              <a:t>the </a:t>
            </a:r>
            <a:r>
              <a:rPr lang="en-US" sz="1800" b="1" dirty="0">
                <a:ea typeface="Calibri" panose="020F0502020204030204" pitchFamily="34" charset="0"/>
                <a:cs typeface="Times New Roman"/>
              </a:rPr>
              <a:t>boundaries and extent of </a:t>
            </a:r>
            <a:r>
              <a:rPr lang="en-US" sz="1800" b="1" dirty="0">
                <a:effectLst/>
                <a:ea typeface="Calibri" panose="020F0502020204030204" pitchFamily="34" charset="0"/>
                <a:cs typeface="Times New Roman"/>
              </a:rPr>
              <a:t>the </a:t>
            </a:r>
            <a:r>
              <a:rPr lang="en-US" sz="1800" b="1" dirty="0">
                <a:ea typeface="Calibri" panose="020F0502020204030204" pitchFamily="34" charset="0"/>
                <a:cs typeface="Times New Roman"/>
              </a:rPr>
              <a:t>research or project</a:t>
            </a:r>
            <a:r>
              <a:rPr lang="en-US" sz="1800" dirty="0">
                <a:ea typeface="Calibri" panose="020F0502020204030204" pitchFamily="34" charset="0"/>
                <a:cs typeface="Times New Roman"/>
              </a:rPr>
              <a:t>. It outlines what will be covered in terms </a:t>
            </a:r>
            <a:r>
              <a:rPr lang="en-US" sz="1800" dirty="0">
                <a:effectLst/>
                <a:ea typeface="Calibri" panose="020F0502020204030204" pitchFamily="34" charset="0"/>
                <a:cs typeface="Times New Roman"/>
              </a:rPr>
              <a:t>of </a:t>
            </a:r>
            <a:r>
              <a:rPr lang="en-US" sz="1800" b="1" dirty="0">
                <a:ea typeface="Calibri" panose="020F0502020204030204" pitchFamily="34" charset="0"/>
                <a:cs typeface="Times New Roman"/>
              </a:rPr>
              <a:t>objectives, target audience, time frame, methodologies, </a:t>
            </a:r>
            <a:r>
              <a:rPr lang="en-US" sz="1800" b="1" dirty="0">
                <a:effectLst/>
                <a:ea typeface="Calibri" panose="020F0502020204030204" pitchFamily="34" charset="0"/>
                <a:cs typeface="Times New Roman"/>
              </a:rPr>
              <a:t>and </a:t>
            </a:r>
            <a:r>
              <a:rPr lang="en-US" sz="1800" b="1" dirty="0">
                <a:ea typeface="Calibri" panose="020F0502020204030204" pitchFamily="34" charset="0"/>
                <a:cs typeface="Times New Roman"/>
              </a:rPr>
              <a:t>resources</a:t>
            </a:r>
            <a:r>
              <a:rPr lang="en-US" sz="1800" b="1" dirty="0">
                <a:effectLst/>
                <a:ea typeface="Calibri" panose="020F0502020204030204" pitchFamily="34" charset="0"/>
                <a:cs typeface="Times New Roman"/>
              </a:rPr>
              <a:t>.</a:t>
            </a:r>
          </a:p>
          <a:p>
            <a:pPr>
              <a:lnSpc>
                <a:spcPct val="150000"/>
              </a:lnSpc>
              <a:spcBef>
                <a:spcPts val="0"/>
              </a:spcBef>
              <a:spcAft>
                <a:spcPts val="1000"/>
              </a:spcAft>
            </a:pPr>
            <a:r>
              <a:rPr lang="en-US" sz="1800" dirty="0">
                <a:ea typeface="Calibri" panose="020F0502020204030204" pitchFamily="34" charset="0"/>
                <a:cs typeface="Times New Roman"/>
              </a:rPr>
              <a:t>To provide a clear understanding of what the project or study aims to achieve, the areas it will focus on, and the boundaries within which the work will operate</a:t>
            </a: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2A724328-5688-475E-8978-CA3EB6B8786F}" type="datetime1">
              <a:rPr lang="en-US" smtClean="0"/>
              <a:t>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r>
              <a:rPr lang="en-US" sz="1200" b="0" dirty="0"/>
              <a:t>13</a:t>
            </a:r>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742800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6.Limitations of Research</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A3AE9EAE-2DEE-466D-9183-756D733F6DAD}" type="datetime1">
              <a:rPr lang="en-US" smtClean="0">
                <a:solidFill>
                  <a:schemeClr val="bg1"/>
                </a:solidFill>
                <a:latin typeface="Calibri" panose="020F0502020204030204"/>
              </a:rPr>
              <a:t>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14</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343424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Limitations</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spcBef>
                <a:spcPts val="0"/>
              </a:spcBef>
              <a:spcAft>
                <a:spcPts val="1000"/>
              </a:spcAft>
            </a:pPr>
            <a:r>
              <a:rPr lang="en-US" sz="1800" dirty="0">
                <a:ea typeface="Calibri" panose="020F0502020204030204" pitchFamily="34" charset="0"/>
                <a:cs typeface="Times New Roman"/>
              </a:rPr>
              <a:t>Limitations refer </a:t>
            </a:r>
            <a:r>
              <a:rPr lang="en-US" sz="1800" dirty="0">
                <a:effectLst/>
                <a:ea typeface="Calibri" panose="020F0502020204030204" pitchFamily="34" charset="0"/>
                <a:cs typeface="Times New Roman"/>
              </a:rPr>
              <a:t>to the </a:t>
            </a:r>
            <a:r>
              <a:rPr lang="en-US" sz="1800" b="1" dirty="0">
                <a:ea typeface="Calibri" panose="020F0502020204030204" pitchFamily="34" charset="0"/>
                <a:cs typeface="Times New Roman"/>
              </a:rPr>
              <a:t>potential constraints or weaknesses in the study</a:t>
            </a:r>
            <a:r>
              <a:rPr lang="en-US" sz="1800" dirty="0">
                <a:ea typeface="Calibri" panose="020F0502020204030204" pitchFamily="34" charset="0"/>
                <a:cs typeface="Times New Roman"/>
              </a:rPr>
              <a:t> or project that </a:t>
            </a:r>
            <a:r>
              <a:rPr lang="en-US" sz="1800" dirty="0">
                <a:effectLst/>
                <a:ea typeface="Calibri" panose="020F0502020204030204" pitchFamily="34" charset="0"/>
                <a:cs typeface="Times New Roman"/>
              </a:rPr>
              <a:t>may </a:t>
            </a:r>
            <a:r>
              <a:rPr lang="en-US" sz="1800" dirty="0">
                <a:ea typeface="Calibri" panose="020F0502020204030204" pitchFamily="34" charset="0"/>
                <a:cs typeface="Times New Roman"/>
              </a:rPr>
              <a:t>affect its outcomes or conclusions</a:t>
            </a:r>
            <a:r>
              <a:rPr lang="en-US" sz="1800" dirty="0">
                <a:effectLst/>
                <a:ea typeface="Calibri" panose="020F0502020204030204" pitchFamily="34" charset="0"/>
                <a:cs typeface="Times New Roman"/>
              </a:rPr>
              <a:t>. </a:t>
            </a:r>
            <a:r>
              <a:rPr lang="en-US" sz="1800" dirty="0">
                <a:ea typeface="Calibri" panose="020F0502020204030204" pitchFamily="34" charset="0"/>
                <a:cs typeface="Times New Roman"/>
              </a:rPr>
              <a:t>These could be due to factors such as resources, methodology, time, data quality</a:t>
            </a:r>
            <a:r>
              <a:rPr lang="en-US" sz="1800" dirty="0">
                <a:effectLst/>
                <a:ea typeface="Calibri" panose="020F0502020204030204" pitchFamily="34" charset="0"/>
                <a:cs typeface="Times New Roman"/>
              </a:rPr>
              <a:t>, </a:t>
            </a:r>
            <a:r>
              <a:rPr lang="en-US" sz="1800" dirty="0">
                <a:ea typeface="Calibri" panose="020F0502020204030204" pitchFamily="34" charset="0"/>
                <a:cs typeface="Times New Roman"/>
              </a:rPr>
              <a:t>or uncontrollable external factors</a:t>
            </a:r>
            <a:r>
              <a:rPr lang="en-US" sz="1800" dirty="0">
                <a:effectLst/>
                <a:ea typeface="Calibri" panose="020F0502020204030204" pitchFamily="34" charset="0"/>
                <a:cs typeface="Times New Roman"/>
              </a:rPr>
              <a:t>.</a:t>
            </a:r>
            <a:r>
              <a:rPr lang="en-US" sz="1800" dirty="0">
                <a:ea typeface="Calibri" panose="020F0502020204030204" pitchFamily="34" charset="0"/>
                <a:cs typeface="Times New Roman"/>
              </a:rPr>
              <a:t> </a:t>
            </a:r>
            <a:endParaRPr lang="en-US" dirty="0">
              <a:cs typeface="Times New Roman"/>
            </a:endParaRPr>
          </a:p>
          <a:p>
            <a:pPr>
              <a:lnSpc>
                <a:spcPct val="150000"/>
              </a:lnSpc>
              <a:spcBef>
                <a:spcPts val="0"/>
              </a:spcBef>
              <a:spcAft>
                <a:spcPts val="1000"/>
              </a:spcAft>
            </a:pPr>
            <a:r>
              <a:rPr lang="en-US" sz="1800" dirty="0">
                <a:ea typeface="+mn-lt"/>
                <a:cs typeface="+mn-lt"/>
              </a:rPr>
              <a:t>To acknowledge and inform readers or stakeholders about factors that might limit the accuracy, applicability, or generalizability of the findings</a:t>
            </a:r>
            <a:endParaRPr lang="en-US" dirty="0">
              <a:cs typeface="Arial"/>
            </a:endParaRPr>
          </a:p>
          <a:p>
            <a:pPr>
              <a:lnSpc>
                <a:spcPct val="150000"/>
              </a:lnSpc>
              <a:spcBef>
                <a:spcPts val="0"/>
              </a:spcBef>
              <a:spcAft>
                <a:spcPts val="1000"/>
              </a:spcAft>
            </a:pPr>
            <a:endParaRPr lang="en-US" sz="1800" dirty="0">
              <a:ea typeface="Calibri" panose="020F0502020204030204" pitchFamily="34" charset="0"/>
              <a:cs typeface="Times New Roman" panose="02020603050405020304" pitchFamily="18" charset="0"/>
            </a:endParaRPr>
          </a:p>
          <a:p>
            <a:pPr marL="0" indent="0">
              <a:lnSpc>
                <a:spcPct val="150000"/>
              </a:lnSpc>
              <a:spcBef>
                <a:spcPts val="0"/>
              </a:spcBef>
              <a:spcAft>
                <a:spcPts val="1000"/>
              </a:spcAft>
              <a:buNone/>
            </a:pPr>
            <a:endParaRPr lang="en-US" sz="1800" dirty="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B8C1096F-ED07-4EE2-A280-F7C1436D1C64}" type="datetime1">
              <a:rPr lang="en-US" smtClean="0"/>
              <a:t>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15</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4275002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7. Methodology</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EFDF88E1-7F0A-4457-B096-CBADB9AF7900}" type="datetime1">
              <a:rPr lang="en-US" smtClean="0">
                <a:solidFill>
                  <a:schemeClr val="bg1"/>
                </a:solidFill>
                <a:latin typeface="Calibri" panose="020F0502020204030204"/>
              </a:rPr>
              <a:t>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16</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515819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Methodology</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spcBef>
                <a:spcPts val="0"/>
              </a:spcBef>
              <a:spcAft>
                <a:spcPts val="1000"/>
              </a:spcAft>
            </a:pPr>
            <a:r>
              <a:rPr lang="en-US" sz="1800" b="1" dirty="0">
                <a:effectLst/>
                <a:ea typeface="Calibri" panose="020F0502020204030204" pitchFamily="34" charset="0"/>
                <a:cs typeface="Times New Roman"/>
              </a:rPr>
              <a:t>Research design:-  </a:t>
            </a:r>
            <a:r>
              <a:rPr lang="en-US" sz="1800" dirty="0">
                <a:effectLst/>
                <a:ea typeface="Calibri" panose="020F0502020204030204" pitchFamily="34" charset="0"/>
                <a:cs typeface="Times New Roman"/>
              </a:rPr>
              <a:t>A </a:t>
            </a:r>
            <a:r>
              <a:rPr lang="en-US" sz="1800">
                <a:ea typeface="Calibri" panose="020F0502020204030204" pitchFamily="34" charset="0"/>
                <a:cs typeface="Times New Roman"/>
              </a:rPr>
              <a:t>Qualitative</a:t>
            </a:r>
            <a:r>
              <a:rPr lang="en-US" sz="1800" dirty="0">
                <a:ea typeface="Calibri" panose="020F0502020204030204" pitchFamily="34" charset="0"/>
                <a:cs typeface="Times New Roman"/>
              </a:rPr>
              <a:t>/ Quantitative/ Mixed</a:t>
            </a:r>
            <a:r>
              <a:rPr lang="en-US" sz="1800" dirty="0">
                <a:effectLst/>
                <a:ea typeface="Calibri" panose="020F0502020204030204" pitchFamily="34" charset="0"/>
                <a:cs typeface="Times New Roman"/>
              </a:rPr>
              <a:t> method approach chosen for comprehensive insights.</a:t>
            </a:r>
          </a:p>
          <a:p>
            <a:pPr>
              <a:lnSpc>
                <a:spcPct val="150000"/>
              </a:lnSpc>
              <a:spcBef>
                <a:spcPts val="0"/>
              </a:spcBef>
              <a:spcAft>
                <a:spcPts val="1000"/>
              </a:spcAft>
            </a:pPr>
            <a:r>
              <a:rPr lang="en-US" sz="1800" b="1" dirty="0">
                <a:ea typeface="Calibri" panose="020F0502020204030204" pitchFamily="34" charset="0"/>
                <a:cs typeface="Times New Roman"/>
              </a:rPr>
              <a:t>Data collection method:- </a:t>
            </a:r>
            <a:r>
              <a:rPr lang="en-US" sz="1800">
                <a:ea typeface="Calibri" panose="020F0502020204030204" pitchFamily="34" charset="0"/>
                <a:cs typeface="Times New Roman"/>
              </a:rPr>
              <a:t>Experiment, Survey, Interviews/focus group, </a:t>
            </a:r>
            <a:r>
              <a:rPr lang="en-US" sz="1800" dirty="0">
                <a:ea typeface="Calibri" panose="020F0502020204030204" pitchFamily="34" charset="0"/>
                <a:cs typeface="Times New Roman"/>
              </a:rPr>
              <a:t>Observation, Ethnography, Archival research, Secondary data collection</a:t>
            </a:r>
            <a:endParaRPr lang="en-US" sz="1800">
              <a:effectLst/>
              <a:ea typeface="Calibri" panose="020F0502020204030204" pitchFamily="34" charset="0"/>
              <a:cs typeface="Times New Roman" panose="02020603050405020304" pitchFamily="18" charset="0"/>
            </a:endParaRPr>
          </a:p>
          <a:p>
            <a:pPr>
              <a:lnSpc>
                <a:spcPct val="150000"/>
              </a:lnSpc>
              <a:spcBef>
                <a:spcPts val="0"/>
              </a:spcBef>
              <a:spcAft>
                <a:spcPts val="1000"/>
              </a:spcAft>
            </a:pPr>
            <a:r>
              <a:rPr lang="en-US" sz="1800" b="1" dirty="0">
                <a:ea typeface="Calibri" panose="020F0502020204030204" pitchFamily="34" charset="0"/>
                <a:cs typeface="Arial"/>
              </a:rPr>
              <a:t>Literature sources:  </a:t>
            </a:r>
            <a:r>
              <a:rPr lang="en-US" sz="1800" dirty="0">
                <a:ea typeface="Calibri" panose="020F0502020204030204" pitchFamily="34" charset="0"/>
                <a:cs typeface="Arial"/>
              </a:rPr>
              <a:t>Journals (Refereed, Non-refereed academic</a:t>
            </a:r>
            <a:r>
              <a:rPr lang="en-US" sz="1800">
                <a:ea typeface="Calibri" panose="020F0502020204030204" pitchFamily="34" charset="0"/>
                <a:cs typeface="Arial"/>
              </a:rPr>
              <a:t>, Professional, Magazines), </a:t>
            </a:r>
            <a:r>
              <a:rPr lang="en-US" sz="1800" dirty="0">
                <a:ea typeface="Calibri" panose="020F0502020204030204" pitchFamily="34" charset="0"/>
                <a:cs typeface="Arial"/>
              </a:rPr>
              <a:t>Books and e-books, Newspapers, Conference proceedings, Reports, Theses.</a:t>
            </a:r>
            <a:endParaRPr lang="en-US" sz="1800" dirty="0">
              <a:effectLst/>
              <a:ea typeface="Calibri" panose="020F0502020204030204" pitchFamily="34" charset="0"/>
              <a:cs typeface="Arial"/>
            </a:endParaRPr>
          </a:p>
          <a:p>
            <a:pPr marL="0" indent="0">
              <a:lnSpc>
                <a:spcPct val="150000"/>
              </a:lnSpc>
              <a:spcBef>
                <a:spcPts val="0"/>
              </a:spcBef>
              <a:spcAft>
                <a:spcPts val="1000"/>
              </a:spcAft>
              <a:buNone/>
            </a:pPr>
            <a:endParaRPr lang="en-US" sz="1800" dirty="0">
              <a:ea typeface="Calibri" panose="020F0502020204030204" pitchFamily="34" charset="0"/>
              <a:cs typeface="Times New Roman" panose="02020603050405020304" pitchFamily="18" charset="0"/>
            </a:endParaRPr>
          </a:p>
          <a:p>
            <a:pPr marL="0" indent="0">
              <a:lnSpc>
                <a:spcPct val="150000"/>
              </a:lnSpc>
              <a:spcBef>
                <a:spcPts val="0"/>
              </a:spcBef>
              <a:spcAft>
                <a:spcPts val="1000"/>
              </a:spcAft>
              <a:buNone/>
            </a:pPr>
            <a:endParaRPr lang="en-US" sz="1800" dirty="0">
              <a:ea typeface="Calibri" panose="020F0502020204030204" pitchFamily="34" charset="0"/>
              <a:cs typeface="Times New Roman" panose="02020603050405020304" pitchFamily="18" charset="0"/>
            </a:endParaRP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83CF45C7-57A3-4163-A97E-CD11D5518937}" type="datetime1">
              <a:rPr lang="en-US" smtClean="0"/>
              <a:t>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17</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1297637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Literature Review</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15B7BF59-8C22-426D-BAF7-27EF6CB21C63}" type="datetime1">
              <a:rPr lang="en-US" smtClean="0">
                <a:solidFill>
                  <a:schemeClr val="bg1"/>
                </a:solidFill>
                <a:latin typeface="Calibri" panose="020F0502020204030204"/>
              </a:rPr>
              <a:t>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18</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2362906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80FED002-D9B8-4055-B180-137EC510B2E1}" type="datetime1">
              <a:rPr lang="en-US" smtClean="0"/>
              <a:t>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smtClean="0"/>
              <a:t>19</a:t>
            </a:fld>
            <a:endParaRPr lang="en-US" sz="1200" dirty="0"/>
          </a:p>
        </p:txBody>
      </p:sp>
      <p:pic>
        <p:nvPicPr>
          <p:cNvPr id="8" name="Content Placeholder 7"/>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14419" t="18327" r="14419" b="8229"/>
          <a:stretch/>
        </p:blipFill>
        <p:spPr>
          <a:xfrm>
            <a:off x="0" y="406400"/>
            <a:ext cx="9144000" cy="5412509"/>
          </a:xfrm>
        </p:spPr>
      </p:pic>
    </p:spTree>
    <p:extLst>
      <p:ext uri="{BB962C8B-B14F-4D97-AF65-F5344CB8AC3E}">
        <p14:creationId xmlns:p14="http://schemas.microsoft.com/office/powerpoint/2010/main" val="31524558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14658" t="17691" r="14777" b="18417"/>
          <a:stretch/>
        </p:blipFill>
        <p:spPr>
          <a:xfrm>
            <a:off x="0" y="979055"/>
            <a:ext cx="9144000" cy="4396509"/>
          </a:xfrm>
        </p:spPr>
      </p:pic>
      <p:sp>
        <p:nvSpPr>
          <p:cNvPr id="4" name="Date Placeholder 3"/>
          <p:cNvSpPr>
            <a:spLocks noGrp="1"/>
          </p:cNvSpPr>
          <p:nvPr>
            <p:ph type="dt" sz="half" idx="10"/>
          </p:nvPr>
        </p:nvSpPr>
        <p:spPr/>
        <p:txBody>
          <a:bodyPr/>
          <a:lstStyle/>
          <a:p>
            <a:fld id="{0CB83CE1-CFD0-4252-B676-229062FE8D1B}" type="datetime1">
              <a:rPr lang="en-US" smtClean="0"/>
              <a:t>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smtClean="0"/>
              <a:t>20</a:t>
            </a:fld>
            <a:endParaRPr lang="en-US" sz="1200" dirty="0"/>
          </a:p>
        </p:txBody>
      </p:sp>
    </p:spTree>
    <p:extLst>
      <p:ext uri="{BB962C8B-B14F-4D97-AF65-F5344CB8AC3E}">
        <p14:creationId xmlns:p14="http://schemas.microsoft.com/office/powerpoint/2010/main" val="300648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Timeline</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5B263E9C-6288-4DD3-8AED-7B391BB72E1E}" type="datetime1">
              <a:rPr lang="en-US" smtClean="0">
                <a:solidFill>
                  <a:schemeClr val="bg1"/>
                </a:solidFill>
                <a:latin typeface="Calibri" panose="020F0502020204030204"/>
              </a:rPr>
              <a:t>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21</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81000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1166" t="21512" r="9524" b="37521"/>
          <a:stretch/>
        </p:blipFill>
        <p:spPr>
          <a:xfrm>
            <a:off x="0" y="951345"/>
            <a:ext cx="9143999" cy="3112655"/>
          </a:xfrm>
        </p:spPr>
      </p:pic>
      <p:sp>
        <p:nvSpPr>
          <p:cNvPr id="4" name="Date Placeholder 3"/>
          <p:cNvSpPr>
            <a:spLocks noGrp="1"/>
          </p:cNvSpPr>
          <p:nvPr>
            <p:ph type="dt" sz="half" idx="10"/>
          </p:nvPr>
        </p:nvSpPr>
        <p:spPr/>
        <p:txBody>
          <a:bodyPr/>
          <a:lstStyle/>
          <a:p>
            <a:fld id="{B7679B16-301B-41D3-B5DE-31BD87D1D497}" type="datetime1">
              <a:rPr lang="en-US" smtClean="0"/>
              <a:t>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b="0" smtClean="0"/>
              <a:t>22</a:t>
            </a:fld>
            <a:endParaRPr lang="en-US" sz="1200" b="0" dirty="0"/>
          </a:p>
        </p:txBody>
      </p:sp>
    </p:spTree>
    <p:extLst>
      <p:ext uri="{BB962C8B-B14F-4D97-AF65-F5344CB8AC3E}">
        <p14:creationId xmlns:p14="http://schemas.microsoft.com/office/powerpoint/2010/main" val="18387087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Cost &amp; Benefits</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B051283D-A526-41C6-8C05-199FD45FCE24}" type="datetime1">
              <a:rPr lang="en-US" smtClean="0">
                <a:solidFill>
                  <a:schemeClr val="bg1"/>
                </a:solidFill>
                <a:latin typeface="Calibri" panose="020F0502020204030204"/>
              </a:rPr>
              <a:t>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23</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133456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647527341"/>
              </p:ext>
            </p:extLst>
          </p:nvPr>
        </p:nvGraphicFramePr>
        <p:xfrm>
          <a:off x="654050" y="657485"/>
          <a:ext cx="3948643" cy="2926224"/>
        </p:xfrm>
        <a:graphic>
          <a:graphicData uri="http://schemas.openxmlformats.org/drawingml/2006/table">
            <a:tbl>
              <a:tblPr>
                <a:tableStyleId>{5C22544A-7EE6-4342-B048-85BDC9FD1C3A}</a:tableStyleId>
              </a:tblPr>
              <a:tblGrid>
                <a:gridCol w="2533889">
                  <a:extLst>
                    <a:ext uri="{9D8B030D-6E8A-4147-A177-3AD203B41FA5}">
                      <a16:colId xmlns:a16="http://schemas.microsoft.com/office/drawing/2014/main" val="20000"/>
                    </a:ext>
                  </a:extLst>
                </a:gridCol>
                <a:gridCol w="1414754">
                  <a:extLst>
                    <a:ext uri="{9D8B030D-6E8A-4147-A177-3AD203B41FA5}">
                      <a16:colId xmlns:a16="http://schemas.microsoft.com/office/drawing/2014/main" val="20001"/>
                    </a:ext>
                  </a:extLst>
                </a:gridCol>
              </a:tblGrid>
              <a:tr h="308024">
                <a:tc>
                  <a:txBody>
                    <a:bodyPr/>
                    <a:lstStyle/>
                    <a:p>
                      <a:pPr algn="l" fontAlgn="b"/>
                      <a:r>
                        <a:rPr lang="en-GB" sz="1400" u="none" strike="noStrike" dirty="0">
                          <a:effectLst/>
                        </a:rPr>
                        <a:t>Cost</a:t>
                      </a:r>
                      <a:endParaRPr lang="en-GB" sz="14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en-GB"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0"/>
                  </a:ext>
                </a:extLst>
              </a:tr>
              <a:tr h="246419">
                <a:tc>
                  <a:txBody>
                    <a:bodyPr/>
                    <a:lstStyle/>
                    <a:p>
                      <a:pPr algn="l" fontAlgn="b"/>
                      <a:r>
                        <a:rPr lang="en-GB" sz="1100" u="none" strike="noStrike" dirty="0">
                          <a:effectLst/>
                        </a:rPr>
                        <a:t>Radiographers</a:t>
                      </a:r>
                      <a:endParaRPr lang="en-GB"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100" u="none" strike="noStrike" dirty="0">
                          <a:effectLst/>
                        </a:rPr>
                        <a:t>9 GBP</a:t>
                      </a:r>
                      <a:endParaRPr lang="en-GB"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1"/>
                  </a:ext>
                </a:extLst>
              </a:tr>
              <a:tr h="246419">
                <a:tc>
                  <a:txBody>
                    <a:bodyPr/>
                    <a:lstStyle/>
                    <a:p>
                      <a:pPr algn="l" fontAlgn="b"/>
                      <a:r>
                        <a:rPr lang="en-GB" sz="1100" u="none" strike="noStrike" dirty="0">
                          <a:effectLst/>
                        </a:rPr>
                        <a:t>Data Collection</a:t>
                      </a:r>
                      <a:endParaRPr lang="en-GB"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100" u="none" strike="noStrike" dirty="0">
                          <a:effectLst/>
                        </a:rPr>
                        <a:t>14GBP</a:t>
                      </a:r>
                      <a:endParaRPr lang="en-GB"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2"/>
                  </a:ext>
                </a:extLst>
              </a:tr>
              <a:tr h="462035">
                <a:tc>
                  <a:txBody>
                    <a:bodyPr/>
                    <a:lstStyle/>
                    <a:p>
                      <a:pPr algn="l" fontAlgn="b"/>
                      <a:r>
                        <a:rPr lang="en-GB" sz="1100" u="none" strike="noStrike" dirty="0">
                          <a:effectLst/>
                        </a:rPr>
                        <a:t>Computational Resources</a:t>
                      </a:r>
                      <a:endParaRPr lang="en-GB"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100" u="none" strike="noStrike" dirty="0">
                          <a:effectLst/>
                        </a:rPr>
                        <a:t>42GBP</a:t>
                      </a:r>
                      <a:endParaRPr lang="en-GB"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3"/>
                  </a:ext>
                </a:extLst>
              </a:tr>
              <a:tr h="246419">
                <a:tc>
                  <a:txBody>
                    <a:bodyPr/>
                    <a:lstStyle/>
                    <a:p>
                      <a:pPr algn="l" fontAlgn="b"/>
                      <a:r>
                        <a:rPr lang="en-GB" sz="1100" u="none" strike="noStrike" dirty="0" err="1">
                          <a:effectLst/>
                        </a:rPr>
                        <a:t>InfraStructure</a:t>
                      </a:r>
                      <a:endParaRPr lang="en-GB" sz="1100" b="0" i="0" u="none" strike="noStrike" dirty="0" err="1">
                        <a:solidFill>
                          <a:srgbClr val="000000"/>
                        </a:solidFill>
                        <a:effectLst/>
                        <a:latin typeface="Calibri" panose="020F0502020204030204" pitchFamily="34" charset="0"/>
                      </a:endParaRPr>
                    </a:p>
                  </a:txBody>
                  <a:tcPr marL="7620" marR="7620" marT="7620" marB="0" anchor="b"/>
                </a:tc>
                <a:tc>
                  <a:txBody>
                    <a:bodyPr/>
                    <a:lstStyle/>
                    <a:p>
                      <a:pPr algn="l" fontAlgn="b"/>
                      <a:r>
                        <a:rPr lang="en-GB" sz="1100" u="none" strike="noStrike" dirty="0">
                          <a:effectLst/>
                        </a:rPr>
                        <a:t>34GBP</a:t>
                      </a:r>
                      <a:endParaRPr lang="en-GB"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4"/>
                  </a:ext>
                </a:extLst>
              </a:tr>
              <a:tr h="462035">
                <a:tc>
                  <a:txBody>
                    <a:bodyPr/>
                    <a:lstStyle/>
                    <a:p>
                      <a:pPr algn="l" fontAlgn="b"/>
                      <a:r>
                        <a:rPr lang="en-GB" sz="1100" u="none" strike="noStrike" dirty="0">
                          <a:effectLst/>
                        </a:rPr>
                        <a:t>Man power</a:t>
                      </a:r>
                      <a:endParaRPr lang="en-GB"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100" u="none" strike="noStrike" dirty="0">
                          <a:effectLst/>
                        </a:rPr>
                        <a:t>1 hour = 1GBP</a:t>
                      </a:r>
                      <a:endParaRPr lang="en-GB"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5"/>
                  </a:ext>
                </a:extLst>
              </a:tr>
              <a:tr h="462035">
                <a:tc>
                  <a:txBody>
                    <a:bodyPr/>
                    <a:lstStyle/>
                    <a:p>
                      <a:pPr algn="l" fontAlgn="b"/>
                      <a:r>
                        <a:rPr lang="en-GB" sz="1100" u="none" strike="noStrike" dirty="0">
                          <a:effectLst/>
                        </a:rPr>
                        <a:t>Total man power per day</a:t>
                      </a:r>
                      <a:endParaRPr lang="en-GB"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100" u="none" strike="noStrike">
                          <a:effectLst/>
                        </a:rPr>
                        <a:t>6 hours = 6GBP</a:t>
                      </a:r>
                      <a:endParaRPr lang="en-GB" sz="1100" b="0" i="0" u="none" strike="noStrike">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6"/>
                  </a:ext>
                </a:extLst>
              </a:tr>
              <a:tr h="246419">
                <a:tc>
                  <a:txBody>
                    <a:bodyPr/>
                    <a:lstStyle/>
                    <a:p>
                      <a:pPr algn="l" fontAlgn="b"/>
                      <a:endParaRPr lang="en-GB" sz="1100" b="0"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endParaRPr lang="en-GB"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7"/>
                  </a:ext>
                </a:extLst>
              </a:tr>
              <a:tr h="246419">
                <a:tc>
                  <a:txBody>
                    <a:bodyPr/>
                    <a:lstStyle/>
                    <a:p>
                      <a:pPr algn="l" fontAlgn="b"/>
                      <a:r>
                        <a:rPr lang="en-GB" sz="1100" u="none" strike="noStrike" dirty="0">
                          <a:effectLst/>
                        </a:rPr>
                        <a:t>Total Cost</a:t>
                      </a:r>
                      <a:endParaRPr lang="en-GB" sz="1100" b="1" i="0" u="none" strike="noStrike" dirty="0">
                        <a:solidFill>
                          <a:srgbClr val="000000"/>
                        </a:solidFill>
                        <a:effectLst/>
                        <a:latin typeface="Calibri" panose="020F0502020204030204" pitchFamily="34" charset="0"/>
                      </a:endParaRPr>
                    </a:p>
                  </a:txBody>
                  <a:tcPr marL="7620" marR="7620" marT="7620" marB="0" anchor="b"/>
                </a:tc>
                <a:tc>
                  <a:txBody>
                    <a:bodyPr/>
                    <a:lstStyle/>
                    <a:p>
                      <a:pPr algn="l" fontAlgn="b"/>
                      <a:r>
                        <a:rPr lang="en-GB" sz="1100" u="none" strike="noStrike" dirty="0">
                          <a:effectLst/>
                        </a:rPr>
                        <a:t>105 GBP</a:t>
                      </a:r>
                      <a:endParaRPr lang="en-GB" sz="1100" b="1"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8"/>
                  </a:ext>
                </a:extLst>
              </a:tr>
            </a:tbl>
          </a:graphicData>
        </a:graphic>
      </p:graphicFrame>
      <p:sp>
        <p:nvSpPr>
          <p:cNvPr id="4" name="Date Placeholder 3"/>
          <p:cNvSpPr>
            <a:spLocks noGrp="1"/>
          </p:cNvSpPr>
          <p:nvPr>
            <p:ph type="dt" sz="half" idx="10"/>
          </p:nvPr>
        </p:nvSpPr>
        <p:spPr/>
        <p:txBody>
          <a:bodyPr/>
          <a:lstStyle/>
          <a:p>
            <a:fld id="{8795AD55-3F61-4350-97D6-D00F00F80D87}" type="datetime1">
              <a:rPr lang="en-US" smtClean="0"/>
              <a:t>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b="0" smtClean="0"/>
              <a:t>24</a:t>
            </a:fld>
            <a:endParaRPr lang="en-US" sz="1200" b="0" dirty="0"/>
          </a:p>
        </p:txBody>
      </p:sp>
      <p:graphicFrame>
        <p:nvGraphicFramePr>
          <p:cNvPr id="8" name="Table 7"/>
          <p:cNvGraphicFramePr>
            <a:graphicFrameLocks noGrp="1"/>
          </p:cNvGraphicFramePr>
          <p:nvPr>
            <p:extLst>
              <p:ext uri="{D42A27DB-BD31-4B8C-83A1-F6EECF244321}">
                <p14:modId xmlns:p14="http://schemas.microsoft.com/office/powerpoint/2010/main" val="1831490182"/>
              </p:ext>
            </p:extLst>
          </p:nvPr>
        </p:nvGraphicFramePr>
        <p:xfrm>
          <a:off x="654050" y="3779376"/>
          <a:ext cx="2157863" cy="1032769"/>
        </p:xfrm>
        <a:graphic>
          <a:graphicData uri="http://schemas.openxmlformats.org/drawingml/2006/table">
            <a:tbl>
              <a:tblPr>
                <a:tableStyleId>{5C22544A-7EE6-4342-B048-85BDC9FD1C3A}</a:tableStyleId>
              </a:tblPr>
              <a:tblGrid>
                <a:gridCol w="2157863">
                  <a:extLst>
                    <a:ext uri="{9D8B030D-6E8A-4147-A177-3AD203B41FA5}">
                      <a16:colId xmlns:a16="http://schemas.microsoft.com/office/drawing/2014/main" val="20000"/>
                    </a:ext>
                  </a:extLst>
                </a:gridCol>
              </a:tblGrid>
              <a:tr h="397219">
                <a:tc>
                  <a:txBody>
                    <a:bodyPr/>
                    <a:lstStyle/>
                    <a:p>
                      <a:pPr algn="l" fontAlgn="b"/>
                      <a:r>
                        <a:rPr lang="en-GB" sz="1400" u="none" strike="noStrike" dirty="0">
                          <a:effectLst/>
                        </a:rPr>
                        <a:t>Benefits</a:t>
                      </a:r>
                      <a:endParaRPr lang="en-GB" sz="14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0"/>
                  </a:ext>
                </a:extLst>
              </a:tr>
              <a:tr h="317775">
                <a:tc>
                  <a:txBody>
                    <a:bodyPr/>
                    <a:lstStyle/>
                    <a:p>
                      <a:pPr algn="l" fontAlgn="b"/>
                      <a:r>
                        <a:rPr lang="en-GB" sz="1100" u="none" strike="noStrike" dirty="0">
                          <a:effectLst/>
                        </a:rPr>
                        <a:t>Time</a:t>
                      </a:r>
                      <a:endParaRPr lang="en-GB"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1"/>
                  </a:ext>
                </a:extLst>
              </a:tr>
              <a:tr h="317775">
                <a:tc>
                  <a:txBody>
                    <a:bodyPr/>
                    <a:lstStyle/>
                    <a:p>
                      <a:pPr algn="l" fontAlgn="b"/>
                      <a:r>
                        <a:rPr lang="en-GB" sz="1100" u="none" strike="noStrike" dirty="0">
                          <a:effectLst/>
                        </a:rPr>
                        <a:t>Deployed Model</a:t>
                      </a:r>
                      <a:endParaRPr lang="en-GB" sz="1100" b="0" i="0" u="none" strike="noStrike" dirty="0">
                        <a:solidFill>
                          <a:srgbClr val="000000"/>
                        </a:solidFill>
                        <a:effectLst/>
                        <a:latin typeface="Calibri" panose="020F0502020204030204" pitchFamily="34" charset="0"/>
                      </a:endParaRPr>
                    </a:p>
                  </a:txBody>
                  <a:tcPr marL="7620" marR="7620" marT="7620" marB="0" anchor="b"/>
                </a:tc>
                <a:extLst>
                  <a:ext uri="{0D108BD9-81ED-4DB2-BD59-A6C34878D82A}">
                    <a16:rowId xmlns:a16="http://schemas.microsoft.com/office/drawing/2014/main" val="10002"/>
                  </a:ext>
                </a:extLst>
              </a:tr>
            </a:tbl>
          </a:graphicData>
        </a:graphic>
      </p:graphicFrame>
      <p:sp>
        <p:nvSpPr>
          <p:cNvPr id="9" name="TextBox 8"/>
          <p:cNvSpPr txBox="1"/>
          <p:nvPr/>
        </p:nvSpPr>
        <p:spPr>
          <a:xfrm>
            <a:off x="5272065" y="775855"/>
            <a:ext cx="3615151" cy="1754326"/>
          </a:xfrm>
          <a:prstGeom prst="rect">
            <a:avLst/>
          </a:prstGeom>
          <a:noFill/>
        </p:spPr>
        <p:txBody>
          <a:bodyPr wrap="square" rtlCol="0">
            <a:spAutoFit/>
          </a:bodyPr>
          <a:lstStyle/>
          <a:p>
            <a:r>
              <a:rPr lang="en-US" dirty="0"/>
              <a:t>Invested amount = 142GBP</a:t>
            </a:r>
          </a:p>
          <a:p>
            <a:r>
              <a:rPr lang="en-US" dirty="0"/>
              <a:t>Cost = 105GBP</a:t>
            </a:r>
          </a:p>
          <a:p>
            <a:endParaRPr lang="en-US" dirty="0"/>
          </a:p>
          <a:p>
            <a:r>
              <a:rPr lang="en-US" dirty="0"/>
              <a:t>Actual profit = 37GBP</a:t>
            </a:r>
          </a:p>
          <a:p>
            <a:endParaRPr lang="en-US" dirty="0"/>
          </a:p>
          <a:p>
            <a:r>
              <a:rPr lang="en-US" dirty="0"/>
              <a:t>1 GBP approximately = 350 </a:t>
            </a:r>
            <a:r>
              <a:rPr lang="en-US" dirty="0" err="1"/>
              <a:t>Lkr</a:t>
            </a:r>
            <a:endParaRPr lang="en-GB" dirty="0"/>
          </a:p>
        </p:txBody>
      </p:sp>
    </p:spTree>
    <p:extLst>
      <p:ext uri="{BB962C8B-B14F-4D97-AF65-F5344CB8AC3E}">
        <p14:creationId xmlns:p14="http://schemas.microsoft.com/office/powerpoint/2010/main" val="31254525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Top level architecture &amp; WBS</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A3D2B1E5-00D0-4962-8AE3-D4742B874BAB}" type="datetime1">
              <a:rPr lang="en-US" smtClean="0">
                <a:solidFill>
                  <a:schemeClr val="bg1"/>
                </a:solidFill>
                <a:latin typeface="Calibri" panose="020F0502020204030204"/>
              </a:rPr>
              <a:t>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25</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3963173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23613" t="29366" r="13941" b="35186"/>
          <a:stretch/>
        </p:blipFill>
        <p:spPr>
          <a:xfrm>
            <a:off x="125260" y="1543611"/>
            <a:ext cx="8924795" cy="3441179"/>
          </a:xfrm>
        </p:spPr>
      </p:pic>
      <p:sp>
        <p:nvSpPr>
          <p:cNvPr id="4" name="Date Placeholder 3"/>
          <p:cNvSpPr>
            <a:spLocks noGrp="1"/>
          </p:cNvSpPr>
          <p:nvPr>
            <p:ph type="dt" sz="half" idx="10"/>
          </p:nvPr>
        </p:nvSpPr>
        <p:spPr/>
        <p:txBody>
          <a:bodyPr/>
          <a:lstStyle/>
          <a:p>
            <a:fld id="{FC999F29-DE97-4A51-84E4-33DD6462CD8B}" type="datetime1">
              <a:rPr lang="en-US" smtClean="0"/>
              <a:t>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b="0" smtClean="0"/>
              <a:t>26</a:t>
            </a:fld>
            <a:endParaRPr lang="en-US" sz="1200" b="0" dirty="0"/>
          </a:p>
        </p:txBody>
      </p:sp>
      <p:sp>
        <p:nvSpPr>
          <p:cNvPr id="3" name="Title 1">
            <a:extLst>
              <a:ext uri="{FF2B5EF4-FFF2-40B4-BE49-F238E27FC236}">
                <a16:creationId xmlns:a16="http://schemas.microsoft.com/office/drawing/2014/main" id="{88F82F8E-F63A-203F-E813-64D9A761AAB3}"/>
              </a:ext>
            </a:extLst>
          </p:cNvPr>
          <p:cNvSpPr>
            <a:spLocks noGrp="1"/>
          </p:cNvSpPr>
          <p:nvPr>
            <p:ph type="title"/>
          </p:nvPr>
        </p:nvSpPr>
        <p:spPr>
          <a:xfrm>
            <a:off x="1316381" y="301310"/>
            <a:ext cx="5989320" cy="868823"/>
          </a:xfrm>
        </p:spPr>
        <p:txBody>
          <a:bodyPr vert="horz" lIns="91440" tIns="45720" rIns="91440" bIns="45720" rtlCol="0" anchor="ctr">
            <a:normAutofit/>
          </a:bodyPr>
          <a:lstStyle/>
          <a:p>
            <a:pPr algn="ctr"/>
            <a:r>
              <a:rPr lang="en-US" sz="3500" dirty="0">
                <a:cs typeface="Arial"/>
              </a:rPr>
              <a:t>Pipeline</a:t>
            </a:r>
          </a:p>
        </p:txBody>
      </p:sp>
    </p:spTree>
    <p:extLst>
      <p:ext uri="{BB962C8B-B14F-4D97-AF65-F5344CB8AC3E}">
        <p14:creationId xmlns:p14="http://schemas.microsoft.com/office/powerpoint/2010/main" val="7804696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rotWithShape="1">
          <a:blip r:embed="rId2" cstate="print">
            <a:extLst>
              <a:ext uri="{28A0092B-C50C-407E-A947-70E740481C1C}">
                <a14:useLocalDpi xmlns:a14="http://schemas.microsoft.com/office/drawing/2010/main" val="0"/>
              </a:ext>
            </a:extLst>
          </a:blip>
          <a:srcRect l="20389" t="32125" r="4987" b="16294"/>
          <a:stretch/>
        </p:blipFill>
        <p:spPr>
          <a:xfrm>
            <a:off x="1" y="1502934"/>
            <a:ext cx="9144000" cy="4673599"/>
          </a:xfrm>
        </p:spPr>
      </p:pic>
      <p:sp>
        <p:nvSpPr>
          <p:cNvPr id="4" name="Date Placeholder 3"/>
          <p:cNvSpPr>
            <a:spLocks noGrp="1"/>
          </p:cNvSpPr>
          <p:nvPr>
            <p:ph type="dt" sz="half" idx="10"/>
          </p:nvPr>
        </p:nvSpPr>
        <p:spPr/>
        <p:txBody>
          <a:bodyPr/>
          <a:lstStyle/>
          <a:p>
            <a:fld id="{8E515C95-104A-4864-820C-730947811D4B}" type="datetime1">
              <a:rPr lang="en-US" smtClean="0"/>
              <a:t>2/3/2025</a:t>
            </a:fld>
            <a:endParaRPr lang="en-US"/>
          </a:p>
        </p:txBody>
      </p:sp>
      <p:sp>
        <p:nvSpPr>
          <p:cNvPr id="5" name="Footer Placeholder 4"/>
          <p:cNvSpPr>
            <a:spLocks noGrp="1"/>
          </p:cNvSpPr>
          <p:nvPr>
            <p:ph type="ftr" sz="quarter" idx="11"/>
          </p:nvPr>
        </p:nvSpPr>
        <p:spPr/>
        <p:txBody>
          <a:bodyPr/>
          <a:lstStyle/>
          <a:p>
            <a:r>
              <a:rPr lang="en-US"/>
              <a:t>CRP</a:t>
            </a:r>
          </a:p>
        </p:txBody>
      </p:sp>
      <p:sp>
        <p:nvSpPr>
          <p:cNvPr id="6" name="Slide Number Placeholder 5"/>
          <p:cNvSpPr>
            <a:spLocks noGrp="1"/>
          </p:cNvSpPr>
          <p:nvPr>
            <p:ph type="sldNum" sz="quarter" idx="12"/>
          </p:nvPr>
        </p:nvSpPr>
        <p:spPr/>
        <p:txBody>
          <a:bodyPr/>
          <a:lstStyle/>
          <a:p>
            <a:fld id="{849F1A12-756A-4552-B54B-B66CFF5610E9}" type="slidenum">
              <a:rPr lang="en-US" sz="1200" smtClean="0"/>
              <a:t>27</a:t>
            </a:fld>
            <a:endParaRPr lang="en-US" sz="1200" dirty="0"/>
          </a:p>
        </p:txBody>
      </p:sp>
      <p:sp>
        <p:nvSpPr>
          <p:cNvPr id="3" name="Title 1">
            <a:extLst>
              <a:ext uri="{FF2B5EF4-FFF2-40B4-BE49-F238E27FC236}">
                <a16:creationId xmlns:a16="http://schemas.microsoft.com/office/drawing/2014/main" id="{B2FEAD27-CAAF-181C-D6A1-A53E5956CEC4}"/>
              </a:ext>
            </a:extLst>
          </p:cNvPr>
          <p:cNvSpPr>
            <a:spLocks noGrp="1"/>
          </p:cNvSpPr>
          <p:nvPr>
            <p:ph type="title"/>
          </p:nvPr>
        </p:nvSpPr>
        <p:spPr>
          <a:xfrm>
            <a:off x="1577340" y="395256"/>
            <a:ext cx="5989320" cy="868823"/>
          </a:xfrm>
        </p:spPr>
        <p:txBody>
          <a:bodyPr vert="horz" lIns="91440" tIns="45720" rIns="91440" bIns="45720" rtlCol="0" anchor="ctr">
            <a:normAutofit/>
          </a:bodyPr>
          <a:lstStyle/>
          <a:p>
            <a:pPr algn="ctr"/>
            <a:r>
              <a:rPr lang="en-US" sz="3500" dirty="0"/>
              <a:t>Work Break Down Structure</a:t>
            </a:r>
          </a:p>
        </p:txBody>
      </p:sp>
    </p:spTree>
    <p:extLst>
      <p:ext uri="{BB962C8B-B14F-4D97-AF65-F5344CB8AC3E}">
        <p14:creationId xmlns:p14="http://schemas.microsoft.com/office/powerpoint/2010/main" val="30064269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4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3" name="p!!Rectangle">
            <a:extLst>
              <a:ext uri="{FF2B5EF4-FFF2-40B4-BE49-F238E27FC236}">
                <a16:creationId xmlns:a16="http://schemas.microsoft.com/office/drawing/2014/main" id="{2FB82883-1DC0-4BE1-A607-009095F335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Close up of book pages">
            <a:extLst>
              <a:ext uri="{FF2B5EF4-FFF2-40B4-BE49-F238E27FC236}">
                <a16:creationId xmlns:a16="http://schemas.microsoft.com/office/drawing/2014/main" id="{273ADCC6-897E-4499-9AC1-C34ED51F898D}"/>
              </a:ext>
            </a:extLst>
          </p:cNvPr>
          <p:cNvPicPr>
            <a:picLocks noChangeAspect="1"/>
          </p:cNvPicPr>
          <p:nvPr/>
        </p:nvPicPr>
        <p:blipFill rotWithShape="1">
          <a:blip r:embed="rId2"/>
          <a:srcRect/>
          <a:stretch/>
        </p:blipFill>
        <p:spPr>
          <a:xfrm>
            <a:off x="20" y="10"/>
            <a:ext cx="9143980" cy="6857990"/>
          </a:xfrm>
          <a:prstGeom prst="rect">
            <a:avLst/>
          </a:prstGeom>
        </p:spPr>
      </p:pic>
      <p:sp>
        <p:nvSpPr>
          <p:cNvPr id="25" name="m!!text rectangle">
            <a:extLst>
              <a:ext uri="{FF2B5EF4-FFF2-40B4-BE49-F238E27FC236}">
                <a16:creationId xmlns:a16="http://schemas.microsoft.com/office/drawing/2014/main" id="{A3473CF9-37EB-43E7-89EF-D2D1C53D1D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27711" y="4638503"/>
            <a:ext cx="6288577" cy="1332634"/>
          </a:xfrm>
          <a:prstGeom prst="rect">
            <a:avLst/>
          </a:prstGeom>
          <a:solidFill>
            <a:schemeClr val="bg1">
              <a:alpha val="95000"/>
            </a:schemeClr>
          </a:solidFill>
          <a:ln w="12700">
            <a:solidFill>
              <a:srgbClr val="EFEFEF"/>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84D784C-09C2-4209-A54C-7272AAABAA90}"/>
              </a:ext>
            </a:extLst>
          </p:cNvPr>
          <p:cNvSpPr>
            <a:spLocks noGrp="1"/>
          </p:cNvSpPr>
          <p:nvPr>
            <p:ph type="title"/>
          </p:nvPr>
        </p:nvSpPr>
        <p:spPr>
          <a:xfrm>
            <a:off x="1577340" y="4727173"/>
            <a:ext cx="5989320" cy="868823"/>
          </a:xfrm>
        </p:spPr>
        <p:txBody>
          <a:bodyPr vert="horz" lIns="91440" tIns="45720" rIns="91440" bIns="45720" rtlCol="0" anchor="ctr">
            <a:normAutofit/>
          </a:bodyPr>
          <a:lstStyle/>
          <a:p>
            <a:pPr algn="ctr"/>
            <a:r>
              <a:rPr lang="en-US" sz="3500" dirty="0"/>
              <a:t>Conclusion</a:t>
            </a:r>
          </a:p>
        </p:txBody>
      </p:sp>
      <p:sp>
        <p:nvSpPr>
          <p:cNvPr id="27" name="m!!accent">
            <a:extLst>
              <a:ext uri="{FF2B5EF4-FFF2-40B4-BE49-F238E27FC236}">
                <a16:creationId xmlns:a16="http://schemas.microsoft.com/office/drawing/2014/main" id="{586B4EF9-43BA-4655-A6FF-1D8E21574C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62332" y="5628237"/>
            <a:ext cx="5419335" cy="685800"/>
          </a:xfrm>
          <a:prstGeom prst="roundRect">
            <a:avLst>
              <a:gd name="adj" fmla="val 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4" name="Date Placeholder 3">
            <a:extLst>
              <a:ext uri="{FF2B5EF4-FFF2-40B4-BE49-F238E27FC236}">
                <a16:creationId xmlns:a16="http://schemas.microsoft.com/office/drawing/2014/main" id="{6D4C7CB0-FBE1-485A-979E-AFFF09854263}"/>
              </a:ext>
            </a:extLst>
          </p:cNvPr>
          <p:cNvSpPr>
            <a:spLocks noGrp="1"/>
          </p:cNvSpPr>
          <p:nvPr>
            <p:ph type="dt" sz="half" idx="10"/>
          </p:nvPr>
        </p:nvSpPr>
        <p:spPr>
          <a:xfrm>
            <a:off x="628650" y="6356350"/>
            <a:ext cx="2057400" cy="365125"/>
          </a:xfrm>
        </p:spPr>
        <p:txBody>
          <a:bodyPr vert="horz" lIns="91440" tIns="45720" rIns="91440" bIns="45720" rtlCol="0" anchor="ctr">
            <a:normAutofit/>
          </a:bodyPr>
          <a:lstStyle/>
          <a:p>
            <a:pPr defTabSz="914400">
              <a:spcAft>
                <a:spcPts val="600"/>
              </a:spcAft>
              <a:defRPr/>
            </a:pPr>
            <a:fld id="{C2B9C45F-2833-45FC-B949-8AAADFC38083}" type="datetime1">
              <a:rPr lang="en-US" smtClean="0">
                <a:solidFill>
                  <a:schemeClr val="bg1"/>
                </a:solidFill>
                <a:latin typeface="Calibri" panose="020F0502020204030204"/>
              </a:rPr>
              <a:t>2/3/2025</a:t>
            </a:fld>
            <a:endParaRPr lang="en-US">
              <a:solidFill>
                <a:schemeClr val="bg1"/>
              </a:solidFill>
              <a:latin typeface="Calibri" panose="020F0502020204030204"/>
            </a:endParaRPr>
          </a:p>
        </p:txBody>
      </p:sp>
      <p:sp>
        <p:nvSpPr>
          <p:cNvPr id="5" name="Slide Number Placeholder 4">
            <a:extLst>
              <a:ext uri="{FF2B5EF4-FFF2-40B4-BE49-F238E27FC236}">
                <a16:creationId xmlns:a16="http://schemas.microsoft.com/office/drawing/2014/main" id="{4892CD39-0D00-43C5-8A2D-E2EDFA3A7F9B}"/>
              </a:ext>
            </a:extLst>
          </p:cNvPr>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200" b="0">
                <a:solidFill>
                  <a:schemeClr val="bg1"/>
                </a:solidFill>
                <a:latin typeface="Calibri" panose="020F0502020204030204"/>
              </a:rPr>
              <a:pPr defTabSz="914400">
                <a:spcAft>
                  <a:spcPts val="600"/>
                </a:spcAft>
                <a:defRPr/>
              </a:pPr>
              <a:t>28</a:t>
            </a:fld>
            <a:endParaRPr lang="en-US" sz="1200" b="0">
              <a:solidFill>
                <a:schemeClr val="bg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3140043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6" name="Rectangle 25">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1714"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3" y="1914812"/>
            <a:ext cx="6858000" cy="3028377"/>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14" y="1924949"/>
            <a:ext cx="6857999" cy="302837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263195" y="4092815"/>
            <a:ext cx="2501979" cy="302838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Freeform: Shape 33">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376302" y="969718"/>
            <a:ext cx="292526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6" name="Rectangle 35">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914820" y="1904672"/>
            <a:ext cx="6858003" cy="3028376"/>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4380F5-514D-4989-966A-49BC47C96416}"/>
              </a:ext>
            </a:extLst>
          </p:cNvPr>
          <p:cNvSpPr>
            <a:spLocks noGrp="1"/>
          </p:cNvSpPr>
          <p:nvPr>
            <p:ph type="title"/>
          </p:nvPr>
        </p:nvSpPr>
        <p:spPr>
          <a:xfrm>
            <a:off x="350041" y="3325091"/>
            <a:ext cx="2401025" cy="649261"/>
          </a:xfrm>
        </p:spPr>
        <p:txBody>
          <a:bodyPr anchor="b">
            <a:normAutofit/>
          </a:bodyPr>
          <a:lstStyle/>
          <a:p>
            <a:pPr algn="ctr"/>
            <a:r>
              <a:rPr lang="en-US" sz="2400" dirty="0">
                <a:solidFill>
                  <a:srgbClr val="FFFFFF"/>
                </a:solidFill>
                <a:latin typeface="Times New Roman" panose="02020603050405020304" pitchFamily="18" charset="0"/>
                <a:ea typeface="Arial Unicode MS" pitchFamily="34" charset="-128"/>
                <a:cs typeface="Times New Roman" panose="02020603050405020304" pitchFamily="18" charset="0"/>
              </a:rPr>
              <a:t>Conclusion</a:t>
            </a:r>
            <a:endParaRPr lang="en-US" sz="2400" dirty="0">
              <a:solidFill>
                <a:srgbClr val="FFFFFF"/>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CB860C7-93AD-4311-8CD4-4580644B47DD}"/>
              </a:ext>
            </a:extLst>
          </p:cNvPr>
          <p:cNvSpPr>
            <a:spLocks noGrp="1"/>
          </p:cNvSpPr>
          <p:nvPr>
            <p:ph idx="1"/>
          </p:nvPr>
        </p:nvSpPr>
        <p:spPr>
          <a:xfrm>
            <a:off x="3607694" y="251791"/>
            <a:ext cx="4916510" cy="6281531"/>
          </a:xfrm>
        </p:spPr>
        <p:txBody>
          <a:bodyPr anchor="ctr">
            <a:normAutofit/>
          </a:bodyPr>
          <a:lstStyle/>
          <a:p>
            <a:pPr>
              <a:lnSpc>
                <a:spcPct val="150000"/>
              </a:lnSpc>
              <a:spcBef>
                <a:spcPts val="0"/>
              </a:spcBef>
              <a:spcAft>
                <a:spcPts val="1000"/>
              </a:spcAft>
            </a:pPr>
            <a:r>
              <a:rPr lang="en-US" sz="1800" dirty="0">
                <a:effectLst/>
                <a:ea typeface="Calibri" panose="020F0502020204030204" pitchFamily="34" charset="0"/>
                <a:cs typeface="Times New Roman" panose="02020603050405020304" pitchFamily="18" charset="0"/>
              </a:rPr>
              <a:t>My research examines the effectiveness of CNN model by comparing its performance with the performance of traditional methods which are used to detect covid-19. By bridging existing literature gaps through a robust methodology, this study aims to improve my research by taking multi-class and enough amount of images around 12000. Despite its limitations, this research findings promise to significantly fulfill all the objectives &amp; ultimately, I’ll be recommending some recommendations on how this research can be enriched in future.  </a:t>
            </a:r>
          </a:p>
        </p:txBody>
      </p:sp>
      <p:sp>
        <p:nvSpPr>
          <p:cNvPr id="4" name="Date Placeholder 3">
            <a:extLst>
              <a:ext uri="{FF2B5EF4-FFF2-40B4-BE49-F238E27FC236}">
                <a16:creationId xmlns:a16="http://schemas.microsoft.com/office/drawing/2014/main" id="{CBBD532E-64D0-4EDF-8CB2-01936B63643A}"/>
              </a:ext>
            </a:extLst>
          </p:cNvPr>
          <p:cNvSpPr>
            <a:spLocks noGrp="1"/>
          </p:cNvSpPr>
          <p:nvPr>
            <p:ph type="dt" sz="half" idx="10"/>
          </p:nvPr>
        </p:nvSpPr>
        <p:spPr/>
        <p:txBody>
          <a:bodyPr/>
          <a:lstStyle/>
          <a:p>
            <a:fld id="{97C76220-D33C-4A51-B4B0-B842E51B8747}" type="datetime1">
              <a:rPr lang="en-US" smtClean="0"/>
              <a:t>2/3/2025</a:t>
            </a:fld>
            <a:endParaRPr lang="en-US"/>
          </a:p>
        </p:txBody>
      </p:sp>
      <p:sp>
        <p:nvSpPr>
          <p:cNvPr id="5" name="Slide Number Placeholder 4">
            <a:extLst>
              <a:ext uri="{FF2B5EF4-FFF2-40B4-BE49-F238E27FC236}">
                <a16:creationId xmlns:a16="http://schemas.microsoft.com/office/drawing/2014/main" id="{BE493AC1-341C-416D-9B4C-0E2ADB9F70BC}"/>
              </a:ext>
            </a:extLst>
          </p:cNvPr>
          <p:cNvSpPr>
            <a:spLocks noGrp="1"/>
          </p:cNvSpPr>
          <p:nvPr>
            <p:ph type="sldNum" sz="quarter" idx="12"/>
          </p:nvPr>
        </p:nvSpPr>
        <p:spPr/>
        <p:txBody>
          <a:bodyPr/>
          <a:lstStyle/>
          <a:p>
            <a:fld id="{849F1A12-756A-4552-B54B-B66CFF5610E9}" type="slidenum">
              <a:rPr lang="en-US" sz="1200" b="0" smtClean="0"/>
              <a:t>29</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21518568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person clasping its hands">
            <a:extLst>
              <a:ext uri="{FF2B5EF4-FFF2-40B4-BE49-F238E27FC236}">
                <a16:creationId xmlns:a16="http://schemas.microsoft.com/office/drawing/2014/main" id="{861628E7-3B8C-3B01-F94F-68F30E80F399}"/>
              </a:ext>
            </a:extLst>
          </p:cNvPr>
          <p:cNvPicPr>
            <a:picLocks noChangeAspect="1"/>
          </p:cNvPicPr>
          <p:nvPr/>
        </p:nvPicPr>
        <p:blipFill rotWithShape="1">
          <a:blip r:embed="rId2"/>
          <a:srcRect l="11284" r="25674"/>
          <a:stretch/>
        </p:blipFill>
        <p:spPr>
          <a:xfrm>
            <a:off x="2642616" y="10"/>
            <a:ext cx="6501384" cy="6857990"/>
          </a:xfrm>
          <a:prstGeom prst="rect">
            <a:avLst/>
          </a:prstGeom>
        </p:spPr>
      </p:pic>
      <p:sp>
        <p:nvSpPr>
          <p:cNvPr id="13" name="Rectangle 12">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7004404" cy="6858000"/>
          </a:xfrm>
          <a:prstGeom prst="rect">
            <a:avLst/>
          </a:prstGeom>
          <a:gradFill>
            <a:gsLst>
              <a:gs pos="58000">
                <a:schemeClr val="bg1"/>
              </a:gs>
              <a:gs pos="33000">
                <a:schemeClr val="bg1">
                  <a:alpha val="64000"/>
                </a:schemeClr>
              </a:gs>
              <a:gs pos="0">
                <a:schemeClr val="bg1">
                  <a:alpha val="0"/>
                </a:schemeClr>
              </a:gs>
              <a:gs pos="100000">
                <a:schemeClr val="bg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2B08967-137E-4BDC-A653-45102AAC5097}"/>
              </a:ext>
            </a:extLst>
          </p:cNvPr>
          <p:cNvSpPr>
            <a:spLocks noGrp="1"/>
          </p:cNvSpPr>
          <p:nvPr>
            <p:ph type="title"/>
          </p:nvPr>
        </p:nvSpPr>
        <p:spPr>
          <a:xfrm>
            <a:off x="358485" y="1122363"/>
            <a:ext cx="3017520" cy="365125"/>
          </a:xfrm>
        </p:spPr>
        <p:txBody>
          <a:bodyPr vert="horz" lIns="91440" tIns="45720" rIns="91440" bIns="45720" rtlCol="0" anchor="b">
            <a:normAutofit fontScale="90000"/>
          </a:bodyPr>
          <a:lstStyle/>
          <a:p>
            <a:r>
              <a:rPr lang="en-US" sz="2600" dirty="0"/>
              <a:t>Acknowledgement</a:t>
            </a:r>
          </a:p>
        </p:txBody>
      </p:sp>
      <p:sp>
        <p:nvSpPr>
          <p:cNvPr id="15" name="Rectangle 14">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1653" y="434802"/>
            <a:ext cx="146304" cy="5280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7" name="Rectangle 16">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0771" y="4546920"/>
            <a:ext cx="298323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Date Placeholder 3">
            <a:extLst>
              <a:ext uri="{FF2B5EF4-FFF2-40B4-BE49-F238E27FC236}">
                <a16:creationId xmlns:a16="http://schemas.microsoft.com/office/drawing/2014/main" id="{3F585B6E-237C-472F-AEF2-3886503BBD71}"/>
              </a:ext>
            </a:extLst>
          </p:cNvPr>
          <p:cNvSpPr>
            <a:spLocks noGrp="1"/>
          </p:cNvSpPr>
          <p:nvPr>
            <p:ph type="dt" sz="half" idx="10"/>
          </p:nvPr>
        </p:nvSpPr>
        <p:spPr>
          <a:xfrm>
            <a:off x="358485" y="6356350"/>
            <a:ext cx="910755" cy="365125"/>
          </a:xfrm>
        </p:spPr>
        <p:txBody>
          <a:bodyPr vert="horz" lIns="91440" tIns="45720" rIns="91440" bIns="45720" rtlCol="0" anchor="ctr">
            <a:normAutofit/>
          </a:bodyPr>
          <a:lstStyle/>
          <a:p>
            <a:pPr defTabSz="914400">
              <a:spcAft>
                <a:spcPts val="600"/>
              </a:spcAft>
              <a:defRPr/>
            </a:pPr>
            <a:fld id="{45D2139B-174A-4466-B2C1-0B36F36C4A0E}" type="datetime1">
              <a:rPr lang="en-US" sz="1000" smtClean="0">
                <a:solidFill>
                  <a:schemeClr val="tx1"/>
                </a:solidFill>
                <a:latin typeface="Calibri" panose="020F0502020204030204"/>
              </a:rPr>
              <a:t>2/3/2025</a:t>
            </a:fld>
            <a:endParaRPr lang="en-US" sz="1000">
              <a:solidFill>
                <a:schemeClr val="tx1"/>
              </a:solidFill>
              <a:latin typeface="Calibri" panose="020F0502020204030204"/>
            </a:endParaRPr>
          </a:p>
        </p:txBody>
      </p:sp>
      <p:sp>
        <p:nvSpPr>
          <p:cNvPr id="5" name="Slide Number Placeholder 4">
            <a:extLst>
              <a:ext uri="{FF2B5EF4-FFF2-40B4-BE49-F238E27FC236}">
                <a16:creationId xmlns:a16="http://schemas.microsoft.com/office/drawing/2014/main" id="{A0A75DD1-A5D9-44D9-85F9-FE850FF98A6E}"/>
              </a:ext>
            </a:extLst>
          </p:cNvPr>
          <p:cNvSpPr>
            <a:spLocks noGrp="1"/>
          </p:cNvSpPr>
          <p:nvPr>
            <p:ph type="sldNum" sz="quarter" idx="12"/>
          </p:nvPr>
        </p:nvSpPr>
        <p:spPr>
          <a:xfrm>
            <a:off x="6728114" y="6356350"/>
            <a:ext cx="2057400" cy="365125"/>
          </a:xfrm>
        </p:spPr>
        <p:txBody>
          <a:bodyPr vert="horz" lIns="91440" tIns="45720" rIns="91440" bIns="45720" rtlCol="0" anchor="ctr">
            <a:normAutofit/>
          </a:bodyPr>
          <a:lstStyle/>
          <a:p>
            <a:pPr defTabSz="914400">
              <a:spcAft>
                <a:spcPts val="600"/>
              </a:spcAft>
              <a:defRPr/>
            </a:pPr>
            <a:fld id="{849F1A12-756A-4552-B54B-B66CFF5610E9}" type="slidenum">
              <a:rPr lang="en-US" sz="1000" b="0">
                <a:solidFill>
                  <a:schemeClr val="tx1"/>
                </a:solidFill>
                <a:latin typeface="Calibri" panose="020F0502020204030204"/>
              </a:rPr>
              <a:pPr defTabSz="914400">
                <a:spcAft>
                  <a:spcPts val="600"/>
                </a:spcAft>
                <a:defRPr/>
              </a:pPr>
              <a:t>30</a:t>
            </a:fld>
            <a:endParaRPr lang="en-US" sz="1000" b="0">
              <a:solidFill>
                <a:schemeClr val="tx1"/>
              </a:solidFill>
              <a:latin typeface="Calibri" panose="020F0502020204030204"/>
            </a:endParaRPr>
          </a:p>
        </p:txBody>
      </p:sp>
      <p:sp>
        <p:nvSpPr>
          <p:cNvPr id="3" name="Footer Placeholder 2"/>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741349727"/>
      </p:ext>
    </p:extLst>
  </p:cSld>
  <p:clrMapOvr>
    <a:overrideClrMapping bg1="dk1" tx1="lt1" bg2="dk2" tx2="lt2" accent1="accent1" accent2="accent2" accent3="accent3" accent4="accent4" accent5="accent5" accent6="accent6" hlink="hlink" folHlink="folHlink"/>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Many question marks on black background">
            <a:extLst>
              <a:ext uri="{FF2B5EF4-FFF2-40B4-BE49-F238E27FC236}">
                <a16:creationId xmlns:a16="http://schemas.microsoft.com/office/drawing/2014/main" id="{2C9F8FC4-8CB2-4A41-B09F-A22ED23624FC}"/>
              </a:ext>
            </a:extLst>
          </p:cNvPr>
          <p:cNvPicPr>
            <a:picLocks noChangeAspect="1"/>
          </p:cNvPicPr>
          <p:nvPr/>
        </p:nvPicPr>
        <p:blipFill rotWithShape="1">
          <a:blip r:embed="rId2">
            <a:alphaModFix amt="35000"/>
          </a:blip>
          <a:srcRect l="18667" r="2" b="2"/>
          <a:stretch/>
        </p:blipFill>
        <p:spPr>
          <a:xfrm>
            <a:off x="20" y="1"/>
            <a:ext cx="9143980" cy="6857999"/>
          </a:xfrm>
          <a:prstGeom prst="rect">
            <a:avLst/>
          </a:prstGeom>
        </p:spPr>
      </p:pic>
      <p:sp>
        <p:nvSpPr>
          <p:cNvPr id="2" name="Title 1">
            <a:extLst>
              <a:ext uri="{FF2B5EF4-FFF2-40B4-BE49-F238E27FC236}">
                <a16:creationId xmlns:a16="http://schemas.microsoft.com/office/drawing/2014/main" id="{46B936FA-1517-4206-A0B0-EBAA469B5390}"/>
              </a:ext>
            </a:extLst>
          </p:cNvPr>
          <p:cNvSpPr>
            <a:spLocks noGrp="1"/>
          </p:cNvSpPr>
          <p:nvPr>
            <p:ph type="title"/>
          </p:nvPr>
        </p:nvSpPr>
        <p:spPr>
          <a:xfrm>
            <a:off x="628650" y="1065862"/>
            <a:ext cx="2484873" cy="4726276"/>
          </a:xfrm>
        </p:spPr>
        <p:txBody>
          <a:bodyPr>
            <a:normAutofit/>
          </a:bodyPr>
          <a:lstStyle/>
          <a:p>
            <a:pPr marL="0" indent="0" algn="r"/>
            <a:r>
              <a:rPr lang="en-US" sz="3500" dirty="0">
                <a:solidFill>
                  <a:srgbClr val="FFFFFF"/>
                </a:solidFill>
                <a:latin typeface="Times New Roman" panose="02020603050405020304" pitchFamily="18" charset="0"/>
                <a:cs typeface="Times New Roman" panose="02020603050405020304" pitchFamily="18" charset="0"/>
              </a:rPr>
              <a:t>Questions?</a:t>
            </a:r>
          </a:p>
        </p:txBody>
      </p:sp>
      <p:cxnSp>
        <p:nvCxnSpPr>
          <p:cNvPr id="18" name="Straight Connector 17">
            <a:extLst>
              <a:ext uri="{FF2B5EF4-FFF2-40B4-BE49-F238E27FC236}">
                <a16:creationId xmlns:a16="http://schemas.microsoft.com/office/drawing/2014/main" id="{67182200-4859-4C8D-BCBB-55B245C28B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349002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EDE59F10-0427-4537-8D1B-C89132D430B0}"/>
              </a:ext>
            </a:extLst>
          </p:cNvPr>
          <p:cNvSpPr>
            <a:spLocks noGrp="1"/>
          </p:cNvSpPr>
          <p:nvPr>
            <p:ph idx="1"/>
          </p:nvPr>
        </p:nvSpPr>
        <p:spPr>
          <a:xfrm>
            <a:off x="3866534" y="1065862"/>
            <a:ext cx="4308514" cy="4726276"/>
          </a:xfrm>
        </p:spPr>
        <p:txBody>
          <a:bodyPr anchor="ctr">
            <a:normAutofit/>
          </a:bodyPr>
          <a:lstStyle/>
          <a:p>
            <a:endParaRPr lang="en-US" sz="1700" dirty="0">
              <a:solidFill>
                <a:srgbClr val="FFFFFF"/>
              </a:solidFill>
            </a:endParaRPr>
          </a:p>
          <a:p>
            <a:endParaRPr lang="en-US" sz="1700" dirty="0">
              <a:solidFill>
                <a:srgbClr val="FFFFFF"/>
              </a:solidFill>
            </a:endParaRPr>
          </a:p>
        </p:txBody>
      </p:sp>
      <p:sp>
        <p:nvSpPr>
          <p:cNvPr id="4" name="Date Placeholder 3">
            <a:extLst>
              <a:ext uri="{FF2B5EF4-FFF2-40B4-BE49-F238E27FC236}">
                <a16:creationId xmlns:a16="http://schemas.microsoft.com/office/drawing/2014/main" id="{C7264A07-AA3B-4595-A6BD-F53DADC97DB4}"/>
              </a:ext>
            </a:extLst>
          </p:cNvPr>
          <p:cNvSpPr>
            <a:spLocks noGrp="1"/>
          </p:cNvSpPr>
          <p:nvPr>
            <p:ph type="dt" sz="half" idx="10"/>
          </p:nvPr>
        </p:nvSpPr>
        <p:spPr/>
        <p:txBody>
          <a:bodyPr/>
          <a:lstStyle/>
          <a:p>
            <a:fld id="{8EACAE47-FB93-4F33-8549-CD23BFEE2DE3}" type="datetime1">
              <a:rPr lang="en-US" smtClean="0"/>
              <a:t>2/3/2025</a:t>
            </a:fld>
            <a:endParaRPr lang="en-US"/>
          </a:p>
        </p:txBody>
      </p:sp>
      <p:sp>
        <p:nvSpPr>
          <p:cNvPr id="6" name="Slide Number Placeholder 5">
            <a:extLst>
              <a:ext uri="{FF2B5EF4-FFF2-40B4-BE49-F238E27FC236}">
                <a16:creationId xmlns:a16="http://schemas.microsoft.com/office/drawing/2014/main" id="{EA830C90-44F3-4F71-A20A-09B5E058D39C}"/>
              </a:ext>
            </a:extLst>
          </p:cNvPr>
          <p:cNvSpPr>
            <a:spLocks noGrp="1"/>
          </p:cNvSpPr>
          <p:nvPr>
            <p:ph type="sldNum" sz="quarter" idx="12"/>
          </p:nvPr>
        </p:nvSpPr>
        <p:spPr/>
        <p:txBody>
          <a:bodyPr/>
          <a:lstStyle/>
          <a:p>
            <a:fld id="{849F1A12-756A-4552-B54B-B66CFF5610E9}" type="slidenum">
              <a:rPr lang="en-US" sz="1200" b="0" smtClean="0">
                <a:solidFill>
                  <a:schemeClr val="tx1"/>
                </a:solidFill>
              </a:rPr>
              <a:t>31</a:t>
            </a:fld>
            <a:endParaRPr lang="en-US" sz="1200" b="0" dirty="0">
              <a:solidFill>
                <a:schemeClr val="tx1"/>
              </a:solidFill>
            </a:endParaRPr>
          </a:p>
        </p:txBody>
      </p:sp>
      <p:sp>
        <p:nvSpPr>
          <p:cNvPr id="7" name="Footer Placeholder 6"/>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1151785945"/>
      </p:ext>
    </p:extLst>
  </p:cSld>
  <p:clrMapOvr>
    <a:overrideClrMapping bg1="dk1" tx1="lt1" bg2="dk2" tx2="lt2" accent1="accent1" accent2="accent2" accent3="accent3" accent4="accent4" accent5="accent5" accent6="accent6" hlink="hlink" folHlink="folHlink"/>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1" name="Picture 4" descr="Magnifying glass on clear background">
            <a:extLst>
              <a:ext uri="{FF2B5EF4-FFF2-40B4-BE49-F238E27FC236}">
                <a16:creationId xmlns:a16="http://schemas.microsoft.com/office/drawing/2014/main" id="{E071316C-B123-4A02-9282-E7FB9E2CA428}"/>
              </a:ext>
            </a:extLst>
          </p:cNvPr>
          <p:cNvPicPr>
            <a:picLocks noChangeAspect="1"/>
          </p:cNvPicPr>
          <p:nvPr/>
        </p:nvPicPr>
        <p:blipFill rotWithShape="1">
          <a:blip r:embed="rId3"/>
          <a:srcRect l="33141" r="7915" b="-1"/>
          <a:stretch/>
        </p:blipFill>
        <p:spPr>
          <a:xfrm>
            <a:off x="3088140" y="10"/>
            <a:ext cx="6055860" cy="6857990"/>
          </a:xfrm>
          <a:prstGeom prst="rect">
            <a:avLst/>
          </a:prstGeom>
        </p:spPr>
      </p:pic>
      <p:sp>
        <p:nvSpPr>
          <p:cNvPr id="16" name="Freeform: Shape 15">
            <a:extLst>
              <a:ext uri="{FF2B5EF4-FFF2-40B4-BE49-F238E27FC236}">
                <a16:creationId xmlns:a16="http://schemas.microsoft.com/office/drawing/2014/main" id="{8F23F8A3-8FD7-4779-8323-FDC26BE998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5894850" cy="6858478"/>
          </a:xfrm>
          <a:custGeom>
            <a:avLst/>
            <a:gdLst>
              <a:gd name="connsiteX0" fmla="*/ 7859800 w 7859800"/>
              <a:gd name="connsiteY0" fmla="*/ 6858478 h 6858478"/>
              <a:gd name="connsiteX1" fmla="*/ 435245 w 7859800"/>
              <a:gd name="connsiteY1" fmla="*/ 6858478 h 6858478"/>
              <a:gd name="connsiteX2" fmla="*/ 435505 w 7859800"/>
              <a:gd name="connsiteY2" fmla="*/ 6857916 h 6858478"/>
              <a:gd name="connsiteX3" fmla="*/ 0 w 7859800"/>
              <a:gd name="connsiteY3" fmla="*/ 6857916 h 6858478"/>
              <a:gd name="connsiteX4" fmla="*/ 0 w 7859800"/>
              <a:gd name="connsiteY4" fmla="*/ 0 h 6858478"/>
              <a:gd name="connsiteX5" fmla="*/ 3611620 w 7859800"/>
              <a:gd name="connsiteY5" fmla="*/ 0 h 6858478"/>
              <a:gd name="connsiteX6" fmla="*/ 4677848 w 7859800"/>
              <a:gd name="connsiteY6" fmla="*/ 0 h 6858478"/>
              <a:gd name="connsiteX7" fmla="*/ 4683425 w 7859800"/>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9800" h="6858478">
                <a:moveTo>
                  <a:pt x="7859800" y="6858478"/>
                </a:moveTo>
                <a:lnTo>
                  <a:pt x="435245" y="6858478"/>
                </a:lnTo>
                <a:lnTo>
                  <a:pt x="435505" y="6857916"/>
                </a:lnTo>
                <a:lnTo>
                  <a:pt x="0" y="6857916"/>
                </a:lnTo>
                <a:lnTo>
                  <a:pt x="0" y="0"/>
                </a:lnTo>
                <a:lnTo>
                  <a:pt x="3611620" y="0"/>
                </a:lnTo>
                <a:lnTo>
                  <a:pt x="4677848" y="0"/>
                </a:lnTo>
                <a:lnTo>
                  <a:pt x="4683425" y="0"/>
                </a:lnTo>
                <a:close/>
              </a:path>
            </a:pathLst>
          </a:custGeom>
          <a:solidFill>
            <a:schemeClr val="bg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8" name="Freeform: Shape 17">
            <a:extLst>
              <a:ext uri="{FF2B5EF4-FFF2-40B4-BE49-F238E27FC236}">
                <a16:creationId xmlns:a16="http://schemas.microsoft.com/office/drawing/2014/main" id="{F605C4CC-A25C-416F-8333-7CB7DC97D8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0" y="-478"/>
            <a:ext cx="5573380" cy="6858478"/>
          </a:xfrm>
          <a:custGeom>
            <a:avLst/>
            <a:gdLst>
              <a:gd name="connsiteX0" fmla="*/ 7431174 w 7431174"/>
              <a:gd name="connsiteY0" fmla="*/ 6858478 h 6858478"/>
              <a:gd name="connsiteX1" fmla="*/ 6619 w 7431174"/>
              <a:gd name="connsiteY1" fmla="*/ 6858478 h 6858478"/>
              <a:gd name="connsiteX2" fmla="*/ 6879 w 7431174"/>
              <a:gd name="connsiteY2" fmla="*/ 6857916 h 6858478"/>
              <a:gd name="connsiteX3" fmla="*/ 0 w 7431174"/>
              <a:gd name="connsiteY3" fmla="*/ 6857916 h 6858478"/>
              <a:gd name="connsiteX4" fmla="*/ 0 w 7431174"/>
              <a:gd name="connsiteY4" fmla="*/ 0 h 6858478"/>
              <a:gd name="connsiteX5" fmla="*/ 3182994 w 7431174"/>
              <a:gd name="connsiteY5" fmla="*/ 0 h 6858478"/>
              <a:gd name="connsiteX6" fmla="*/ 4249222 w 7431174"/>
              <a:gd name="connsiteY6" fmla="*/ 0 h 6858478"/>
              <a:gd name="connsiteX7" fmla="*/ 4254799 w 7431174"/>
              <a:gd name="connsiteY7" fmla="*/ 0 h 6858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431174" h="6858478">
                <a:moveTo>
                  <a:pt x="7431174" y="6858478"/>
                </a:moveTo>
                <a:lnTo>
                  <a:pt x="6619" y="6858478"/>
                </a:lnTo>
                <a:lnTo>
                  <a:pt x="6879" y="6857916"/>
                </a:lnTo>
                <a:lnTo>
                  <a:pt x="0" y="6857916"/>
                </a:lnTo>
                <a:lnTo>
                  <a:pt x="0" y="0"/>
                </a:lnTo>
                <a:lnTo>
                  <a:pt x="3182994" y="0"/>
                </a:lnTo>
                <a:lnTo>
                  <a:pt x="4249222" y="0"/>
                </a:lnTo>
                <a:lnTo>
                  <a:pt x="4254799" y="0"/>
                </a:lnTo>
                <a:close/>
              </a:path>
            </a:pathLst>
          </a:cu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59626D1-BFC5-4EA5-B70E-9C9E0C98EEDC}"/>
              </a:ext>
            </a:extLst>
          </p:cNvPr>
          <p:cNvSpPr>
            <a:spLocks noGrp="1"/>
          </p:cNvSpPr>
          <p:nvPr>
            <p:ph type="title"/>
          </p:nvPr>
        </p:nvSpPr>
        <p:spPr>
          <a:xfrm>
            <a:off x="5194384" y="5202168"/>
            <a:ext cx="3949616" cy="1325563"/>
          </a:xfrm>
        </p:spPr>
        <p:txBody>
          <a:bodyPr>
            <a:normAutofit/>
          </a:bodyPr>
          <a:lstStyle/>
          <a:p>
            <a:r>
              <a:rPr lang="en-US" b="1" dirty="0">
                <a:solidFill>
                  <a:srgbClr val="002060"/>
                </a:solidFill>
                <a:latin typeface="Times New Roman" panose="02020603050405020304" pitchFamily="18" charset="0"/>
                <a:cs typeface="Times New Roman" panose="02020603050405020304" pitchFamily="18" charset="0"/>
              </a:rPr>
              <a:t>Thank you</a:t>
            </a:r>
          </a:p>
        </p:txBody>
      </p:sp>
      <p:sp>
        <p:nvSpPr>
          <p:cNvPr id="4" name="Date Placeholder 3">
            <a:extLst>
              <a:ext uri="{FF2B5EF4-FFF2-40B4-BE49-F238E27FC236}">
                <a16:creationId xmlns:a16="http://schemas.microsoft.com/office/drawing/2014/main" id="{FFC13A2C-FE17-4642-BB3F-947CFA939596}"/>
              </a:ext>
            </a:extLst>
          </p:cNvPr>
          <p:cNvSpPr>
            <a:spLocks noGrp="1"/>
          </p:cNvSpPr>
          <p:nvPr>
            <p:ph type="dt" sz="half" idx="10"/>
          </p:nvPr>
        </p:nvSpPr>
        <p:spPr/>
        <p:txBody>
          <a:bodyPr/>
          <a:lstStyle/>
          <a:p>
            <a:fld id="{C18C2D31-4985-40DF-B82B-0311FCC2D062}" type="datetime1">
              <a:rPr lang="en-US" smtClean="0"/>
              <a:t>2/3/2025</a:t>
            </a:fld>
            <a:endParaRPr lang="en-US"/>
          </a:p>
        </p:txBody>
      </p:sp>
      <p:sp>
        <p:nvSpPr>
          <p:cNvPr id="5" name="Slide Number Placeholder 4">
            <a:extLst>
              <a:ext uri="{FF2B5EF4-FFF2-40B4-BE49-F238E27FC236}">
                <a16:creationId xmlns:a16="http://schemas.microsoft.com/office/drawing/2014/main" id="{E3768CAC-9BEA-471C-86F7-102292D727B5}"/>
              </a:ext>
            </a:extLst>
          </p:cNvPr>
          <p:cNvSpPr>
            <a:spLocks noGrp="1"/>
          </p:cNvSpPr>
          <p:nvPr>
            <p:ph type="sldNum" sz="quarter" idx="12"/>
          </p:nvPr>
        </p:nvSpPr>
        <p:spPr/>
        <p:txBody>
          <a:bodyPr/>
          <a:lstStyle/>
          <a:p>
            <a:fld id="{849F1A12-756A-4552-B54B-B66CFF5610E9}" type="slidenum">
              <a:rPr lang="en-US" sz="1200" b="0" smtClean="0"/>
              <a:t>32</a:t>
            </a:fld>
            <a:endParaRPr lang="en-US" sz="1200" b="0" dirty="0"/>
          </a:p>
        </p:txBody>
      </p:sp>
      <p:sp>
        <p:nvSpPr>
          <p:cNvPr id="6" name="Footer Placeholder 5"/>
          <p:cNvSpPr>
            <a:spLocks noGrp="1"/>
          </p:cNvSpPr>
          <p:nvPr>
            <p:ph type="ftr" sz="quarter" idx="11"/>
          </p:nvPr>
        </p:nvSpPr>
        <p:spPr/>
        <p:txBody>
          <a:bodyPr/>
          <a:lstStyle/>
          <a:p>
            <a:r>
              <a:rPr lang="en-US"/>
              <a:t>CRP</a:t>
            </a:r>
          </a:p>
        </p:txBody>
      </p:sp>
    </p:spTree>
    <p:extLst>
      <p:ext uri="{BB962C8B-B14F-4D97-AF65-F5344CB8AC3E}">
        <p14:creationId xmlns:p14="http://schemas.microsoft.com/office/powerpoint/2010/main" val="822589109"/>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6094</TotalTime>
  <Words>746</Words>
  <Application>Microsoft Office PowerPoint</Application>
  <PresentationFormat>On-screen Show (4:3)</PresentationFormat>
  <Paragraphs>189</Paragraphs>
  <Slides>32</Slides>
  <Notes>5</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Office Theme</vt:lpstr>
      <vt:lpstr>Research Topic </vt:lpstr>
      <vt:lpstr>Table of Contents</vt:lpstr>
      <vt:lpstr>Introduction.</vt:lpstr>
      <vt:lpstr>Introduction</vt:lpstr>
      <vt:lpstr>2. Aim of Research.</vt:lpstr>
      <vt:lpstr>Aim</vt:lpstr>
      <vt:lpstr>3. Research Question</vt:lpstr>
      <vt:lpstr>Research Question</vt:lpstr>
      <vt:lpstr>4. Objective of Research </vt:lpstr>
      <vt:lpstr>Objective &amp; Sub objectives</vt:lpstr>
      <vt:lpstr>Objective</vt:lpstr>
      <vt:lpstr>5. Scope of Research</vt:lpstr>
      <vt:lpstr>Scope</vt:lpstr>
      <vt:lpstr>6.Limitations of Research</vt:lpstr>
      <vt:lpstr>Limitations</vt:lpstr>
      <vt:lpstr>7. Methodology</vt:lpstr>
      <vt:lpstr>Methodology</vt:lpstr>
      <vt:lpstr>Literature Review</vt:lpstr>
      <vt:lpstr>PowerPoint Presentation</vt:lpstr>
      <vt:lpstr>PowerPoint Presentation</vt:lpstr>
      <vt:lpstr>Timeline</vt:lpstr>
      <vt:lpstr>PowerPoint Presentation</vt:lpstr>
      <vt:lpstr>Cost &amp; Benefits</vt:lpstr>
      <vt:lpstr>PowerPoint Presentation</vt:lpstr>
      <vt:lpstr>Top level architecture &amp; WBS</vt:lpstr>
      <vt:lpstr>Pipeline</vt:lpstr>
      <vt:lpstr>Work Break Down Structure</vt:lpstr>
      <vt:lpstr>Conclusion</vt:lpstr>
      <vt:lpstr>Conclusion</vt:lpstr>
      <vt:lpstr>Acknowledgement</vt:lpstr>
      <vt:lpstr>Questions?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A.R.M.Nizzad</dc:creator>
  <cp:lastModifiedBy>Fathima Sajeetha</cp:lastModifiedBy>
  <cp:revision>267</cp:revision>
  <dcterms:created xsi:type="dcterms:W3CDTF">2021-04-20T06:12:09Z</dcterms:created>
  <dcterms:modified xsi:type="dcterms:W3CDTF">2025-02-04T07:38:23Z</dcterms:modified>
</cp:coreProperties>
</file>