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1"/>
  </p:sldMasterIdLst>
  <p:notesMasterIdLst>
    <p:notesMasterId r:id="rId33"/>
  </p:notesMasterIdLst>
  <p:sldIdLst>
    <p:sldId id="256" r:id="rId2"/>
    <p:sldId id="322" r:id="rId3"/>
    <p:sldId id="340" r:id="rId4"/>
    <p:sldId id="342" r:id="rId5"/>
    <p:sldId id="327" r:id="rId6"/>
    <p:sldId id="328" r:id="rId7"/>
    <p:sldId id="336" r:id="rId8"/>
    <p:sldId id="338" r:id="rId9"/>
    <p:sldId id="329" r:id="rId10"/>
    <p:sldId id="334" r:id="rId11"/>
    <p:sldId id="330" r:id="rId12"/>
    <p:sldId id="331" r:id="rId13"/>
    <p:sldId id="332" r:id="rId14"/>
    <p:sldId id="344" r:id="rId15"/>
    <p:sldId id="346" r:id="rId16"/>
    <p:sldId id="348" r:id="rId17"/>
    <p:sldId id="350" r:id="rId18"/>
    <p:sldId id="352" r:id="rId19"/>
    <p:sldId id="355" r:id="rId20"/>
    <p:sldId id="357" r:id="rId21"/>
    <p:sldId id="358" r:id="rId22"/>
    <p:sldId id="364" r:id="rId23"/>
    <p:sldId id="365" r:id="rId24"/>
    <p:sldId id="360" r:id="rId25"/>
    <p:sldId id="361" r:id="rId26"/>
    <p:sldId id="370" r:id="rId27"/>
    <p:sldId id="367" r:id="rId28"/>
    <p:sldId id="369" r:id="rId29"/>
    <p:sldId id="326" r:id="rId30"/>
    <p:sldId id="284" r:id="rId31"/>
    <p:sldId id="264" r:id="rId3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96"/>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0CA1315-F387-427E-8DA8-AEF32D80856E}" v="15" dt="2025-02-23T17:07:35.041"/>
    <p1510:client id="{FEDFFAA2-E7D6-429A-A6B2-148B5B10B818}" v="130" dt="2025-02-23T05:14:29.065"/>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D113A9D2-9D6B-4929-AA2D-F23B5EE8CBE7}" styleName="Themed Style 2 - Accent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E8034E78-7F5D-4C2E-B375-FC64B27BC917}" styleName="Dark Style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left>
            <a:ln w="25400" cmpd="sng">
              <a:solidFill>
                <a:schemeClr val="lt1"/>
              </a:solidFill>
            </a:ln>
          </a:left>
        </a:tcBdr>
        <a:fill>
          <a:solidFill>
            <a:schemeClr val="dk1">
              <a:tint val="60000"/>
            </a:schemeClr>
          </a:solidFill>
        </a:fill>
      </a:tcStyle>
    </a:lastCol>
    <a:firstCol>
      <a:tcTxStyle b="on"/>
      <a:tcStyle>
        <a:tcBdr>
          <a:right>
            <a:ln w="25400" cmpd="sng">
              <a:solidFill>
                <a:schemeClr val="lt1"/>
              </a:solidFill>
            </a:ln>
          </a:right>
        </a:tcBdr>
        <a:fill>
          <a:solidFill>
            <a:schemeClr val="dk1">
              <a:tint val="60000"/>
            </a:schemeClr>
          </a:solidFill>
        </a:fill>
      </a:tcStyle>
    </a:firstCol>
    <a:lastRow>
      <a:tcTxStyle b="on"/>
      <a:tcStyle>
        <a:tcBdr>
          <a:top>
            <a:ln w="25400" cmpd="sng">
              <a:solidFill>
                <a:schemeClr val="lt1"/>
              </a:solidFill>
            </a:ln>
          </a:top>
        </a:tcBdr>
        <a:fill>
          <a:solidFill>
            <a:schemeClr val="dk1">
              <a:tint val="6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704" autoAdjust="0"/>
    <p:restoredTop sz="88301" autoAdjust="0"/>
  </p:normalViewPr>
  <p:slideViewPr>
    <p:cSldViewPr snapToGrid="0">
      <p:cViewPr varScale="1">
        <p:scale>
          <a:sx n="84" d="100"/>
          <a:sy n="84" d="100"/>
        </p:scale>
        <p:origin x="1469" y="86"/>
      </p:cViewPr>
      <p:guideLst/>
    </p:cSldViewPr>
  </p:slideViewPr>
  <p:notesTextViewPr>
    <p:cViewPr>
      <p:scale>
        <a:sx n="1" d="1"/>
        <a:sy n="1" d="1"/>
      </p:scale>
      <p:origin x="0" y="0"/>
    </p:cViewPr>
  </p:notesTextViewPr>
  <p:notesViewPr>
    <p:cSldViewPr snapToGrid="0">
      <p:cViewPr varScale="1">
        <p:scale>
          <a:sx n="55" d="100"/>
          <a:sy n="55" d="100"/>
        </p:scale>
        <p:origin x="2880" y="78"/>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38"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B5AEE48-3EEF-4DA2-BEBE-93CA9C2F3890}" type="datetimeFigureOut">
              <a:rPr lang="en-US" smtClean="0"/>
              <a:t>2/24/2025</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0A6C2AB-DC89-436C-A83C-5E1EE7329A7C}" type="slidenum">
              <a:rPr lang="en-US" smtClean="0"/>
              <a:t>‹#›</a:t>
            </a:fld>
            <a:endParaRPr lang="en-US"/>
          </a:p>
        </p:txBody>
      </p:sp>
    </p:spTree>
    <p:extLst>
      <p:ext uri="{BB962C8B-B14F-4D97-AF65-F5344CB8AC3E}">
        <p14:creationId xmlns:p14="http://schemas.microsoft.com/office/powerpoint/2010/main" val="386046606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everyone, my name is </a:t>
            </a:r>
            <a:r>
              <a:rPr lang="en-US" dirty="0" err="1"/>
              <a:t>sihanas</a:t>
            </a:r>
            <a:r>
              <a:rPr lang="en-US" dirty="0"/>
              <a:t>. today I’m here to present my research proposal on Evaluating the performance of Object detection models for accurate </a:t>
            </a:r>
            <a:r>
              <a:rPr lang="en-US" dirty="0" err="1"/>
              <a:t>sri</a:t>
            </a:r>
            <a:r>
              <a:rPr lang="en-US" dirty="0"/>
              <a:t> </a:t>
            </a:r>
            <a:r>
              <a:rPr lang="en-US" dirty="0" err="1"/>
              <a:t>lankan</a:t>
            </a:r>
            <a:r>
              <a:rPr lang="en-US" dirty="0"/>
              <a:t> traffic sign detection.</a:t>
            </a:r>
          </a:p>
        </p:txBody>
      </p:sp>
      <p:sp>
        <p:nvSpPr>
          <p:cNvPr id="4" name="Slide Number Placeholder 3"/>
          <p:cNvSpPr>
            <a:spLocks noGrp="1"/>
          </p:cNvSpPr>
          <p:nvPr>
            <p:ph type="sldNum" sz="quarter" idx="5"/>
          </p:nvPr>
        </p:nvSpPr>
        <p:spPr/>
        <p:txBody>
          <a:bodyPr/>
          <a:lstStyle/>
          <a:p>
            <a:fld id="{B0A6C2AB-DC89-436C-A83C-5E1EE7329A7C}" type="slidenum">
              <a:rPr lang="en-US" smtClean="0"/>
              <a:t>1</a:t>
            </a:fld>
            <a:endParaRPr lang="en-US"/>
          </a:p>
        </p:txBody>
      </p:sp>
    </p:spTree>
    <p:extLst>
      <p:ext uri="{BB962C8B-B14F-4D97-AF65-F5344CB8AC3E}">
        <p14:creationId xmlns:p14="http://schemas.microsoft.com/office/powerpoint/2010/main" val="224394554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p:txBody>
          <a:bodyPr/>
          <a:lstStyle/>
          <a:p>
            <a:fld id="{B0A6C2AB-DC89-436C-A83C-5E1EE7329A7C}" type="slidenum">
              <a:rPr lang="en-US" smtClean="0"/>
              <a:t>2</a:t>
            </a:fld>
            <a:endParaRPr lang="en-US"/>
          </a:p>
        </p:txBody>
      </p:sp>
    </p:spTree>
    <p:extLst>
      <p:ext uri="{BB962C8B-B14F-4D97-AF65-F5344CB8AC3E}">
        <p14:creationId xmlns:p14="http://schemas.microsoft.com/office/powerpoint/2010/main" val="285430730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Traffic road signs are crucial for road safety. Detecting them is more important when comes to automated driving systems and assistant technologies. My research is going to be about evaluating some of the well-known models which are YOLOv8, Faster R-CNN and SSD. by understanding their performance, we can identify the most suitable model for our countries' conditions.</a:t>
            </a:r>
          </a:p>
        </p:txBody>
      </p:sp>
      <p:sp>
        <p:nvSpPr>
          <p:cNvPr id="4" name="Slide Number Placeholder 3"/>
          <p:cNvSpPr>
            <a:spLocks noGrp="1"/>
          </p:cNvSpPr>
          <p:nvPr>
            <p:ph type="sldNum" sz="quarter" idx="10"/>
          </p:nvPr>
        </p:nvSpPr>
        <p:spPr/>
        <p:txBody>
          <a:bodyPr/>
          <a:lstStyle/>
          <a:p>
            <a:fld id="{B0A6C2AB-DC89-436C-A83C-5E1EE7329A7C}" type="slidenum">
              <a:rPr lang="en-US" smtClean="0"/>
              <a:t>4</a:t>
            </a:fld>
            <a:endParaRPr lang="en-US"/>
          </a:p>
        </p:txBody>
      </p:sp>
    </p:spTree>
    <p:extLst>
      <p:ext uri="{BB962C8B-B14F-4D97-AF65-F5344CB8AC3E}">
        <p14:creationId xmlns:p14="http://schemas.microsoft.com/office/powerpoint/2010/main" val="97230975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The aim of this research is going to be compare the performance (mAP) of three object detection model for detecting </a:t>
            </a:r>
            <a:r>
              <a:rPr lang="en-GB" dirty="0" err="1"/>
              <a:t>sri</a:t>
            </a:r>
            <a:r>
              <a:rPr lang="en-GB" dirty="0"/>
              <a:t> </a:t>
            </a:r>
            <a:r>
              <a:rPr lang="en-GB" dirty="0" err="1"/>
              <a:t>lankan</a:t>
            </a:r>
            <a:r>
              <a:rPr lang="en-GB" dirty="0"/>
              <a:t> traffic road signs.</a:t>
            </a:r>
          </a:p>
          <a:p>
            <a:r>
              <a:rPr lang="en-GB" dirty="0"/>
              <a:t> By identifying the effective model, this research contributes to the development of automated driving systems in </a:t>
            </a:r>
            <a:r>
              <a:rPr lang="en-GB" dirty="0" err="1"/>
              <a:t>sri</a:t>
            </a:r>
            <a:r>
              <a:rPr lang="en-GB" dirty="0"/>
              <a:t> </a:t>
            </a:r>
            <a:r>
              <a:rPr lang="en-GB" dirty="0" err="1"/>
              <a:t>lanka</a:t>
            </a:r>
            <a:r>
              <a:rPr lang="en-GB" dirty="0"/>
              <a:t>.</a:t>
            </a:r>
          </a:p>
        </p:txBody>
      </p:sp>
      <p:sp>
        <p:nvSpPr>
          <p:cNvPr id="4" name="Slide Number Placeholder 3"/>
          <p:cNvSpPr>
            <a:spLocks noGrp="1"/>
          </p:cNvSpPr>
          <p:nvPr>
            <p:ph type="sldNum" sz="quarter" idx="10"/>
          </p:nvPr>
        </p:nvSpPr>
        <p:spPr/>
        <p:txBody>
          <a:bodyPr/>
          <a:lstStyle/>
          <a:p>
            <a:fld id="{B0A6C2AB-DC89-436C-A83C-5E1EE7329A7C}" type="slidenum">
              <a:rPr lang="en-US" smtClean="0"/>
              <a:t>6</a:t>
            </a:fld>
            <a:endParaRPr lang="en-US"/>
          </a:p>
        </p:txBody>
      </p:sp>
    </p:spTree>
    <p:extLst>
      <p:ext uri="{BB962C8B-B14F-4D97-AF65-F5344CB8AC3E}">
        <p14:creationId xmlns:p14="http://schemas.microsoft.com/office/powerpoint/2010/main" val="195664463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The key research question driving this study is: Which object detection model—YOLOv8, Faster R-CNN, or SSD—achieves the highest accuracy in detecting Sri Lankan traffic signs, as measured by mean Average Precision, or mAP?</a:t>
            </a:r>
          </a:p>
          <a:p>
            <a:br>
              <a:rPr lang="en-GB" dirty="0"/>
            </a:br>
            <a:r>
              <a:rPr lang="en-GB" dirty="0"/>
              <a:t> The hypothesis will be: </a:t>
            </a:r>
            <a:r>
              <a:rPr lang="en-GB" sz="1200" dirty="0">
                <a:cs typeface="Arial"/>
              </a:rPr>
              <a:t>Among the YOLOv8, Faster R-CNN and SSD, one of the object detection models will achieve the highest mAP in detecting Sri Lankan traffic signs, with performance variations due to differences in model architecture and detection capabilities.</a:t>
            </a:r>
            <a:br>
              <a:rPr lang="en-GB" dirty="0"/>
            </a:br>
            <a:endParaRPr lang="en-GB" dirty="0"/>
          </a:p>
          <a:p>
            <a:r>
              <a:rPr lang="en-GB" dirty="0"/>
              <a:t>In this study </a:t>
            </a:r>
            <a:r>
              <a:rPr lang="en-GB" dirty="0" err="1"/>
              <a:t>meanAveragePrecision</a:t>
            </a:r>
            <a:r>
              <a:rPr lang="en-GB" dirty="0"/>
              <a:t> will be the dependant variable and independent variable are going to be the selected models, which are SSD.</a:t>
            </a:r>
          </a:p>
        </p:txBody>
      </p:sp>
      <p:sp>
        <p:nvSpPr>
          <p:cNvPr id="4" name="Slide Number Placeholder 3"/>
          <p:cNvSpPr>
            <a:spLocks noGrp="1"/>
          </p:cNvSpPr>
          <p:nvPr>
            <p:ph type="sldNum" sz="quarter" idx="10"/>
          </p:nvPr>
        </p:nvSpPr>
        <p:spPr/>
        <p:txBody>
          <a:bodyPr/>
          <a:lstStyle/>
          <a:p>
            <a:fld id="{B0A6C2AB-DC89-436C-A83C-5E1EE7329A7C}" type="slidenum">
              <a:rPr lang="en-US" smtClean="0"/>
              <a:t>8</a:t>
            </a:fld>
            <a:endParaRPr lang="en-US"/>
          </a:p>
        </p:txBody>
      </p:sp>
    </p:spTree>
    <p:extLst>
      <p:ext uri="{BB962C8B-B14F-4D97-AF65-F5344CB8AC3E}">
        <p14:creationId xmlns:p14="http://schemas.microsoft.com/office/powerpoint/2010/main" val="392266551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research has three main objectives.  First, we aim to conduct a comprehensive comparison of three object detection models to assess their performance in detecting the traffic signs.</a:t>
            </a:r>
          </a:p>
          <a:p>
            <a:endParaRPr lang="en-US" dirty="0"/>
          </a:p>
          <a:p>
            <a:r>
              <a:rPr lang="en-US" dirty="0" err="1"/>
              <a:t>Second,we</a:t>
            </a:r>
            <a:r>
              <a:rPr lang="en-US" dirty="0"/>
              <a:t> will evaluate their performance with </a:t>
            </a:r>
            <a:r>
              <a:rPr lang="en-US" dirty="0" err="1"/>
              <a:t>meanAveragePrecision</a:t>
            </a:r>
            <a:r>
              <a:rPr lang="en-US" dirty="0"/>
              <a:t> metric on the selected dataset.</a:t>
            </a:r>
          </a:p>
          <a:p>
            <a:endParaRPr lang="en-US" dirty="0"/>
          </a:p>
          <a:p>
            <a:r>
              <a:rPr lang="en-US" dirty="0"/>
              <a:t>Finally we will compare and analyze the results to find the suitable model for accurate traffic sign detection for </a:t>
            </a:r>
            <a:r>
              <a:rPr lang="en-US" dirty="0" err="1"/>
              <a:t>sri</a:t>
            </a:r>
            <a:r>
              <a:rPr lang="en-US" dirty="0"/>
              <a:t> </a:t>
            </a:r>
            <a:r>
              <a:rPr lang="en-US" dirty="0" err="1"/>
              <a:t>lanka</a:t>
            </a:r>
            <a:r>
              <a:rPr lang="en-US" dirty="0"/>
              <a:t>.</a:t>
            </a:r>
          </a:p>
        </p:txBody>
      </p:sp>
      <p:sp>
        <p:nvSpPr>
          <p:cNvPr id="4" name="Slide Number Placeholder 3"/>
          <p:cNvSpPr>
            <a:spLocks noGrp="1"/>
          </p:cNvSpPr>
          <p:nvPr>
            <p:ph type="sldNum" sz="quarter" idx="5"/>
          </p:nvPr>
        </p:nvSpPr>
        <p:spPr/>
        <p:txBody>
          <a:bodyPr/>
          <a:lstStyle/>
          <a:p>
            <a:fld id="{B0A6C2AB-DC89-436C-A83C-5E1EE7329A7C}" type="slidenum">
              <a:rPr lang="en-US" smtClean="0"/>
              <a:t>10</a:t>
            </a:fld>
            <a:endParaRPr lang="en-US"/>
          </a:p>
        </p:txBody>
      </p:sp>
    </p:spTree>
    <p:extLst>
      <p:ext uri="{BB962C8B-B14F-4D97-AF65-F5344CB8AC3E}">
        <p14:creationId xmlns:p14="http://schemas.microsoft.com/office/powerpoint/2010/main" val="209211065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To support these objectives, we will also review existing research, examine the strengths and weaknesses of each model,</a:t>
            </a:r>
            <a:endParaRPr lang="en-US" dirty="0"/>
          </a:p>
        </p:txBody>
      </p:sp>
      <p:sp>
        <p:nvSpPr>
          <p:cNvPr id="4" name="Slide Number Placeholder 3"/>
          <p:cNvSpPr>
            <a:spLocks noGrp="1"/>
          </p:cNvSpPr>
          <p:nvPr>
            <p:ph type="sldNum" sz="quarter" idx="5"/>
          </p:nvPr>
        </p:nvSpPr>
        <p:spPr/>
        <p:txBody>
          <a:bodyPr/>
          <a:lstStyle/>
          <a:p>
            <a:fld id="{B0A6C2AB-DC89-436C-A83C-5E1EE7329A7C}" type="slidenum">
              <a:rPr lang="en-US" smtClean="0"/>
              <a:t>11</a:t>
            </a:fld>
            <a:endParaRPr lang="en-US"/>
          </a:p>
        </p:txBody>
      </p:sp>
    </p:spTree>
    <p:extLst>
      <p:ext uri="{BB962C8B-B14F-4D97-AF65-F5344CB8AC3E}">
        <p14:creationId xmlns:p14="http://schemas.microsoft.com/office/powerpoint/2010/main" val="256026876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The scope of this research is focused on evaluating object detection models for Sri Lankan traffic sign detection.</a:t>
            </a:r>
          </a:p>
          <a:p>
            <a:endParaRPr lang="en-GB" dirty="0"/>
          </a:p>
          <a:p>
            <a:r>
              <a:rPr lang="en-GB" dirty="0"/>
              <a:t>Specifically, we are comparing three models—YOLOv8, Faster R-CNN, and SSD—using a dataset containing Sri Lankan traffic signs.</a:t>
            </a:r>
          </a:p>
          <a:p>
            <a:endParaRPr lang="en-GB" dirty="0"/>
          </a:p>
          <a:p>
            <a:r>
              <a:rPr lang="en-GB" dirty="0"/>
              <a:t>The primary evaluation metric is going to be used in this study is </a:t>
            </a:r>
            <a:r>
              <a:rPr lang="en-GB" b="1" dirty="0"/>
              <a:t>mean Average Precision (mAP)</a:t>
            </a:r>
            <a:endParaRPr lang="en-US" dirty="0"/>
          </a:p>
        </p:txBody>
      </p:sp>
      <p:sp>
        <p:nvSpPr>
          <p:cNvPr id="4" name="Slide Number Placeholder 3"/>
          <p:cNvSpPr>
            <a:spLocks noGrp="1"/>
          </p:cNvSpPr>
          <p:nvPr>
            <p:ph type="sldNum" sz="quarter" idx="5"/>
          </p:nvPr>
        </p:nvSpPr>
        <p:spPr/>
        <p:txBody>
          <a:bodyPr/>
          <a:lstStyle/>
          <a:p>
            <a:fld id="{B0A6C2AB-DC89-436C-A83C-5E1EE7329A7C}" type="slidenum">
              <a:rPr lang="en-US" smtClean="0"/>
              <a:t>13</a:t>
            </a:fld>
            <a:endParaRPr lang="en-US"/>
          </a:p>
        </p:txBody>
      </p:sp>
    </p:spTree>
    <p:extLst>
      <p:ext uri="{BB962C8B-B14F-4D97-AF65-F5344CB8AC3E}">
        <p14:creationId xmlns:p14="http://schemas.microsoft.com/office/powerpoint/2010/main" val="61582704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It is important to note the limitations of this study. We are conducting a comparative analysis based on existing models and datasets, meaning we are not implementing or fine-tuning the models ourselves.</a:t>
            </a:r>
          </a:p>
          <a:p>
            <a:endParaRPr lang="en-GB" dirty="0"/>
          </a:p>
          <a:p>
            <a:r>
              <a:rPr lang="en-GB" dirty="0"/>
              <a:t>Additionally, the findings are specific to Sri Lankan traffic signs and may not directly apply to other countries with different road sign designs and conditions.</a:t>
            </a:r>
            <a:endParaRPr lang="en-US" dirty="0"/>
          </a:p>
        </p:txBody>
      </p:sp>
      <p:sp>
        <p:nvSpPr>
          <p:cNvPr id="4" name="Slide Number Placeholder 3"/>
          <p:cNvSpPr>
            <a:spLocks noGrp="1"/>
          </p:cNvSpPr>
          <p:nvPr>
            <p:ph type="sldNum" sz="quarter" idx="5"/>
          </p:nvPr>
        </p:nvSpPr>
        <p:spPr/>
        <p:txBody>
          <a:bodyPr/>
          <a:lstStyle/>
          <a:p>
            <a:fld id="{B0A6C2AB-DC89-436C-A83C-5E1EE7329A7C}" type="slidenum">
              <a:rPr lang="en-US" smtClean="0"/>
              <a:t>15</a:t>
            </a:fld>
            <a:endParaRPr lang="en-US"/>
          </a:p>
        </p:txBody>
      </p:sp>
    </p:spTree>
    <p:extLst>
      <p:ext uri="{BB962C8B-B14F-4D97-AF65-F5344CB8AC3E}">
        <p14:creationId xmlns:p14="http://schemas.microsoft.com/office/powerpoint/2010/main" val="22904677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this study we will be using the </a:t>
            </a:r>
            <a:r>
              <a:rPr lang="en-US" dirty="0" err="1"/>
              <a:t>the</a:t>
            </a:r>
            <a:r>
              <a:rPr lang="en-US" dirty="0"/>
              <a:t> quantitative research design, as our focus is on measuring numerical performance values.</a:t>
            </a:r>
          </a:p>
          <a:p>
            <a:endParaRPr lang="en-US" dirty="0"/>
          </a:p>
          <a:p>
            <a:r>
              <a:rPr lang="en-US" dirty="0"/>
              <a:t>The data collection method involves using a secondary dataset. Which was already collected and properly labeled.</a:t>
            </a:r>
          </a:p>
          <a:p>
            <a:endParaRPr lang="en-US" dirty="0"/>
          </a:p>
          <a:p>
            <a:r>
              <a:rPr lang="en-US" dirty="0"/>
              <a:t>To assess these models Faster-R-CNN </a:t>
            </a:r>
            <a:r>
              <a:rPr lang="en-GB" dirty="0"/>
              <a:t>Faster Region-based Convolutional Neural Network, </a:t>
            </a:r>
            <a:r>
              <a:rPr lang="en-US" dirty="0"/>
              <a:t>SSD-Single Shot MultiBox Detector, we will analyze the performance using mean Average Precision, which is a widely used metric for these kind of task.</a:t>
            </a:r>
          </a:p>
          <a:p>
            <a:endParaRPr lang="en-US" dirty="0"/>
          </a:p>
          <a:p>
            <a:r>
              <a:rPr lang="en-GB" dirty="0"/>
              <a:t>Finally, we will compare the models based on their mAP scores and analyze the results to identify the most effective model</a:t>
            </a:r>
            <a:endParaRPr lang="en-US" dirty="0"/>
          </a:p>
        </p:txBody>
      </p:sp>
      <p:sp>
        <p:nvSpPr>
          <p:cNvPr id="4" name="Slide Number Placeholder 3"/>
          <p:cNvSpPr>
            <a:spLocks noGrp="1"/>
          </p:cNvSpPr>
          <p:nvPr>
            <p:ph type="sldNum" sz="quarter" idx="5"/>
          </p:nvPr>
        </p:nvSpPr>
        <p:spPr/>
        <p:txBody>
          <a:bodyPr/>
          <a:lstStyle/>
          <a:p>
            <a:fld id="{B0A6C2AB-DC89-436C-A83C-5E1EE7329A7C}" type="slidenum">
              <a:rPr lang="en-US" smtClean="0"/>
              <a:t>17</a:t>
            </a:fld>
            <a:endParaRPr lang="en-US"/>
          </a:p>
        </p:txBody>
      </p:sp>
    </p:spTree>
    <p:extLst>
      <p:ext uri="{BB962C8B-B14F-4D97-AF65-F5344CB8AC3E}">
        <p14:creationId xmlns:p14="http://schemas.microsoft.com/office/powerpoint/2010/main" val="372836160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Our research builds upon previous studies evaluating object detection models for traffic sign detection. Existing works have extensively compared models like YOLO, Faster R-CNN, SSD, and RetinaNet on datasets such as TT100K and GTSD. However, these studies primarily focus on global datasets and do not address the unique challenges of Sri Lankan traffic signs</a:t>
            </a:r>
          </a:p>
          <a:p>
            <a:endParaRPr lang="en-GB" dirty="0"/>
          </a:p>
          <a:p>
            <a:r>
              <a:rPr lang="en-GB" dirty="0"/>
              <a:t>Our study aims to bridge this gap by evaluating object detection models specifically for Sri Lankan traffic signs.</a:t>
            </a:r>
            <a:endParaRPr lang="en-US" dirty="0"/>
          </a:p>
        </p:txBody>
      </p:sp>
      <p:sp>
        <p:nvSpPr>
          <p:cNvPr id="4" name="Slide Number Placeholder 3"/>
          <p:cNvSpPr>
            <a:spLocks noGrp="1"/>
          </p:cNvSpPr>
          <p:nvPr>
            <p:ph type="sldNum" sz="quarter" idx="5"/>
          </p:nvPr>
        </p:nvSpPr>
        <p:spPr/>
        <p:txBody>
          <a:bodyPr/>
          <a:lstStyle/>
          <a:p>
            <a:fld id="{B0A6C2AB-DC89-436C-A83C-5E1EE7329A7C}" type="slidenum">
              <a:rPr lang="en-US" smtClean="0"/>
              <a:t>19</a:t>
            </a:fld>
            <a:endParaRPr lang="en-US"/>
          </a:p>
        </p:txBody>
      </p:sp>
    </p:spTree>
    <p:extLst>
      <p:ext uri="{BB962C8B-B14F-4D97-AF65-F5344CB8AC3E}">
        <p14:creationId xmlns:p14="http://schemas.microsoft.com/office/powerpoint/2010/main" val="194354530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research will take about 3 – 4 months or more. I prepared this timeline as an assumption only.</a:t>
            </a:r>
          </a:p>
        </p:txBody>
      </p:sp>
      <p:sp>
        <p:nvSpPr>
          <p:cNvPr id="4" name="Slide Number Placeholder 3"/>
          <p:cNvSpPr>
            <a:spLocks noGrp="1"/>
          </p:cNvSpPr>
          <p:nvPr>
            <p:ph type="sldNum" sz="quarter" idx="5"/>
          </p:nvPr>
        </p:nvSpPr>
        <p:spPr/>
        <p:txBody>
          <a:bodyPr/>
          <a:lstStyle/>
          <a:p>
            <a:fld id="{B0A6C2AB-DC89-436C-A83C-5E1EE7329A7C}" type="slidenum">
              <a:rPr lang="en-US" smtClean="0"/>
              <a:t>21</a:t>
            </a:fld>
            <a:endParaRPr lang="en-US"/>
          </a:p>
        </p:txBody>
      </p:sp>
    </p:spTree>
    <p:extLst>
      <p:ext uri="{BB962C8B-B14F-4D97-AF65-F5344CB8AC3E}">
        <p14:creationId xmlns:p14="http://schemas.microsoft.com/office/powerpoint/2010/main" val="109123872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research has minimal financial cost. But we will achieve some benefits like advancing the research in AI for traffic management.</a:t>
            </a:r>
          </a:p>
        </p:txBody>
      </p:sp>
      <p:sp>
        <p:nvSpPr>
          <p:cNvPr id="4" name="Slide Number Placeholder 3"/>
          <p:cNvSpPr>
            <a:spLocks noGrp="1"/>
          </p:cNvSpPr>
          <p:nvPr>
            <p:ph type="sldNum" sz="quarter" idx="5"/>
          </p:nvPr>
        </p:nvSpPr>
        <p:spPr/>
        <p:txBody>
          <a:bodyPr/>
          <a:lstStyle/>
          <a:p>
            <a:fld id="{B0A6C2AB-DC89-436C-A83C-5E1EE7329A7C}" type="slidenum">
              <a:rPr lang="en-US" smtClean="0"/>
              <a:t>23</a:t>
            </a:fld>
            <a:endParaRPr lang="en-US"/>
          </a:p>
        </p:txBody>
      </p:sp>
    </p:spTree>
    <p:extLst>
      <p:ext uri="{BB962C8B-B14F-4D97-AF65-F5344CB8AC3E}">
        <p14:creationId xmlns:p14="http://schemas.microsoft.com/office/powerpoint/2010/main" val="205277011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research design is going to be like this.</a:t>
            </a:r>
          </a:p>
          <a:p>
            <a:endParaRPr lang="en-US" dirty="0"/>
          </a:p>
          <a:p>
            <a:r>
              <a:rPr lang="en-US" dirty="0"/>
              <a:t> Do some preliminary study then planning the research, then do some literature reviews. </a:t>
            </a:r>
          </a:p>
          <a:p>
            <a:endParaRPr lang="en-US" dirty="0"/>
          </a:p>
          <a:p>
            <a:r>
              <a:rPr lang="en-US" dirty="0"/>
              <a:t>Then we will collect and pre process the dataset. Then we will let each models to identify the objects.</a:t>
            </a:r>
          </a:p>
          <a:p>
            <a:endParaRPr lang="en-US" dirty="0"/>
          </a:p>
          <a:p>
            <a:r>
              <a:rPr lang="en-US" dirty="0"/>
              <a:t> After that we will evaluate their performance, then we will compare &amp; analyze the results to find the best model.</a:t>
            </a:r>
          </a:p>
          <a:p>
            <a:endParaRPr lang="en-US" dirty="0"/>
          </a:p>
          <a:p>
            <a:r>
              <a:rPr lang="en-US" dirty="0"/>
              <a:t> Finally we will prepare our report and documentation.</a:t>
            </a:r>
          </a:p>
        </p:txBody>
      </p:sp>
      <p:sp>
        <p:nvSpPr>
          <p:cNvPr id="4" name="Slide Number Placeholder 3"/>
          <p:cNvSpPr>
            <a:spLocks noGrp="1"/>
          </p:cNvSpPr>
          <p:nvPr>
            <p:ph type="sldNum" sz="quarter" idx="5"/>
          </p:nvPr>
        </p:nvSpPr>
        <p:spPr/>
        <p:txBody>
          <a:bodyPr/>
          <a:lstStyle/>
          <a:p>
            <a:fld id="{B0A6C2AB-DC89-436C-A83C-5E1EE7329A7C}" type="slidenum">
              <a:rPr lang="en-US" smtClean="0"/>
              <a:t>25</a:t>
            </a:fld>
            <a:endParaRPr lang="en-US"/>
          </a:p>
        </p:txBody>
      </p:sp>
    </p:spTree>
    <p:extLst>
      <p:ext uri="{BB962C8B-B14F-4D97-AF65-F5344CB8AC3E}">
        <p14:creationId xmlns:p14="http://schemas.microsoft.com/office/powerpoint/2010/main" val="179023135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work breakdown structure of the research. Its divided into six main phases, As I mentioned in the research design. </a:t>
            </a:r>
          </a:p>
          <a:p>
            <a:endParaRPr lang="en-US" dirty="0"/>
          </a:p>
          <a:p>
            <a:r>
              <a:rPr lang="en-US" dirty="0"/>
              <a:t>This approach ensures a clear execution of this research.</a:t>
            </a:r>
          </a:p>
        </p:txBody>
      </p:sp>
      <p:sp>
        <p:nvSpPr>
          <p:cNvPr id="4" name="Slide Number Placeholder 3"/>
          <p:cNvSpPr>
            <a:spLocks noGrp="1"/>
          </p:cNvSpPr>
          <p:nvPr>
            <p:ph type="sldNum" sz="quarter" idx="5"/>
          </p:nvPr>
        </p:nvSpPr>
        <p:spPr/>
        <p:txBody>
          <a:bodyPr/>
          <a:lstStyle/>
          <a:p>
            <a:fld id="{B0A6C2AB-DC89-436C-A83C-5E1EE7329A7C}" type="slidenum">
              <a:rPr lang="en-US" smtClean="0"/>
              <a:t>26</a:t>
            </a:fld>
            <a:endParaRPr lang="en-US"/>
          </a:p>
        </p:txBody>
      </p:sp>
    </p:spTree>
    <p:extLst>
      <p:ext uri="{BB962C8B-B14F-4D97-AF65-F5344CB8AC3E}">
        <p14:creationId xmlns:p14="http://schemas.microsoft.com/office/powerpoint/2010/main" val="52180885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0A6C2AB-DC89-436C-A83C-5E1EE7329A7C}" type="slidenum">
              <a:rPr lang="en-US" smtClean="0"/>
              <a:t>27</a:t>
            </a:fld>
            <a:endParaRPr lang="en-US"/>
          </a:p>
        </p:txBody>
      </p:sp>
    </p:spTree>
    <p:extLst>
      <p:ext uri="{BB962C8B-B14F-4D97-AF65-F5344CB8AC3E}">
        <p14:creationId xmlns:p14="http://schemas.microsoft.com/office/powerpoint/2010/main" val="8268560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Ultimately, this research provides valuable insights into the selection of the most suitable object detection model for real-world traffic sign detection in Sri Lanka, paving the way for future advancements in AI-based traffic monitoring and intelligent transportation systems.</a:t>
            </a:r>
            <a:endParaRPr lang="en-US" dirty="0"/>
          </a:p>
          <a:p>
            <a:endParaRPr lang="en-US" dirty="0"/>
          </a:p>
        </p:txBody>
      </p:sp>
      <p:sp>
        <p:nvSpPr>
          <p:cNvPr id="4" name="Slide Number Placeholder 3"/>
          <p:cNvSpPr>
            <a:spLocks noGrp="1"/>
          </p:cNvSpPr>
          <p:nvPr>
            <p:ph type="sldNum" sz="quarter" idx="5"/>
          </p:nvPr>
        </p:nvSpPr>
        <p:spPr/>
        <p:txBody>
          <a:bodyPr/>
          <a:lstStyle/>
          <a:p>
            <a:fld id="{B0A6C2AB-DC89-436C-A83C-5E1EE7329A7C}" type="slidenum">
              <a:rPr lang="en-US" smtClean="0"/>
              <a:t>28</a:t>
            </a:fld>
            <a:endParaRPr lang="en-US"/>
          </a:p>
        </p:txBody>
      </p:sp>
    </p:spTree>
    <p:extLst>
      <p:ext uri="{BB962C8B-B14F-4D97-AF65-F5344CB8AC3E}">
        <p14:creationId xmlns:p14="http://schemas.microsoft.com/office/powerpoint/2010/main" val="271381541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concluding, I would like to express my sincere gratitude to Mrs. NF. Mafaza for their valuable guidance. And the assessor Mrs. ALF. Sajeetha and the coordinator MR. MIM. Nismy. And the BCAS Campus.</a:t>
            </a:r>
            <a:br>
              <a:rPr lang="en-US" dirty="0"/>
            </a:br>
            <a:br>
              <a:rPr lang="en-US" dirty="0"/>
            </a:br>
            <a:r>
              <a:rPr lang="en-US" dirty="0"/>
              <a:t>Additionally, I acknowledge the work of previous </a:t>
            </a:r>
            <a:r>
              <a:rPr lang="en-US" dirty="0" err="1"/>
              <a:t>previous</a:t>
            </a:r>
            <a:r>
              <a:rPr lang="en-US" dirty="0"/>
              <a:t> </a:t>
            </a:r>
            <a:r>
              <a:rPr lang="en-US" dirty="0" err="1"/>
              <a:t>resea</a:t>
            </a:r>
            <a:endParaRPr lang="en-US" dirty="0"/>
          </a:p>
        </p:txBody>
      </p:sp>
      <p:sp>
        <p:nvSpPr>
          <p:cNvPr id="4" name="Slide Number Placeholder 3"/>
          <p:cNvSpPr>
            <a:spLocks noGrp="1"/>
          </p:cNvSpPr>
          <p:nvPr>
            <p:ph type="sldNum" sz="quarter" idx="5"/>
          </p:nvPr>
        </p:nvSpPr>
        <p:spPr/>
        <p:txBody>
          <a:bodyPr/>
          <a:lstStyle/>
          <a:p>
            <a:fld id="{B0A6C2AB-DC89-436C-A83C-5E1EE7329A7C}" type="slidenum">
              <a:rPr lang="en-US" smtClean="0"/>
              <a:t>29</a:t>
            </a:fld>
            <a:endParaRPr lang="en-US"/>
          </a:p>
        </p:txBody>
      </p:sp>
    </p:spTree>
    <p:extLst>
      <p:ext uri="{BB962C8B-B14F-4D97-AF65-F5344CB8AC3E}">
        <p14:creationId xmlns:p14="http://schemas.microsoft.com/office/powerpoint/2010/main" val="325919551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Thank you all for your time and attention!</a:t>
            </a:r>
          </a:p>
        </p:txBody>
      </p:sp>
      <p:sp>
        <p:nvSpPr>
          <p:cNvPr id="4" name="Slide Number Placeholder 3"/>
          <p:cNvSpPr>
            <a:spLocks noGrp="1"/>
          </p:cNvSpPr>
          <p:nvPr>
            <p:ph type="sldNum" sz="quarter" idx="10"/>
          </p:nvPr>
        </p:nvSpPr>
        <p:spPr/>
        <p:txBody>
          <a:bodyPr/>
          <a:lstStyle/>
          <a:p>
            <a:fld id="{B0A6C2AB-DC89-436C-A83C-5E1EE7329A7C}" type="slidenum">
              <a:rPr lang="en-US" smtClean="0"/>
              <a:t>30</a:t>
            </a:fld>
            <a:endParaRPr lang="en-US"/>
          </a:p>
        </p:txBody>
      </p:sp>
    </p:spTree>
    <p:extLst>
      <p:ext uri="{BB962C8B-B14F-4D97-AF65-F5344CB8AC3E}">
        <p14:creationId xmlns:p14="http://schemas.microsoft.com/office/powerpoint/2010/main" val="11361070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you have any questions, I would be happy to answer. </a:t>
            </a:r>
            <a:r>
              <a:rPr lang="en-US"/>
              <a:t>Thankyou.</a:t>
            </a:r>
            <a:endParaRPr lang="en-US" dirty="0"/>
          </a:p>
        </p:txBody>
      </p:sp>
      <p:sp>
        <p:nvSpPr>
          <p:cNvPr id="4" name="Slide Number Placeholder 3"/>
          <p:cNvSpPr>
            <a:spLocks noGrp="1"/>
          </p:cNvSpPr>
          <p:nvPr>
            <p:ph type="sldNum" sz="quarter" idx="5"/>
          </p:nvPr>
        </p:nvSpPr>
        <p:spPr/>
        <p:txBody>
          <a:bodyPr/>
          <a:lstStyle/>
          <a:p>
            <a:fld id="{B0A6C2AB-DC89-436C-A83C-5E1EE7329A7C}" type="slidenum">
              <a:rPr lang="en-US" smtClean="0"/>
              <a:t>31</a:t>
            </a:fld>
            <a:endParaRPr lang="en-US"/>
          </a:p>
        </p:txBody>
      </p:sp>
    </p:spTree>
    <p:extLst>
      <p:ext uri="{BB962C8B-B14F-4D97-AF65-F5344CB8AC3E}">
        <p14:creationId xmlns:p14="http://schemas.microsoft.com/office/powerpoint/2010/main" val="175054964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en-US" dirty="0"/>
              <a:t>Click to edit Master title style</a:t>
            </a:r>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p:cNvSpPr>
            <a:spLocks noGrp="1"/>
          </p:cNvSpPr>
          <p:nvPr>
            <p:ph type="dt" sz="half" idx="10"/>
          </p:nvPr>
        </p:nvSpPr>
        <p:spPr/>
        <p:txBody>
          <a:bodyPr/>
          <a:lstStyle/>
          <a:p>
            <a:fld id="{019B8730-14A0-465E-8FFD-5882E05B5AB5}" type="datetime1">
              <a:rPr lang="en-US" smtClean="0"/>
              <a:t>2/24/2025</a:t>
            </a:fld>
            <a:endParaRPr lang="en-US"/>
          </a:p>
        </p:txBody>
      </p:sp>
      <p:sp>
        <p:nvSpPr>
          <p:cNvPr id="5" name="Footer Placeholder 4"/>
          <p:cNvSpPr>
            <a:spLocks noGrp="1"/>
          </p:cNvSpPr>
          <p:nvPr>
            <p:ph type="ftr" sz="quarter" idx="11"/>
          </p:nvPr>
        </p:nvSpPr>
        <p:spPr/>
        <p:txBody>
          <a:bodyPr/>
          <a:lstStyle/>
          <a:p>
            <a:r>
              <a:rPr lang="en-US"/>
              <a:t>CRP</a:t>
            </a:r>
          </a:p>
        </p:txBody>
      </p:sp>
      <p:sp>
        <p:nvSpPr>
          <p:cNvPr id="6" name="Slide Number Placeholder 5"/>
          <p:cNvSpPr>
            <a:spLocks noGrp="1"/>
          </p:cNvSpPr>
          <p:nvPr>
            <p:ph type="sldNum" sz="quarter" idx="12"/>
          </p:nvPr>
        </p:nvSpPr>
        <p:spPr/>
        <p:txBody>
          <a:bodyPr/>
          <a:lstStyle/>
          <a:p>
            <a:fld id="{849F1A12-756A-4552-B54B-B66CFF5610E9}" type="slidenum">
              <a:rPr lang="en-US" smtClean="0"/>
              <a:t>‹#›</a:t>
            </a:fld>
            <a:endParaRPr lang="en-US"/>
          </a:p>
        </p:txBody>
      </p:sp>
    </p:spTree>
    <p:extLst>
      <p:ext uri="{BB962C8B-B14F-4D97-AF65-F5344CB8AC3E}">
        <p14:creationId xmlns:p14="http://schemas.microsoft.com/office/powerpoint/2010/main" val="49497072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CB83CE1-CFD0-4252-B676-229062FE8D1B}" type="datetime1">
              <a:rPr lang="en-US" smtClean="0"/>
              <a:t>2/24/2025</a:t>
            </a:fld>
            <a:endParaRPr lang="en-US"/>
          </a:p>
        </p:txBody>
      </p:sp>
      <p:sp>
        <p:nvSpPr>
          <p:cNvPr id="5" name="Footer Placeholder 4"/>
          <p:cNvSpPr>
            <a:spLocks noGrp="1"/>
          </p:cNvSpPr>
          <p:nvPr>
            <p:ph type="ftr" sz="quarter" idx="11"/>
          </p:nvPr>
        </p:nvSpPr>
        <p:spPr/>
        <p:txBody>
          <a:bodyPr/>
          <a:lstStyle/>
          <a:p>
            <a:r>
              <a:rPr lang="en-US"/>
              <a:t>CRP</a:t>
            </a:r>
          </a:p>
        </p:txBody>
      </p:sp>
      <p:sp>
        <p:nvSpPr>
          <p:cNvPr id="6" name="Slide Number Placeholder 5"/>
          <p:cNvSpPr>
            <a:spLocks noGrp="1"/>
          </p:cNvSpPr>
          <p:nvPr>
            <p:ph type="sldNum" sz="quarter" idx="12"/>
          </p:nvPr>
        </p:nvSpPr>
        <p:spPr/>
        <p:txBody>
          <a:bodyPr/>
          <a:lstStyle/>
          <a:p>
            <a:fld id="{849F1A12-756A-4552-B54B-B66CFF5610E9}" type="slidenum">
              <a:rPr lang="en-US" smtClean="0"/>
              <a:t>‹#›</a:t>
            </a:fld>
            <a:endParaRPr lang="en-US"/>
          </a:p>
        </p:txBody>
      </p:sp>
    </p:spTree>
    <p:extLst>
      <p:ext uri="{BB962C8B-B14F-4D97-AF65-F5344CB8AC3E}">
        <p14:creationId xmlns:p14="http://schemas.microsoft.com/office/powerpoint/2010/main" val="121500773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A6D753D-38C6-4D94-9497-89143DFFFEC0}" type="datetime1">
              <a:rPr lang="en-US" smtClean="0"/>
              <a:t>2/24/2025</a:t>
            </a:fld>
            <a:endParaRPr lang="en-US"/>
          </a:p>
        </p:txBody>
      </p:sp>
      <p:sp>
        <p:nvSpPr>
          <p:cNvPr id="5" name="Footer Placeholder 4"/>
          <p:cNvSpPr>
            <a:spLocks noGrp="1"/>
          </p:cNvSpPr>
          <p:nvPr>
            <p:ph type="ftr" sz="quarter" idx="11"/>
          </p:nvPr>
        </p:nvSpPr>
        <p:spPr/>
        <p:txBody>
          <a:bodyPr/>
          <a:lstStyle/>
          <a:p>
            <a:r>
              <a:rPr lang="en-US"/>
              <a:t>CRP</a:t>
            </a:r>
          </a:p>
        </p:txBody>
      </p:sp>
      <p:sp>
        <p:nvSpPr>
          <p:cNvPr id="6" name="Slide Number Placeholder 5"/>
          <p:cNvSpPr>
            <a:spLocks noGrp="1"/>
          </p:cNvSpPr>
          <p:nvPr>
            <p:ph type="sldNum" sz="quarter" idx="12"/>
          </p:nvPr>
        </p:nvSpPr>
        <p:spPr/>
        <p:txBody>
          <a:bodyPr/>
          <a:lstStyle/>
          <a:p>
            <a:fld id="{849F1A12-756A-4552-B54B-B66CFF5610E9}" type="slidenum">
              <a:rPr lang="en-US" smtClean="0"/>
              <a:t>‹#›</a:t>
            </a:fld>
            <a:endParaRPr lang="en-US"/>
          </a:p>
        </p:txBody>
      </p:sp>
    </p:spTree>
    <p:extLst>
      <p:ext uri="{BB962C8B-B14F-4D97-AF65-F5344CB8AC3E}">
        <p14:creationId xmlns:p14="http://schemas.microsoft.com/office/powerpoint/2010/main" val="21836976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39A42DFC-ECBF-4EF6-8F83-45966AE3486E}" type="datetime1">
              <a:rPr lang="en-US" smtClean="0"/>
              <a:t>2/24/2025</a:t>
            </a:fld>
            <a:endParaRPr lang="en-US"/>
          </a:p>
        </p:txBody>
      </p:sp>
      <p:sp>
        <p:nvSpPr>
          <p:cNvPr id="6" name="Footer Placeholder 5"/>
          <p:cNvSpPr>
            <a:spLocks noGrp="1"/>
          </p:cNvSpPr>
          <p:nvPr>
            <p:ph type="ftr" sz="quarter" idx="11"/>
          </p:nvPr>
        </p:nvSpPr>
        <p:spPr/>
        <p:txBody>
          <a:bodyPr/>
          <a:lstStyle/>
          <a:p>
            <a:r>
              <a:rPr lang="en-US"/>
              <a:t>CRP</a:t>
            </a:r>
          </a:p>
        </p:txBody>
      </p:sp>
      <p:sp>
        <p:nvSpPr>
          <p:cNvPr id="7" name="Slide Number Placeholder 6"/>
          <p:cNvSpPr>
            <a:spLocks noGrp="1"/>
          </p:cNvSpPr>
          <p:nvPr>
            <p:ph type="sldNum" sz="quarter" idx="12"/>
          </p:nvPr>
        </p:nvSpPr>
        <p:spPr/>
        <p:txBody>
          <a:bodyPr/>
          <a:lstStyle/>
          <a:p>
            <a:fld id="{849F1A12-756A-4552-B54B-B66CFF5610E9}" type="slidenum">
              <a:rPr lang="en-US" smtClean="0"/>
              <a:t>‹#›</a:t>
            </a:fld>
            <a:endParaRPr lang="en-US"/>
          </a:p>
        </p:txBody>
      </p:sp>
    </p:spTree>
    <p:extLst>
      <p:ext uri="{BB962C8B-B14F-4D97-AF65-F5344CB8AC3E}">
        <p14:creationId xmlns:p14="http://schemas.microsoft.com/office/powerpoint/2010/main" val="293799899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3E0E1EBC-9302-43EF-9D14-A534D4126133}" type="datetime1">
              <a:rPr lang="en-US" smtClean="0"/>
              <a:t>2/24/2025</a:t>
            </a:fld>
            <a:endParaRPr lang="en-US"/>
          </a:p>
        </p:txBody>
      </p:sp>
      <p:sp>
        <p:nvSpPr>
          <p:cNvPr id="8" name="Footer Placeholder 7"/>
          <p:cNvSpPr>
            <a:spLocks noGrp="1"/>
          </p:cNvSpPr>
          <p:nvPr>
            <p:ph type="ftr" sz="quarter" idx="11"/>
          </p:nvPr>
        </p:nvSpPr>
        <p:spPr/>
        <p:txBody>
          <a:bodyPr/>
          <a:lstStyle/>
          <a:p>
            <a:r>
              <a:rPr lang="en-US"/>
              <a:t>CRP</a:t>
            </a:r>
          </a:p>
        </p:txBody>
      </p:sp>
      <p:sp>
        <p:nvSpPr>
          <p:cNvPr id="9" name="Slide Number Placeholder 8"/>
          <p:cNvSpPr>
            <a:spLocks noGrp="1"/>
          </p:cNvSpPr>
          <p:nvPr>
            <p:ph type="sldNum" sz="quarter" idx="12"/>
          </p:nvPr>
        </p:nvSpPr>
        <p:spPr/>
        <p:txBody>
          <a:bodyPr/>
          <a:lstStyle/>
          <a:p>
            <a:fld id="{849F1A12-756A-4552-B54B-B66CFF5610E9}" type="slidenum">
              <a:rPr lang="en-US" smtClean="0"/>
              <a:t>‹#›</a:t>
            </a:fld>
            <a:endParaRPr lang="en-US"/>
          </a:p>
        </p:txBody>
      </p:sp>
    </p:spTree>
    <p:extLst>
      <p:ext uri="{BB962C8B-B14F-4D97-AF65-F5344CB8AC3E}">
        <p14:creationId xmlns:p14="http://schemas.microsoft.com/office/powerpoint/2010/main" val="122247106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62202BF1-F25A-4744-9086-A785090A3FB1}" type="datetime1">
              <a:rPr lang="en-US" smtClean="0"/>
              <a:t>2/24/2025</a:t>
            </a:fld>
            <a:endParaRPr lang="en-US"/>
          </a:p>
        </p:txBody>
      </p:sp>
      <p:sp>
        <p:nvSpPr>
          <p:cNvPr id="4" name="Footer Placeholder 3"/>
          <p:cNvSpPr>
            <a:spLocks noGrp="1"/>
          </p:cNvSpPr>
          <p:nvPr>
            <p:ph type="ftr" sz="quarter" idx="11"/>
          </p:nvPr>
        </p:nvSpPr>
        <p:spPr/>
        <p:txBody>
          <a:bodyPr/>
          <a:lstStyle/>
          <a:p>
            <a:r>
              <a:rPr lang="en-US"/>
              <a:t>CRP</a:t>
            </a:r>
          </a:p>
        </p:txBody>
      </p:sp>
      <p:sp>
        <p:nvSpPr>
          <p:cNvPr id="5" name="Slide Number Placeholder 4"/>
          <p:cNvSpPr>
            <a:spLocks noGrp="1"/>
          </p:cNvSpPr>
          <p:nvPr>
            <p:ph type="sldNum" sz="quarter" idx="12"/>
          </p:nvPr>
        </p:nvSpPr>
        <p:spPr/>
        <p:txBody>
          <a:bodyPr/>
          <a:lstStyle/>
          <a:p>
            <a:fld id="{849F1A12-756A-4552-B54B-B66CFF5610E9}" type="slidenum">
              <a:rPr lang="en-US" smtClean="0"/>
              <a:t>‹#›</a:t>
            </a:fld>
            <a:endParaRPr lang="en-US"/>
          </a:p>
        </p:txBody>
      </p:sp>
    </p:spTree>
    <p:extLst>
      <p:ext uri="{BB962C8B-B14F-4D97-AF65-F5344CB8AC3E}">
        <p14:creationId xmlns:p14="http://schemas.microsoft.com/office/powerpoint/2010/main" val="150879216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B6BCD37-525F-4600-96CE-5DC139B9ED91}" type="datetime1">
              <a:rPr lang="en-US" smtClean="0"/>
              <a:t>2/24/2025</a:t>
            </a:fld>
            <a:endParaRPr lang="en-US"/>
          </a:p>
        </p:txBody>
      </p:sp>
      <p:sp>
        <p:nvSpPr>
          <p:cNvPr id="3" name="Footer Placeholder 2"/>
          <p:cNvSpPr>
            <a:spLocks noGrp="1"/>
          </p:cNvSpPr>
          <p:nvPr>
            <p:ph type="ftr" sz="quarter" idx="11"/>
          </p:nvPr>
        </p:nvSpPr>
        <p:spPr/>
        <p:txBody>
          <a:bodyPr/>
          <a:lstStyle/>
          <a:p>
            <a:r>
              <a:rPr lang="en-US"/>
              <a:t>CRP</a:t>
            </a:r>
          </a:p>
        </p:txBody>
      </p:sp>
      <p:sp>
        <p:nvSpPr>
          <p:cNvPr id="4" name="Slide Number Placeholder 3"/>
          <p:cNvSpPr>
            <a:spLocks noGrp="1"/>
          </p:cNvSpPr>
          <p:nvPr>
            <p:ph type="sldNum" sz="quarter" idx="12"/>
          </p:nvPr>
        </p:nvSpPr>
        <p:spPr/>
        <p:txBody>
          <a:bodyPr/>
          <a:lstStyle/>
          <a:p>
            <a:fld id="{849F1A12-756A-4552-B54B-B66CFF5610E9}" type="slidenum">
              <a:rPr lang="en-US" smtClean="0"/>
              <a:t>‹#›</a:t>
            </a:fld>
            <a:endParaRPr lang="en-US"/>
          </a:p>
        </p:txBody>
      </p:sp>
    </p:spTree>
    <p:extLst>
      <p:ext uri="{BB962C8B-B14F-4D97-AF65-F5344CB8AC3E}">
        <p14:creationId xmlns:p14="http://schemas.microsoft.com/office/powerpoint/2010/main" val="354730642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E8FE66A5-FCD1-433D-B28A-BD40D972C5F4}" type="datetime1">
              <a:rPr lang="en-US" smtClean="0"/>
              <a:t>2/24/2025</a:t>
            </a:fld>
            <a:endParaRPr lang="en-US"/>
          </a:p>
        </p:txBody>
      </p:sp>
      <p:sp>
        <p:nvSpPr>
          <p:cNvPr id="6" name="Footer Placeholder 5"/>
          <p:cNvSpPr>
            <a:spLocks noGrp="1"/>
          </p:cNvSpPr>
          <p:nvPr>
            <p:ph type="ftr" sz="quarter" idx="11"/>
          </p:nvPr>
        </p:nvSpPr>
        <p:spPr/>
        <p:txBody>
          <a:bodyPr/>
          <a:lstStyle/>
          <a:p>
            <a:r>
              <a:rPr lang="en-US"/>
              <a:t>CRP</a:t>
            </a:r>
          </a:p>
        </p:txBody>
      </p:sp>
      <p:sp>
        <p:nvSpPr>
          <p:cNvPr id="7" name="Slide Number Placeholder 6"/>
          <p:cNvSpPr>
            <a:spLocks noGrp="1"/>
          </p:cNvSpPr>
          <p:nvPr>
            <p:ph type="sldNum" sz="quarter" idx="12"/>
          </p:nvPr>
        </p:nvSpPr>
        <p:spPr/>
        <p:txBody>
          <a:bodyPr/>
          <a:lstStyle/>
          <a:p>
            <a:fld id="{849F1A12-756A-4552-B54B-B66CFF5610E9}" type="slidenum">
              <a:rPr lang="en-US" smtClean="0"/>
              <a:t>‹#›</a:t>
            </a:fld>
            <a:endParaRPr lang="en-US"/>
          </a:p>
        </p:txBody>
      </p:sp>
    </p:spTree>
    <p:extLst>
      <p:ext uri="{BB962C8B-B14F-4D97-AF65-F5344CB8AC3E}">
        <p14:creationId xmlns:p14="http://schemas.microsoft.com/office/powerpoint/2010/main" val="143619274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27179505-56FA-4462-9016-365C57F775C8}" type="datetime1">
              <a:rPr lang="en-US" smtClean="0"/>
              <a:t>2/24/2025</a:t>
            </a:fld>
            <a:endParaRPr lang="en-US"/>
          </a:p>
        </p:txBody>
      </p:sp>
      <p:sp>
        <p:nvSpPr>
          <p:cNvPr id="6" name="Footer Placeholder 5"/>
          <p:cNvSpPr>
            <a:spLocks noGrp="1"/>
          </p:cNvSpPr>
          <p:nvPr>
            <p:ph type="ftr" sz="quarter" idx="11"/>
          </p:nvPr>
        </p:nvSpPr>
        <p:spPr/>
        <p:txBody>
          <a:bodyPr/>
          <a:lstStyle/>
          <a:p>
            <a:r>
              <a:rPr lang="en-US"/>
              <a:t>CRP</a:t>
            </a:r>
          </a:p>
        </p:txBody>
      </p:sp>
      <p:sp>
        <p:nvSpPr>
          <p:cNvPr id="7" name="Slide Number Placeholder 6"/>
          <p:cNvSpPr>
            <a:spLocks noGrp="1"/>
          </p:cNvSpPr>
          <p:nvPr>
            <p:ph type="sldNum" sz="quarter" idx="12"/>
          </p:nvPr>
        </p:nvSpPr>
        <p:spPr/>
        <p:txBody>
          <a:bodyPr/>
          <a:lstStyle/>
          <a:p>
            <a:fld id="{849F1A12-756A-4552-B54B-B66CFF5610E9}" type="slidenum">
              <a:rPr lang="en-US" smtClean="0"/>
              <a:t>‹#›</a:t>
            </a:fld>
            <a:endParaRPr lang="en-US"/>
          </a:p>
        </p:txBody>
      </p:sp>
    </p:spTree>
    <p:extLst>
      <p:ext uri="{BB962C8B-B14F-4D97-AF65-F5344CB8AC3E}">
        <p14:creationId xmlns:p14="http://schemas.microsoft.com/office/powerpoint/2010/main" val="45466532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2566CF-AD5A-464A-9A68-9B5077EEF0F2}" type="datetime1">
              <a:rPr lang="en-US" smtClean="0"/>
              <a:t>2/24/2025</a:t>
            </a:fld>
            <a:endParaRPr lang="en-US"/>
          </a:p>
        </p:txBody>
      </p:sp>
      <p:sp>
        <p:nvSpPr>
          <p:cNvPr id="5" name="Footer Placeholder 4"/>
          <p:cNvSpPr>
            <a:spLocks noGrp="1"/>
          </p:cNvSpPr>
          <p:nvPr>
            <p:ph type="ftr" sz="quarter" idx="11"/>
          </p:nvPr>
        </p:nvSpPr>
        <p:spPr/>
        <p:txBody>
          <a:bodyPr/>
          <a:lstStyle/>
          <a:p>
            <a:r>
              <a:rPr lang="en-US"/>
              <a:t>CRP</a:t>
            </a:r>
          </a:p>
        </p:txBody>
      </p:sp>
      <p:sp>
        <p:nvSpPr>
          <p:cNvPr id="6" name="Slide Number Placeholder 5"/>
          <p:cNvSpPr>
            <a:spLocks noGrp="1"/>
          </p:cNvSpPr>
          <p:nvPr>
            <p:ph type="sldNum" sz="quarter" idx="12"/>
          </p:nvPr>
        </p:nvSpPr>
        <p:spPr/>
        <p:txBody>
          <a:bodyPr/>
          <a:lstStyle/>
          <a:p>
            <a:fld id="{849F1A12-756A-4552-B54B-B66CFF5610E9}" type="slidenum">
              <a:rPr lang="en-US" smtClean="0"/>
              <a:t>‹#›</a:t>
            </a:fld>
            <a:endParaRPr lang="en-US"/>
          </a:p>
        </p:txBody>
      </p:sp>
    </p:spTree>
    <p:extLst>
      <p:ext uri="{BB962C8B-B14F-4D97-AF65-F5344CB8AC3E}">
        <p14:creationId xmlns:p14="http://schemas.microsoft.com/office/powerpoint/2010/main" val="24543250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C747E81-6994-47D6-B547-9DCB41450D0C}" type="datetime1">
              <a:rPr lang="en-US" smtClean="0"/>
              <a:t>2/24/2025</a:t>
            </a:fld>
            <a:endParaRPr lang="en-US"/>
          </a:p>
        </p:txBody>
      </p:sp>
      <p:sp>
        <p:nvSpPr>
          <p:cNvPr id="5" name="Footer Placeholder 4"/>
          <p:cNvSpPr>
            <a:spLocks noGrp="1"/>
          </p:cNvSpPr>
          <p:nvPr>
            <p:ph type="ftr" sz="quarter" idx="11"/>
          </p:nvPr>
        </p:nvSpPr>
        <p:spPr/>
        <p:txBody>
          <a:bodyPr/>
          <a:lstStyle/>
          <a:p>
            <a:r>
              <a:rPr lang="en-US"/>
              <a:t>CRP</a:t>
            </a:r>
          </a:p>
        </p:txBody>
      </p:sp>
      <p:sp>
        <p:nvSpPr>
          <p:cNvPr id="6" name="Slide Number Placeholder 5"/>
          <p:cNvSpPr>
            <a:spLocks noGrp="1"/>
          </p:cNvSpPr>
          <p:nvPr>
            <p:ph type="sldNum" sz="quarter" idx="12"/>
          </p:nvPr>
        </p:nvSpPr>
        <p:spPr/>
        <p:txBody>
          <a:bodyPr/>
          <a:lstStyle/>
          <a:p>
            <a:fld id="{849F1A12-756A-4552-B54B-B66CFF5610E9}" type="slidenum">
              <a:rPr lang="en-US" smtClean="0"/>
              <a:t>‹#›</a:t>
            </a:fld>
            <a:endParaRPr lang="en-US"/>
          </a:p>
        </p:txBody>
      </p:sp>
    </p:spTree>
    <p:extLst>
      <p:ext uri="{BB962C8B-B14F-4D97-AF65-F5344CB8AC3E}">
        <p14:creationId xmlns:p14="http://schemas.microsoft.com/office/powerpoint/2010/main" val="63172238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AD7713E-5BC1-4140-B1D8-8B57A9984E9D}" type="datetime1">
              <a:rPr lang="en-US" smtClean="0"/>
              <a:t>2/24/2025</a:t>
            </a:fld>
            <a:endParaRPr 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CRP</a:t>
            </a:r>
          </a:p>
        </p:txBody>
      </p:sp>
      <p:sp>
        <p:nvSpPr>
          <p:cNvPr id="6" name="Slide Number Placeholder 5"/>
          <p:cNvSpPr>
            <a:spLocks noGrp="1"/>
          </p:cNvSpPr>
          <p:nvPr>
            <p:ph type="sldNum" sz="quarter" idx="4"/>
          </p:nvPr>
        </p:nvSpPr>
        <p:spPr>
          <a:xfrm>
            <a:off x="6457950" y="6176963"/>
            <a:ext cx="2057400" cy="544513"/>
          </a:xfrm>
          <a:prstGeom prst="rect">
            <a:avLst/>
          </a:prstGeom>
        </p:spPr>
        <p:txBody>
          <a:bodyPr vert="horz" lIns="91440" tIns="45720" rIns="91440" bIns="45720" rtlCol="0" anchor="ctr"/>
          <a:lstStyle>
            <a:lvl1pPr algn="r">
              <a:defRPr sz="3600" b="1">
                <a:solidFill>
                  <a:srgbClr val="002060"/>
                </a:solidFill>
              </a:defRPr>
            </a:lvl1pPr>
          </a:lstStyle>
          <a:p>
            <a:fld id="{849F1A12-756A-4552-B54B-B66CFF5610E9}" type="slidenum">
              <a:rPr lang="en-US" smtClean="0"/>
              <a:pPr/>
              <a:t>‹#›</a:t>
            </a:fld>
            <a:endParaRPr lang="en-US"/>
          </a:p>
        </p:txBody>
      </p:sp>
    </p:spTree>
    <p:extLst>
      <p:ext uri="{BB962C8B-B14F-4D97-AF65-F5344CB8AC3E}">
        <p14:creationId xmlns:p14="http://schemas.microsoft.com/office/powerpoint/2010/main" val="188092760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8.xml"/><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30.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3FDA4B-B8D0-411B-9352-91737DF3F812}"/>
              </a:ext>
            </a:extLst>
          </p:cNvPr>
          <p:cNvSpPr>
            <a:spLocks noGrp="1"/>
          </p:cNvSpPr>
          <p:nvPr>
            <p:ph type="ctrTitle"/>
          </p:nvPr>
        </p:nvSpPr>
        <p:spPr>
          <a:xfrm>
            <a:off x="768925" y="1"/>
            <a:ext cx="7772400" cy="1504106"/>
          </a:xfrm>
        </p:spPr>
        <p:txBody>
          <a:bodyPr>
            <a:noAutofit/>
          </a:bodyPr>
          <a:lstStyle/>
          <a:p>
            <a:r>
              <a:rPr lang="en-GB" sz="3200" dirty="0">
                <a:solidFill>
                  <a:schemeClr val="tx1">
                    <a:lumMod val="95000"/>
                    <a:lumOff val="5000"/>
                  </a:schemeClr>
                </a:solidFill>
                <a:highlight>
                  <a:srgbClr val="FFFF00"/>
                </a:highlight>
              </a:rPr>
              <a:t>Evaluating the Performance of Object Detection Models for Accurate Sri Lankan Traffic Sign Detection</a:t>
            </a:r>
            <a:endParaRPr lang="en-US" sz="3200" dirty="0">
              <a:solidFill>
                <a:schemeClr val="tx1">
                  <a:lumMod val="95000"/>
                  <a:lumOff val="5000"/>
                </a:schemeClr>
              </a:solidFill>
              <a:highlight>
                <a:srgbClr val="FFFF00"/>
              </a:highlight>
            </a:endParaRPr>
          </a:p>
        </p:txBody>
      </p:sp>
      <p:sp>
        <p:nvSpPr>
          <p:cNvPr id="3" name="Subtitle 2">
            <a:extLst>
              <a:ext uri="{FF2B5EF4-FFF2-40B4-BE49-F238E27FC236}">
                <a16:creationId xmlns:a16="http://schemas.microsoft.com/office/drawing/2014/main" id="{06594787-82F1-457D-A305-66ECDCF187DC}"/>
              </a:ext>
            </a:extLst>
          </p:cNvPr>
          <p:cNvSpPr>
            <a:spLocks noGrp="1"/>
          </p:cNvSpPr>
          <p:nvPr>
            <p:ph type="subTitle" idx="1"/>
          </p:nvPr>
        </p:nvSpPr>
        <p:spPr>
          <a:xfrm>
            <a:off x="1226126" y="3840801"/>
            <a:ext cx="6858000" cy="2088944"/>
          </a:xfrm>
          <a:noFill/>
        </p:spPr>
        <p:txBody>
          <a:bodyPr>
            <a:normAutofit lnSpcReduction="10000"/>
          </a:bodyPr>
          <a:lstStyle/>
          <a:p>
            <a:r>
              <a:rPr lang="en-GB" sz="1800" dirty="0">
                <a:latin typeface="Times New Roman" panose="02020603050405020304" pitchFamily="18" charset="0"/>
                <a:cs typeface="Times New Roman" panose="02020603050405020304" pitchFamily="18" charset="0"/>
              </a:rPr>
              <a:t>Learner Name: MN. Sihanas</a:t>
            </a:r>
          </a:p>
          <a:p>
            <a:r>
              <a:rPr lang="en-GB" sz="1800" dirty="0">
                <a:latin typeface="Times New Roman" panose="02020603050405020304" pitchFamily="18" charset="0"/>
                <a:cs typeface="Times New Roman" panose="02020603050405020304" pitchFamily="18" charset="0"/>
              </a:rPr>
              <a:t>Student Id: 1030371</a:t>
            </a:r>
            <a:endParaRPr lang="en-US" sz="1800" dirty="0">
              <a:latin typeface="Times New Roman" panose="02020603050405020304" pitchFamily="18" charset="0"/>
              <a:cs typeface="Times New Roman" panose="02020603050405020304" pitchFamily="18" charset="0"/>
            </a:endParaRPr>
          </a:p>
          <a:p>
            <a:r>
              <a:rPr lang="en-GB" sz="18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Course &amp; Batch: HND in Computing - 22</a:t>
            </a:r>
            <a:endParaRPr lang="en-US" sz="18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p>
            <a:endParaRPr lang="en-US" sz="1800"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p>
            <a:r>
              <a:rPr lang="en-US" sz="1900" b="1"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Assessor</a:t>
            </a:r>
            <a:r>
              <a:rPr lang="en-US" sz="1800" b="1"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 Mrs. ALF. Sajeetha</a:t>
            </a:r>
            <a:endParaRPr lang="en-GB" sz="1800" b="1" dirty="0">
              <a:solidFill>
                <a:srgbClr val="000000"/>
              </a:solidFill>
              <a:highlight>
                <a:srgbClr val="FFFF00"/>
              </a:highlight>
              <a:latin typeface="Times New Roman" panose="02020603050405020304" pitchFamily="18" charset="0"/>
              <a:ea typeface="Times New Roman" panose="02020603050405020304" pitchFamily="18" charset="0"/>
              <a:cs typeface="Times New Roman" panose="02020603050405020304" pitchFamily="18" charset="0"/>
            </a:endParaRPr>
          </a:p>
          <a:p>
            <a:r>
              <a:rPr lang="en-GB" sz="1800" b="1" dirty="0">
                <a:solidFill>
                  <a:srgbClr val="000000"/>
                </a:solidFill>
                <a:highlight>
                  <a:srgbClr val="FFFF00"/>
                </a:highlight>
                <a:latin typeface="Times New Roman" panose="02020603050405020304" pitchFamily="18" charset="0"/>
                <a:ea typeface="Times New Roman" panose="02020603050405020304" pitchFamily="18" charset="0"/>
                <a:cs typeface="Times New Roman" panose="02020603050405020304" pitchFamily="18" charset="0"/>
              </a:rPr>
              <a:t>Supervisor: Mrs. NF. Mafaza</a:t>
            </a:r>
            <a:endParaRPr lang="en-US" sz="1800" b="1"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p:txBody>
      </p:sp>
      <p:pic>
        <p:nvPicPr>
          <p:cNvPr id="1026" name="Picture 2" descr="British College of Applied Studies – Building Careers Transforming Live">
            <a:extLst>
              <a:ext uri="{FF2B5EF4-FFF2-40B4-BE49-F238E27FC236}">
                <a16:creationId xmlns:a16="http://schemas.microsoft.com/office/drawing/2014/main" id="{3AAAFF53-3A69-97C0-6C4E-BE0B8371720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497838" y="2169402"/>
            <a:ext cx="2314575" cy="12668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8627980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24" name="Rectangle 23">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26" name="Rectangle 25">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914813" y="1914812"/>
            <a:ext cx="6858000" cy="3028377"/>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29">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914814" y="1924949"/>
            <a:ext cx="6857999" cy="302837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263195" y="4092815"/>
            <a:ext cx="2501979" cy="302838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4" name="Freeform: Shape 33">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376302" y="969718"/>
            <a:ext cx="292526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36" name="Rectangle 35">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914820" y="1904672"/>
            <a:ext cx="6858003" cy="3028376"/>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7CB860C7-93AD-4311-8CD4-4580644B47DD}"/>
              </a:ext>
            </a:extLst>
          </p:cNvPr>
          <p:cNvSpPr>
            <a:spLocks noGrp="1"/>
          </p:cNvSpPr>
          <p:nvPr>
            <p:ph idx="1"/>
          </p:nvPr>
        </p:nvSpPr>
        <p:spPr>
          <a:xfrm>
            <a:off x="3598840" y="278094"/>
            <a:ext cx="4916510" cy="6281531"/>
          </a:xfrm>
        </p:spPr>
        <p:txBody>
          <a:bodyPr anchor="ctr">
            <a:normAutofit/>
          </a:bodyPr>
          <a:lstStyle/>
          <a:p>
            <a:pPr marL="342900" marR="0" indent="-342900" algn="just">
              <a:spcBef>
                <a:spcPts val="0"/>
              </a:spcBef>
              <a:spcAft>
                <a:spcPts val="1000"/>
              </a:spcAft>
              <a:buAutoNum type="arabicPeriod"/>
            </a:pPr>
            <a:endParaRPr lang="en-US" sz="1800" dirty="0">
              <a:effectLst/>
              <a:ea typeface="SimSun" panose="02010600030101010101" pitchFamily="2" charset="-122"/>
              <a:cs typeface="Arial" panose="020B0604020202020204"/>
            </a:endParaRPr>
          </a:p>
          <a:p>
            <a:pPr marL="342900" marR="0" indent="-342900" algn="just">
              <a:spcBef>
                <a:spcPts val="0"/>
              </a:spcBef>
              <a:spcAft>
                <a:spcPts val="1000"/>
              </a:spcAft>
              <a:buAutoNum type="arabicPeriod"/>
            </a:pPr>
            <a:r>
              <a:rPr lang="en-US" sz="1800" dirty="0">
                <a:ea typeface="SimSun" panose="02010600030101010101" pitchFamily="2" charset="-122"/>
              </a:rPr>
              <a:t>Introduction</a:t>
            </a:r>
            <a:r>
              <a:rPr lang="en-US" sz="1800" dirty="0">
                <a:effectLst/>
                <a:ea typeface="SimSun" panose="02010600030101010101" pitchFamily="2" charset="-122"/>
              </a:rPr>
              <a:t>.</a:t>
            </a:r>
            <a:endParaRPr lang="en-US" sz="1800" dirty="0">
              <a:effectLst/>
              <a:ea typeface="SimSun" panose="02010600030101010101" pitchFamily="2" charset="-122"/>
              <a:cs typeface="Arial"/>
            </a:endParaRPr>
          </a:p>
          <a:p>
            <a:pPr marL="342900" marR="0" indent="-342900" algn="just">
              <a:spcBef>
                <a:spcPts val="0"/>
              </a:spcBef>
              <a:spcAft>
                <a:spcPts val="1000"/>
              </a:spcAft>
              <a:buAutoNum type="arabicPeriod"/>
            </a:pPr>
            <a:r>
              <a:rPr lang="en-US" sz="1800" dirty="0">
                <a:ea typeface="SimSun"/>
              </a:rPr>
              <a:t>Aim of research.</a:t>
            </a:r>
            <a:endParaRPr lang="en-US" sz="1800" dirty="0">
              <a:ea typeface="SimSun"/>
              <a:cs typeface="Arial"/>
            </a:endParaRPr>
          </a:p>
          <a:p>
            <a:pPr marL="342900" indent="-342900" algn="just">
              <a:spcBef>
                <a:spcPts val="0"/>
              </a:spcBef>
              <a:spcAft>
                <a:spcPts val="1000"/>
              </a:spcAft>
              <a:buAutoNum type="arabicPeriod"/>
            </a:pPr>
            <a:r>
              <a:rPr lang="en-US" sz="1800" dirty="0">
                <a:effectLst/>
                <a:ea typeface="SimSun"/>
              </a:rPr>
              <a:t>Research question</a:t>
            </a:r>
            <a:r>
              <a:rPr lang="en-US" sz="1800" dirty="0">
                <a:ea typeface="SimSun"/>
              </a:rPr>
              <a:t> &amp; Hypothesis</a:t>
            </a:r>
            <a:r>
              <a:rPr lang="en-US" sz="1800" dirty="0">
                <a:effectLst/>
                <a:ea typeface="SimSun"/>
              </a:rPr>
              <a:t>.</a:t>
            </a:r>
            <a:r>
              <a:rPr lang="en-US" sz="1800" dirty="0">
                <a:ea typeface="SimSun"/>
              </a:rPr>
              <a:t> - IV,DV</a:t>
            </a:r>
            <a:endParaRPr lang="en-US" sz="1800" dirty="0">
              <a:effectLst/>
              <a:ea typeface="SimSun" panose="02010600030101010101" pitchFamily="2" charset="-122"/>
              <a:cs typeface="Arial"/>
            </a:endParaRPr>
          </a:p>
          <a:p>
            <a:pPr marL="342900" marR="0" indent="-342900" algn="just">
              <a:spcBef>
                <a:spcPts val="0"/>
              </a:spcBef>
              <a:spcAft>
                <a:spcPts val="1000"/>
              </a:spcAft>
              <a:buAutoNum type="arabicPeriod"/>
            </a:pPr>
            <a:r>
              <a:rPr lang="en-US" sz="1800" dirty="0">
                <a:ea typeface="SimSun"/>
              </a:rPr>
              <a:t>Objective of research.</a:t>
            </a:r>
            <a:endParaRPr lang="en-US" sz="1800" dirty="0">
              <a:ea typeface="SimSun"/>
              <a:cs typeface="Arial"/>
            </a:endParaRPr>
          </a:p>
          <a:p>
            <a:pPr marL="342900" indent="-342900" algn="just">
              <a:spcBef>
                <a:spcPts val="0"/>
              </a:spcBef>
              <a:spcAft>
                <a:spcPts val="1000"/>
              </a:spcAft>
              <a:buAutoNum type="arabicPeriod"/>
            </a:pPr>
            <a:r>
              <a:rPr lang="en-US" sz="1800">
                <a:ea typeface="SimSun"/>
                <a:cs typeface="Arial"/>
              </a:rPr>
              <a:t>Literature Review. </a:t>
            </a:r>
            <a:endParaRPr lang="en-US" sz="1800" dirty="0">
              <a:ea typeface="SimSun"/>
              <a:cs typeface="Arial" panose="020B0604020202020204"/>
            </a:endParaRPr>
          </a:p>
          <a:p>
            <a:pPr marL="342900" marR="0" indent="-342900" algn="just">
              <a:spcBef>
                <a:spcPts val="0"/>
              </a:spcBef>
              <a:spcAft>
                <a:spcPts val="1000"/>
              </a:spcAft>
              <a:buAutoNum type="arabicPeriod"/>
            </a:pPr>
            <a:r>
              <a:rPr lang="en-US" sz="1800" dirty="0">
                <a:effectLst/>
                <a:ea typeface="SimSun"/>
              </a:rPr>
              <a:t>Scope </a:t>
            </a:r>
            <a:r>
              <a:rPr lang="en-US" sz="1800" dirty="0">
                <a:ea typeface="SimSun"/>
              </a:rPr>
              <a:t>of research.</a:t>
            </a:r>
            <a:endParaRPr lang="en-US" sz="1800" dirty="0">
              <a:ea typeface="SimSun"/>
              <a:cs typeface="Arial"/>
            </a:endParaRPr>
          </a:p>
          <a:p>
            <a:pPr marL="342900" indent="-342900" algn="just">
              <a:spcBef>
                <a:spcPts val="0"/>
              </a:spcBef>
              <a:spcAft>
                <a:spcPts val="1000"/>
              </a:spcAft>
              <a:buAutoNum type="arabicPeriod"/>
            </a:pPr>
            <a:r>
              <a:rPr lang="en-US" sz="1800" dirty="0">
                <a:ea typeface="SimSun"/>
                <a:cs typeface="Arial"/>
              </a:rPr>
              <a:t>Top level architecture &amp; WBS.</a:t>
            </a:r>
          </a:p>
          <a:p>
            <a:pPr marL="342900" marR="0" indent="-342900" algn="just">
              <a:spcBef>
                <a:spcPts val="0"/>
              </a:spcBef>
              <a:spcAft>
                <a:spcPts val="1000"/>
              </a:spcAft>
              <a:buAutoNum type="arabicPeriod"/>
            </a:pPr>
            <a:r>
              <a:rPr lang="en-US" sz="1800" dirty="0">
                <a:ea typeface="SimSun"/>
                <a:cs typeface="Arial"/>
              </a:rPr>
              <a:t>Methodology. </a:t>
            </a:r>
          </a:p>
          <a:p>
            <a:pPr marL="342900" indent="-342900" algn="just">
              <a:spcBef>
                <a:spcPts val="0"/>
              </a:spcBef>
              <a:spcAft>
                <a:spcPts val="1000"/>
              </a:spcAft>
              <a:buAutoNum type="arabicPeriod"/>
            </a:pPr>
            <a:r>
              <a:rPr lang="en-US" sz="1800" dirty="0">
                <a:ea typeface="SimSun"/>
                <a:cs typeface="Arial"/>
              </a:rPr>
              <a:t>Limitations of research.</a:t>
            </a:r>
          </a:p>
          <a:p>
            <a:pPr marL="342900" marR="0" indent="-342900" algn="just">
              <a:spcBef>
                <a:spcPts val="0"/>
              </a:spcBef>
              <a:spcAft>
                <a:spcPts val="1000"/>
              </a:spcAft>
              <a:buAutoNum type="arabicPeriod"/>
            </a:pPr>
            <a:r>
              <a:rPr lang="en-US" sz="1800" dirty="0">
                <a:ea typeface="SimSun" panose="02010600030101010101" pitchFamily="2" charset="-122"/>
              </a:rPr>
              <a:t>Timeline.</a:t>
            </a:r>
            <a:endParaRPr lang="en-US" sz="1800" dirty="0">
              <a:ea typeface="SimSun" panose="02010600030101010101" pitchFamily="2" charset="-122"/>
              <a:cs typeface="Arial"/>
            </a:endParaRPr>
          </a:p>
          <a:p>
            <a:pPr marL="342900" marR="0" indent="-342900" algn="just">
              <a:spcBef>
                <a:spcPts val="0"/>
              </a:spcBef>
              <a:spcAft>
                <a:spcPts val="1000"/>
              </a:spcAft>
              <a:buAutoNum type="arabicPeriod"/>
            </a:pPr>
            <a:r>
              <a:rPr lang="en-US" sz="1800" dirty="0">
                <a:ea typeface="SimSun"/>
              </a:rPr>
              <a:t>Cost &amp; Benefit.</a:t>
            </a:r>
            <a:endParaRPr lang="en-US" sz="1800" dirty="0">
              <a:ea typeface="SimSun"/>
              <a:cs typeface="Arial"/>
            </a:endParaRPr>
          </a:p>
          <a:p>
            <a:pPr marL="342900" marR="0" indent="-342900" algn="just">
              <a:spcBef>
                <a:spcPts val="0"/>
              </a:spcBef>
              <a:spcAft>
                <a:spcPts val="1000"/>
              </a:spcAft>
              <a:buAutoNum type="arabicPeriod"/>
            </a:pPr>
            <a:r>
              <a:rPr lang="en-US" sz="1800" dirty="0">
                <a:ea typeface="SimSun"/>
              </a:rPr>
              <a:t>Conclusion.</a:t>
            </a:r>
            <a:r>
              <a:rPr lang="en-US" sz="1800" dirty="0">
                <a:effectLst/>
                <a:ea typeface="SimSun"/>
              </a:rPr>
              <a:t> </a:t>
            </a:r>
            <a:endParaRPr lang="en-US" sz="1800" dirty="0">
              <a:effectLst/>
              <a:ea typeface="SimSun"/>
              <a:cs typeface="Arial"/>
            </a:endParaRPr>
          </a:p>
          <a:p>
            <a:pPr marL="342900" marR="0" indent="-342900" algn="just">
              <a:spcBef>
                <a:spcPts val="0"/>
              </a:spcBef>
              <a:spcAft>
                <a:spcPts val="1000"/>
              </a:spcAft>
              <a:buAutoNum type="arabicPeriod"/>
            </a:pPr>
            <a:r>
              <a:rPr lang="en-US" sz="1800" dirty="0">
                <a:ea typeface="SimSun" panose="02010600030101010101" pitchFamily="2" charset="-122"/>
              </a:rPr>
              <a:t>Acknowledgement.</a:t>
            </a:r>
            <a:endParaRPr lang="en-US" sz="1800" dirty="0">
              <a:effectLst/>
              <a:ea typeface="SimSun" panose="02010600030101010101" pitchFamily="2" charset="-122"/>
              <a:cs typeface="Arial" panose="020B0604020202020204"/>
            </a:endParaRPr>
          </a:p>
        </p:txBody>
      </p:sp>
      <p:sp>
        <p:nvSpPr>
          <p:cNvPr id="4" name="Date Placeholder 3">
            <a:extLst>
              <a:ext uri="{FF2B5EF4-FFF2-40B4-BE49-F238E27FC236}">
                <a16:creationId xmlns:a16="http://schemas.microsoft.com/office/drawing/2014/main" id="{CBBD532E-64D0-4EDF-8CB2-01936B63643A}"/>
              </a:ext>
            </a:extLst>
          </p:cNvPr>
          <p:cNvSpPr>
            <a:spLocks noGrp="1"/>
          </p:cNvSpPr>
          <p:nvPr>
            <p:ph type="dt" sz="half" idx="10"/>
          </p:nvPr>
        </p:nvSpPr>
        <p:spPr/>
        <p:txBody>
          <a:bodyPr/>
          <a:lstStyle/>
          <a:p>
            <a:fld id="{DB46B643-623A-444A-AFDE-301468806DB0}" type="datetime1">
              <a:rPr lang="en-US" smtClean="0"/>
              <a:t>2/24/2025</a:t>
            </a:fld>
            <a:endParaRPr lang="en-US"/>
          </a:p>
        </p:txBody>
      </p:sp>
      <p:sp>
        <p:nvSpPr>
          <p:cNvPr id="5" name="Slide Number Placeholder 4">
            <a:extLst>
              <a:ext uri="{FF2B5EF4-FFF2-40B4-BE49-F238E27FC236}">
                <a16:creationId xmlns:a16="http://schemas.microsoft.com/office/drawing/2014/main" id="{BE493AC1-341C-416D-9B4C-0E2ADB9F70BC}"/>
              </a:ext>
            </a:extLst>
          </p:cNvPr>
          <p:cNvSpPr>
            <a:spLocks noGrp="1"/>
          </p:cNvSpPr>
          <p:nvPr>
            <p:ph type="sldNum" sz="quarter" idx="12"/>
          </p:nvPr>
        </p:nvSpPr>
        <p:spPr/>
        <p:txBody>
          <a:bodyPr/>
          <a:lstStyle/>
          <a:p>
            <a:r>
              <a:rPr lang="en-US" sz="1000" b="0" dirty="0"/>
              <a:t>2</a:t>
            </a:r>
          </a:p>
        </p:txBody>
      </p:sp>
      <p:sp>
        <p:nvSpPr>
          <p:cNvPr id="6" name="Title 5"/>
          <p:cNvSpPr>
            <a:spLocks noGrp="1"/>
          </p:cNvSpPr>
          <p:nvPr>
            <p:ph type="title"/>
          </p:nvPr>
        </p:nvSpPr>
        <p:spPr>
          <a:xfrm>
            <a:off x="3301293" y="-16383"/>
            <a:ext cx="7886700" cy="1325563"/>
          </a:xfrm>
        </p:spPr>
        <p:txBody>
          <a:bodyPr>
            <a:normAutofit/>
          </a:bodyPr>
          <a:lstStyle/>
          <a:p>
            <a:r>
              <a:rPr lang="en-US" sz="2800" b="1" dirty="0"/>
              <a:t>Table of Contents</a:t>
            </a:r>
            <a:endParaRPr lang="en-GB" sz="2800" b="1" dirty="0"/>
          </a:p>
        </p:txBody>
      </p:sp>
      <p:sp>
        <p:nvSpPr>
          <p:cNvPr id="7" name="Footer Placeholder 6"/>
          <p:cNvSpPr>
            <a:spLocks noGrp="1"/>
          </p:cNvSpPr>
          <p:nvPr>
            <p:ph type="ftr" sz="quarter" idx="11"/>
          </p:nvPr>
        </p:nvSpPr>
        <p:spPr/>
        <p:txBody>
          <a:bodyPr/>
          <a:lstStyle/>
          <a:p>
            <a:r>
              <a:rPr lang="en-US"/>
              <a:t>CRP</a:t>
            </a:r>
          </a:p>
        </p:txBody>
      </p:sp>
      <p:sp>
        <p:nvSpPr>
          <p:cNvPr id="14" name="Title 1">
            <a:extLst>
              <a:ext uri="{FF2B5EF4-FFF2-40B4-BE49-F238E27FC236}">
                <a16:creationId xmlns:a16="http://schemas.microsoft.com/office/drawing/2014/main" id="{634380F5-514D-4989-966A-49BC47C96416}"/>
              </a:ext>
            </a:extLst>
          </p:cNvPr>
          <p:cNvSpPr txBox="1">
            <a:spLocks/>
          </p:cNvSpPr>
          <p:nvPr/>
        </p:nvSpPr>
        <p:spPr>
          <a:xfrm>
            <a:off x="350041" y="3325091"/>
            <a:ext cx="2401025" cy="649261"/>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2400" dirty="0">
                <a:solidFill>
                  <a:srgbClr val="FFFFFF"/>
                </a:solidFill>
                <a:latin typeface="Times New Roman" panose="02020603050405020304" pitchFamily="18" charset="0"/>
                <a:ea typeface="Arial Unicode MS" pitchFamily="34" charset="-128"/>
                <a:cs typeface="Times New Roman" panose="02020603050405020304" pitchFamily="18" charset="0"/>
              </a:rPr>
              <a:t>Table of Contents</a:t>
            </a:r>
            <a:endParaRPr lang="en-US" sz="2400" dirty="0">
              <a:solidFill>
                <a:srgbClr val="FFFFFF"/>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1934164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23" name="p!!Rectangle">
            <a:extLst>
              <a:ext uri="{FF2B5EF4-FFF2-40B4-BE49-F238E27FC236}">
                <a16:creationId xmlns:a16="http://schemas.microsoft.com/office/drawing/2014/main" id="{2FB82883-1DC0-4BE1-A607-009095F335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descr="Close up of book pages">
            <a:extLst>
              <a:ext uri="{FF2B5EF4-FFF2-40B4-BE49-F238E27FC236}">
                <a16:creationId xmlns:a16="http://schemas.microsoft.com/office/drawing/2014/main" id="{273ADCC6-897E-4499-9AC1-C34ED51F898D}"/>
              </a:ext>
            </a:extLst>
          </p:cNvPr>
          <p:cNvPicPr>
            <a:picLocks noChangeAspect="1"/>
          </p:cNvPicPr>
          <p:nvPr/>
        </p:nvPicPr>
        <p:blipFill rotWithShape="1">
          <a:blip r:embed="rId2"/>
          <a:srcRect/>
          <a:stretch/>
        </p:blipFill>
        <p:spPr>
          <a:xfrm>
            <a:off x="20" y="10"/>
            <a:ext cx="9143980" cy="6857990"/>
          </a:xfrm>
          <a:prstGeom prst="rect">
            <a:avLst/>
          </a:prstGeom>
        </p:spPr>
      </p:pic>
      <p:sp>
        <p:nvSpPr>
          <p:cNvPr id="25" name="m!!text rectangle">
            <a:extLst>
              <a:ext uri="{FF2B5EF4-FFF2-40B4-BE49-F238E27FC236}">
                <a16:creationId xmlns:a16="http://schemas.microsoft.com/office/drawing/2014/main" id="{A3473CF9-37EB-43E7-89EF-D2D1C53D1D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427711" y="4638503"/>
            <a:ext cx="6288577" cy="1332634"/>
          </a:xfrm>
          <a:prstGeom prst="rect">
            <a:avLst/>
          </a:prstGeom>
          <a:solidFill>
            <a:schemeClr val="bg1">
              <a:alpha val="95000"/>
            </a:schemeClr>
          </a:solidFill>
          <a:ln w="12700">
            <a:solidFill>
              <a:srgbClr val="EFEFEF"/>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184D784C-09C2-4209-A54C-7272AAABAA90}"/>
              </a:ext>
            </a:extLst>
          </p:cNvPr>
          <p:cNvSpPr>
            <a:spLocks noGrp="1"/>
          </p:cNvSpPr>
          <p:nvPr>
            <p:ph type="title"/>
          </p:nvPr>
        </p:nvSpPr>
        <p:spPr>
          <a:xfrm>
            <a:off x="1577340" y="4727173"/>
            <a:ext cx="5989320" cy="868823"/>
          </a:xfrm>
        </p:spPr>
        <p:txBody>
          <a:bodyPr vert="horz" lIns="91440" tIns="45720" rIns="91440" bIns="45720" rtlCol="0" anchor="ctr">
            <a:normAutofit/>
          </a:bodyPr>
          <a:lstStyle/>
          <a:p>
            <a:pPr marL="514350" indent="-514350" algn="ctr">
              <a:buAutoNum type="arabicPeriod"/>
            </a:pPr>
            <a:r>
              <a:rPr lang="en-US" sz="3500" dirty="0"/>
              <a:t>Introduction.</a:t>
            </a:r>
            <a:endParaRPr lang="en-US" dirty="0"/>
          </a:p>
        </p:txBody>
      </p:sp>
      <p:sp>
        <p:nvSpPr>
          <p:cNvPr id="27" name="m!!accent">
            <a:extLst>
              <a:ext uri="{FF2B5EF4-FFF2-40B4-BE49-F238E27FC236}">
                <a16:creationId xmlns:a16="http://schemas.microsoft.com/office/drawing/2014/main" id="{586B4EF9-43BA-4655-A6FF-1D8E21574C9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862332" y="5628237"/>
            <a:ext cx="5419335" cy="685800"/>
          </a:xfrm>
          <a:prstGeom prst="roundRect">
            <a:avLst>
              <a:gd name="adj" fmla="val 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4" name="Date Placeholder 3">
            <a:extLst>
              <a:ext uri="{FF2B5EF4-FFF2-40B4-BE49-F238E27FC236}">
                <a16:creationId xmlns:a16="http://schemas.microsoft.com/office/drawing/2014/main" id="{6D4C7CB0-FBE1-485A-979E-AFFF09854263}"/>
              </a:ext>
            </a:extLst>
          </p:cNvPr>
          <p:cNvSpPr>
            <a:spLocks noGrp="1"/>
          </p:cNvSpPr>
          <p:nvPr>
            <p:ph type="dt" sz="half" idx="10"/>
          </p:nvPr>
        </p:nvSpPr>
        <p:spPr>
          <a:xfrm>
            <a:off x="628650" y="6356350"/>
            <a:ext cx="2057400" cy="365125"/>
          </a:xfrm>
        </p:spPr>
        <p:txBody>
          <a:bodyPr vert="horz" lIns="91440" tIns="45720" rIns="91440" bIns="45720" rtlCol="0" anchor="ctr">
            <a:normAutofit/>
          </a:bodyPr>
          <a:lstStyle/>
          <a:p>
            <a:pPr defTabSz="914400">
              <a:spcAft>
                <a:spcPts val="600"/>
              </a:spcAft>
              <a:defRPr/>
            </a:pPr>
            <a:fld id="{9CE768F5-6F8D-4DB0-80B3-47627E038267}" type="datetime1">
              <a:rPr lang="en-US" smtClean="0">
                <a:solidFill>
                  <a:schemeClr val="bg1"/>
                </a:solidFill>
                <a:latin typeface="Calibri" panose="020F0502020204030204"/>
              </a:rPr>
              <a:t>2/24/2025</a:t>
            </a:fld>
            <a:endParaRPr lang="en-US">
              <a:solidFill>
                <a:schemeClr val="bg1"/>
              </a:solidFill>
              <a:latin typeface="Calibri" panose="020F0502020204030204"/>
            </a:endParaRPr>
          </a:p>
        </p:txBody>
      </p:sp>
      <p:sp>
        <p:nvSpPr>
          <p:cNvPr id="5" name="Slide Number Placeholder 4">
            <a:extLst>
              <a:ext uri="{FF2B5EF4-FFF2-40B4-BE49-F238E27FC236}">
                <a16:creationId xmlns:a16="http://schemas.microsoft.com/office/drawing/2014/main" id="{4892CD39-0D00-43C5-8A2D-E2EDFA3A7F9B}"/>
              </a:ext>
            </a:extLst>
          </p:cNvPr>
          <p:cNvSpPr>
            <a:spLocks noGrp="1"/>
          </p:cNvSpPr>
          <p:nvPr>
            <p:ph type="sldNum" sz="quarter" idx="12"/>
          </p:nvPr>
        </p:nvSpPr>
        <p:spPr>
          <a:xfrm>
            <a:off x="6457950" y="6356350"/>
            <a:ext cx="2057400" cy="365125"/>
          </a:xfrm>
        </p:spPr>
        <p:txBody>
          <a:bodyPr vert="horz" lIns="91440" tIns="45720" rIns="91440" bIns="45720" rtlCol="0" anchor="ctr">
            <a:normAutofit/>
          </a:bodyPr>
          <a:lstStyle/>
          <a:p>
            <a:pPr defTabSz="914400">
              <a:spcAft>
                <a:spcPts val="600"/>
              </a:spcAft>
              <a:defRPr/>
            </a:pPr>
            <a:fld id="{849F1A12-756A-4552-B54B-B66CFF5610E9}" type="slidenum">
              <a:rPr lang="en-US" sz="1200" b="0">
                <a:solidFill>
                  <a:schemeClr val="bg1"/>
                </a:solidFill>
                <a:latin typeface="Calibri" panose="020F0502020204030204"/>
              </a:rPr>
              <a:pPr defTabSz="914400">
                <a:spcAft>
                  <a:spcPts val="600"/>
                </a:spcAft>
                <a:defRPr/>
              </a:pPr>
              <a:t>3</a:t>
            </a:fld>
            <a:endParaRPr lang="en-US" sz="1200" b="0" dirty="0">
              <a:solidFill>
                <a:schemeClr val="bg1"/>
              </a:solidFill>
              <a:latin typeface="Calibri" panose="020F0502020204030204"/>
            </a:endParaRPr>
          </a:p>
        </p:txBody>
      </p:sp>
      <p:sp>
        <p:nvSpPr>
          <p:cNvPr id="3" name="Footer Placeholder 2"/>
          <p:cNvSpPr>
            <a:spLocks noGrp="1"/>
          </p:cNvSpPr>
          <p:nvPr>
            <p:ph type="ftr" sz="quarter" idx="11"/>
          </p:nvPr>
        </p:nvSpPr>
        <p:spPr/>
        <p:txBody>
          <a:bodyPr/>
          <a:lstStyle/>
          <a:p>
            <a:r>
              <a:rPr lang="en-US"/>
              <a:t>CRP</a:t>
            </a:r>
          </a:p>
        </p:txBody>
      </p:sp>
    </p:spTree>
    <p:extLst>
      <p:ext uri="{BB962C8B-B14F-4D97-AF65-F5344CB8AC3E}">
        <p14:creationId xmlns:p14="http://schemas.microsoft.com/office/powerpoint/2010/main" val="14467844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24" name="Rectangle 23">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914813" y="1914812"/>
            <a:ext cx="6858000" cy="3028377"/>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29">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914814" y="1924949"/>
            <a:ext cx="6857999" cy="302837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263195" y="4092815"/>
            <a:ext cx="2501979" cy="302838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4" name="Freeform: Shape 33">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376302" y="969718"/>
            <a:ext cx="292526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36" name="Rectangle 35">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914820" y="1904672"/>
            <a:ext cx="6858003" cy="3028376"/>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7CB860C7-93AD-4311-8CD4-4580644B47DD}"/>
              </a:ext>
            </a:extLst>
          </p:cNvPr>
          <p:cNvSpPr>
            <a:spLocks noGrp="1"/>
          </p:cNvSpPr>
          <p:nvPr>
            <p:ph idx="1"/>
          </p:nvPr>
        </p:nvSpPr>
        <p:spPr>
          <a:xfrm>
            <a:off x="3607694" y="251791"/>
            <a:ext cx="4916510" cy="6281531"/>
          </a:xfrm>
        </p:spPr>
        <p:txBody>
          <a:bodyPr anchor="ctr">
            <a:normAutofit/>
          </a:bodyPr>
          <a:lstStyle/>
          <a:p>
            <a:pPr>
              <a:lnSpc>
                <a:spcPct val="150000"/>
              </a:lnSpc>
            </a:pPr>
            <a:r>
              <a:rPr lang="en-GB" sz="2000" dirty="0">
                <a:cs typeface="Arial"/>
              </a:rPr>
              <a:t>Importance of traffic sign detection in AI and computer vision.</a:t>
            </a:r>
          </a:p>
          <a:p>
            <a:pPr>
              <a:lnSpc>
                <a:spcPct val="150000"/>
              </a:lnSpc>
            </a:pPr>
            <a:r>
              <a:rPr lang="en-GB" sz="2000" dirty="0">
                <a:cs typeface="Arial"/>
              </a:rPr>
              <a:t>Relevance to Sri Lankan road systems.</a:t>
            </a:r>
          </a:p>
          <a:p>
            <a:pPr>
              <a:lnSpc>
                <a:spcPct val="150000"/>
              </a:lnSpc>
            </a:pPr>
            <a:r>
              <a:rPr lang="en-GB" sz="2000" dirty="0">
                <a:cs typeface="Arial"/>
              </a:rPr>
              <a:t>Comparing YOLOv8, Faster R-CNN, and SSD using mAP.</a:t>
            </a:r>
          </a:p>
          <a:p>
            <a:pPr marL="0" indent="0">
              <a:lnSpc>
                <a:spcPct val="150000"/>
              </a:lnSpc>
              <a:buNone/>
            </a:pPr>
            <a:endParaRPr lang="en-US" sz="1800" dirty="0">
              <a:cs typeface="Arial"/>
            </a:endParaRPr>
          </a:p>
        </p:txBody>
      </p:sp>
      <p:sp>
        <p:nvSpPr>
          <p:cNvPr id="4" name="Date Placeholder 3">
            <a:extLst>
              <a:ext uri="{FF2B5EF4-FFF2-40B4-BE49-F238E27FC236}">
                <a16:creationId xmlns:a16="http://schemas.microsoft.com/office/drawing/2014/main" id="{CBBD532E-64D0-4EDF-8CB2-01936B63643A}"/>
              </a:ext>
            </a:extLst>
          </p:cNvPr>
          <p:cNvSpPr>
            <a:spLocks noGrp="1"/>
          </p:cNvSpPr>
          <p:nvPr>
            <p:ph type="dt" sz="half" idx="10"/>
          </p:nvPr>
        </p:nvSpPr>
        <p:spPr/>
        <p:txBody>
          <a:bodyPr/>
          <a:lstStyle/>
          <a:p>
            <a:fld id="{C8C397A2-765E-4AE3-A9E7-46359EC11418}" type="datetime1">
              <a:rPr lang="en-US" smtClean="0"/>
              <a:t>2/24/2025</a:t>
            </a:fld>
            <a:endParaRPr lang="en-US"/>
          </a:p>
        </p:txBody>
      </p:sp>
      <p:sp>
        <p:nvSpPr>
          <p:cNvPr id="5" name="Slide Number Placeholder 4">
            <a:extLst>
              <a:ext uri="{FF2B5EF4-FFF2-40B4-BE49-F238E27FC236}">
                <a16:creationId xmlns:a16="http://schemas.microsoft.com/office/drawing/2014/main" id="{BE493AC1-341C-416D-9B4C-0E2ADB9F70BC}"/>
              </a:ext>
            </a:extLst>
          </p:cNvPr>
          <p:cNvSpPr>
            <a:spLocks noGrp="1"/>
          </p:cNvSpPr>
          <p:nvPr>
            <p:ph type="sldNum" sz="quarter" idx="12"/>
          </p:nvPr>
        </p:nvSpPr>
        <p:spPr/>
        <p:txBody>
          <a:bodyPr/>
          <a:lstStyle/>
          <a:p>
            <a:fld id="{849F1A12-756A-4552-B54B-B66CFF5610E9}" type="slidenum">
              <a:rPr lang="en-US" sz="1100" b="0" smtClean="0"/>
              <a:t>4</a:t>
            </a:fld>
            <a:endParaRPr lang="en-US" sz="1100" b="0" dirty="0"/>
          </a:p>
        </p:txBody>
      </p:sp>
      <p:sp>
        <p:nvSpPr>
          <p:cNvPr id="6" name="Footer Placeholder 5"/>
          <p:cNvSpPr>
            <a:spLocks noGrp="1"/>
          </p:cNvSpPr>
          <p:nvPr>
            <p:ph type="ftr" sz="quarter" idx="11"/>
          </p:nvPr>
        </p:nvSpPr>
        <p:spPr/>
        <p:txBody>
          <a:bodyPr/>
          <a:lstStyle/>
          <a:p>
            <a:r>
              <a:rPr lang="en-US"/>
              <a:t>CRP</a:t>
            </a:r>
          </a:p>
        </p:txBody>
      </p:sp>
      <p:sp>
        <p:nvSpPr>
          <p:cNvPr id="12" name="Title 1">
            <a:extLst>
              <a:ext uri="{FF2B5EF4-FFF2-40B4-BE49-F238E27FC236}">
                <a16:creationId xmlns:a16="http://schemas.microsoft.com/office/drawing/2014/main" id="{634380F5-514D-4989-966A-49BC47C96416}"/>
              </a:ext>
            </a:extLst>
          </p:cNvPr>
          <p:cNvSpPr>
            <a:spLocks noGrp="1"/>
          </p:cNvSpPr>
          <p:nvPr>
            <p:ph type="title"/>
          </p:nvPr>
        </p:nvSpPr>
        <p:spPr>
          <a:xfrm>
            <a:off x="350041" y="3325091"/>
            <a:ext cx="2401025" cy="649261"/>
          </a:xfrm>
        </p:spPr>
        <p:txBody>
          <a:bodyPr anchor="b">
            <a:normAutofit/>
          </a:bodyPr>
          <a:lstStyle/>
          <a:p>
            <a:pPr algn="ctr"/>
            <a:r>
              <a:rPr lang="en-US" sz="2400" dirty="0">
                <a:solidFill>
                  <a:srgbClr val="FFFFFF"/>
                </a:solidFill>
                <a:latin typeface="Times New Roman" panose="02020603050405020304" pitchFamily="18" charset="0"/>
                <a:ea typeface="Arial Unicode MS" pitchFamily="34" charset="-128"/>
                <a:cs typeface="Times New Roman" panose="02020603050405020304" pitchFamily="18" charset="0"/>
              </a:rPr>
              <a:t>Introduction</a:t>
            </a:r>
            <a:endParaRPr lang="en-US" sz="2400" dirty="0">
              <a:solidFill>
                <a:srgbClr val="FFFFFF"/>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0018346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3" name="p!!Rectangle">
            <a:extLst>
              <a:ext uri="{FF2B5EF4-FFF2-40B4-BE49-F238E27FC236}">
                <a16:creationId xmlns:a16="http://schemas.microsoft.com/office/drawing/2014/main" id="{2FB82883-1DC0-4BE1-A607-009095F335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descr="Close up of book pages">
            <a:extLst>
              <a:ext uri="{FF2B5EF4-FFF2-40B4-BE49-F238E27FC236}">
                <a16:creationId xmlns:a16="http://schemas.microsoft.com/office/drawing/2014/main" id="{273ADCC6-897E-4499-9AC1-C34ED51F898D}"/>
              </a:ext>
            </a:extLst>
          </p:cNvPr>
          <p:cNvPicPr>
            <a:picLocks noChangeAspect="1"/>
          </p:cNvPicPr>
          <p:nvPr/>
        </p:nvPicPr>
        <p:blipFill rotWithShape="1">
          <a:blip r:embed="rId2"/>
          <a:srcRect/>
          <a:stretch/>
        </p:blipFill>
        <p:spPr>
          <a:xfrm>
            <a:off x="20" y="10"/>
            <a:ext cx="9143980" cy="6857990"/>
          </a:xfrm>
          <a:prstGeom prst="rect">
            <a:avLst/>
          </a:prstGeom>
        </p:spPr>
      </p:pic>
      <p:sp>
        <p:nvSpPr>
          <p:cNvPr id="25" name="m!!text rectangle">
            <a:extLst>
              <a:ext uri="{FF2B5EF4-FFF2-40B4-BE49-F238E27FC236}">
                <a16:creationId xmlns:a16="http://schemas.microsoft.com/office/drawing/2014/main" id="{A3473CF9-37EB-43E7-89EF-D2D1C53D1D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427711" y="4638503"/>
            <a:ext cx="6288577" cy="1332634"/>
          </a:xfrm>
          <a:prstGeom prst="rect">
            <a:avLst/>
          </a:prstGeom>
          <a:solidFill>
            <a:schemeClr val="bg1">
              <a:alpha val="95000"/>
            </a:schemeClr>
          </a:solidFill>
          <a:ln w="12700">
            <a:solidFill>
              <a:srgbClr val="EFEFEF"/>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184D784C-09C2-4209-A54C-7272AAABAA90}"/>
              </a:ext>
            </a:extLst>
          </p:cNvPr>
          <p:cNvSpPr>
            <a:spLocks noGrp="1"/>
          </p:cNvSpPr>
          <p:nvPr>
            <p:ph type="title"/>
          </p:nvPr>
        </p:nvSpPr>
        <p:spPr>
          <a:xfrm>
            <a:off x="1577340" y="4727173"/>
            <a:ext cx="5989320" cy="868823"/>
          </a:xfrm>
        </p:spPr>
        <p:txBody>
          <a:bodyPr vert="horz" lIns="91440" tIns="45720" rIns="91440" bIns="45720" rtlCol="0" anchor="ctr">
            <a:normAutofit/>
          </a:bodyPr>
          <a:lstStyle/>
          <a:p>
            <a:pPr algn="ctr"/>
            <a:r>
              <a:rPr lang="en-US" sz="3500" dirty="0"/>
              <a:t>2. Aim of Research.</a:t>
            </a:r>
          </a:p>
        </p:txBody>
      </p:sp>
      <p:sp>
        <p:nvSpPr>
          <p:cNvPr id="27" name="m!!accent">
            <a:extLst>
              <a:ext uri="{FF2B5EF4-FFF2-40B4-BE49-F238E27FC236}">
                <a16:creationId xmlns:a16="http://schemas.microsoft.com/office/drawing/2014/main" id="{586B4EF9-43BA-4655-A6FF-1D8E21574C9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862332" y="5628237"/>
            <a:ext cx="5419335" cy="685800"/>
          </a:xfrm>
          <a:prstGeom prst="roundRect">
            <a:avLst>
              <a:gd name="adj" fmla="val 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4" name="Date Placeholder 3">
            <a:extLst>
              <a:ext uri="{FF2B5EF4-FFF2-40B4-BE49-F238E27FC236}">
                <a16:creationId xmlns:a16="http://schemas.microsoft.com/office/drawing/2014/main" id="{6D4C7CB0-FBE1-485A-979E-AFFF09854263}"/>
              </a:ext>
            </a:extLst>
          </p:cNvPr>
          <p:cNvSpPr>
            <a:spLocks noGrp="1"/>
          </p:cNvSpPr>
          <p:nvPr>
            <p:ph type="dt" sz="half" idx="10"/>
          </p:nvPr>
        </p:nvSpPr>
        <p:spPr>
          <a:xfrm>
            <a:off x="628650" y="6356350"/>
            <a:ext cx="2057400" cy="365125"/>
          </a:xfrm>
        </p:spPr>
        <p:txBody>
          <a:bodyPr vert="horz" lIns="91440" tIns="45720" rIns="91440" bIns="45720" rtlCol="0" anchor="ctr">
            <a:normAutofit/>
          </a:bodyPr>
          <a:lstStyle/>
          <a:p>
            <a:pPr defTabSz="914400">
              <a:spcAft>
                <a:spcPts val="600"/>
              </a:spcAft>
              <a:defRPr/>
            </a:pPr>
            <a:fld id="{F1CAC4CA-D9ED-4B8F-978A-C04F520FE6BA}" type="datetime1">
              <a:rPr lang="en-US" smtClean="0">
                <a:solidFill>
                  <a:schemeClr val="bg1"/>
                </a:solidFill>
                <a:latin typeface="Calibri" panose="020F0502020204030204"/>
              </a:rPr>
              <a:t>2/24/2025</a:t>
            </a:fld>
            <a:endParaRPr lang="en-US">
              <a:solidFill>
                <a:schemeClr val="bg1"/>
              </a:solidFill>
              <a:latin typeface="Calibri" panose="020F0502020204030204"/>
            </a:endParaRPr>
          </a:p>
        </p:txBody>
      </p:sp>
      <p:sp>
        <p:nvSpPr>
          <p:cNvPr id="5" name="Slide Number Placeholder 4">
            <a:extLst>
              <a:ext uri="{FF2B5EF4-FFF2-40B4-BE49-F238E27FC236}">
                <a16:creationId xmlns:a16="http://schemas.microsoft.com/office/drawing/2014/main" id="{4892CD39-0D00-43C5-8A2D-E2EDFA3A7F9B}"/>
              </a:ext>
            </a:extLst>
          </p:cNvPr>
          <p:cNvSpPr>
            <a:spLocks noGrp="1"/>
          </p:cNvSpPr>
          <p:nvPr>
            <p:ph type="sldNum" sz="quarter" idx="12"/>
          </p:nvPr>
        </p:nvSpPr>
        <p:spPr>
          <a:xfrm>
            <a:off x="6457950" y="6356350"/>
            <a:ext cx="2057400" cy="365125"/>
          </a:xfrm>
        </p:spPr>
        <p:txBody>
          <a:bodyPr vert="horz" lIns="91440" tIns="45720" rIns="91440" bIns="45720" rtlCol="0" anchor="ctr">
            <a:normAutofit/>
          </a:bodyPr>
          <a:lstStyle/>
          <a:p>
            <a:pPr defTabSz="914400">
              <a:spcAft>
                <a:spcPts val="600"/>
              </a:spcAft>
              <a:defRPr/>
            </a:pPr>
            <a:fld id="{849F1A12-756A-4552-B54B-B66CFF5610E9}" type="slidenum">
              <a:rPr lang="en-US" sz="1200" b="0">
                <a:solidFill>
                  <a:schemeClr val="bg1"/>
                </a:solidFill>
                <a:latin typeface="Calibri" panose="020F0502020204030204"/>
              </a:rPr>
              <a:pPr defTabSz="914400">
                <a:spcAft>
                  <a:spcPts val="600"/>
                </a:spcAft>
                <a:defRPr/>
              </a:pPr>
              <a:t>5</a:t>
            </a:fld>
            <a:endParaRPr lang="en-US" sz="1200" b="0">
              <a:solidFill>
                <a:schemeClr val="bg1"/>
              </a:solidFill>
              <a:latin typeface="Calibri" panose="020F0502020204030204"/>
            </a:endParaRPr>
          </a:p>
        </p:txBody>
      </p:sp>
      <p:sp>
        <p:nvSpPr>
          <p:cNvPr id="3" name="Footer Placeholder 2"/>
          <p:cNvSpPr>
            <a:spLocks noGrp="1"/>
          </p:cNvSpPr>
          <p:nvPr>
            <p:ph type="ftr" sz="quarter" idx="11"/>
          </p:nvPr>
        </p:nvSpPr>
        <p:spPr/>
        <p:txBody>
          <a:bodyPr/>
          <a:lstStyle/>
          <a:p>
            <a:r>
              <a:rPr lang="en-US"/>
              <a:t>CRP</a:t>
            </a:r>
          </a:p>
        </p:txBody>
      </p:sp>
    </p:spTree>
    <p:extLst>
      <p:ext uri="{BB962C8B-B14F-4D97-AF65-F5344CB8AC3E}">
        <p14:creationId xmlns:p14="http://schemas.microsoft.com/office/powerpoint/2010/main" val="69280545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24" name="Rectangle 23">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914813" y="1914812"/>
            <a:ext cx="6858000" cy="3028377"/>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29">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914814" y="1924949"/>
            <a:ext cx="6857999" cy="302837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263195" y="4092815"/>
            <a:ext cx="2501979" cy="302838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4" name="Freeform: Shape 33">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376302" y="969718"/>
            <a:ext cx="292526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36" name="Rectangle 35">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914820" y="1904672"/>
            <a:ext cx="6858003" cy="3028376"/>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7CB860C7-93AD-4311-8CD4-4580644B47DD}"/>
              </a:ext>
            </a:extLst>
          </p:cNvPr>
          <p:cNvSpPr>
            <a:spLocks noGrp="1"/>
          </p:cNvSpPr>
          <p:nvPr>
            <p:ph idx="1"/>
          </p:nvPr>
        </p:nvSpPr>
        <p:spPr>
          <a:xfrm>
            <a:off x="3607694" y="251791"/>
            <a:ext cx="4916510" cy="6281531"/>
          </a:xfrm>
        </p:spPr>
        <p:txBody>
          <a:bodyPr anchor="ctr">
            <a:normAutofit/>
          </a:bodyPr>
          <a:lstStyle/>
          <a:p>
            <a:pPr>
              <a:lnSpc>
                <a:spcPct val="150000"/>
              </a:lnSpc>
            </a:pPr>
            <a:endParaRPr lang="en-GB" sz="1800" dirty="0"/>
          </a:p>
          <a:p>
            <a:pPr>
              <a:lnSpc>
                <a:spcPct val="150000"/>
              </a:lnSpc>
            </a:pPr>
            <a:r>
              <a:rPr lang="en-GB" sz="2000" dirty="0"/>
              <a:t>To compare the performance of YOLOv8, Faster R-CNN, and SSD for Sri Lankan traffic sign detection and identify the model with the highest mAP, contributing to improved automated traffic sign recognition and enhanced road safety in Sri Lanka using AI.</a:t>
            </a:r>
          </a:p>
          <a:p>
            <a:pPr marL="0" indent="0">
              <a:buNone/>
            </a:pPr>
            <a:endParaRPr lang="en-GB" sz="1800" dirty="0"/>
          </a:p>
          <a:p>
            <a:pPr marR="0" algn="just">
              <a:spcBef>
                <a:spcPts val="0"/>
              </a:spcBef>
              <a:spcAft>
                <a:spcPts val="1000"/>
              </a:spcAft>
            </a:pPr>
            <a:endParaRPr lang="en-US" sz="1800" dirty="0">
              <a:effectLst/>
              <a:latin typeface="Times New Roman" panose="02020603050405020304" pitchFamily="18" charset="0"/>
              <a:ea typeface="SimSun" panose="02010600030101010101" pitchFamily="2" charset="-122"/>
            </a:endParaRPr>
          </a:p>
        </p:txBody>
      </p:sp>
      <p:sp>
        <p:nvSpPr>
          <p:cNvPr id="4" name="Date Placeholder 3">
            <a:extLst>
              <a:ext uri="{FF2B5EF4-FFF2-40B4-BE49-F238E27FC236}">
                <a16:creationId xmlns:a16="http://schemas.microsoft.com/office/drawing/2014/main" id="{CBBD532E-64D0-4EDF-8CB2-01936B63643A}"/>
              </a:ext>
            </a:extLst>
          </p:cNvPr>
          <p:cNvSpPr>
            <a:spLocks noGrp="1"/>
          </p:cNvSpPr>
          <p:nvPr>
            <p:ph type="dt" sz="half" idx="10"/>
          </p:nvPr>
        </p:nvSpPr>
        <p:spPr/>
        <p:txBody>
          <a:bodyPr/>
          <a:lstStyle/>
          <a:p>
            <a:fld id="{12F6DFE3-88EC-4E66-9523-87EA3C417268}" type="datetime1">
              <a:rPr lang="en-US" smtClean="0"/>
              <a:t>2/24/2025</a:t>
            </a:fld>
            <a:endParaRPr lang="en-US"/>
          </a:p>
        </p:txBody>
      </p:sp>
      <p:sp>
        <p:nvSpPr>
          <p:cNvPr id="5" name="Slide Number Placeholder 4">
            <a:extLst>
              <a:ext uri="{FF2B5EF4-FFF2-40B4-BE49-F238E27FC236}">
                <a16:creationId xmlns:a16="http://schemas.microsoft.com/office/drawing/2014/main" id="{BE493AC1-341C-416D-9B4C-0E2ADB9F70BC}"/>
              </a:ext>
            </a:extLst>
          </p:cNvPr>
          <p:cNvSpPr>
            <a:spLocks noGrp="1"/>
          </p:cNvSpPr>
          <p:nvPr>
            <p:ph type="sldNum" sz="quarter" idx="12"/>
          </p:nvPr>
        </p:nvSpPr>
        <p:spPr/>
        <p:txBody>
          <a:bodyPr/>
          <a:lstStyle/>
          <a:p>
            <a:fld id="{849F1A12-756A-4552-B54B-B66CFF5610E9}" type="slidenum">
              <a:rPr lang="en-US" sz="1100" b="0" smtClean="0"/>
              <a:t>6</a:t>
            </a:fld>
            <a:endParaRPr lang="en-US" sz="1100" b="0" dirty="0"/>
          </a:p>
        </p:txBody>
      </p:sp>
      <p:sp>
        <p:nvSpPr>
          <p:cNvPr id="6" name="Footer Placeholder 5"/>
          <p:cNvSpPr>
            <a:spLocks noGrp="1"/>
          </p:cNvSpPr>
          <p:nvPr>
            <p:ph type="ftr" sz="quarter" idx="11"/>
          </p:nvPr>
        </p:nvSpPr>
        <p:spPr/>
        <p:txBody>
          <a:bodyPr/>
          <a:lstStyle/>
          <a:p>
            <a:r>
              <a:rPr lang="en-US"/>
              <a:t>CRP</a:t>
            </a:r>
          </a:p>
        </p:txBody>
      </p:sp>
      <p:sp>
        <p:nvSpPr>
          <p:cNvPr id="12" name="Title 1">
            <a:extLst>
              <a:ext uri="{FF2B5EF4-FFF2-40B4-BE49-F238E27FC236}">
                <a16:creationId xmlns:a16="http://schemas.microsoft.com/office/drawing/2014/main" id="{634380F5-514D-4989-966A-49BC47C96416}"/>
              </a:ext>
            </a:extLst>
          </p:cNvPr>
          <p:cNvSpPr>
            <a:spLocks noGrp="1"/>
          </p:cNvSpPr>
          <p:nvPr>
            <p:ph type="title"/>
          </p:nvPr>
        </p:nvSpPr>
        <p:spPr>
          <a:xfrm>
            <a:off x="350041" y="3325091"/>
            <a:ext cx="2401025" cy="649261"/>
          </a:xfrm>
        </p:spPr>
        <p:txBody>
          <a:bodyPr anchor="b">
            <a:normAutofit/>
          </a:bodyPr>
          <a:lstStyle/>
          <a:p>
            <a:pPr algn="ctr"/>
            <a:r>
              <a:rPr lang="en-US" sz="2400" dirty="0">
                <a:solidFill>
                  <a:srgbClr val="FFFFFF"/>
                </a:solidFill>
                <a:latin typeface="Times New Roman" panose="02020603050405020304" pitchFamily="18" charset="0"/>
                <a:ea typeface="Arial Unicode MS" pitchFamily="34" charset="-128"/>
                <a:cs typeface="Times New Roman" panose="02020603050405020304" pitchFamily="18" charset="0"/>
              </a:rPr>
              <a:t>Aim</a:t>
            </a:r>
            <a:endParaRPr lang="en-US" sz="2400" dirty="0">
              <a:solidFill>
                <a:srgbClr val="FFFFFF"/>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2032670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23" name="p!!Rectangle">
            <a:extLst>
              <a:ext uri="{FF2B5EF4-FFF2-40B4-BE49-F238E27FC236}">
                <a16:creationId xmlns:a16="http://schemas.microsoft.com/office/drawing/2014/main" id="{2FB82883-1DC0-4BE1-A607-009095F335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descr="Close up of book pages">
            <a:extLst>
              <a:ext uri="{FF2B5EF4-FFF2-40B4-BE49-F238E27FC236}">
                <a16:creationId xmlns:a16="http://schemas.microsoft.com/office/drawing/2014/main" id="{273ADCC6-897E-4499-9AC1-C34ED51F898D}"/>
              </a:ext>
            </a:extLst>
          </p:cNvPr>
          <p:cNvPicPr>
            <a:picLocks noChangeAspect="1"/>
          </p:cNvPicPr>
          <p:nvPr/>
        </p:nvPicPr>
        <p:blipFill rotWithShape="1">
          <a:blip r:embed="rId2"/>
          <a:srcRect/>
          <a:stretch/>
        </p:blipFill>
        <p:spPr>
          <a:xfrm>
            <a:off x="20" y="10"/>
            <a:ext cx="9143980" cy="6857990"/>
          </a:xfrm>
          <a:prstGeom prst="rect">
            <a:avLst/>
          </a:prstGeom>
        </p:spPr>
      </p:pic>
      <p:sp>
        <p:nvSpPr>
          <p:cNvPr id="25" name="m!!text rectangle">
            <a:extLst>
              <a:ext uri="{FF2B5EF4-FFF2-40B4-BE49-F238E27FC236}">
                <a16:creationId xmlns:a16="http://schemas.microsoft.com/office/drawing/2014/main" id="{A3473CF9-37EB-43E7-89EF-D2D1C53D1D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427711" y="4638503"/>
            <a:ext cx="6288577" cy="1332634"/>
          </a:xfrm>
          <a:prstGeom prst="rect">
            <a:avLst/>
          </a:prstGeom>
          <a:solidFill>
            <a:schemeClr val="bg1">
              <a:alpha val="95000"/>
            </a:schemeClr>
          </a:solidFill>
          <a:ln w="12700">
            <a:solidFill>
              <a:srgbClr val="EFEFEF"/>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184D784C-09C2-4209-A54C-7272AAABAA90}"/>
              </a:ext>
            </a:extLst>
          </p:cNvPr>
          <p:cNvSpPr>
            <a:spLocks noGrp="1"/>
          </p:cNvSpPr>
          <p:nvPr>
            <p:ph type="title"/>
          </p:nvPr>
        </p:nvSpPr>
        <p:spPr>
          <a:xfrm>
            <a:off x="1577340" y="4727173"/>
            <a:ext cx="5989320" cy="868823"/>
          </a:xfrm>
        </p:spPr>
        <p:txBody>
          <a:bodyPr vert="horz" lIns="91440" tIns="45720" rIns="91440" bIns="45720" rtlCol="0" anchor="ctr">
            <a:normAutofit/>
          </a:bodyPr>
          <a:lstStyle/>
          <a:p>
            <a:pPr algn="ctr"/>
            <a:r>
              <a:rPr lang="en-US" sz="3500" dirty="0"/>
              <a:t>3. Research Question</a:t>
            </a:r>
          </a:p>
        </p:txBody>
      </p:sp>
      <p:sp>
        <p:nvSpPr>
          <p:cNvPr id="27" name="m!!accent">
            <a:extLst>
              <a:ext uri="{FF2B5EF4-FFF2-40B4-BE49-F238E27FC236}">
                <a16:creationId xmlns:a16="http://schemas.microsoft.com/office/drawing/2014/main" id="{586B4EF9-43BA-4655-A6FF-1D8E21574C9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862332" y="5628237"/>
            <a:ext cx="5419335" cy="685800"/>
          </a:xfrm>
          <a:prstGeom prst="roundRect">
            <a:avLst>
              <a:gd name="adj" fmla="val 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4" name="Date Placeholder 3">
            <a:extLst>
              <a:ext uri="{FF2B5EF4-FFF2-40B4-BE49-F238E27FC236}">
                <a16:creationId xmlns:a16="http://schemas.microsoft.com/office/drawing/2014/main" id="{6D4C7CB0-FBE1-485A-979E-AFFF09854263}"/>
              </a:ext>
            </a:extLst>
          </p:cNvPr>
          <p:cNvSpPr>
            <a:spLocks noGrp="1"/>
          </p:cNvSpPr>
          <p:nvPr>
            <p:ph type="dt" sz="half" idx="10"/>
          </p:nvPr>
        </p:nvSpPr>
        <p:spPr>
          <a:xfrm>
            <a:off x="628650" y="6356350"/>
            <a:ext cx="2057400" cy="365125"/>
          </a:xfrm>
        </p:spPr>
        <p:txBody>
          <a:bodyPr vert="horz" lIns="91440" tIns="45720" rIns="91440" bIns="45720" rtlCol="0" anchor="ctr">
            <a:normAutofit/>
          </a:bodyPr>
          <a:lstStyle/>
          <a:p>
            <a:pPr defTabSz="914400">
              <a:spcAft>
                <a:spcPts val="600"/>
              </a:spcAft>
              <a:defRPr/>
            </a:pPr>
            <a:fld id="{D1C8D1F7-E20F-45CC-A011-50B610F72C5D}" type="datetime1">
              <a:rPr lang="en-US" smtClean="0">
                <a:solidFill>
                  <a:schemeClr val="bg1"/>
                </a:solidFill>
                <a:latin typeface="Calibri" panose="020F0502020204030204"/>
              </a:rPr>
              <a:t>2/24/2025</a:t>
            </a:fld>
            <a:endParaRPr lang="en-US">
              <a:solidFill>
                <a:schemeClr val="bg1"/>
              </a:solidFill>
              <a:latin typeface="Calibri" panose="020F0502020204030204"/>
            </a:endParaRPr>
          </a:p>
        </p:txBody>
      </p:sp>
      <p:sp>
        <p:nvSpPr>
          <p:cNvPr id="5" name="Slide Number Placeholder 4">
            <a:extLst>
              <a:ext uri="{FF2B5EF4-FFF2-40B4-BE49-F238E27FC236}">
                <a16:creationId xmlns:a16="http://schemas.microsoft.com/office/drawing/2014/main" id="{4892CD39-0D00-43C5-8A2D-E2EDFA3A7F9B}"/>
              </a:ext>
            </a:extLst>
          </p:cNvPr>
          <p:cNvSpPr>
            <a:spLocks noGrp="1"/>
          </p:cNvSpPr>
          <p:nvPr>
            <p:ph type="sldNum" sz="quarter" idx="12"/>
          </p:nvPr>
        </p:nvSpPr>
        <p:spPr>
          <a:xfrm>
            <a:off x="6457950" y="6356350"/>
            <a:ext cx="2057400" cy="365125"/>
          </a:xfrm>
        </p:spPr>
        <p:txBody>
          <a:bodyPr vert="horz" lIns="91440" tIns="45720" rIns="91440" bIns="45720" rtlCol="0" anchor="ctr">
            <a:normAutofit/>
          </a:bodyPr>
          <a:lstStyle/>
          <a:p>
            <a:pPr defTabSz="914400">
              <a:spcAft>
                <a:spcPts val="600"/>
              </a:spcAft>
              <a:defRPr/>
            </a:pPr>
            <a:fld id="{849F1A12-756A-4552-B54B-B66CFF5610E9}" type="slidenum">
              <a:rPr lang="en-US" sz="1200" b="0">
                <a:solidFill>
                  <a:schemeClr val="bg1"/>
                </a:solidFill>
                <a:latin typeface="Calibri" panose="020F0502020204030204"/>
              </a:rPr>
              <a:pPr defTabSz="914400">
                <a:spcAft>
                  <a:spcPts val="600"/>
                </a:spcAft>
                <a:defRPr/>
              </a:pPr>
              <a:t>7</a:t>
            </a:fld>
            <a:endParaRPr lang="en-US" sz="1200" b="0">
              <a:solidFill>
                <a:schemeClr val="bg1"/>
              </a:solidFill>
              <a:latin typeface="Calibri" panose="020F0502020204030204"/>
            </a:endParaRPr>
          </a:p>
        </p:txBody>
      </p:sp>
      <p:sp>
        <p:nvSpPr>
          <p:cNvPr id="3" name="Footer Placeholder 2"/>
          <p:cNvSpPr>
            <a:spLocks noGrp="1"/>
          </p:cNvSpPr>
          <p:nvPr>
            <p:ph type="ftr" sz="quarter" idx="11"/>
          </p:nvPr>
        </p:nvSpPr>
        <p:spPr/>
        <p:txBody>
          <a:bodyPr/>
          <a:lstStyle/>
          <a:p>
            <a:r>
              <a:rPr lang="en-US"/>
              <a:t>CRP</a:t>
            </a:r>
          </a:p>
        </p:txBody>
      </p:sp>
    </p:spTree>
    <p:extLst>
      <p:ext uri="{BB962C8B-B14F-4D97-AF65-F5344CB8AC3E}">
        <p14:creationId xmlns:p14="http://schemas.microsoft.com/office/powerpoint/2010/main" val="389624306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24" name="Rectangle 23">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914813" y="1914812"/>
            <a:ext cx="6858000" cy="3028377"/>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29">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914814" y="1924949"/>
            <a:ext cx="6857999" cy="302837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263195" y="4092815"/>
            <a:ext cx="2501979" cy="302838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4" name="Freeform: Shape 33">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376302" y="969718"/>
            <a:ext cx="292526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36" name="Rectangle 35">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914820" y="1904672"/>
            <a:ext cx="6858003" cy="3028376"/>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7CB860C7-93AD-4311-8CD4-4580644B47DD}"/>
              </a:ext>
            </a:extLst>
          </p:cNvPr>
          <p:cNvSpPr>
            <a:spLocks noGrp="1"/>
          </p:cNvSpPr>
          <p:nvPr>
            <p:ph idx="1"/>
          </p:nvPr>
        </p:nvSpPr>
        <p:spPr>
          <a:xfrm>
            <a:off x="3101107" y="524786"/>
            <a:ext cx="5692851" cy="6469737"/>
          </a:xfrm>
        </p:spPr>
        <p:txBody>
          <a:bodyPr anchor="ctr">
            <a:normAutofit lnSpcReduction="10000"/>
          </a:bodyPr>
          <a:lstStyle/>
          <a:p>
            <a:pPr>
              <a:lnSpc>
                <a:spcPct val="150000"/>
              </a:lnSpc>
            </a:pPr>
            <a:r>
              <a:rPr lang="en-GB" sz="1800" b="1" dirty="0">
                <a:cs typeface="Arial"/>
              </a:rPr>
              <a:t>Research Question: </a:t>
            </a:r>
            <a:r>
              <a:rPr lang="en-GB" sz="1800" dirty="0">
                <a:cs typeface="Arial"/>
              </a:rPr>
              <a:t>Which object detection model (YOLOv8, Faster R-CNN, or SSD) achieves the highest accuracy in detecting Sri Lankan traffic signs, as measured by mean Average Precision (mAP)?</a:t>
            </a:r>
          </a:p>
          <a:p>
            <a:pPr>
              <a:lnSpc>
                <a:spcPct val="150000"/>
              </a:lnSpc>
            </a:pPr>
            <a:r>
              <a:rPr lang="en-GB" sz="1800" b="1" dirty="0">
                <a:cs typeface="Arial"/>
              </a:rPr>
              <a:t>Hypothesis: </a:t>
            </a:r>
            <a:r>
              <a:rPr lang="en-GB" sz="1800" dirty="0">
                <a:cs typeface="Arial"/>
              </a:rPr>
              <a:t> Among the YOLOv8, Faster R-CNN and SSD, one of the object detection models will achieve the highest mAP in detecting Sri Lankan traffic signs, with performance variations due to differences in model architecture and detection capabilities.</a:t>
            </a:r>
            <a:endParaRPr lang="en-GB" sz="1800" dirty="0"/>
          </a:p>
          <a:p>
            <a:pPr>
              <a:lnSpc>
                <a:spcPct val="150000"/>
              </a:lnSpc>
            </a:pPr>
            <a:r>
              <a:rPr lang="en-GB" sz="1800" b="1" dirty="0">
                <a:cs typeface="Arial"/>
              </a:rPr>
              <a:t>Dependent Variables: </a:t>
            </a:r>
            <a:r>
              <a:rPr lang="en-GB" sz="1800" dirty="0">
                <a:cs typeface="Arial"/>
              </a:rPr>
              <a:t>Mean Average Precision (mAP) (the accuracy of the models).</a:t>
            </a:r>
          </a:p>
          <a:p>
            <a:pPr>
              <a:lnSpc>
                <a:spcPct val="150000"/>
              </a:lnSpc>
            </a:pPr>
            <a:r>
              <a:rPr lang="en-GB" sz="1800" b="1" dirty="0">
                <a:cs typeface="Arial"/>
              </a:rPr>
              <a:t>Independent Variable: </a:t>
            </a:r>
            <a:r>
              <a:rPr lang="en-GB" sz="1800" dirty="0">
                <a:cs typeface="Arial"/>
              </a:rPr>
              <a:t>The object detection model used (YOLOv8, Faster R-CNN, SSD).</a:t>
            </a:r>
            <a:endParaRPr lang="en-GB" sz="1800" dirty="0"/>
          </a:p>
          <a:p>
            <a:pPr marL="0" indent="0">
              <a:lnSpc>
                <a:spcPct val="150000"/>
              </a:lnSpc>
              <a:buNone/>
            </a:pPr>
            <a:endParaRPr lang="en-GB" sz="1800" dirty="0"/>
          </a:p>
          <a:p>
            <a:pPr marR="0">
              <a:lnSpc>
                <a:spcPct val="150000"/>
              </a:lnSpc>
              <a:spcBef>
                <a:spcPts val="0"/>
              </a:spcBef>
              <a:spcAft>
                <a:spcPts val="1000"/>
              </a:spcAft>
            </a:pPr>
            <a:endParaRPr lang="en-US" sz="1800" dirty="0">
              <a:effectLst/>
              <a:latin typeface="Times New Roman" panose="02020603050405020304" pitchFamily="18" charset="0"/>
              <a:ea typeface="SimSun" panose="02010600030101010101" pitchFamily="2" charset="-122"/>
            </a:endParaRPr>
          </a:p>
        </p:txBody>
      </p:sp>
      <p:sp>
        <p:nvSpPr>
          <p:cNvPr id="4" name="Date Placeholder 3">
            <a:extLst>
              <a:ext uri="{FF2B5EF4-FFF2-40B4-BE49-F238E27FC236}">
                <a16:creationId xmlns:a16="http://schemas.microsoft.com/office/drawing/2014/main" id="{CBBD532E-64D0-4EDF-8CB2-01936B63643A}"/>
              </a:ext>
            </a:extLst>
          </p:cNvPr>
          <p:cNvSpPr>
            <a:spLocks noGrp="1"/>
          </p:cNvSpPr>
          <p:nvPr>
            <p:ph type="dt" sz="half" idx="10"/>
          </p:nvPr>
        </p:nvSpPr>
        <p:spPr/>
        <p:txBody>
          <a:bodyPr/>
          <a:lstStyle/>
          <a:p>
            <a:fld id="{77BE8CD8-B5C0-427D-BE8F-A30532367F74}" type="datetime1">
              <a:rPr lang="en-US" smtClean="0"/>
              <a:t>2/24/2025</a:t>
            </a:fld>
            <a:endParaRPr lang="en-US"/>
          </a:p>
        </p:txBody>
      </p:sp>
      <p:sp>
        <p:nvSpPr>
          <p:cNvPr id="5" name="Slide Number Placeholder 4">
            <a:extLst>
              <a:ext uri="{FF2B5EF4-FFF2-40B4-BE49-F238E27FC236}">
                <a16:creationId xmlns:a16="http://schemas.microsoft.com/office/drawing/2014/main" id="{BE493AC1-341C-416D-9B4C-0E2ADB9F70BC}"/>
              </a:ext>
            </a:extLst>
          </p:cNvPr>
          <p:cNvSpPr>
            <a:spLocks noGrp="1"/>
          </p:cNvSpPr>
          <p:nvPr>
            <p:ph type="sldNum" sz="quarter" idx="12"/>
          </p:nvPr>
        </p:nvSpPr>
        <p:spPr/>
        <p:txBody>
          <a:bodyPr/>
          <a:lstStyle/>
          <a:p>
            <a:fld id="{849F1A12-756A-4552-B54B-B66CFF5610E9}" type="slidenum">
              <a:rPr lang="en-US" sz="1100" b="0" smtClean="0"/>
              <a:t>8</a:t>
            </a:fld>
            <a:endParaRPr lang="en-US" sz="1100" b="0" dirty="0"/>
          </a:p>
        </p:txBody>
      </p:sp>
      <p:sp>
        <p:nvSpPr>
          <p:cNvPr id="6" name="Footer Placeholder 5"/>
          <p:cNvSpPr>
            <a:spLocks noGrp="1"/>
          </p:cNvSpPr>
          <p:nvPr>
            <p:ph type="ftr" sz="quarter" idx="11"/>
          </p:nvPr>
        </p:nvSpPr>
        <p:spPr/>
        <p:txBody>
          <a:bodyPr/>
          <a:lstStyle/>
          <a:p>
            <a:r>
              <a:rPr lang="en-US"/>
              <a:t>CRP</a:t>
            </a:r>
          </a:p>
        </p:txBody>
      </p:sp>
      <p:sp>
        <p:nvSpPr>
          <p:cNvPr id="12" name="Title 1">
            <a:extLst>
              <a:ext uri="{FF2B5EF4-FFF2-40B4-BE49-F238E27FC236}">
                <a16:creationId xmlns:a16="http://schemas.microsoft.com/office/drawing/2014/main" id="{634380F5-514D-4989-966A-49BC47C96416}"/>
              </a:ext>
            </a:extLst>
          </p:cNvPr>
          <p:cNvSpPr>
            <a:spLocks noGrp="1"/>
          </p:cNvSpPr>
          <p:nvPr>
            <p:ph type="title"/>
          </p:nvPr>
        </p:nvSpPr>
        <p:spPr>
          <a:xfrm>
            <a:off x="350041" y="3325091"/>
            <a:ext cx="2401025" cy="649261"/>
          </a:xfrm>
        </p:spPr>
        <p:txBody>
          <a:bodyPr anchor="b">
            <a:normAutofit fontScale="90000"/>
          </a:bodyPr>
          <a:lstStyle/>
          <a:p>
            <a:pPr algn="ctr"/>
            <a:r>
              <a:rPr lang="en-US" sz="2400" dirty="0">
                <a:solidFill>
                  <a:srgbClr val="FFFFFF"/>
                </a:solidFill>
                <a:latin typeface="Times New Roman" panose="02020603050405020304" pitchFamily="18" charset="0"/>
                <a:ea typeface="Arial Unicode MS" pitchFamily="34" charset="-128"/>
                <a:cs typeface="Times New Roman" panose="02020603050405020304" pitchFamily="18" charset="0"/>
              </a:rPr>
              <a:t>Research Question</a:t>
            </a:r>
            <a:endParaRPr lang="en-US" sz="2400" dirty="0">
              <a:solidFill>
                <a:srgbClr val="FFFFFF"/>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331865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3" name="p!!Rectangle">
            <a:extLst>
              <a:ext uri="{FF2B5EF4-FFF2-40B4-BE49-F238E27FC236}">
                <a16:creationId xmlns:a16="http://schemas.microsoft.com/office/drawing/2014/main" id="{2FB82883-1DC0-4BE1-A607-009095F335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descr="Close up of book pages">
            <a:extLst>
              <a:ext uri="{FF2B5EF4-FFF2-40B4-BE49-F238E27FC236}">
                <a16:creationId xmlns:a16="http://schemas.microsoft.com/office/drawing/2014/main" id="{273ADCC6-897E-4499-9AC1-C34ED51F898D}"/>
              </a:ext>
            </a:extLst>
          </p:cNvPr>
          <p:cNvPicPr>
            <a:picLocks noChangeAspect="1"/>
          </p:cNvPicPr>
          <p:nvPr/>
        </p:nvPicPr>
        <p:blipFill rotWithShape="1">
          <a:blip r:embed="rId2"/>
          <a:srcRect/>
          <a:stretch/>
        </p:blipFill>
        <p:spPr>
          <a:xfrm>
            <a:off x="20" y="10"/>
            <a:ext cx="9143980" cy="6857990"/>
          </a:xfrm>
          <a:prstGeom prst="rect">
            <a:avLst/>
          </a:prstGeom>
        </p:spPr>
      </p:pic>
      <p:sp>
        <p:nvSpPr>
          <p:cNvPr id="25" name="m!!text rectangle">
            <a:extLst>
              <a:ext uri="{FF2B5EF4-FFF2-40B4-BE49-F238E27FC236}">
                <a16:creationId xmlns:a16="http://schemas.microsoft.com/office/drawing/2014/main" id="{A3473CF9-37EB-43E7-89EF-D2D1C53D1D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427711" y="4638503"/>
            <a:ext cx="6288577" cy="1332634"/>
          </a:xfrm>
          <a:prstGeom prst="rect">
            <a:avLst/>
          </a:prstGeom>
          <a:solidFill>
            <a:schemeClr val="bg1">
              <a:alpha val="95000"/>
            </a:schemeClr>
          </a:solidFill>
          <a:ln w="12700">
            <a:solidFill>
              <a:srgbClr val="EFEFEF"/>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184D784C-09C2-4209-A54C-7272AAABAA90}"/>
              </a:ext>
            </a:extLst>
          </p:cNvPr>
          <p:cNvSpPr>
            <a:spLocks noGrp="1"/>
          </p:cNvSpPr>
          <p:nvPr>
            <p:ph type="title"/>
          </p:nvPr>
        </p:nvSpPr>
        <p:spPr>
          <a:xfrm>
            <a:off x="1577340" y="4727173"/>
            <a:ext cx="5989320" cy="868823"/>
          </a:xfrm>
        </p:spPr>
        <p:txBody>
          <a:bodyPr vert="horz" lIns="91440" tIns="45720" rIns="91440" bIns="45720" rtlCol="0" anchor="ctr">
            <a:normAutofit/>
          </a:bodyPr>
          <a:lstStyle/>
          <a:p>
            <a:pPr algn="ctr"/>
            <a:r>
              <a:rPr lang="en-US" sz="3500" dirty="0"/>
              <a:t>4. Objective of Research </a:t>
            </a:r>
          </a:p>
        </p:txBody>
      </p:sp>
      <p:sp>
        <p:nvSpPr>
          <p:cNvPr id="27" name="m!!accent">
            <a:extLst>
              <a:ext uri="{FF2B5EF4-FFF2-40B4-BE49-F238E27FC236}">
                <a16:creationId xmlns:a16="http://schemas.microsoft.com/office/drawing/2014/main" id="{586B4EF9-43BA-4655-A6FF-1D8E21574C9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862332" y="5628237"/>
            <a:ext cx="5419335" cy="685800"/>
          </a:xfrm>
          <a:prstGeom prst="roundRect">
            <a:avLst>
              <a:gd name="adj" fmla="val 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4" name="Date Placeholder 3">
            <a:extLst>
              <a:ext uri="{FF2B5EF4-FFF2-40B4-BE49-F238E27FC236}">
                <a16:creationId xmlns:a16="http://schemas.microsoft.com/office/drawing/2014/main" id="{6D4C7CB0-FBE1-485A-979E-AFFF09854263}"/>
              </a:ext>
            </a:extLst>
          </p:cNvPr>
          <p:cNvSpPr>
            <a:spLocks noGrp="1"/>
          </p:cNvSpPr>
          <p:nvPr>
            <p:ph type="dt" sz="half" idx="10"/>
          </p:nvPr>
        </p:nvSpPr>
        <p:spPr>
          <a:xfrm>
            <a:off x="628650" y="6356350"/>
            <a:ext cx="2057400" cy="365125"/>
          </a:xfrm>
        </p:spPr>
        <p:txBody>
          <a:bodyPr vert="horz" lIns="91440" tIns="45720" rIns="91440" bIns="45720" rtlCol="0" anchor="ctr">
            <a:normAutofit/>
          </a:bodyPr>
          <a:lstStyle/>
          <a:p>
            <a:pPr defTabSz="914400">
              <a:spcAft>
                <a:spcPts val="600"/>
              </a:spcAft>
              <a:defRPr/>
            </a:pPr>
            <a:fld id="{DA4042C5-0E2C-4FD3-A6EF-8C0BB8DE3BB1}" type="datetime1">
              <a:rPr lang="en-US" smtClean="0">
                <a:solidFill>
                  <a:schemeClr val="bg1"/>
                </a:solidFill>
                <a:latin typeface="Calibri" panose="020F0502020204030204"/>
              </a:rPr>
              <a:t>2/24/2025</a:t>
            </a:fld>
            <a:endParaRPr lang="en-US">
              <a:solidFill>
                <a:schemeClr val="bg1"/>
              </a:solidFill>
              <a:latin typeface="Calibri" panose="020F0502020204030204"/>
            </a:endParaRPr>
          </a:p>
        </p:txBody>
      </p:sp>
      <p:sp>
        <p:nvSpPr>
          <p:cNvPr id="5" name="Slide Number Placeholder 4">
            <a:extLst>
              <a:ext uri="{FF2B5EF4-FFF2-40B4-BE49-F238E27FC236}">
                <a16:creationId xmlns:a16="http://schemas.microsoft.com/office/drawing/2014/main" id="{4892CD39-0D00-43C5-8A2D-E2EDFA3A7F9B}"/>
              </a:ext>
            </a:extLst>
          </p:cNvPr>
          <p:cNvSpPr>
            <a:spLocks noGrp="1"/>
          </p:cNvSpPr>
          <p:nvPr>
            <p:ph type="sldNum" sz="quarter" idx="12"/>
          </p:nvPr>
        </p:nvSpPr>
        <p:spPr>
          <a:xfrm>
            <a:off x="6457950" y="6356350"/>
            <a:ext cx="2057400" cy="365125"/>
          </a:xfrm>
        </p:spPr>
        <p:txBody>
          <a:bodyPr vert="horz" lIns="91440" tIns="45720" rIns="91440" bIns="45720" rtlCol="0" anchor="ctr">
            <a:normAutofit/>
          </a:bodyPr>
          <a:lstStyle/>
          <a:p>
            <a:pPr defTabSz="914400">
              <a:spcAft>
                <a:spcPts val="600"/>
              </a:spcAft>
              <a:defRPr/>
            </a:pPr>
            <a:fld id="{849F1A12-756A-4552-B54B-B66CFF5610E9}" type="slidenum">
              <a:rPr lang="en-US" sz="1200" b="0">
                <a:solidFill>
                  <a:schemeClr val="bg1"/>
                </a:solidFill>
                <a:latin typeface="Calibri" panose="020F0502020204030204"/>
              </a:rPr>
              <a:pPr defTabSz="914400">
                <a:spcAft>
                  <a:spcPts val="600"/>
                </a:spcAft>
                <a:defRPr/>
              </a:pPr>
              <a:t>9</a:t>
            </a:fld>
            <a:endParaRPr lang="en-US" sz="1200" b="0">
              <a:solidFill>
                <a:schemeClr val="bg1"/>
              </a:solidFill>
              <a:latin typeface="Calibri" panose="020F0502020204030204"/>
            </a:endParaRPr>
          </a:p>
        </p:txBody>
      </p:sp>
      <p:sp>
        <p:nvSpPr>
          <p:cNvPr id="3" name="Footer Placeholder 2"/>
          <p:cNvSpPr>
            <a:spLocks noGrp="1"/>
          </p:cNvSpPr>
          <p:nvPr>
            <p:ph type="ftr" sz="quarter" idx="11"/>
          </p:nvPr>
        </p:nvSpPr>
        <p:spPr/>
        <p:txBody>
          <a:bodyPr/>
          <a:lstStyle/>
          <a:p>
            <a:r>
              <a:rPr lang="en-US"/>
              <a:t>CRP</a:t>
            </a:r>
          </a:p>
        </p:txBody>
      </p:sp>
    </p:spTree>
    <p:extLst>
      <p:ext uri="{BB962C8B-B14F-4D97-AF65-F5344CB8AC3E}">
        <p14:creationId xmlns:p14="http://schemas.microsoft.com/office/powerpoint/2010/main" val="146125221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24" name="Rectangle 23">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26" name="Rectangle 25">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914813" y="1914812"/>
            <a:ext cx="6858000" cy="3028377"/>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29">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914814" y="1924949"/>
            <a:ext cx="6857999" cy="302837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263195" y="4092815"/>
            <a:ext cx="2501979" cy="302838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4" name="Freeform: Shape 33">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376302" y="969718"/>
            <a:ext cx="292526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36" name="Rectangle 35">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914820" y="1904672"/>
            <a:ext cx="6858003" cy="3028376"/>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7CB860C7-93AD-4311-8CD4-4580644B47DD}"/>
              </a:ext>
            </a:extLst>
          </p:cNvPr>
          <p:cNvSpPr>
            <a:spLocks noGrp="1"/>
          </p:cNvSpPr>
          <p:nvPr>
            <p:ph idx="4294967295"/>
          </p:nvPr>
        </p:nvSpPr>
        <p:spPr>
          <a:xfrm>
            <a:off x="3608388" y="252413"/>
            <a:ext cx="4916487" cy="6280150"/>
          </a:xfrm>
        </p:spPr>
        <p:txBody>
          <a:bodyPr anchor="ctr">
            <a:normAutofit/>
          </a:bodyPr>
          <a:lstStyle/>
          <a:p>
            <a:pPr>
              <a:lnSpc>
                <a:spcPct val="150000"/>
              </a:lnSpc>
            </a:pPr>
            <a:r>
              <a:rPr lang="en-GB" sz="1800" dirty="0"/>
              <a:t>To conduct a comprehensive comparison of existing object detection models (YOLOv8, Faster R-CNN, and SSD) in terms of their suitability for Sri Lankan traffic sign detection.</a:t>
            </a:r>
          </a:p>
          <a:p>
            <a:pPr>
              <a:lnSpc>
                <a:spcPct val="150000"/>
              </a:lnSpc>
            </a:pPr>
            <a:r>
              <a:rPr lang="en-GB" sz="1800" dirty="0"/>
              <a:t>To evaluate the performance of these models using the mean Average Precision (mAP) metric on a Sri Lankan traffic sign dataset.</a:t>
            </a:r>
          </a:p>
          <a:p>
            <a:pPr>
              <a:lnSpc>
                <a:spcPct val="150000"/>
              </a:lnSpc>
            </a:pPr>
            <a:r>
              <a:rPr lang="en-GB" sz="1800" dirty="0"/>
              <a:t>To compare and analyze the results, identifying the most effective model for accurate traffic sign detection in Sri Lanka.</a:t>
            </a:r>
          </a:p>
        </p:txBody>
      </p:sp>
      <p:sp>
        <p:nvSpPr>
          <p:cNvPr id="4" name="Date Placeholder 3">
            <a:extLst>
              <a:ext uri="{FF2B5EF4-FFF2-40B4-BE49-F238E27FC236}">
                <a16:creationId xmlns:a16="http://schemas.microsoft.com/office/drawing/2014/main" id="{CBBD532E-64D0-4EDF-8CB2-01936B63643A}"/>
              </a:ext>
            </a:extLst>
          </p:cNvPr>
          <p:cNvSpPr>
            <a:spLocks noGrp="1"/>
          </p:cNvSpPr>
          <p:nvPr>
            <p:ph type="dt" sz="half" idx="10"/>
          </p:nvPr>
        </p:nvSpPr>
        <p:spPr/>
        <p:txBody>
          <a:bodyPr/>
          <a:lstStyle/>
          <a:p>
            <a:fld id="{5FA1EC22-AA10-4EE1-A30B-F269FD4ED93A}" type="datetime1">
              <a:rPr lang="en-US" smtClean="0"/>
              <a:t>2/24/2025</a:t>
            </a:fld>
            <a:endParaRPr lang="en-US"/>
          </a:p>
        </p:txBody>
      </p:sp>
      <p:sp>
        <p:nvSpPr>
          <p:cNvPr id="5" name="Slide Number Placeholder 4">
            <a:extLst>
              <a:ext uri="{FF2B5EF4-FFF2-40B4-BE49-F238E27FC236}">
                <a16:creationId xmlns:a16="http://schemas.microsoft.com/office/drawing/2014/main" id="{BE493AC1-341C-416D-9B4C-0E2ADB9F70BC}"/>
              </a:ext>
            </a:extLst>
          </p:cNvPr>
          <p:cNvSpPr>
            <a:spLocks noGrp="1"/>
          </p:cNvSpPr>
          <p:nvPr>
            <p:ph type="sldNum" sz="quarter" idx="12"/>
          </p:nvPr>
        </p:nvSpPr>
        <p:spPr/>
        <p:txBody>
          <a:bodyPr/>
          <a:lstStyle/>
          <a:p>
            <a:fld id="{849F1A12-756A-4552-B54B-B66CFF5610E9}" type="slidenum">
              <a:rPr lang="en-US" sz="1200" b="0" smtClean="0"/>
              <a:t>10</a:t>
            </a:fld>
            <a:endParaRPr lang="en-US" sz="1200" b="0" dirty="0"/>
          </a:p>
        </p:txBody>
      </p:sp>
      <p:sp>
        <p:nvSpPr>
          <p:cNvPr id="6" name="Footer Placeholder 5"/>
          <p:cNvSpPr>
            <a:spLocks noGrp="1"/>
          </p:cNvSpPr>
          <p:nvPr>
            <p:ph type="ftr" sz="quarter" idx="11"/>
          </p:nvPr>
        </p:nvSpPr>
        <p:spPr/>
        <p:txBody>
          <a:bodyPr/>
          <a:lstStyle/>
          <a:p>
            <a:r>
              <a:rPr lang="en-US"/>
              <a:t>CRP</a:t>
            </a:r>
          </a:p>
        </p:txBody>
      </p:sp>
      <p:sp>
        <p:nvSpPr>
          <p:cNvPr id="13" name="Title 1">
            <a:extLst>
              <a:ext uri="{FF2B5EF4-FFF2-40B4-BE49-F238E27FC236}">
                <a16:creationId xmlns:a16="http://schemas.microsoft.com/office/drawing/2014/main" id="{634380F5-514D-4989-966A-49BC47C96416}"/>
              </a:ext>
            </a:extLst>
          </p:cNvPr>
          <p:cNvSpPr>
            <a:spLocks noGrp="1"/>
          </p:cNvSpPr>
          <p:nvPr>
            <p:ph type="title"/>
          </p:nvPr>
        </p:nvSpPr>
        <p:spPr>
          <a:xfrm>
            <a:off x="350041" y="3325091"/>
            <a:ext cx="2401025" cy="649261"/>
          </a:xfrm>
        </p:spPr>
        <p:txBody>
          <a:bodyPr anchor="b">
            <a:normAutofit/>
          </a:bodyPr>
          <a:lstStyle/>
          <a:p>
            <a:pPr algn="ctr"/>
            <a:r>
              <a:rPr lang="en-US" sz="2400" dirty="0">
                <a:solidFill>
                  <a:srgbClr val="FFFFFF"/>
                </a:solidFill>
                <a:latin typeface="Times New Roman" panose="02020603050405020304" pitchFamily="18" charset="0"/>
                <a:ea typeface="Arial Unicode MS" pitchFamily="34" charset="-128"/>
                <a:cs typeface="Times New Roman" panose="02020603050405020304" pitchFamily="18" charset="0"/>
              </a:rPr>
              <a:t>Objective</a:t>
            </a:r>
            <a:endParaRPr lang="en-US" sz="2400" dirty="0">
              <a:solidFill>
                <a:srgbClr val="FFFFFF"/>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3637443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24" name="Rectangle 23">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26" name="Rectangle 25">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914813" y="1914812"/>
            <a:ext cx="6858000" cy="3028377"/>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29">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914814" y="1924949"/>
            <a:ext cx="6857999" cy="302837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263195" y="4092815"/>
            <a:ext cx="2501979" cy="302838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4" name="Freeform: Shape 33">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376302" y="969718"/>
            <a:ext cx="292526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36" name="Rectangle 35">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914820" y="1904672"/>
            <a:ext cx="6858003" cy="3028376"/>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7CB860C7-93AD-4311-8CD4-4580644B47DD}"/>
              </a:ext>
            </a:extLst>
          </p:cNvPr>
          <p:cNvSpPr>
            <a:spLocks noGrp="1"/>
          </p:cNvSpPr>
          <p:nvPr>
            <p:ph idx="1"/>
          </p:nvPr>
        </p:nvSpPr>
        <p:spPr>
          <a:xfrm>
            <a:off x="3607694" y="251791"/>
            <a:ext cx="4916510" cy="6281531"/>
          </a:xfrm>
        </p:spPr>
        <p:txBody>
          <a:bodyPr anchor="ctr">
            <a:normAutofit/>
          </a:bodyPr>
          <a:lstStyle/>
          <a:p>
            <a:pPr marL="0" indent="0">
              <a:lnSpc>
                <a:spcPct val="150000"/>
              </a:lnSpc>
              <a:buNone/>
            </a:pPr>
            <a:r>
              <a:rPr lang="en-GB" sz="1800" b="1" dirty="0"/>
              <a:t>Sub Objectives: </a:t>
            </a:r>
          </a:p>
          <a:p>
            <a:pPr>
              <a:lnSpc>
                <a:spcPct val="150000"/>
              </a:lnSpc>
            </a:pPr>
            <a:r>
              <a:rPr lang="en-GB" sz="1800" dirty="0"/>
              <a:t>Review existing research on object detection models for traffic sign detection.</a:t>
            </a:r>
          </a:p>
          <a:p>
            <a:pPr>
              <a:lnSpc>
                <a:spcPct val="150000"/>
              </a:lnSpc>
            </a:pPr>
            <a:r>
              <a:rPr lang="en-GB" sz="1800" dirty="0"/>
              <a:t>Understand the strengths and weaknesses of YOLOv8, Faster R-CNN, and SSD.</a:t>
            </a:r>
          </a:p>
          <a:p>
            <a:pPr marL="0" indent="0">
              <a:lnSpc>
                <a:spcPct val="150000"/>
              </a:lnSpc>
              <a:buNone/>
            </a:pPr>
            <a:endParaRPr lang="en-GB" sz="1800" dirty="0"/>
          </a:p>
        </p:txBody>
      </p:sp>
      <p:sp>
        <p:nvSpPr>
          <p:cNvPr id="4" name="Date Placeholder 3">
            <a:extLst>
              <a:ext uri="{FF2B5EF4-FFF2-40B4-BE49-F238E27FC236}">
                <a16:creationId xmlns:a16="http://schemas.microsoft.com/office/drawing/2014/main" id="{CBBD532E-64D0-4EDF-8CB2-01936B63643A}"/>
              </a:ext>
            </a:extLst>
          </p:cNvPr>
          <p:cNvSpPr>
            <a:spLocks noGrp="1"/>
          </p:cNvSpPr>
          <p:nvPr>
            <p:ph type="dt" sz="half" idx="10"/>
          </p:nvPr>
        </p:nvSpPr>
        <p:spPr/>
        <p:txBody>
          <a:bodyPr/>
          <a:lstStyle/>
          <a:p>
            <a:fld id="{AB304D7D-A11F-4C1E-9CA2-8E5EFE465FC1}" type="datetime1">
              <a:rPr lang="en-US" smtClean="0"/>
              <a:t>2/24/2025</a:t>
            </a:fld>
            <a:endParaRPr lang="en-US"/>
          </a:p>
        </p:txBody>
      </p:sp>
      <p:sp>
        <p:nvSpPr>
          <p:cNvPr id="5" name="Slide Number Placeholder 4">
            <a:extLst>
              <a:ext uri="{FF2B5EF4-FFF2-40B4-BE49-F238E27FC236}">
                <a16:creationId xmlns:a16="http://schemas.microsoft.com/office/drawing/2014/main" id="{BE493AC1-341C-416D-9B4C-0E2ADB9F70BC}"/>
              </a:ext>
            </a:extLst>
          </p:cNvPr>
          <p:cNvSpPr>
            <a:spLocks noGrp="1"/>
          </p:cNvSpPr>
          <p:nvPr>
            <p:ph type="sldNum" sz="quarter" idx="12"/>
          </p:nvPr>
        </p:nvSpPr>
        <p:spPr/>
        <p:txBody>
          <a:bodyPr/>
          <a:lstStyle/>
          <a:p>
            <a:r>
              <a:rPr lang="en-US" sz="1200" b="0" dirty="0"/>
              <a:t>10</a:t>
            </a:r>
          </a:p>
        </p:txBody>
      </p:sp>
      <p:sp>
        <p:nvSpPr>
          <p:cNvPr id="6" name="Footer Placeholder 5"/>
          <p:cNvSpPr>
            <a:spLocks noGrp="1"/>
          </p:cNvSpPr>
          <p:nvPr>
            <p:ph type="ftr" sz="quarter" idx="11"/>
          </p:nvPr>
        </p:nvSpPr>
        <p:spPr/>
        <p:txBody>
          <a:bodyPr/>
          <a:lstStyle/>
          <a:p>
            <a:r>
              <a:rPr lang="en-US"/>
              <a:t>CRP</a:t>
            </a:r>
          </a:p>
        </p:txBody>
      </p:sp>
      <p:sp>
        <p:nvSpPr>
          <p:cNvPr id="13" name="Title 1">
            <a:extLst>
              <a:ext uri="{FF2B5EF4-FFF2-40B4-BE49-F238E27FC236}">
                <a16:creationId xmlns:a16="http://schemas.microsoft.com/office/drawing/2014/main" id="{634380F5-514D-4989-966A-49BC47C96416}"/>
              </a:ext>
            </a:extLst>
          </p:cNvPr>
          <p:cNvSpPr>
            <a:spLocks noGrp="1"/>
          </p:cNvSpPr>
          <p:nvPr>
            <p:ph type="title"/>
          </p:nvPr>
        </p:nvSpPr>
        <p:spPr>
          <a:xfrm>
            <a:off x="350041" y="3325091"/>
            <a:ext cx="2401025" cy="649261"/>
          </a:xfrm>
        </p:spPr>
        <p:txBody>
          <a:bodyPr anchor="b">
            <a:normAutofit fontScale="90000"/>
          </a:bodyPr>
          <a:lstStyle/>
          <a:p>
            <a:pPr algn="ctr"/>
            <a:r>
              <a:rPr lang="en-US" sz="2400" dirty="0">
                <a:solidFill>
                  <a:srgbClr val="FFFFFF"/>
                </a:solidFill>
                <a:latin typeface="Times New Roman"/>
                <a:ea typeface="Arial Unicode MS"/>
                <a:cs typeface="Times New Roman"/>
              </a:rPr>
              <a:t>Objective &amp; Sub objectives</a:t>
            </a:r>
            <a:endParaRPr lang="en-US" sz="2400" dirty="0">
              <a:solidFill>
                <a:srgbClr val="FFFFFF"/>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6212574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3" name="p!!Rectangle">
            <a:extLst>
              <a:ext uri="{FF2B5EF4-FFF2-40B4-BE49-F238E27FC236}">
                <a16:creationId xmlns:a16="http://schemas.microsoft.com/office/drawing/2014/main" id="{2FB82883-1DC0-4BE1-A607-009095F335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descr="Close up of book pages">
            <a:extLst>
              <a:ext uri="{FF2B5EF4-FFF2-40B4-BE49-F238E27FC236}">
                <a16:creationId xmlns:a16="http://schemas.microsoft.com/office/drawing/2014/main" id="{273ADCC6-897E-4499-9AC1-C34ED51F898D}"/>
              </a:ext>
            </a:extLst>
          </p:cNvPr>
          <p:cNvPicPr>
            <a:picLocks noChangeAspect="1"/>
          </p:cNvPicPr>
          <p:nvPr/>
        </p:nvPicPr>
        <p:blipFill rotWithShape="1">
          <a:blip r:embed="rId2"/>
          <a:srcRect/>
          <a:stretch/>
        </p:blipFill>
        <p:spPr>
          <a:xfrm>
            <a:off x="20" y="10"/>
            <a:ext cx="9143980" cy="6857990"/>
          </a:xfrm>
          <a:prstGeom prst="rect">
            <a:avLst/>
          </a:prstGeom>
        </p:spPr>
      </p:pic>
      <p:sp>
        <p:nvSpPr>
          <p:cNvPr id="25" name="m!!text rectangle">
            <a:extLst>
              <a:ext uri="{FF2B5EF4-FFF2-40B4-BE49-F238E27FC236}">
                <a16:creationId xmlns:a16="http://schemas.microsoft.com/office/drawing/2014/main" id="{A3473CF9-37EB-43E7-89EF-D2D1C53D1D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427711" y="4638503"/>
            <a:ext cx="6288577" cy="1332634"/>
          </a:xfrm>
          <a:prstGeom prst="rect">
            <a:avLst/>
          </a:prstGeom>
          <a:solidFill>
            <a:schemeClr val="bg1">
              <a:alpha val="95000"/>
            </a:schemeClr>
          </a:solidFill>
          <a:ln w="12700">
            <a:solidFill>
              <a:srgbClr val="EFEFEF"/>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184D784C-09C2-4209-A54C-7272AAABAA90}"/>
              </a:ext>
            </a:extLst>
          </p:cNvPr>
          <p:cNvSpPr>
            <a:spLocks noGrp="1"/>
          </p:cNvSpPr>
          <p:nvPr>
            <p:ph type="title"/>
          </p:nvPr>
        </p:nvSpPr>
        <p:spPr>
          <a:xfrm>
            <a:off x="1577340" y="4727173"/>
            <a:ext cx="5989320" cy="868823"/>
          </a:xfrm>
        </p:spPr>
        <p:txBody>
          <a:bodyPr vert="horz" lIns="91440" tIns="45720" rIns="91440" bIns="45720" rtlCol="0" anchor="ctr">
            <a:normAutofit/>
          </a:bodyPr>
          <a:lstStyle/>
          <a:p>
            <a:pPr algn="ctr"/>
            <a:r>
              <a:rPr lang="en-US" sz="3500" dirty="0"/>
              <a:t>5. Scope of Research</a:t>
            </a:r>
          </a:p>
        </p:txBody>
      </p:sp>
      <p:sp>
        <p:nvSpPr>
          <p:cNvPr id="27" name="m!!accent">
            <a:extLst>
              <a:ext uri="{FF2B5EF4-FFF2-40B4-BE49-F238E27FC236}">
                <a16:creationId xmlns:a16="http://schemas.microsoft.com/office/drawing/2014/main" id="{586B4EF9-43BA-4655-A6FF-1D8E21574C9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862332" y="5628237"/>
            <a:ext cx="5419335" cy="685800"/>
          </a:xfrm>
          <a:prstGeom prst="roundRect">
            <a:avLst>
              <a:gd name="adj" fmla="val 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4" name="Date Placeholder 3">
            <a:extLst>
              <a:ext uri="{FF2B5EF4-FFF2-40B4-BE49-F238E27FC236}">
                <a16:creationId xmlns:a16="http://schemas.microsoft.com/office/drawing/2014/main" id="{6D4C7CB0-FBE1-485A-979E-AFFF09854263}"/>
              </a:ext>
            </a:extLst>
          </p:cNvPr>
          <p:cNvSpPr>
            <a:spLocks noGrp="1"/>
          </p:cNvSpPr>
          <p:nvPr>
            <p:ph type="dt" sz="half" idx="10"/>
          </p:nvPr>
        </p:nvSpPr>
        <p:spPr>
          <a:xfrm>
            <a:off x="628650" y="6356350"/>
            <a:ext cx="2057400" cy="365125"/>
          </a:xfrm>
        </p:spPr>
        <p:txBody>
          <a:bodyPr vert="horz" lIns="91440" tIns="45720" rIns="91440" bIns="45720" rtlCol="0" anchor="ctr">
            <a:normAutofit/>
          </a:bodyPr>
          <a:lstStyle/>
          <a:p>
            <a:pPr defTabSz="914400">
              <a:spcAft>
                <a:spcPts val="600"/>
              </a:spcAft>
              <a:defRPr/>
            </a:pPr>
            <a:fld id="{44B029B9-4455-4E32-8B16-6D97F5FFAFAC}" type="datetime1">
              <a:rPr lang="en-US" smtClean="0">
                <a:solidFill>
                  <a:schemeClr val="bg1"/>
                </a:solidFill>
                <a:latin typeface="Calibri" panose="020F0502020204030204"/>
              </a:rPr>
              <a:t>2/24/2025</a:t>
            </a:fld>
            <a:endParaRPr lang="en-US">
              <a:solidFill>
                <a:schemeClr val="bg1"/>
              </a:solidFill>
              <a:latin typeface="Calibri" panose="020F0502020204030204"/>
            </a:endParaRPr>
          </a:p>
        </p:txBody>
      </p:sp>
      <p:sp>
        <p:nvSpPr>
          <p:cNvPr id="5" name="Slide Number Placeholder 4">
            <a:extLst>
              <a:ext uri="{FF2B5EF4-FFF2-40B4-BE49-F238E27FC236}">
                <a16:creationId xmlns:a16="http://schemas.microsoft.com/office/drawing/2014/main" id="{4892CD39-0D00-43C5-8A2D-E2EDFA3A7F9B}"/>
              </a:ext>
            </a:extLst>
          </p:cNvPr>
          <p:cNvSpPr>
            <a:spLocks noGrp="1"/>
          </p:cNvSpPr>
          <p:nvPr>
            <p:ph type="sldNum" sz="quarter" idx="12"/>
          </p:nvPr>
        </p:nvSpPr>
        <p:spPr>
          <a:xfrm>
            <a:off x="6457950" y="6356350"/>
            <a:ext cx="2057400" cy="365125"/>
          </a:xfrm>
        </p:spPr>
        <p:txBody>
          <a:bodyPr vert="horz" lIns="91440" tIns="45720" rIns="91440" bIns="45720" rtlCol="0" anchor="ctr">
            <a:normAutofit/>
          </a:bodyPr>
          <a:lstStyle/>
          <a:p>
            <a:pPr defTabSz="914400">
              <a:spcAft>
                <a:spcPts val="600"/>
              </a:spcAft>
              <a:defRPr/>
            </a:pPr>
            <a:fld id="{849F1A12-756A-4552-B54B-B66CFF5610E9}" type="slidenum">
              <a:rPr lang="en-US" sz="1200" b="0">
                <a:solidFill>
                  <a:schemeClr val="bg1"/>
                </a:solidFill>
                <a:latin typeface="Calibri" panose="020F0502020204030204"/>
              </a:rPr>
              <a:pPr defTabSz="914400">
                <a:spcAft>
                  <a:spcPts val="600"/>
                </a:spcAft>
                <a:defRPr/>
              </a:pPr>
              <a:t>12</a:t>
            </a:fld>
            <a:endParaRPr lang="en-US" sz="1200" b="0">
              <a:solidFill>
                <a:schemeClr val="bg1"/>
              </a:solidFill>
              <a:latin typeface="Calibri" panose="020F0502020204030204"/>
            </a:endParaRPr>
          </a:p>
        </p:txBody>
      </p:sp>
      <p:sp>
        <p:nvSpPr>
          <p:cNvPr id="3" name="Footer Placeholder 2"/>
          <p:cNvSpPr>
            <a:spLocks noGrp="1"/>
          </p:cNvSpPr>
          <p:nvPr>
            <p:ph type="ftr" sz="quarter" idx="11"/>
          </p:nvPr>
        </p:nvSpPr>
        <p:spPr/>
        <p:txBody>
          <a:bodyPr/>
          <a:lstStyle/>
          <a:p>
            <a:r>
              <a:rPr lang="en-US"/>
              <a:t>CRP</a:t>
            </a:r>
          </a:p>
        </p:txBody>
      </p:sp>
    </p:spTree>
    <p:extLst>
      <p:ext uri="{BB962C8B-B14F-4D97-AF65-F5344CB8AC3E}">
        <p14:creationId xmlns:p14="http://schemas.microsoft.com/office/powerpoint/2010/main" val="275806562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24" name="Rectangle 23">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26" name="Rectangle 25">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914813" y="1914812"/>
            <a:ext cx="6858000" cy="3028377"/>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29">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914814" y="1924949"/>
            <a:ext cx="6857999" cy="302837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263195" y="4092815"/>
            <a:ext cx="2501979" cy="302838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4" name="Freeform: Shape 33">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376302" y="969718"/>
            <a:ext cx="292526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36" name="Rectangle 35">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914820" y="1904672"/>
            <a:ext cx="6858003" cy="3028376"/>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34380F5-514D-4989-966A-49BC47C96416}"/>
              </a:ext>
            </a:extLst>
          </p:cNvPr>
          <p:cNvSpPr>
            <a:spLocks noGrp="1"/>
          </p:cNvSpPr>
          <p:nvPr>
            <p:ph type="title"/>
          </p:nvPr>
        </p:nvSpPr>
        <p:spPr>
          <a:xfrm>
            <a:off x="350041" y="3325091"/>
            <a:ext cx="2401025" cy="649261"/>
          </a:xfrm>
        </p:spPr>
        <p:txBody>
          <a:bodyPr anchor="b">
            <a:normAutofit/>
          </a:bodyPr>
          <a:lstStyle/>
          <a:p>
            <a:pPr algn="ctr"/>
            <a:r>
              <a:rPr lang="en-US" sz="2400" dirty="0">
                <a:solidFill>
                  <a:srgbClr val="FFFFFF"/>
                </a:solidFill>
                <a:latin typeface="Times New Roman" panose="02020603050405020304" pitchFamily="18" charset="0"/>
                <a:ea typeface="Arial Unicode MS" pitchFamily="34" charset="-128"/>
                <a:cs typeface="Times New Roman" panose="02020603050405020304" pitchFamily="18" charset="0"/>
              </a:rPr>
              <a:t>Scope</a:t>
            </a:r>
            <a:endParaRPr lang="en-US" sz="2400" dirty="0">
              <a:solidFill>
                <a:srgbClr val="FFFFFF"/>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7CB860C7-93AD-4311-8CD4-4580644B47DD}"/>
              </a:ext>
            </a:extLst>
          </p:cNvPr>
          <p:cNvSpPr>
            <a:spLocks noGrp="1"/>
          </p:cNvSpPr>
          <p:nvPr>
            <p:ph idx="1"/>
          </p:nvPr>
        </p:nvSpPr>
        <p:spPr>
          <a:xfrm>
            <a:off x="3607694" y="251791"/>
            <a:ext cx="4916510" cy="6281531"/>
          </a:xfrm>
        </p:spPr>
        <p:txBody>
          <a:bodyPr anchor="ctr">
            <a:normAutofit/>
          </a:bodyPr>
          <a:lstStyle/>
          <a:p>
            <a:pPr>
              <a:lnSpc>
                <a:spcPct val="150000"/>
              </a:lnSpc>
              <a:spcBef>
                <a:spcPts val="0"/>
              </a:spcBef>
              <a:spcAft>
                <a:spcPts val="1000"/>
              </a:spcAft>
            </a:pPr>
            <a:r>
              <a:rPr lang="en-GB" sz="1800" b="1" dirty="0">
                <a:ea typeface="Calibri" panose="020F0502020204030204" pitchFamily="34" charset="0"/>
                <a:cs typeface="Times New Roman"/>
              </a:rPr>
              <a:t>Focus Area: </a:t>
            </a:r>
            <a:r>
              <a:rPr lang="en-GB" sz="1800" dirty="0">
                <a:ea typeface="Calibri" panose="020F0502020204030204" pitchFamily="34" charset="0"/>
                <a:cs typeface="Times New Roman"/>
              </a:rPr>
              <a:t>Evaluating object detection models for Sri Lankan traffic sign detection.</a:t>
            </a:r>
          </a:p>
          <a:p>
            <a:pPr>
              <a:lnSpc>
                <a:spcPct val="150000"/>
              </a:lnSpc>
              <a:spcBef>
                <a:spcPts val="0"/>
              </a:spcBef>
              <a:spcAft>
                <a:spcPts val="1000"/>
              </a:spcAft>
            </a:pPr>
            <a:r>
              <a:rPr lang="en-GB" sz="1800" b="1" dirty="0">
                <a:ea typeface="Calibri" panose="020F0502020204030204" pitchFamily="34" charset="0"/>
                <a:cs typeface="Times New Roman"/>
              </a:rPr>
              <a:t>Models Considered: </a:t>
            </a:r>
            <a:r>
              <a:rPr lang="en-GB" sz="1800" dirty="0">
                <a:ea typeface="Calibri" panose="020F0502020204030204" pitchFamily="34" charset="0"/>
                <a:cs typeface="Times New Roman"/>
              </a:rPr>
              <a:t>YOLOv8, Faster R-CNN, and SSD.</a:t>
            </a:r>
          </a:p>
          <a:p>
            <a:pPr>
              <a:lnSpc>
                <a:spcPct val="150000"/>
              </a:lnSpc>
              <a:spcBef>
                <a:spcPts val="0"/>
              </a:spcBef>
              <a:spcAft>
                <a:spcPts val="1000"/>
              </a:spcAft>
            </a:pPr>
            <a:r>
              <a:rPr lang="en-GB" sz="1800" b="1" dirty="0">
                <a:ea typeface="Calibri" panose="020F0502020204030204" pitchFamily="34" charset="0"/>
                <a:cs typeface="Times New Roman"/>
              </a:rPr>
              <a:t>Dataset: </a:t>
            </a:r>
            <a:r>
              <a:rPr lang="en-GB" sz="1800" dirty="0">
                <a:ea typeface="Calibri" panose="020F0502020204030204" pitchFamily="34" charset="0"/>
                <a:cs typeface="Times New Roman"/>
              </a:rPr>
              <a:t>A dataset containing Sri Lankan traffic signs.</a:t>
            </a:r>
          </a:p>
          <a:p>
            <a:pPr>
              <a:lnSpc>
                <a:spcPct val="150000"/>
              </a:lnSpc>
              <a:spcBef>
                <a:spcPts val="0"/>
              </a:spcBef>
              <a:spcAft>
                <a:spcPts val="1000"/>
              </a:spcAft>
            </a:pPr>
            <a:r>
              <a:rPr lang="en-GB" sz="1800" b="1" dirty="0">
                <a:ea typeface="Calibri" panose="020F0502020204030204" pitchFamily="34" charset="0"/>
                <a:cs typeface="Times New Roman"/>
              </a:rPr>
              <a:t>Evaluation Metric: </a:t>
            </a:r>
            <a:r>
              <a:rPr lang="en-GB" sz="1800" dirty="0">
                <a:ea typeface="Calibri" panose="020F0502020204030204" pitchFamily="34" charset="0"/>
                <a:cs typeface="Times New Roman"/>
              </a:rPr>
              <a:t>Mean Average Precision (mAP) as the primary performance measure.</a:t>
            </a:r>
            <a:endParaRPr lang="en-US" sz="1800" dirty="0">
              <a:ea typeface="Calibri" panose="020F0502020204030204" pitchFamily="34" charset="0"/>
              <a:cs typeface="Times New Roman"/>
            </a:endParaRPr>
          </a:p>
        </p:txBody>
      </p:sp>
      <p:sp>
        <p:nvSpPr>
          <p:cNvPr id="4" name="Date Placeholder 3">
            <a:extLst>
              <a:ext uri="{FF2B5EF4-FFF2-40B4-BE49-F238E27FC236}">
                <a16:creationId xmlns:a16="http://schemas.microsoft.com/office/drawing/2014/main" id="{CBBD532E-64D0-4EDF-8CB2-01936B63643A}"/>
              </a:ext>
            </a:extLst>
          </p:cNvPr>
          <p:cNvSpPr>
            <a:spLocks noGrp="1"/>
          </p:cNvSpPr>
          <p:nvPr>
            <p:ph type="dt" sz="half" idx="10"/>
          </p:nvPr>
        </p:nvSpPr>
        <p:spPr/>
        <p:txBody>
          <a:bodyPr/>
          <a:lstStyle/>
          <a:p>
            <a:fld id="{2A724328-5688-475E-8978-CA3EB6B8786F}" type="datetime1">
              <a:rPr lang="en-US" smtClean="0"/>
              <a:t>2/24/2025</a:t>
            </a:fld>
            <a:endParaRPr lang="en-US"/>
          </a:p>
        </p:txBody>
      </p:sp>
      <p:sp>
        <p:nvSpPr>
          <p:cNvPr id="5" name="Slide Number Placeholder 4">
            <a:extLst>
              <a:ext uri="{FF2B5EF4-FFF2-40B4-BE49-F238E27FC236}">
                <a16:creationId xmlns:a16="http://schemas.microsoft.com/office/drawing/2014/main" id="{BE493AC1-341C-416D-9B4C-0E2ADB9F70BC}"/>
              </a:ext>
            </a:extLst>
          </p:cNvPr>
          <p:cNvSpPr>
            <a:spLocks noGrp="1"/>
          </p:cNvSpPr>
          <p:nvPr>
            <p:ph type="sldNum" sz="quarter" idx="12"/>
          </p:nvPr>
        </p:nvSpPr>
        <p:spPr/>
        <p:txBody>
          <a:bodyPr/>
          <a:lstStyle/>
          <a:p>
            <a:r>
              <a:rPr lang="en-US" sz="1200" b="0" dirty="0"/>
              <a:t>13</a:t>
            </a:r>
          </a:p>
        </p:txBody>
      </p:sp>
      <p:sp>
        <p:nvSpPr>
          <p:cNvPr id="6" name="Footer Placeholder 5"/>
          <p:cNvSpPr>
            <a:spLocks noGrp="1"/>
          </p:cNvSpPr>
          <p:nvPr>
            <p:ph type="ftr" sz="quarter" idx="11"/>
          </p:nvPr>
        </p:nvSpPr>
        <p:spPr/>
        <p:txBody>
          <a:bodyPr/>
          <a:lstStyle/>
          <a:p>
            <a:r>
              <a:rPr lang="en-US"/>
              <a:t>CRP</a:t>
            </a:r>
          </a:p>
        </p:txBody>
      </p:sp>
    </p:spTree>
    <p:extLst>
      <p:ext uri="{BB962C8B-B14F-4D97-AF65-F5344CB8AC3E}">
        <p14:creationId xmlns:p14="http://schemas.microsoft.com/office/powerpoint/2010/main" val="7428004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23" name="p!!Rectangle">
            <a:extLst>
              <a:ext uri="{FF2B5EF4-FFF2-40B4-BE49-F238E27FC236}">
                <a16:creationId xmlns:a16="http://schemas.microsoft.com/office/drawing/2014/main" id="{2FB82883-1DC0-4BE1-A607-009095F335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descr="Close up of book pages">
            <a:extLst>
              <a:ext uri="{FF2B5EF4-FFF2-40B4-BE49-F238E27FC236}">
                <a16:creationId xmlns:a16="http://schemas.microsoft.com/office/drawing/2014/main" id="{273ADCC6-897E-4499-9AC1-C34ED51F898D}"/>
              </a:ext>
            </a:extLst>
          </p:cNvPr>
          <p:cNvPicPr>
            <a:picLocks noChangeAspect="1"/>
          </p:cNvPicPr>
          <p:nvPr/>
        </p:nvPicPr>
        <p:blipFill rotWithShape="1">
          <a:blip r:embed="rId2"/>
          <a:srcRect/>
          <a:stretch/>
        </p:blipFill>
        <p:spPr>
          <a:xfrm>
            <a:off x="20" y="10"/>
            <a:ext cx="9143980" cy="6857990"/>
          </a:xfrm>
          <a:prstGeom prst="rect">
            <a:avLst/>
          </a:prstGeom>
        </p:spPr>
      </p:pic>
      <p:sp>
        <p:nvSpPr>
          <p:cNvPr id="25" name="m!!text rectangle">
            <a:extLst>
              <a:ext uri="{FF2B5EF4-FFF2-40B4-BE49-F238E27FC236}">
                <a16:creationId xmlns:a16="http://schemas.microsoft.com/office/drawing/2014/main" id="{A3473CF9-37EB-43E7-89EF-D2D1C53D1D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427711" y="4638503"/>
            <a:ext cx="6288577" cy="1332634"/>
          </a:xfrm>
          <a:prstGeom prst="rect">
            <a:avLst/>
          </a:prstGeom>
          <a:solidFill>
            <a:schemeClr val="bg1">
              <a:alpha val="95000"/>
            </a:schemeClr>
          </a:solidFill>
          <a:ln w="12700">
            <a:solidFill>
              <a:srgbClr val="EFEFEF"/>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184D784C-09C2-4209-A54C-7272AAABAA90}"/>
              </a:ext>
            </a:extLst>
          </p:cNvPr>
          <p:cNvSpPr>
            <a:spLocks noGrp="1"/>
          </p:cNvSpPr>
          <p:nvPr>
            <p:ph type="title"/>
          </p:nvPr>
        </p:nvSpPr>
        <p:spPr>
          <a:xfrm>
            <a:off x="1577340" y="4727173"/>
            <a:ext cx="5989320" cy="868823"/>
          </a:xfrm>
        </p:spPr>
        <p:txBody>
          <a:bodyPr vert="horz" lIns="91440" tIns="45720" rIns="91440" bIns="45720" rtlCol="0" anchor="ctr">
            <a:normAutofit/>
          </a:bodyPr>
          <a:lstStyle/>
          <a:p>
            <a:pPr algn="ctr"/>
            <a:r>
              <a:rPr lang="en-US" sz="3500" dirty="0"/>
              <a:t>6.Limitations of Research</a:t>
            </a:r>
          </a:p>
        </p:txBody>
      </p:sp>
      <p:sp>
        <p:nvSpPr>
          <p:cNvPr id="27" name="m!!accent">
            <a:extLst>
              <a:ext uri="{FF2B5EF4-FFF2-40B4-BE49-F238E27FC236}">
                <a16:creationId xmlns:a16="http://schemas.microsoft.com/office/drawing/2014/main" id="{586B4EF9-43BA-4655-A6FF-1D8E21574C9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862332" y="5628237"/>
            <a:ext cx="5419335" cy="685800"/>
          </a:xfrm>
          <a:prstGeom prst="roundRect">
            <a:avLst>
              <a:gd name="adj" fmla="val 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4" name="Date Placeholder 3">
            <a:extLst>
              <a:ext uri="{FF2B5EF4-FFF2-40B4-BE49-F238E27FC236}">
                <a16:creationId xmlns:a16="http://schemas.microsoft.com/office/drawing/2014/main" id="{6D4C7CB0-FBE1-485A-979E-AFFF09854263}"/>
              </a:ext>
            </a:extLst>
          </p:cNvPr>
          <p:cNvSpPr>
            <a:spLocks noGrp="1"/>
          </p:cNvSpPr>
          <p:nvPr>
            <p:ph type="dt" sz="half" idx="10"/>
          </p:nvPr>
        </p:nvSpPr>
        <p:spPr>
          <a:xfrm>
            <a:off x="628650" y="6356350"/>
            <a:ext cx="2057400" cy="365125"/>
          </a:xfrm>
        </p:spPr>
        <p:txBody>
          <a:bodyPr vert="horz" lIns="91440" tIns="45720" rIns="91440" bIns="45720" rtlCol="0" anchor="ctr">
            <a:normAutofit/>
          </a:bodyPr>
          <a:lstStyle/>
          <a:p>
            <a:pPr defTabSz="914400">
              <a:spcAft>
                <a:spcPts val="600"/>
              </a:spcAft>
              <a:defRPr/>
            </a:pPr>
            <a:fld id="{A3AE9EAE-2DEE-466D-9183-756D733F6DAD}" type="datetime1">
              <a:rPr lang="en-US" smtClean="0">
                <a:solidFill>
                  <a:schemeClr val="bg1"/>
                </a:solidFill>
                <a:latin typeface="Calibri" panose="020F0502020204030204"/>
              </a:rPr>
              <a:t>2/24/2025</a:t>
            </a:fld>
            <a:endParaRPr lang="en-US">
              <a:solidFill>
                <a:schemeClr val="bg1"/>
              </a:solidFill>
              <a:latin typeface="Calibri" panose="020F0502020204030204"/>
            </a:endParaRPr>
          </a:p>
        </p:txBody>
      </p:sp>
      <p:sp>
        <p:nvSpPr>
          <p:cNvPr id="5" name="Slide Number Placeholder 4">
            <a:extLst>
              <a:ext uri="{FF2B5EF4-FFF2-40B4-BE49-F238E27FC236}">
                <a16:creationId xmlns:a16="http://schemas.microsoft.com/office/drawing/2014/main" id="{4892CD39-0D00-43C5-8A2D-E2EDFA3A7F9B}"/>
              </a:ext>
            </a:extLst>
          </p:cNvPr>
          <p:cNvSpPr>
            <a:spLocks noGrp="1"/>
          </p:cNvSpPr>
          <p:nvPr>
            <p:ph type="sldNum" sz="quarter" idx="12"/>
          </p:nvPr>
        </p:nvSpPr>
        <p:spPr>
          <a:xfrm>
            <a:off x="6457950" y="6356350"/>
            <a:ext cx="2057400" cy="365125"/>
          </a:xfrm>
        </p:spPr>
        <p:txBody>
          <a:bodyPr vert="horz" lIns="91440" tIns="45720" rIns="91440" bIns="45720" rtlCol="0" anchor="ctr">
            <a:normAutofit/>
          </a:bodyPr>
          <a:lstStyle/>
          <a:p>
            <a:pPr defTabSz="914400">
              <a:spcAft>
                <a:spcPts val="600"/>
              </a:spcAft>
              <a:defRPr/>
            </a:pPr>
            <a:fld id="{849F1A12-756A-4552-B54B-B66CFF5610E9}" type="slidenum">
              <a:rPr lang="en-US" sz="1200" b="0">
                <a:solidFill>
                  <a:schemeClr val="bg1"/>
                </a:solidFill>
                <a:latin typeface="Calibri" panose="020F0502020204030204"/>
              </a:rPr>
              <a:pPr defTabSz="914400">
                <a:spcAft>
                  <a:spcPts val="600"/>
                </a:spcAft>
                <a:defRPr/>
              </a:pPr>
              <a:t>14</a:t>
            </a:fld>
            <a:endParaRPr lang="en-US" sz="1200" b="0">
              <a:solidFill>
                <a:schemeClr val="bg1"/>
              </a:solidFill>
              <a:latin typeface="Calibri" panose="020F0502020204030204"/>
            </a:endParaRPr>
          </a:p>
        </p:txBody>
      </p:sp>
      <p:sp>
        <p:nvSpPr>
          <p:cNvPr id="3" name="Footer Placeholder 2"/>
          <p:cNvSpPr>
            <a:spLocks noGrp="1"/>
          </p:cNvSpPr>
          <p:nvPr>
            <p:ph type="ftr" sz="quarter" idx="11"/>
          </p:nvPr>
        </p:nvSpPr>
        <p:spPr/>
        <p:txBody>
          <a:bodyPr/>
          <a:lstStyle/>
          <a:p>
            <a:r>
              <a:rPr lang="en-US"/>
              <a:t>CRP</a:t>
            </a:r>
          </a:p>
        </p:txBody>
      </p:sp>
    </p:spTree>
    <p:extLst>
      <p:ext uri="{BB962C8B-B14F-4D97-AF65-F5344CB8AC3E}">
        <p14:creationId xmlns:p14="http://schemas.microsoft.com/office/powerpoint/2010/main" val="334342414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24" name="Rectangle 23">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26" name="Rectangle 25">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914813" y="1914812"/>
            <a:ext cx="6858000" cy="3028377"/>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29">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914814" y="1924949"/>
            <a:ext cx="6857999" cy="302837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263195" y="4092815"/>
            <a:ext cx="2501979" cy="302838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4" name="Freeform: Shape 33">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376302" y="969718"/>
            <a:ext cx="292526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36" name="Rectangle 35">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914820" y="1904672"/>
            <a:ext cx="6858003" cy="3028376"/>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34380F5-514D-4989-966A-49BC47C96416}"/>
              </a:ext>
            </a:extLst>
          </p:cNvPr>
          <p:cNvSpPr>
            <a:spLocks noGrp="1"/>
          </p:cNvSpPr>
          <p:nvPr>
            <p:ph type="title"/>
          </p:nvPr>
        </p:nvSpPr>
        <p:spPr>
          <a:xfrm>
            <a:off x="350041" y="3325091"/>
            <a:ext cx="2401025" cy="649261"/>
          </a:xfrm>
        </p:spPr>
        <p:txBody>
          <a:bodyPr anchor="b">
            <a:normAutofit/>
          </a:bodyPr>
          <a:lstStyle/>
          <a:p>
            <a:pPr algn="ctr"/>
            <a:r>
              <a:rPr lang="en-US" sz="2400" dirty="0">
                <a:solidFill>
                  <a:srgbClr val="FFFFFF"/>
                </a:solidFill>
                <a:latin typeface="Times New Roman" panose="02020603050405020304" pitchFamily="18" charset="0"/>
                <a:ea typeface="Arial Unicode MS" pitchFamily="34" charset="-128"/>
                <a:cs typeface="Times New Roman" panose="02020603050405020304" pitchFamily="18" charset="0"/>
              </a:rPr>
              <a:t>Limitations</a:t>
            </a:r>
            <a:endParaRPr lang="en-US" sz="2400" dirty="0">
              <a:solidFill>
                <a:srgbClr val="FFFFFF"/>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7CB860C7-93AD-4311-8CD4-4580644B47DD}"/>
              </a:ext>
            </a:extLst>
          </p:cNvPr>
          <p:cNvSpPr>
            <a:spLocks noGrp="1"/>
          </p:cNvSpPr>
          <p:nvPr>
            <p:ph idx="1"/>
          </p:nvPr>
        </p:nvSpPr>
        <p:spPr>
          <a:xfrm>
            <a:off x="3607694" y="251791"/>
            <a:ext cx="4916510" cy="6281531"/>
          </a:xfrm>
        </p:spPr>
        <p:txBody>
          <a:bodyPr anchor="ctr">
            <a:normAutofit/>
          </a:bodyPr>
          <a:lstStyle/>
          <a:p>
            <a:pPr>
              <a:lnSpc>
                <a:spcPct val="150000"/>
              </a:lnSpc>
              <a:spcBef>
                <a:spcPts val="0"/>
              </a:spcBef>
              <a:spcAft>
                <a:spcPts val="1000"/>
              </a:spcAft>
            </a:pPr>
            <a:r>
              <a:rPr lang="en-GB" sz="1800" dirty="0">
                <a:ea typeface="Calibri" panose="020F0502020204030204" pitchFamily="34" charset="0"/>
                <a:cs typeface="Times New Roman"/>
              </a:rPr>
              <a:t>The study focuses only on model evaluation, not implementation or fine-tuning.</a:t>
            </a:r>
          </a:p>
          <a:p>
            <a:pPr>
              <a:lnSpc>
                <a:spcPct val="150000"/>
              </a:lnSpc>
              <a:spcBef>
                <a:spcPts val="0"/>
              </a:spcBef>
              <a:spcAft>
                <a:spcPts val="1000"/>
              </a:spcAft>
            </a:pPr>
            <a:r>
              <a:rPr lang="en-GB" sz="1800" dirty="0">
                <a:ea typeface="Calibri" panose="020F0502020204030204" pitchFamily="34" charset="0"/>
                <a:cs typeface="Times New Roman" panose="02020603050405020304" pitchFamily="18" charset="0"/>
              </a:rPr>
              <a:t>Research is limited to Sri Lankan traffic signs and may not generalize to other regions.</a:t>
            </a:r>
            <a:endParaRPr lang="en-US" sz="1800" dirty="0">
              <a:ea typeface="Calibri" panose="020F0502020204030204" pitchFamily="34" charset="0"/>
              <a:cs typeface="Times New Roman" panose="02020603050405020304" pitchFamily="18" charset="0"/>
            </a:endParaRPr>
          </a:p>
          <a:p>
            <a:pPr marL="0" indent="0">
              <a:lnSpc>
                <a:spcPct val="150000"/>
              </a:lnSpc>
              <a:spcBef>
                <a:spcPts val="0"/>
              </a:spcBef>
              <a:spcAft>
                <a:spcPts val="1000"/>
              </a:spcAft>
              <a:buNone/>
            </a:pPr>
            <a:endParaRPr lang="en-US" sz="1800" dirty="0">
              <a:ea typeface="Calibri" panose="020F0502020204030204" pitchFamily="34" charset="0"/>
              <a:cs typeface="Times New Roman" panose="02020603050405020304" pitchFamily="18" charset="0"/>
            </a:endParaRPr>
          </a:p>
        </p:txBody>
      </p:sp>
      <p:sp>
        <p:nvSpPr>
          <p:cNvPr id="4" name="Date Placeholder 3">
            <a:extLst>
              <a:ext uri="{FF2B5EF4-FFF2-40B4-BE49-F238E27FC236}">
                <a16:creationId xmlns:a16="http://schemas.microsoft.com/office/drawing/2014/main" id="{CBBD532E-64D0-4EDF-8CB2-01936B63643A}"/>
              </a:ext>
            </a:extLst>
          </p:cNvPr>
          <p:cNvSpPr>
            <a:spLocks noGrp="1"/>
          </p:cNvSpPr>
          <p:nvPr>
            <p:ph type="dt" sz="half" idx="10"/>
          </p:nvPr>
        </p:nvSpPr>
        <p:spPr/>
        <p:txBody>
          <a:bodyPr/>
          <a:lstStyle/>
          <a:p>
            <a:fld id="{B8C1096F-ED07-4EE2-A280-F7C1436D1C64}" type="datetime1">
              <a:rPr lang="en-US" smtClean="0"/>
              <a:t>2/24/2025</a:t>
            </a:fld>
            <a:endParaRPr lang="en-US"/>
          </a:p>
        </p:txBody>
      </p:sp>
      <p:sp>
        <p:nvSpPr>
          <p:cNvPr id="5" name="Slide Number Placeholder 4">
            <a:extLst>
              <a:ext uri="{FF2B5EF4-FFF2-40B4-BE49-F238E27FC236}">
                <a16:creationId xmlns:a16="http://schemas.microsoft.com/office/drawing/2014/main" id="{BE493AC1-341C-416D-9B4C-0E2ADB9F70BC}"/>
              </a:ext>
            </a:extLst>
          </p:cNvPr>
          <p:cNvSpPr>
            <a:spLocks noGrp="1"/>
          </p:cNvSpPr>
          <p:nvPr>
            <p:ph type="sldNum" sz="quarter" idx="12"/>
          </p:nvPr>
        </p:nvSpPr>
        <p:spPr/>
        <p:txBody>
          <a:bodyPr/>
          <a:lstStyle/>
          <a:p>
            <a:fld id="{849F1A12-756A-4552-B54B-B66CFF5610E9}" type="slidenum">
              <a:rPr lang="en-US" sz="1200" b="0" smtClean="0"/>
              <a:t>15</a:t>
            </a:fld>
            <a:endParaRPr lang="en-US" sz="1200" b="0" dirty="0"/>
          </a:p>
        </p:txBody>
      </p:sp>
      <p:sp>
        <p:nvSpPr>
          <p:cNvPr id="6" name="Footer Placeholder 5"/>
          <p:cNvSpPr>
            <a:spLocks noGrp="1"/>
          </p:cNvSpPr>
          <p:nvPr>
            <p:ph type="ftr" sz="quarter" idx="11"/>
          </p:nvPr>
        </p:nvSpPr>
        <p:spPr/>
        <p:txBody>
          <a:bodyPr/>
          <a:lstStyle/>
          <a:p>
            <a:r>
              <a:rPr lang="en-US"/>
              <a:t>CRP</a:t>
            </a:r>
          </a:p>
        </p:txBody>
      </p:sp>
    </p:spTree>
    <p:extLst>
      <p:ext uri="{BB962C8B-B14F-4D97-AF65-F5344CB8AC3E}">
        <p14:creationId xmlns:p14="http://schemas.microsoft.com/office/powerpoint/2010/main" val="427500284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23" name="p!!Rectangle">
            <a:extLst>
              <a:ext uri="{FF2B5EF4-FFF2-40B4-BE49-F238E27FC236}">
                <a16:creationId xmlns:a16="http://schemas.microsoft.com/office/drawing/2014/main" id="{2FB82883-1DC0-4BE1-A607-009095F335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descr="Close up of book pages">
            <a:extLst>
              <a:ext uri="{FF2B5EF4-FFF2-40B4-BE49-F238E27FC236}">
                <a16:creationId xmlns:a16="http://schemas.microsoft.com/office/drawing/2014/main" id="{273ADCC6-897E-4499-9AC1-C34ED51F898D}"/>
              </a:ext>
            </a:extLst>
          </p:cNvPr>
          <p:cNvPicPr>
            <a:picLocks noChangeAspect="1"/>
          </p:cNvPicPr>
          <p:nvPr/>
        </p:nvPicPr>
        <p:blipFill rotWithShape="1">
          <a:blip r:embed="rId2"/>
          <a:srcRect/>
          <a:stretch/>
        </p:blipFill>
        <p:spPr>
          <a:xfrm>
            <a:off x="20" y="10"/>
            <a:ext cx="9143980" cy="6857990"/>
          </a:xfrm>
          <a:prstGeom prst="rect">
            <a:avLst/>
          </a:prstGeom>
        </p:spPr>
      </p:pic>
      <p:sp>
        <p:nvSpPr>
          <p:cNvPr id="25" name="m!!text rectangle">
            <a:extLst>
              <a:ext uri="{FF2B5EF4-FFF2-40B4-BE49-F238E27FC236}">
                <a16:creationId xmlns:a16="http://schemas.microsoft.com/office/drawing/2014/main" id="{A3473CF9-37EB-43E7-89EF-D2D1C53D1D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427711" y="4638503"/>
            <a:ext cx="6288577" cy="1332634"/>
          </a:xfrm>
          <a:prstGeom prst="rect">
            <a:avLst/>
          </a:prstGeom>
          <a:solidFill>
            <a:schemeClr val="bg1">
              <a:alpha val="95000"/>
            </a:schemeClr>
          </a:solidFill>
          <a:ln w="12700">
            <a:solidFill>
              <a:srgbClr val="EFEFEF"/>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184D784C-09C2-4209-A54C-7272AAABAA90}"/>
              </a:ext>
            </a:extLst>
          </p:cNvPr>
          <p:cNvSpPr>
            <a:spLocks noGrp="1"/>
          </p:cNvSpPr>
          <p:nvPr>
            <p:ph type="title"/>
          </p:nvPr>
        </p:nvSpPr>
        <p:spPr>
          <a:xfrm>
            <a:off x="1577340" y="4727173"/>
            <a:ext cx="5989320" cy="868823"/>
          </a:xfrm>
        </p:spPr>
        <p:txBody>
          <a:bodyPr vert="horz" lIns="91440" tIns="45720" rIns="91440" bIns="45720" rtlCol="0" anchor="ctr">
            <a:normAutofit/>
          </a:bodyPr>
          <a:lstStyle/>
          <a:p>
            <a:pPr algn="ctr"/>
            <a:r>
              <a:rPr lang="en-US" sz="3500" dirty="0"/>
              <a:t>7. Methodology</a:t>
            </a:r>
          </a:p>
        </p:txBody>
      </p:sp>
      <p:sp>
        <p:nvSpPr>
          <p:cNvPr id="27" name="m!!accent">
            <a:extLst>
              <a:ext uri="{FF2B5EF4-FFF2-40B4-BE49-F238E27FC236}">
                <a16:creationId xmlns:a16="http://schemas.microsoft.com/office/drawing/2014/main" id="{586B4EF9-43BA-4655-A6FF-1D8E21574C9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862332" y="5628237"/>
            <a:ext cx="5419335" cy="685800"/>
          </a:xfrm>
          <a:prstGeom prst="roundRect">
            <a:avLst>
              <a:gd name="adj" fmla="val 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4" name="Date Placeholder 3">
            <a:extLst>
              <a:ext uri="{FF2B5EF4-FFF2-40B4-BE49-F238E27FC236}">
                <a16:creationId xmlns:a16="http://schemas.microsoft.com/office/drawing/2014/main" id="{6D4C7CB0-FBE1-485A-979E-AFFF09854263}"/>
              </a:ext>
            </a:extLst>
          </p:cNvPr>
          <p:cNvSpPr>
            <a:spLocks noGrp="1"/>
          </p:cNvSpPr>
          <p:nvPr>
            <p:ph type="dt" sz="half" idx="10"/>
          </p:nvPr>
        </p:nvSpPr>
        <p:spPr>
          <a:xfrm>
            <a:off x="628650" y="6356350"/>
            <a:ext cx="2057400" cy="365125"/>
          </a:xfrm>
        </p:spPr>
        <p:txBody>
          <a:bodyPr vert="horz" lIns="91440" tIns="45720" rIns="91440" bIns="45720" rtlCol="0" anchor="ctr">
            <a:normAutofit/>
          </a:bodyPr>
          <a:lstStyle/>
          <a:p>
            <a:pPr defTabSz="914400">
              <a:spcAft>
                <a:spcPts val="600"/>
              </a:spcAft>
              <a:defRPr/>
            </a:pPr>
            <a:fld id="{EFDF88E1-7F0A-4457-B096-CBADB9AF7900}" type="datetime1">
              <a:rPr lang="en-US" smtClean="0">
                <a:solidFill>
                  <a:schemeClr val="bg1"/>
                </a:solidFill>
                <a:latin typeface="Calibri" panose="020F0502020204030204"/>
              </a:rPr>
              <a:t>2/24/2025</a:t>
            </a:fld>
            <a:endParaRPr lang="en-US">
              <a:solidFill>
                <a:schemeClr val="bg1"/>
              </a:solidFill>
              <a:latin typeface="Calibri" panose="020F0502020204030204"/>
            </a:endParaRPr>
          </a:p>
        </p:txBody>
      </p:sp>
      <p:sp>
        <p:nvSpPr>
          <p:cNvPr id="5" name="Slide Number Placeholder 4">
            <a:extLst>
              <a:ext uri="{FF2B5EF4-FFF2-40B4-BE49-F238E27FC236}">
                <a16:creationId xmlns:a16="http://schemas.microsoft.com/office/drawing/2014/main" id="{4892CD39-0D00-43C5-8A2D-E2EDFA3A7F9B}"/>
              </a:ext>
            </a:extLst>
          </p:cNvPr>
          <p:cNvSpPr>
            <a:spLocks noGrp="1"/>
          </p:cNvSpPr>
          <p:nvPr>
            <p:ph type="sldNum" sz="quarter" idx="12"/>
          </p:nvPr>
        </p:nvSpPr>
        <p:spPr>
          <a:xfrm>
            <a:off x="6457950" y="6356350"/>
            <a:ext cx="2057400" cy="365125"/>
          </a:xfrm>
        </p:spPr>
        <p:txBody>
          <a:bodyPr vert="horz" lIns="91440" tIns="45720" rIns="91440" bIns="45720" rtlCol="0" anchor="ctr">
            <a:normAutofit/>
          </a:bodyPr>
          <a:lstStyle/>
          <a:p>
            <a:pPr defTabSz="914400">
              <a:spcAft>
                <a:spcPts val="600"/>
              </a:spcAft>
              <a:defRPr/>
            </a:pPr>
            <a:fld id="{849F1A12-756A-4552-B54B-B66CFF5610E9}" type="slidenum">
              <a:rPr lang="en-US" sz="1200" b="0">
                <a:solidFill>
                  <a:schemeClr val="bg1"/>
                </a:solidFill>
                <a:latin typeface="Calibri" panose="020F0502020204030204"/>
              </a:rPr>
              <a:pPr defTabSz="914400">
                <a:spcAft>
                  <a:spcPts val="600"/>
                </a:spcAft>
                <a:defRPr/>
              </a:pPr>
              <a:t>16</a:t>
            </a:fld>
            <a:endParaRPr lang="en-US" sz="1200" b="0">
              <a:solidFill>
                <a:schemeClr val="bg1"/>
              </a:solidFill>
              <a:latin typeface="Calibri" panose="020F0502020204030204"/>
            </a:endParaRPr>
          </a:p>
        </p:txBody>
      </p:sp>
      <p:sp>
        <p:nvSpPr>
          <p:cNvPr id="3" name="Footer Placeholder 2"/>
          <p:cNvSpPr>
            <a:spLocks noGrp="1"/>
          </p:cNvSpPr>
          <p:nvPr>
            <p:ph type="ftr" sz="quarter" idx="11"/>
          </p:nvPr>
        </p:nvSpPr>
        <p:spPr/>
        <p:txBody>
          <a:bodyPr/>
          <a:lstStyle/>
          <a:p>
            <a:r>
              <a:rPr lang="en-US"/>
              <a:t>CRP</a:t>
            </a:r>
          </a:p>
        </p:txBody>
      </p:sp>
    </p:spTree>
    <p:extLst>
      <p:ext uri="{BB962C8B-B14F-4D97-AF65-F5344CB8AC3E}">
        <p14:creationId xmlns:p14="http://schemas.microsoft.com/office/powerpoint/2010/main" val="51581991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24" name="Rectangle 23">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26" name="Rectangle 25">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914813" y="1914812"/>
            <a:ext cx="6858000" cy="3028377"/>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29">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914814" y="1924949"/>
            <a:ext cx="6857999" cy="302837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263195" y="4092815"/>
            <a:ext cx="2501979" cy="302838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4" name="Freeform: Shape 33">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376302" y="969718"/>
            <a:ext cx="292526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36" name="Rectangle 35">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914820" y="1904672"/>
            <a:ext cx="6858003" cy="3028376"/>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34380F5-514D-4989-966A-49BC47C96416}"/>
              </a:ext>
            </a:extLst>
          </p:cNvPr>
          <p:cNvSpPr>
            <a:spLocks noGrp="1"/>
          </p:cNvSpPr>
          <p:nvPr>
            <p:ph type="title"/>
          </p:nvPr>
        </p:nvSpPr>
        <p:spPr>
          <a:xfrm>
            <a:off x="350041" y="3325091"/>
            <a:ext cx="2401025" cy="649261"/>
          </a:xfrm>
        </p:spPr>
        <p:txBody>
          <a:bodyPr anchor="b">
            <a:normAutofit/>
          </a:bodyPr>
          <a:lstStyle/>
          <a:p>
            <a:pPr algn="ctr"/>
            <a:r>
              <a:rPr lang="en-US" sz="2400" dirty="0">
                <a:solidFill>
                  <a:srgbClr val="FFFFFF"/>
                </a:solidFill>
                <a:latin typeface="Times New Roman" panose="02020603050405020304" pitchFamily="18" charset="0"/>
                <a:ea typeface="Arial Unicode MS" pitchFamily="34" charset="-128"/>
                <a:cs typeface="Times New Roman" panose="02020603050405020304" pitchFamily="18" charset="0"/>
              </a:rPr>
              <a:t>Methodology</a:t>
            </a:r>
            <a:endParaRPr lang="en-US" sz="2400" dirty="0">
              <a:solidFill>
                <a:srgbClr val="FFFFFF"/>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7CB860C7-93AD-4311-8CD4-4580644B47DD}"/>
              </a:ext>
            </a:extLst>
          </p:cNvPr>
          <p:cNvSpPr>
            <a:spLocks noGrp="1"/>
          </p:cNvSpPr>
          <p:nvPr>
            <p:ph idx="1"/>
          </p:nvPr>
        </p:nvSpPr>
        <p:spPr>
          <a:xfrm>
            <a:off x="3607693" y="251791"/>
            <a:ext cx="5331033" cy="6281531"/>
          </a:xfrm>
        </p:spPr>
        <p:txBody>
          <a:bodyPr anchor="ctr">
            <a:normAutofit/>
          </a:bodyPr>
          <a:lstStyle/>
          <a:p>
            <a:pPr>
              <a:lnSpc>
                <a:spcPct val="150000"/>
              </a:lnSpc>
              <a:spcBef>
                <a:spcPts val="0"/>
              </a:spcBef>
              <a:spcAft>
                <a:spcPts val="1000"/>
              </a:spcAft>
            </a:pPr>
            <a:r>
              <a:rPr lang="en-US" sz="1800" b="1" dirty="0">
                <a:ea typeface="Calibri" panose="020F0502020204030204" pitchFamily="34" charset="0"/>
                <a:cs typeface="Times New Roman" panose="02020603050405020304" pitchFamily="18" charset="0"/>
              </a:rPr>
              <a:t>Research Design: </a:t>
            </a:r>
            <a:r>
              <a:rPr lang="en-US" sz="1800" dirty="0">
                <a:ea typeface="Calibri" panose="020F0502020204030204" pitchFamily="34" charset="0"/>
                <a:cs typeface="Times New Roman" panose="02020603050405020304" pitchFamily="18" charset="0"/>
              </a:rPr>
              <a:t>Quantitative research.</a:t>
            </a:r>
          </a:p>
          <a:p>
            <a:pPr>
              <a:lnSpc>
                <a:spcPct val="150000"/>
              </a:lnSpc>
              <a:spcBef>
                <a:spcPts val="0"/>
              </a:spcBef>
              <a:spcAft>
                <a:spcPts val="1000"/>
              </a:spcAft>
            </a:pPr>
            <a:r>
              <a:rPr lang="en-US" sz="1800" b="1" dirty="0">
                <a:ea typeface="Calibri" panose="020F0502020204030204" pitchFamily="34" charset="0"/>
                <a:cs typeface="Times New Roman" panose="02020603050405020304" pitchFamily="18" charset="0"/>
              </a:rPr>
              <a:t>Data Collection Method:</a:t>
            </a:r>
            <a:r>
              <a:rPr lang="en-US" sz="1800" dirty="0">
                <a:ea typeface="Calibri" panose="020F0502020204030204" pitchFamily="34" charset="0"/>
                <a:cs typeface="Times New Roman" panose="02020603050405020304" pitchFamily="18" charset="0"/>
              </a:rPr>
              <a:t> Secondary dataset (Sri Lankan traffic sign dataset).</a:t>
            </a:r>
          </a:p>
          <a:p>
            <a:pPr>
              <a:lnSpc>
                <a:spcPct val="150000"/>
              </a:lnSpc>
              <a:spcBef>
                <a:spcPts val="0"/>
              </a:spcBef>
              <a:spcAft>
                <a:spcPts val="1000"/>
              </a:spcAft>
            </a:pPr>
            <a:r>
              <a:rPr lang="en-GB" sz="1800" b="1" dirty="0">
                <a:ea typeface="Calibri" panose="020F0502020204030204" pitchFamily="34" charset="0"/>
                <a:cs typeface="Times New Roman" panose="02020603050405020304" pitchFamily="18" charset="0"/>
              </a:rPr>
              <a:t>Evaluation Approach:</a:t>
            </a:r>
            <a:r>
              <a:rPr lang="en-GB" sz="1800" dirty="0">
                <a:ea typeface="Calibri" panose="020F0502020204030204" pitchFamily="34" charset="0"/>
                <a:cs typeface="Times New Roman" panose="02020603050405020304" pitchFamily="18" charset="0"/>
              </a:rPr>
              <a:t> Analyze the performance of YOLOv8, Faster R-CNN, and SSD. Use mean Average Precision (mAP) as the key evaluation metric.</a:t>
            </a:r>
            <a:endParaRPr lang="en-US" sz="1800" dirty="0">
              <a:ea typeface="Calibri" panose="020F0502020204030204" pitchFamily="34" charset="0"/>
              <a:cs typeface="Times New Roman" panose="02020603050405020304" pitchFamily="18" charset="0"/>
            </a:endParaRPr>
          </a:p>
          <a:p>
            <a:pPr>
              <a:lnSpc>
                <a:spcPct val="150000"/>
              </a:lnSpc>
              <a:spcBef>
                <a:spcPts val="0"/>
              </a:spcBef>
              <a:spcAft>
                <a:spcPts val="1000"/>
              </a:spcAft>
            </a:pPr>
            <a:r>
              <a:rPr lang="en-GB" sz="1800" b="1" dirty="0">
                <a:ea typeface="Calibri" panose="020F0502020204030204" pitchFamily="34" charset="0"/>
                <a:cs typeface="Times New Roman" panose="02020603050405020304" pitchFamily="18" charset="0"/>
              </a:rPr>
              <a:t>Comparison &amp; Analysis: </a:t>
            </a:r>
            <a:r>
              <a:rPr lang="en-GB" sz="1800" dirty="0">
                <a:ea typeface="Calibri" panose="020F0502020204030204" pitchFamily="34" charset="0"/>
                <a:cs typeface="Times New Roman" panose="02020603050405020304" pitchFamily="18" charset="0"/>
              </a:rPr>
              <a:t>Compare the models based on mAP scores. Identify the most effective model for Sri Lankan traffic sign detection.</a:t>
            </a:r>
            <a:endParaRPr lang="en-US" sz="1800" dirty="0">
              <a:ea typeface="Calibri" panose="020F0502020204030204" pitchFamily="34" charset="0"/>
              <a:cs typeface="Times New Roman" panose="02020603050405020304" pitchFamily="18" charset="0"/>
            </a:endParaRPr>
          </a:p>
          <a:p>
            <a:pPr marL="0" indent="0">
              <a:lnSpc>
                <a:spcPct val="150000"/>
              </a:lnSpc>
              <a:spcBef>
                <a:spcPts val="0"/>
              </a:spcBef>
              <a:spcAft>
                <a:spcPts val="1000"/>
              </a:spcAft>
              <a:buNone/>
            </a:pPr>
            <a:endParaRPr lang="en-US" sz="1800" dirty="0">
              <a:ea typeface="Calibri" panose="020F0502020204030204" pitchFamily="34" charset="0"/>
              <a:cs typeface="Times New Roman" panose="02020603050405020304" pitchFamily="18" charset="0"/>
            </a:endParaRPr>
          </a:p>
        </p:txBody>
      </p:sp>
      <p:sp>
        <p:nvSpPr>
          <p:cNvPr id="4" name="Date Placeholder 3">
            <a:extLst>
              <a:ext uri="{FF2B5EF4-FFF2-40B4-BE49-F238E27FC236}">
                <a16:creationId xmlns:a16="http://schemas.microsoft.com/office/drawing/2014/main" id="{CBBD532E-64D0-4EDF-8CB2-01936B63643A}"/>
              </a:ext>
            </a:extLst>
          </p:cNvPr>
          <p:cNvSpPr>
            <a:spLocks noGrp="1"/>
          </p:cNvSpPr>
          <p:nvPr>
            <p:ph type="dt" sz="half" idx="10"/>
          </p:nvPr>
        </p:nvSpPr>
        <p:spPr/>
        <p:txBody>
          <a:bodyPr/>
          <a:lstStyle/>
          <a:p>
            <a:fld id="{83CF45C7-57A3-4163-A97E-CD11D5518937}" type="datetime1">
              <a:rPr lang="en-US" smtClean="0"/>
              <a:t>2/24/2025</a:t>
            </a:fld>
            <a:endParaRPr lang="en-US"/>
          </a:p>
        </p:txBody>
      </p:sp>
      <p:sp>
        <p:nvSpPr>
          <p:cNvPr id="5" name="Slide Number Placeholder 4">
            <a:extLst>
              <a:ext uri="{FF2B5EF4-FFF2-40B4-BE49-F238E27FC236}">
                <a16:creationId xmlns:a16="http://schemas.microsoft.com/office/drawing/2014/main" id="{BE493AC1-341C-416D-9B4C-0E2ADB9F70BC}"/>
              </a:ext>
            </a:extLst>
          </p:cNvPr>
          <p:cNvSpPr>
            <a:spLocks noGrp="1"/>
          </p:cNvSpPr>
          <p:nvPr>
            <p:ph type="sldNum" sz="quarter" idx="12"/>
          </p:nvPr>
        </p:nvSpPr>
        <p:spPr/>
        <p:txBody>
          <a:bodyPr/>
          <a:lstStyle/>
          <a:p>
            <a:fld id="{849F1A12-756A-4552-B54B-B66CFF5610E9}" type="slidenum">
              <a:rPr lang="en-US" sz="1200" b="0" smtClean="0"/>
              <a:t>17</a:t>
            </a:fld>
            <a:endParaRPr lang="en-US" sz="1200" b="0" dirty="0"/>
          </a:p>
        </p:txBody>
      </p:sp>
      <p:sp>
        <p:nvSpPr>
          <p:cNvPr id="6" name="Footer Placeholder 5"/>
          <p:cNvSpPr>
            <a:spLocks noGrp="1"/>
          </p:cNvSpPr>
          <p:nvPr>
            <p:ph type="ftr" sz="quarter" idx="11"/>
          </p:nvPr>
        </p:nvSpPr>
        <p:spPr/>
        <p:txBody>
          <a:bodyPr/>
          <a:lstStyle/>
          <a:p>
            <a:r>
              <a:rPr lang="en-US"/>
              <a:t>CRP</a:t>
            </a:r>
          </a:p>
        </p:txBody>
      </p:sp>
    </p:spTree>
    <p:extLst>
      <p:ext uri="{BB962C8B-B14F-4D97-AF65-F5344CB8AC3E}">
        <p14:creationId xmlns:p14="http://schemas.microsoft.com/office/powerpoint/2010/main" val="112976371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23" name="p!!Rectangle">
            <a:extLst>
              <a:ext uri="{FF2B5EF4-FFF2-40B4-BE49-F238E27FC236}">
                <a16:creationId xmlns:a16="http://schemas.microsoft.com/office/drawing/2014/main" id="{2FB82883-1DC0-4BE1-A607-009095F335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descr="Close up of book pages">
            <a:extLst>
              <a:ext uri="{FF2B5EF4-FFF2-40B4-BE49-F238E27FC236}">
                <a16:creationId xmlns:a16="http://schemas.microsoft.com/office/drawing/2014/main" id="{273ADCC6-897E-4499-9AC1-C34ED51F898D}"/>
              </a:ext>
            </a:extLst>
          </p:cNvPr>
          <p:cNvPicPr>
            <a:picLocks noChangeAspect="1"/>
          </p:cNvPicPr>
          <p:nvPr/>
        </p:nvPicPr>
        <p:blipFill rotWithShape="1">
          <a:blip r:embed="rId2"/>
          <a:srcRect/>
          <a:stretch/>
        </p:blipFill>
        <p:spPr>
          <a:xfrm>
            <a:off x="20" y="10"/>
            <a:ext cx="9143980" cy="6857990"/>
          </a:xfrm>
          <a:prstGeom prst="rect">
            <a:avLst/>
          </a:prstGeom>
        </p:spPr>
      </p:pic>
      <p:sp>
        <p:nvSpPr>
          <p:cNvPr id="25" name="m!!text rectangle">
            <a:extLst>
              <a:ext uri="{FF2B5EF4-FFF2-40B4-BE49-F238E27FC236}">
                <a16:creationId xmlns:a16="http://schemas.microsoft.com/office/drawing/2014/main" id="{A3473CF9-37EB-43E7-89EF-D2D1C53D1D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427711" y="4638503"/>
            <a:ext cx="6288577" cy="1332634"/>
          </a:xfrm>
          <a:prstGeom prst="rect">
            <a:avLst/>
          </a:prstGeom>
          <a:solidFill>
            <a:schemeClr val="bg1">
              <a:alpha val="95000"/>
            </a:schemeClr>
          </a:solidFill>
          <a:ln w="12700">
            <a:solidFill>
              <a:srgbClr val="EFEFEF"/>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184D784C-09C2-4209-A54C-7272AAABAA90}"/>
              </a:ext>
            </a:extLst>
          </p:cNvPr>
          <p:cNvSpPr>
            <a:spLocks noGrp="1"/>
          </p:cNvSpPr>
          <p:nvPr>
            <p:ph type="title"/>
          </p:nvPr>
        </p:nvSpPr>
        <p:spPr>
          <a:xfrm>
            <a:off x="1577340" y="4727173"/>
            <a:ext cx="5989320" cy="868823"/>
          </a:xfrm>
        </p:spPr>
        <p:txBody>
          <a:bodyPr vert="horz" lIns="91440" tIns="45720" rIns="91440" bIns="45720" rtlCol="0" anchor="ctr">
            <a:normAutofit/>
          </a:bodyPr>
          <a:lstStyle/>
          <a:p>
            <a:pPr algn="ctr"/>
            <a:r>
              <a:rPr lang="en-US" sz="3500" dirty="0"/>
              <a:t>Literature Review</a:t>
            </a:r>
          </a:p>
        </p:txBody>
      </p:sp>
      <p:sp>
        <p:nvSpPr>
          <p:cNvPr id="27" name="m!!accent">
            <a:extLst>
              <a:ext uri="{FF2B5EF4-FFF2-40B4-BE49-F238E27FC236}">
                <a16:creationId xmlns:a16="http://schemas.microsoft.com/office/drawing/2014/main" id="{586B4EF9-43BA-4655-A6FF-1D8E21574C9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862332" y="5628237"/>
            <a:ext cx="5419335" cy="685800"/>
          </a:xfrm>
          <a:prstGeom prst="roundRect">
            <a:avLst>
              <a:gd name="adj" fmla="val 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4" name="Date Placeholder 3">
            <a:extLst>
              <a:ext uri="{FF2B5EF4-FFF2-40B4-BE49-F238E27FC236}">
                <a16:creationId xmlns:a16="http://schemas.microsoft.com/office/drawing/2014/main" id="{6D4C7CB0-FBE1-485A-979E-AFFF09854263}"/>
              </a:ext>
            </a:extLst>
          </p:cNvPr>
          <p:cNvSpPr>
            <a:spLocks noGrp="1"/>
          </p:cNvSpPr>
          <p:nvPr>
            <p:ph type="dt" sz="half" idx="10"/>
          </p:nvPr>
        </p:nvSpPr>
        <p:spPr>
          <a:xfrm>
            <a:off x="628650" y="6356350"/>
            <a:ext cx="2057400" cy="365125"/>
          </a:xfrm>
        </p:spPr>
        <p:txBody>
          <a:bodyPr vert="horz" lIns="91440" tIns="45720" rIns="91440" bIns="45720" rtlCol="0" anchor="ctr">
            <a:normAutofit/>
          </a:bodyPr>
          <a:lstStyle/>
          <a:p>
            <a:pPr defTabSz="914400">
              <a:spcAft>
                <a:spcPts val="600"/>
              </a:spcAft>
              <a:defRPr/>
            </a:pPr>
            <a:fld id="{15B7BF59-8C22-426D-BAF7-27EF6CB21C63}" type="datetime1">
              <a:rPr lang="en-US" smtClean="0">
                <a:solidFill>
                  <a:schemeClr val="bg1"/>
                </a:solidFill>
                <a:latin typeface="Calibri" panose="020F0502020204030204"/>
              </a:rPr>
              <a:t>2/24/2025</a:t>
            </a:fld>
            <a:endParaRPr lang="en-US">
              <a:solidFill>
                <a:schemeClr val="bg1"/>
              </a:solidFill>
              <a:latin typeface="Calibri" panose="020F0502020204030204"/>
            </a:endParaRPr>
          </a:p>
        </p:txBody>
      </p:sp>
      <p:sp>
        <p:nvSpPr>
          <p:cNvPr id="5" name="Slide Number Placeholder 4">
            <a:extLst>
              <a:ext uri="{FF2B5EF4-FFF2-40B4-BE49-F238E27FC236}">
                <a16:creationId xmlns:a16="http://schemas.microsoft.com/office/drawing/2014/main" id="{4892CD39-0D00-43C5-8A2D-E2EDFA3A7F9B}"/>
              </a:ext>
            </a:extLst>
          </p:cNvPr>
          <p:cNvSpPr>
            <a:spLocks noGrp="1"/>
          </p:cNvSpPr>
          <p:nvPr>
            <p:ph type="sldNum" sz="quarter" idx="12"/>
          </p:nvPr>
        </p:nvSpPr>
        <p:spPr>
          <a:xfrm>
            <a:off x="6457950" y="6356350"/>
            <a:ext cx="2057400" cy="365125"/>
          </a:xfrm>
        </p:spPr>
        <p:txBody>
          <a:bodyPr vert="horz" lIns="91440" tIns="45720" rIns="91440" bIns="45720" rtlCol="0" anchor="ctr">
            <a:normAutofit/>
          </a:bodyPr>
          <a:lstStyle/>
          <a:p>
            <a:pPr defTabSz="914400">
              <a:spcAft>
                <a:spcPts val="600"/>
              </a:spcAft>
              <a:defRPr/>
            </a:pPr>
            <a:fld id="{849F1A12-756A-4552-B54B-B66CFF5610E9}" type="slidenum">
              <a:rPr lang="en-US" sz="1200" b="0">
                <a:solidFill>
                  <a:schemeClr val="bg1"/>
                </a:solidFill>
                <a:latin typeface="Calibri" panose="020F0502020204030204"/>
              </a:rPr>
              <a:pPr defTabSz="914400">
                <a:spcAft>
                  <a:spcPts val="600"/>
                </a:spcAft>
                <a:defRPr/>
              </a:pPr>
              <a:t>18</a:t>
            </a:fld>
            <a:endParaRPr lang="en-US" sz="1200" b="0">
              <a:solidFill>
                <a:schemeClr val="bg1"/>
              </a:solidFill>
              <a:latin typeface="Calibri" panose="020F0502020204030204"/>
            </a:endParaRPr>
          </a:p>
        </p:txBody>
      </p:sp>
      <p:sp>
        <p:nvSpPr>
          <p:cNvPr id="3" name="Footer Placeholder 2"/>
          <p:cNvSpPr>
            <a:spLocks noGrp="1"/>
          </p:cNvSpPr>
          <p:nvPr>
            <p:ph type="ftr" sz="quarter" idx="11"/>
          </p:nvPr>
        </p:nvSpPr>
        <p:spPr/>
        <p:txBody>
          <a:bodyPr/>
          <a:lstStyle/>
          <a:p>
            <a:r>
              <a:rPr lang="en-US"/>
              <a:t>CRP</a:t>
            </a:r>
          </a:p>
        </p:txBody>
      </p:sp>
    </p:spTree>
    <p:extLst>
      <p:ext uri="{BB962C8B-B14F-4D97-AF65-F5344CB8AC3E}">
        <p14:creationId xmlns:p14="http://schemas.microsoft.com/office/powerpoint/2010/main" val="123629067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80FED002-D9B8-4055-B180-137EC510B2E1}" type="datetime1">
              <a:rPr lang="en-US" smtClean="0"/>
              <a:t>2/24/2025</a:t>
            </a:fld>
            <a:endParaRPr lang="en-US"/>
          </a:p>
        </p:txBody>
      </p:sp>
      <p:sp>
        <p:nvSpPr>
          <p:cNvPr id="5" name="Footer Placeholder 4"/>
          <p:cNvSpPr>
            <a:spLocks noGrp="1"/>
          </p:cNvSpPr>
          <p:nvPr>
            <p:ph type="ftr" sz="quarter" idx="11"/>
          </p:nvPr>
        </p:nvSpPr>
        <p:spPr/>
        <p:txBody>
          <a:bodyPr/>
          <a:lstStyle/>
          <a:p>
            <a:r>
              <a:rPr lang="en-US"/>
              <a:t>CRP</a:t>
            </a:r>
          </a:p>
        </p:txBody>
      </p:sp>
      <p:sp>
        <p:nvSpPr>
          <p:cNvPr id="6" name="Slide Number Placeholder 5"/>
          <p:cNvSpPr>
            <a:spLocks noGrp="1"/>
          </p:cNvSpPr>
          <p:nvPr>
            <p:ph type="sldNum" sz="quarter" idx="12"/>
          </p:nvPr>
        </p:nvSpPr>
        <p:spPr/>
        <p:txBody>
          <a:bodyPr/>
          <a:lstStyle/>
          <a:p>
            <a:fld id="{849F1A12-756A-4552-B54B-B66CFF5610E9}" type="slidenum">
              <a:rPr lang="en-US" sz="1200" smtClean="0"/>
              <a:t>19</a:t>
            </a:fld>
            <a:endParaRPr lang="en-US" sz="1200" dirty="0"/>
          </a:p>
        </p:txBody>
      </p:sp>
      <p:graphicFrame>
        <p:nvGraphicFramePr>
          <p:cNvPr id="7" name="Content Placeholder 6">
            <a:extLst>
              <a:ext uri="{FF2B5EF4-FFF2-40B4-BE49-F238E27FC236}">
                <a16:creationId xmlns:a16="http://schemas.microsoft.com/office/drawing/2014/main" id="{BDA173CF-344C-BBAD-62AC-8D618C6F2E8B}"/>
              </a:ext>
            </a:extLst>
          </p:cNvPr>
          <p:cNvGraphicFramePr>
            <a:graphicFrameLocks noGrp="1"/>
          </p:cNvGraphicFramePr>
          <p:nvPr>
            <p:ph idx="1"/>
            <p:extLst>
              <p:ext uri="{D42A27DB-BD31-4B8C-83A1-F6EECF244321}">
                <p14:modId xmlns:p14="http://schemas.microsoft.com/office/powerpoint/2010/main" val="2596885467"/>
              </p:ext>
            </p:extLst>
          </p:nvPr>
        </p:nvGraphicFramePr>
        <p:xfrm>
          <a:off x="103095" y="20320"/>
          <a:ext cx="8937810" cy="6796514"/>
        </p:xfrm>
        <a:graphic>
          <a:graphicData uri="http://schemas.openxmlformats.org/drawingml/2006/table">
            <a:tbl>
              <a:tblPr firstRow="1" bandRow="1">
                <a:tableStyleId>{5C22544A-7EE6-4342-B048-85BDC9FD1C3A}</a:tableStyleId>
              </a:tblPr>
              <a:tblGrid>
                <a:gridCol w="1787562">
                  <a:extLst>
                    <a:ext uri="{9D8B030D-6E8A-4147-A177-3AD203B41FA5}">
                      <a16:colId xmlns:a16="http://schemas.microsoft.com/office/drawing/2014/main" val="4022647933"/>
                    </a:ext>
                  </a:extLst>
                </a:gridCol>
                <a:gridCol w="1787562">
                  <a:extLst>
                    <a:ext uri="{9D8B030D-6E8A-4147-A177-3AD203B41FA5}">
                      <a16:colId xmlns:a16="http://schemas.microsoft.com/office/drawing/2014/main" val="1715188993"/>
                    </a:ext>
                  </a:extLst>
                </a:gridCol>
                <a:gridCol w="1787562">
                  <a:extLst>
                    <a:ext uri="{9D8B030D-6E8A-4147-A177-3AD203B41FA5}">
                      <a16:colId xmlns:a16="http://schemas.microsoft.com/office/drawing/2014/main" val="2763705049"/>
                    </a:ext>
                  </a:extLst>
                </a:gridCol>
                <a:gridCol w="1787562">
                  <a:extLst>
                    <a:ext uri="{9D8B030D-6E8A-4147-A177-3AD203B41FA5}">
                      <a16:colId xmlns:a16="http://schemas.microsoft.com/office/drawing/2014/main" val="3138891480"/>
                    </a:ext>
                  </a:extLst>
                </a:gridCol>
                <a:gridCol w="1787562">
                  <a:extLst>
                    <a:ext uri="{9D8B030D-6E8A-4147-A177-3AD203B41FA5}">
                      <a16:colId xmlns:a16="http://schemas.microsoft.com/office/drawing/2014/main" val="1451267758"/>
                    </a:ext>
                  </a:extLst>
                </a:gridCol>
              </a:tblGrid>
              <a:tr h="362091">
                <a:tc>
                  <a:txBody>
                    <a:bodyPr/>
                    <a:lstStyle/>
                    <a:p>
                      <a:r>
                        <a:rPr lang="en-US" dirty="0"/>
                        <a:t>Title</a:t>
                      </a:r>
                    </a:p>
                  </a:txBody>
                  <a:tcPr/>
                </a:tc>
                <a:tc>
                  <a:txBody>
                    <a:bodyPr/>
                    <a:lstStyle/>
                    <a:p>
                      <a:r>
                        <a:rPr lang="en-US" dirty="0"/>
                        <a:t>Aim</a:t>
                      </a:r>
                    </a:p>
                  </a:txBody>
                  <a:tcPr/>
                </a:tc>
                <a:tc>
                  <a:txBody>
                    <a:bodyPr/>
                    <a:lstStyle/>
                    <a:p>
                      <a:r>
                        <a:rPr lang="en-US" dirty="0"/>
                        <a:t>Results</a:t>
                      </a:r>
                    </a:p>
                  </a:txBody>
                  <a:tcPr/>
                </a:tc>
                <a:tc>
                  <a:txBody>
                    <a:bodyPr/>
                    <a:lstStyle/>
                    <a:p>
                      <a:r>
                        <a:rPr lang="en-US" dirty="0"/>
                        <a:t>Methodology</a:t>
                      </a:r>
                    </a:p>
                  </a:txBody>
                  <a:tcPr/>
                </a:tc>
                <a:tc>
                  <a:txBody>
                    <a:bodyPr/>
                    <a:lstStyle/>
                    <a:p>
                      <a:r>
                        <a:rPr lang="en-US" dirty="0"/>
                        <a:t>Research Gap</a:t>
                      </a:r>
                    </a:p>
                  </a:txBody>
                  <a:tcPr/>
                </a:tc>
                <a:extLst>
                  <a:ext uri="{0D108BD9-81ED-4DB2-BD59-A6C34878D82A}">
                    <a16:rowId xmlns:a16="http://schemas.microsoft.com/office/drawing/2014/main" val="3118700084"/>
                  </a:ext>
                </a:extLst>
              </a:tr>
              <a:tr h="2544554">
                <a:tc>
                  <a:txBody>
                    <a:bodyPr/>
                    <a:lstStyle/>
                    <a:p>
                      <a:r>
                        <a:rPr lang="en-GB" sz="1200" dirty="0"/>
                        <a:t>Performance Comparison of Object Detection Models for Road Sign Detection Under Different Conditions – 2024</a:t>
                      </a:r>
                    </a:p>
                    <a:p>
                      <a:r>
                        <a:rPr lang="en-GB" sz="900" dirty="0">
                          <a:solidFill>
                            <a:schemeClr val="accent1">
                              <a:lumMod val="75000"/>
                            </a:schemeClr>
                          </a:solidFill>
                        </a:rPr>
                        <a:t>(Fatima, Z. T. M. M. H. V. R. R. T. a. R. R., 2024. Performance Comparison of Object Detection Models for Road Sign Detection Under Different Conditions. International Journal of Advanced Computer Science and Applications, 15(12).)</a:t>
                      </a:r>
                      <a:endParaRPr lang="en-US" sz="900" dirty="0">
                        <a:solidFill>
                          <a:schemeClr val="accent1">
                            <a:lumMod val="75000"/>
                          </a:schemeClr>
                        </a:solidFill>
                      </a:endParaRPr>
                    </a:p>
                  </a:txBody>
                  <a:tcPr/>
                </a:tc>
                <a:tc>
                  <a:txBody>
                    <a:bodyPr/>
                    <a:lstStyle/>
                    <a:p>
                      <a:r>
                        <a:rPr lang="en-GB" sz="1200" dirty="0"/>
                        <a:t>state-of-the-art object detection models (YOLOv8, YOLOv9, RTMDet, Faster R-CNN, RetinaNet) for road sign detection.</a:t>
                      </a:r>
                      <a:endParaRPr lang="en-US" sz="1200" dirty="0"/>
                    </a:p>
                  </a:txBody>
                  <a:tcPr/>
                </a:tc>
                <a:tc>
                  <a:txBody>
                    <a:bodyPr/>
                    <a:lstStyle/>
                    <a:p>
                      <a:r>
                        <a:rPr lang="en-GB" sz="1200" dirty="0"/>
                        <a:t>YOLOv9 and YOLOv8 performed best in real-time detection, while RTMDet provided a balance of speed and accuracy. Faster R-CNN and RetinaNet had better precision but were slower.</a:t>
                      </a:r>
                      <a:endParaRPr lang="en-US" sz="1200" dirty="0"/>
                    </a:p>
                  </a:txBody>
                  <a:tcPr/>
                </a:tc>
                <a:tc>
                  <a:txBody>
                    <a:bodyPr/>
                    <a:lstStyle/>
                    <a:p>
                      <a:r>
                        <a:rPr lang="en-GB" sz="1200" dirty="0"/>
                        <a:t>Models were fine-tuned and evaluated on a large dataset using mAP, FPS, and total loss as key metrics. Training involved data </a:t>
                      </a:r>
                      <a:r>
                        <a:rPr lang="en-GB" sz="1200" dirty="0">
                          <a:solidFill>
                            <a:srgbClr val="FF0000"/>
                          </a:solidFill>
                        </a:rPr>
                        <a:t>augmentation and hyperparameter tuning</a:t>
                      </a:r>
                      <a:r>
                        <a:rPr lang="en-GB" sz="1200" dirty="0"/>
                        <a:t>.</a:t>
                      </a:r>
                      <a:endParaRPr lang="en-US" sz="1200" dirty="0"/>
                    </a:p>
                  </a:txBody>
                  <a:tcPr/>
                </a:tc>
                <a:tc>
                  <a:txBody>
                    <a:bodyPr/>
                    <a:lstStyle/>
                    <a:p>
                      <a:r>
                        <a:rPr lang="en-GB" sz="1200" dirty="0"/>
                        <a:t>Focused on general road sign detection but did not evaluate models on region-specific datasets.</a:t>
                      </a:r>
                      <a:endParaRPr lang="en-US" sz="1200" dirty="0"/>
                    </a:p>
                  </a:txBody>
                  <a:tcPr/>
                </a:tc>
                <a:extLst>
                  <a:ext uri="{0D108BD9-81ED-4DB2-BD59-A6C34878D82A}">
                    <a16:rowId xmlns:a16="http://schemas.microsoft.com/office/drawing/2014/main" val="1735767366"/>
                  </a:ext>
                </a:extLst>
              </a:tr>
              <a:tr h="1874935">
                <a:tc>
                  <a:txBody>
                    <a:bodyPr/>
                    <a:lstStyle/>
                    <a:p>
                      <a:r>
                        <a:rPr lang="en-GB" sz="1200" dirty="0"/>
                        <a:t>A Traffic-Sign Detection Algorithm Based on Improved Sparse R-CNN – 2017</a:t>
                      </a:r>
                    </a:p>
                    <a:p>
                      <a:r>
                        <a:rPr lang="en-US" sz="900" dirty="0">
                          <a:solidFill>
                            <a:schemeClr val="accent1">
                              <a:lumMod val="75000"/>
                            </a:schemeClr>
                          </a:solidFill>
                        </a:rPr>
                        <a:t>(</a:t>
                      </a:r>
                      <a:r>
                        <a:rPr lang="en-US" sz="900" dirty="0" err="1">
                          <a:solidFill>
                            <a:schemeClr val="accent1">
                              <a:lumMod val="75000"/>
                            </a:schemeClr>
                          </a:solidFill>
                        </a:rPr>
                        <a:t>Jinghao</a:t>
                      </a:r>
                      <a:r>
                        <a:rPr lang="en-US" sz="900" dirty="0">
                          <a:solidFill>
                            <a:schemeClr val="accent1">
                              <a:lumMod val="75000"/>
                            </a:schemeClr>
                          </a:solidFill>
                        </a:rPr>
                        <a:t> Cao, J. Z. X. J., 2021. A Traffic-Sign Detection Algorithm Based on Improved Sparse R-</a:t>
                      </a:r>
                      <a:r>
                        <a:rPr lang="en-US" sz="900" dirty="0" err="1">
                          <a:solidFill>
                            <a:schemeClr val="accent1">
                              <a:lumMod val="75000"/>
                            </a:schemeClr>
                          </a:solidFill>
                        </a:rPr>
                        <a:t>cnn</a:t>
                      </a:r>
                      <a:r>
                        <a:rPr lang="en-US" sz="900" dirty="0">
                          <a:solidFill>
                            <a:schemeClr val="accent1">
                              <a:lumMod val="75000"/>
                            </a:schemeClr>
                          </a:solidFill>
                        </a:rPr>
                        <a:t>. IEEE Access.)</a:t>
                      </a:r>
                    </a:p>
                  </a:txBody>
                  <a:tcPr/>
                </a:tc>
                <a:tc>
                  <a:txBody>
                    <a:bodyPr/>
                    <a:lstStyle/>
                    <a:p>
                      <a:r>
                        <a:rPr lang="en-GB" sz="1200" dirty="0"/>
                        <a:t>To enhance Sparse R-CNN for traffic sign detection using an improved backbone and attention mechanism.</a:t>
                      </a:r>
                      <a:endParaRPr lang="en-US" sz="1200" dirty="0"/>
                    </a:p>
                  </a:txBody>
                  <a:tcPr/>
                </a:tc>
                <a:tc>
                  <a:txBody>
                    <a:bodyPr/>
                    <a:lstStyle/>
                    <a:p>
                      <a:r>
                        <a:rPr lang="en-GB" sz="1200" dirty="0"/>
                        <a:t>Achieved improved mAP and robustness compared to traditional Sparse R-CNN. Res2Nest and improved DIIH enhanced detection, especially for small signs.</a:t>
                      </a:r>
                      <a:endParaRPr lang="en-US" sz="1200" dirty="0"/>
                    </a:p>
                  </a:txBody>
                  <a:tcPr/>
                </a:tc>
                <a:tc>
                  <a:txBody>
                    <a:bodyPr/>
                    <a:lstStyle/>
                    <a:p>
                      <a:r>
                        <a:rPr lang="en-GB" sz="1200" dirty="0"/>
                        <a:t>Proposed an improved ResNest-based backbone (Res2Nest) and Dynamic Instance Interactive Head (DIIH) for better multi-scale feature representation and accuracy. Evaluated using the </a:t>
                      </a:r>
                      <a:r>
                        <a:rPr lang="en-GB" sz="1200" dirty="0">
                          <a:solidFill>
                            <a:srgbClr val="FF0000"/>
                          </a:solidFill>
                        </a:rPr>
                        <a:t>TT100K dataset</a:t>
                      </a:r>
                      <a:r>
                        <a:rPr lang="en-GB" sz="1200" dirty="0"/>
                        <a:t>.</a:t>
                      </a:r>
                      <a:endParaRPr lang="en-US" sz="1200" dirty="0"/>
                    </a:p>
                  </a:txBody>
                  <a:tcPr/>
                </a:tc>
                <a:tc>
                  <a:txBody>
                    <a:bodyPr/>
                    <a:lstStyle/>
                    <a:p>
                      <a:r>
                        <a:rPr lang="en-GB" sz="1200" dirty="0"/>
                        <a:t>Needs optimization for lower computational cost while maintaining accuracy.</a:t>
                      </a:r>
                      <a:endParaRPr lang="en-US" sz="1200" dirty="0"/>
                    </a:p>
                  </a:txBody>
                  <a:tcPr/>
                </a:tc>
                <a:extLst>
                  <a:ext uri="{0D108BD9-81ED-4DB2-BD59-A6C34878D82A}">
                    <a16:rowId xmlns:a16="http://schemas.microsoft.com/office/drawing/2014/main" val="4135460380"/>
                  </a:ext>
                </a:extLst>
              </a:tr>
              <a:tr h="1919576">
                <a:tc>
                  <a:txBody>
                    <a:bodyPr/>
                    <a:lstStyle/>
                    <a:p>
                      <a:r>
                        <a:rPr lang="en-GB" sz="1200" dirty="0"/>
                        <a:t>Evaluating and Benchmarking Object Detection Models for Traffic Sign Detection – 2022</a:t>
                      </a:r>
                    </a:p>
                    <a:p>
                      <a:r>
                        <a:rPr lang="en-GB" sz="900" dirty="0">
                          <a:solidFill>
                            <a:schemeClr val="accent1">
                              <a:lumMod val="75000"/>
                            </a:schemeClr>
                          </a:solidFill>
                        </a:rPr>
                        <a:t>(Mishra, A. K. A. M. S. A. K. Z. J. S. S. a. T. A., 2022. Evaluating and Bench-marking Object Detection Models for Traffic Sign and Traffic Light Datasets, </a:t>
                      </a:r>
                      <a:r>
                        <a:rPr lang="en-GB" sz="900" dirty="0" err="1">
                          <a:solidFill>
                            <a:schemeClr val="accent1">
                              <a:lumMod val="75000"/>
                            </a:schemeClr>
                          </a:solidFill>
                        </a:rPr>
                        <a:t>s.l.</a:t>
                      </a:r>
                      <a:r>
                        <a:rPr lang="en-GB" sz="900" dirty="0">
                          <a:solidFill>
                            <a:schemeClr val="accent1">
                              <a:lumMod val="75000"/>
                            </a:schemeClr>
                          </a:solidFill>
                        </a:rPr>
                        <a:t>: Computer Vision Foundation.)</a:t>
                      </a:r>
                      <a:endParaRPr lang="en-US" sz="900" dirty="0">
                        <a:solidFill>
                          <a:schemeClr val="accent1">
                            <a:lumMod val="75000"/>
                          </a:schemeClr>
                        </a:solidFill>
                      </a:endParaRPr>
                    </a:p>
                  </a:txBody>
                  <a:tcPr/>
                </a:tc>
                <a:tc>
                  <a:txBody>
                    <a:bodyPr/>
                    <a:lstStyle/>
                    <a:p>
                      <a:r>
                        <a:rPr lang="en-US" sz="1200" dirty="0"/>
                        <a:t>To benchmark object detection models (Faster R-CNN, YOLOv3, SSD, RetinaNet, </a:t>
                      </a:r>
                      <a:r>
                        <a:rPr lang="en-US" sz="1200" dirty="0" err="1"/>
                        <a:t>CenterNet</a:t>
                      </a:r>
                      <a:r>
                        <a:rPr lang="en-US" sz="1200" dirty="0"/>
                        <a:t>, Cascade R-CNN) for traffic sign detection across multiple datasets.</a:t>
                      </a:r>
                    </a:p>
                  </a:txBody>
                  <a:tcPr/>
                </a:tc>
                <a:tc>
                  <a:txBody>
                    <a:bodyPr/>
                    <a:lstStyle/>
                    <a:p>
                      <a:r>
                        <a:rPr lang="en-GB" sz="1200" dirty="0" err="1"/>
                        <a:t>CenterNet</a:t>
                      </a:r>
                      <a:r>
                        <a:rPr lang="en-GB" sz="1200" dirty="0"/>
                        <a:t> and Cascade R-CNN performed best overall, with </a:t>
                      </a:r>
                      <a:r>
                        <a:rPr lang="en-GB" sz="1200" dirty="0" err="1"/>
                        <a:t>CenterNet</a:t>
                      </a:r>
                      <a:r>
                        <a:rPr lang="en-GB" sz="1200" dirty="0"/>
                        <a:t> excelling in small object detection. Faster R-CNN and YOLOv3 provided competitive results in specific datasets.</a:t>
                      </a:r>
                      <a:endParaRPr lang="en-US" sz="1200" dirty="0"/>
                    </a:p>
                  </a:txBody>
                  <a:tcPr/>
                </a:tc>
                <a:tc>
                  <a:txBody>
                    <a:bodyPr/>
                    <a:lstStyle/>
                    <a:p>
                      <a:r>
                        <a:rPr lang="en-GB" sz="1200" dirty="0"/>
                        <a:t>Models were evaluated using precision, recall, and mean average precision (mAP) on different datasets, including </a:t>
                      </a:r>
                      <a:r>
                        <a:rPr lang="en-GB" sz="1200" dirty="0">
                          <a:solidFill>
                            <a:srgbClr val="FF0000"/>
                          </a:solidFill>
                        </a:rPr>
                        <a:t>TT100K and GTSD.</a:t>
                      </a:r>
                      <a:endParaRPr lang="en-US" sz="1200" dirty="0">
                        <a:solidFill>
                          <a:srgbClr val="FF0000"/>
                        </a:solidFill>
                      </a:endParaRPr>
                    </a:p>
                  </a:txBody>
                  <a:tcPr/>
                </a:tc>
                <a:tc>
                  <a:txBody>
                    <a:bodyPr/>
                    <a:lstStyle/>
                    <a:p>
                      <a:r>
                        <a:rPr lang="en-GB" sz="1200" dirty="0"/>
                        <a:t>Existing models struggle under adverse weather and occlusions.</a:t>
                      </a:r>
                      <a:endParaRPr lang="en-US" sz="1200" dirty="0"/>
                    </a:p>
                  </a:txBody>
                  <a:tcPr/>
                </a:tc>
                <a:extLst>
                  <a:ext uri="{0D108BD9-81ED-4DB2-BD59-A6C34878D82A}">
                    <a16:rowId xmlns:a16="http://schemas.microsoft.com/office/drawing/2014/main" val="3962700926"/>
                  </a:ext>
                </a:extLst>
              </a:tr>
            </a:tbl>
          </a:graphicData>
        </a:graphic>
      </p:graphicFrame>
    </p:spTree>
    <p:extLst>
      <p:ext uri="{BB962C8B-B14F-4D97-AF65-F5344CB8AC3E}">
        <p14:creationId xmlns:p14="http://schemas.microsoft.com/office/powerpoint/2010/main" val="315245581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23" name="p!!Rectangle">
            <a:extLst>
              <a:ext uri="{FF2B5EF4-FFF2-40B4-BE49-F238E27FC236}">
                <a16:creationId xmlns:a16="http://schemas.microsoft.com/office/drawing/2014/main" id="{2FB82883-1DC0-4BE1-A607-009095F335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descr="Close up of book pages">
            <a:extLst>
              <a:ext uri="{FF2B5EF4-FFF2-40B4-BE49-F238E27FC236}">
                <a16:creationId xmlns:a16="http://schemas.microsoft.com/office/drawing/2014/main" id="{273ADCC6-897E-4499-9AC1-C34ED51F898D}"/>
              </a:ext>
            </a:extLst>
          </p:cNvPr>
          <p:cNvPicPr>
            <a:picLocks noChangeAspect="1"/>
          </p:cNvPicPr>
          <p:nvPr/>
        </p:nvPicPr>
        <p:blipFill rotWithShape="1">
          <a:blip r:embed="rId2"/>
          <a:srcRect/>
          <a:stretch/>
        </p:blipFill>
        <p:spPr>
          <a:xfrm>
            <a:off x="20" y="10"/>
            <a:ext cx="9143980" cy="6857990"/>
          </a:xfrm>
          <a:prstGeom prst="rect">
            <a:avLst/>
          </a:prstGeom>
        </p:spPr>
      </p:pic>
      <p:sp>
        <p:nvSpPr>
          <p:cNvPr id="25" name="m!!text rectangle">
            <a:extLst>
              <a:ext uri="{FF2B5EF4-FFF2-40B4-BE49-F238E27FC236}">
                <a16:creationId xmlns:a16="http://schemas.microsoft.com/office/drawing/2014/main" id="{A3473CF9-37EB-43E7-89EF-D2D1C53D1D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427711" y="4638503"/>
            <a:ext cx="6288577" cy="1332634"/>
          </a:xfrm>
          <a:prstGeom prst="rect">
            <a:avLst/>
          </a:prstGeom>
          <a:solidFill>
            <a:schemeClr val="bg1">
              <a:alpha val="95000"/>
            </a:schemeClr>
          </a:solidFill>
          <a:ln w="12700">
            <a:solidFill>
              <a:srgbClr val="EFEFEF"/>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184D784C-09C2-4209-A54C-7272AAABAA90}"/>
              </a:ext>
            </a:extLst>
          </p:cNvPr>
          <p:cNvSpPr>
            <a:spLocks noGrp="1"/>
          </p:cNvSpPr>
          <p:nvPr>
            <p:ph type="title"/>
          </p:nvPr>
        </p:nvSpPr>
        <p:spPr>
          <a:xfrm>
            <a:off x="1577340" y="4727173"/>
            <a:ext cx="5989320" cy="868823"/>
          </a:xfrm>
        </p:spPr>
        <p:txBody>
          <a:bodyPr vert="horz" lIns="91440" tIns="45720" rIns="91440" bIns="45720" rtlCol="0" anchor="ctr">
            <a:normAutofit/>
          </a:bodyPr>
          <a:lstStyle/>
          <a:p>
            <a:pPr algn="ctr"/>
            <a:r>
              <a:rPr lang="en-US" sz="3500" dirty="0"/>
              <a:t>Timeline</a:t>
            </a:r>
          </a:p>
        </p:txBody>
      </p:sp>
      <p:sp>
        <p:nvSpPr>
          <p:cNvPr id="27" name="m!!accent">
            <a:extLst>
              <a:ext uri="{FF2B5EF4-FFF2-40B4-BE49-F238E27FC236}">
                <a16:creationId xmlns:a16="http://schemas.microsoft.com/office/drawing/2014/main" id="{586B4EF9-43BA-4655-A6FF-1D8E21574C9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862332" y="5628237"/>
            <a:ext cx="5419335" cy="685800"/>
          </a:xfrm>
          <a:prstGeom prst="roundRect">
            <a:avLst>
              <a:gd name="adj" fmla="val 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4" name="Date Placeholder 3">
            <a:extLst>
              <a:ext uri="{FF2B5EF4-FFF2-40B4-BE49-F238E27FC236}">
                <a16:creationId xmlns:a16="http://schemas.microsoft.com/office/drawing/2014/main" id="{6D4C7CB0-FBE1-485A-979E-AFFF09854263}"/>
              </a:ext>
            </a:extLst>
          </p:cNvPr>
          <p:cNvSpPr>
            <a:spLocks noGrp="1"/>
          </p:cNvSpPr>
          <p:nvPr>
            <p:ph type="dt" sz="half" idx="10"/>
          </p:nvPr>
        </p:nvSpPr>
        <p:spPr>
          <a:xfrm>
            <a:off x="628650" y="6356350"/>
            <a:ext cx="2057400" cy="365125"/>
          </a:xfrm>
        </p:spPr>
        <p:txBody>
          <a:bodyPr vert="horz" lIns="91440" tIns="45720" rIns="91440" bIns="45720" rtlCol="0" anchor="ctr">
            <a:normAutofit/>
          </a:bodyPr>
          <a:lstStyle/>
          <a:p>
            <a:pPr defTabSz="914400">
              <a:spcAft>
                <a:spcPts val="600"/>
              </a:spcAft>
              <a:defRPr/>
            </a:pPr>
            <a:fld id="{5B263E9C-6288-4DD3-8AED-7B391BB72E1E}" type="datetime1">
              <a:rPr lang="en-US" smtClean="0">
                <a:solidFill>
                  <a:schemeClr val="bg1"/>
                </a:solidFill>
                <a:latin typeface="Calibri" panose="020F0502020204030204"/>
              </a:rPr>
              <a:t>2/24/2025</a:t>
            </a:fld>
            <a:endParaRPr lang="en-US">
              <a:solidFill>
                <a:schemeClr val="bg1"/>
              </a:solidFill>
              <a:latin typeface="Calibri" panose="020F0502020204030204"/>
            </a:endParaRPr>
          </a:p>
        </p:txBody>
      </p:sp>
      <p:sp>
        <p:nvSpPr>
          <p:cNvPr id="5" name="Slide Number Placeholder 4">
            <a:extLst>
              <a:ext uri="{FF2B5EF4-FFF2-40B4-BE49-F238E27FC236}">
                <a16:creationId xmlns:a16="http://schemas.microsoft.com/office/drawing/2014/main" id="{4892CD39-0D00-43C5-8A2D-E2EDFA3A7F9B}"/>
              </a:ext>
            </a:extLst>
          </p:cNvPr>
          <p:cNvSpPr>
            <a:spLocks noGrp="1"/>
          </p:cNvSpPr>
          <p:nvPr>
            <p:ph type="sldNum" sz="quarter" idx="12"/>
          </p:nvPr>
        </p:nvSpPr>
        <p:spPr>
          <a:xfrm>
            <a:off x="6457950" y="6356350"/>
            <a:ext cx="2057400" cy="365125"/>
          </a:xfrm>
        </p:spPr>
        <p:txBody>
          <a:bodyPr vert="horz" lIns="91440" tIns="45720" rIns="91440" bIns="45720" rtlCol="0" anchor="ctr">
            <a:normAutofit/>
          </a:bodyPr>
          <a:lstStyle/>
          <a:p>
            <a:pPr defTabSz="914400">
              <a:spcAft>
                <a:spcPts val="600"/>
              </a:spcAft>
              <a:defRPr/>
            </a:pPr>
            <a:fld id="{849F1A12-756A-4552-B54B-B66CFF5610E9}" type="slidenum">
              <a:rPr lang="en-US" sz="1200" b="0">
                <a:solidFill>
                  <a:schemeClr val="bg1"/>
                </a:solidFill>
                <a:latin typeface="Calibri" panose="020F0502020204030204"/>
              </a:rPr>
              <a:pPr defTabSz="914400">
                <a:spcAft>
                  <a:spcPts val="600"/>
                </a:spcAft>
                <a:defRPr/>
              </a:pPr>
              <a:t>20</a:t>
            </a:fld>
            <a:endParaRPr lang="en-US" sz="1200" b="0">
              <a:solidFill>
                <a:schemeClr val="bg1"/>
              </a:solidFill>
              <a:latin typeface="Calibri" panose="020F0502020204030204"/>
            </a:endParaRPr>
          </a:p>
        </p:txBody>
      </p:sp>
      <p:sp>
        <p:nvSpPr>
          <p:cNvPr id="3" name="Footer Placeholder 2"/>
          <p:cNvSpPr>
            <a:spLocks noGrp="1"/>
          </p:cNvSpPr>
          <p:nvPr>
            <p:ph type="ftr" sz="quarter" idx="11"/>
          </p:nvPr>
        </p:nvSpPr>
        <p:spPr/>
        <p:txBody>
          <a:bodyPr/>
          <a:lstStyle/>
          <a:p>
            <a:r>
              <a:rPr lang="en-US"/>
              <a:t>CRP</a:t>
            </a:r>
          </a:p>
        </p:txBody>
      </p:sp>
    </p:spTree>
    <p:extLst>
      <p:ext uri="{BB962C8B-B14F-4D97-AF65-F5344CB8AC3E}">
        <p14:creationId xmlns:p14="http://schemas.microsoft.com/office/powerpoint/2010/main" val="281000298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F3060C83-F051-4F0E-ABAD-AA0DFC48B21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Freeform: Shape 15">
            <a:extLst>
              <a:ext uri="{FF2B5EF4-FFF2-40B4-BE49-F238E27FC236}">
                <a16:creationId xmlns:a16="http://schemas.microsoft.com/office/drawing/2014/main" id="{83C98ABE-055B-441F-B07E-44F97F083C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282117" y="-253670"/>
            <a:ext cx="1370728" cy="1376989"/>
          </a:xfrm>
          <a:custGeom>
            <a:avLst/>
            <a:gdLst>
              <a:gd name="connsiteX0" fmla="*/ 0 w 1827638"/>
              <a:gd name="connsiteY0" fmla="*/ 987379 h 1376989"/>
              <a:gd name="connsiteX1" fmla="*/ 987379 w 1827638"/>
              <a:gd name="connsiteY1" fmla="*/ 0 h 1376989"/>
              <a:gd name="connsiteX2" fmla="*/ 1827638 w 1827638"/>
              <a:gd name="connsiteY2" fmla="*/ 840260 h 1376989"/>
              <a:gd name="connsiteX3" fmla="*/ 1827638 w 1827638"/>
              <a:gd name="connsiteY3" fmla="*/ 1376989 h 1376989"/>
              <a:gd name="connsiteX4" fmla="*/ 0 w 1827638"/>
              <a:gd name="connsiteY4" fmla="*/ 1376989 h 13769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7638" h="1376989">
                <a:moveTo>
                  <a:pt x="0" y="987379"/>
                </a:moveTo>
                <a:lnTo>
                  <a:pt x="987379" y="0"/>
                </a:lnTo>
                <a:lnTo>
                  <a:pt x="1827638" y="840260"/>
                </a:lnTo>
                <a:lnTo>
                  <a:pt x="1827638" y="1376989"/>
                </a:lnTo>
                <a:lnTo>
                  <a:pt x="0" y="1376989"/>
                </a:lnTo>
                <a:close/>
              </a:path>
            </a:pathLst>
          </a:cu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Rectangle 17">
            <a:extLst>
              <a:ext uri="{FF2B5EF4-FFF2-40B4-BE49-F238E27FC236}">
                <a16:creationId xmlns:a16="http://schemas.microsoft.com/office/drawing/2014/main" id="{29FDB030-9B49-4CED-8CCD-4D99382388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668730" y="422146"/>
            <a:ext cx="484026" cy="64536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3783CA14-24A1-485C-8B30-D6A5D87987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7532611" y="655140"/>
            <a:ext cx="515604" cy="687472"/>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Freeform: Shape 21">
            <a:extLst>
              <a:ext uri="{FF2B5EF4-FFF2-40B4-BE49-F238E27FC236}">
                <a16:creationId xmlns:a16="http://schemas.microsoft.com/office/drawing/2014/main" id="{9A97C86A-04D6-40F7-AE84-31AB43E6A8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7017482" y="0"/>
            <a:ext cx="2126518" cy="1480837"/>
          </a:xfrm>
          <a:custGeom>
            <a:avLst/>
            <a:gdLst>
              <a:gd name="connsiteX0" fmla="*/ 2835357 w 2835357"/>
              <a:gd name="connsiteY0" fmla="*/ 1480837 h 1480837"/>
              <a:gd name="connsiteX1" fmla="*/ 0 w 2835357"/>
              <a:gd name="connsiteY1" fmla="*/ 1480837 h 1480837"/>
              <a:gd name="connsiteX2" fmla="*/ 1552727 w 2835357"/>
              <a:gd name="connsiteY2" fmla="*/ 0 h 1480837"/>
              <a:gd name="connsiteX3" fmla="*/ 2835357 w 2835357"/>
              <a:gd name="connsiteY3" fmla="*/ 1223245 h 1480837"/>
            </a:gdLst>
            <a:ahLst/>
            <a:cxnLst>
              <a:cxn ang="0">
                <a:pos x="connsiteX0" y="connsiteY0"/>
              </a:cxn>
              <a:cxn ang="0">
                <a:pos x="connsiteX1" y="connsiteY1"/>
              </a:cxn>
              <a:cxn ang="0">
                <a:pos x="connsiteX2" y="connsiteY2"/>
              </a:cxn>
              <a:cxn ang="0">
                <a:pos x="connsiteX3" y="connsiteY3"/>
              </a:cxn>
            </a:cxnLst>
            <a:rect l="l" t="t" r="r" b="b"/>
            <a:pathLst>
              <a:path w="2835357" h="1480837">
                <a:moveTo>
                  <a:pt x="2835357" y="1480837"/>
                </a:moveTo>
                <a:lnTo>
                  <a:pt x="0" y="1480837"/>
                </a:lnTo>
                <a:lnTo>
                  <a:pt x="1552727" y="0"/>
                </a:lnTo>
                <a:lnTo>
                  <a:pt x="2835357" y="1223245"/>
                </a:ln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4" name="Date Placeholder 3"/>
          <p:cNvSpPr>
            <a:spLocks noGrp="1"/>
          </p:cNvSpPr>
          <p:nvPr>
            <p:ph type="dt" sz="half" idx="10"/>
          </p:nvPr>
        </p:nvSpPr>
        <p:spPr>
          <a:xfrm>
            <a:off x="482600" y="6356350"/>
            <a:ext cx="2057400" cy="365125"/>
          </a:xfrm>
        </p:spPr>
        <p:txBody>
          <a:bodyPr vert="horz" lIns="91440" tIns="45720" rIns="91440" bIns="45720" rtlCol="0" anchor="ctr">
            <a:normAutofit/>
          </a:bodyPr>
          <a:lstStyle/>
          <a:p>
            <a:pPr defTabSz="914400">
              <a:spcAft>
                <a:spcPts val="600"/>
              </a:spcAft>
            </a:pPr>
            <a:fld id="{B7679B16-301B-41D3-B5DE-31BD87D1D497}" type="datetime1">
              <a:rPr lang="en-US" smtClean="0"/>
              <a:pPr defTabSz="914400">
                <a:spcAft>
                  <a:spcPts val="600"/>
                </a:spcAft>
              </a:pPr>
              <a:t>2/24/2025</a:t>
            </a:fld>
            <a:endParaRPr lang="en-US"/>
          </a:p>
        </p:txBody>
      </p:sp>
      <p:sp>
        <p:nvSpPr>
          <p:cNvPr id="5" name="Footer Placeholder 4"/>
          <p:cNvSpPr>
            <a:spLocks noGrp="1"/>
          </p:cNvSpPr>
          <p:nvPr>
            <p:ph type="ftr" sz="quarter" idx="11"/>
          </p:nvPr>
        </p:nvSpPr>
        <p:spPr>
          <a:xfrm>
            <a:off x="3028950" y="6356350"/>
            <a:ext cx="3086100" cy="365125"/>
          </a:xfrm>
        </p:spPr>
        <p:txBody>
          <a:bodyPr vert="horz" lIns="91440" tIns="45720" rIns="91440" bIns="45720" rtlCol="0" anchor="ctr">
            <a:normAutofit/>
          </a:bodyPr>
          <a:lstStyle/>
          <a:p>
            <a:pPr defTabSz="914400">
              <a:spcAft>
                <a:spcPts val="600"/>
              </a:spcAft>
            </a:pPr>
            <a:r>
              <a:rPr lang="en-US" kern="1200">
                <a:solidFill>
                  <a:schemeClr val="tx1">
                    <a:tint val="75000"/>
                  </a:schemeClr>
                </a:solidFill>
                <a:latin typeface="+mn-lt"/>
                <a:ea typeface="+mn-ea"/>
                <a:cs typeface="+mn-cs"/>
              </a:rPr>
              <a:t>CRP</a:t>
            </a:r>
          </a:p>
        </p:txBody>
      </p:sp>
      <p:sp>
        <p:nvSpPr>
          <p:cNvPr id="6" name="Slide Number Placeholder 5"/>
          <p:cNvSpPr>
            <a:spLocks noGrp="1"/>
          </p:cNvSpPr>
          <p:nvPr>
            <p:ph type="sldNum" sz="quarter" idx="12"/>
          </p:nvPr>
        </p:nvSpPr>
        <p:spPr>
          <a:xfrm>
            <a:off x="6603999" y="6356350"/>
            <a:ext cx="2057400" cy="365125"/>
          </a:xfrm>
        </p:spPr>
        <p:txBody>
          <a:bodyPr vert="horz" lIns="91440" tIns="45720" rIns="91440" bIns="45720" rtlCol="0" anchor="ctr">
            <a:normAutofit/>
          </a:bodyPr>
          <a:lstStyle/>
          <a:p>
            <a:pPr defTabSz="914400">
              <a:spcAft>
                <a:spcPts val="600"/>
              </a:spcAft>
            </a:pPr>
            <a:fld id="{849F1A12-756A-4552-B54B-B66CFF5610E9}" type="slidenum">
              <a:rPr lang="en-US" sz="1200" b="0" smtClean="0">
                <a:solidFill>
                  <a:schemeClr val="tx1">
                    <a:tint val="75000"/>
                  </a:schemeClr>
                </a:solidFill>
              </a:rPr>
              <a:pPr defTabSz="914400">
                <a:spcAft>
                  <a:spcPts val="600"/>
                </a:spcAft>
              </a:pPr>
              <a:t>21</a:t>
            </a:fld>
            <a:endParaRPr lang="en-US" sz="1200" b="0">
              <a:solidFill>
                <a:schemeClr val="tx1">
                  <a:tint val="75000"/>
                </a:schemeClr>
              </a:solidFill>
            </a:endParaRPr>
          </a:p>
        </p:txBody>
      </p:sp>
      <p:sp>
        <p:nvSpPr>
          <p:cNvPr id="24" name="Isosceles Triangle 23">
            <a:extLst>
              <a:ext uri="{FF2B5EF4-FFF2-40B4-BE49-F238E27FC236}">
                <a16:creationId xmlns:a16="http://schemas.microsoft.com/office/drawing/2014/main" id="{FF9F2414-84E8-453E-B1F3-389FDE8192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5982258" y="6115501"/>
            <a:ext cx="1120884" cy="742499"/>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Content Placeholder 8" descr="A screenshot of a computer&#10;&#10;Description automatically generated">
            <a:extLst>
              <a:ext uri="{FF2B5EF4-FFF2-40B4-BE49-F238E27FC236}">
                <a16:creationId xmlns:a16="http://schemas.microsoft.com/office/drawing/2014/main" id="{9CC34B12-AC6D-1D36-B637-50C8F7909394}"/>
              </a:ext>
            </a:extLst>
          </p:cNvPr>
          <p:cNvPicPr>
            <a:picLocks noGrp="1" noChangeAspect="1"/>
          </p:cNvPicPr>
          <p:nvPr>
            <p:ph idx="1"/>
          </p:nvPr>
        </p:nvPicPr>
        <p:blipFill>
          <a:blip r:embed="rId3" cstate="email">
            <a:extLst>
              <a:ext uri="{28A0092B-C50C-407E-A947-70E740481C1C}">
                <a14:useLocalDpi xmlns:a14="http://schemas.microsoft.com/office/drawing/2010/main" val="0"/>
              </a:ext>
            </a:extLst>
          </a:blip>
          <a:stretch>
            <a:fillRect/>
          </a:stretch>
        </p:blipFill>
        <p:spPr>
          <a:xfrm>
            <a:off x="167951" y="1647139"/>
            <a:ext cx="8808097" cy="4131655"/>
          </a:xfrm>
          <a:prstGeom prst="rect">
            <a:avLst/>
          </a:prstGeom>
          <a:ln>
            <a:noFill/>
          </a:ln>
        </p:spPr>
      </p:pic>
      <p:sp>
        <p:nvSpPr>
          <p:cNvPr id="26" name="Isosceles Triangle 25">
            <a:extLst>
              <a:ext uri="{FF2B5EF4-FFF2-40B4-BE49-F238E27FC236}">
                <a16:creationId xmlns:a16="http://schemas.microsoft.com/office/drawing/2014/main" id="{3ECA69A1-7536-43AC-85EF-C7106179F5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5703060" y="6453143"/>
            <a:ext cx="611177" cy="404857"/>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83870875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23" name="p!!Rectangle">
            <a:extLst>
              <a:ext uri="{FF2B5EF4-FFF2-40B4-BE49-F238E27FC236}">
                <a16:creationId xmlns:a16="http://schemas.microsoft.com/office/drawing/2014/main" id="{2FB82883-1DC0-4BE1-A607-009095F335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descr="Close up of book pages">
            <a:extLst>
              <a:ext uri="{FF2B5EF4-FFF2-40B4-BE49-F238E27FC236}">
                <a16:creationId xmlns:a16="http://schemas.microsoft.com/office/drawing/2014/main" id="{273ADCC6-897E-4499-9AC1-C34ED51F898D}"/>
              </a:ext>
            </a:extLst>
          </p:cNvPr>
          <p:cNvPicPr>
            <a:picLocks noChangeAspect="1"/>
          </p:cNvPicPr>
          <p:nvPr/>
        </p:nvPicPr>
        <p:blipFill rotWithShape="1">
          <a:blip r:embed="rId2"/>
          <a:srcRect/>
          <a:stretch/>
        </p:blipFill>
        <p:spPr>
          <a:xfrm>
            <a:off x="20" y="10"/>
            <a:ext cx="9143980" cy="6857990"/>
          </a:xfrm>
          <a:prstGeom prst="rect">
            <a:avLst/>
          </a:prstGeom>
        </p:spPr>
      </p:pic>
      <p:sp>
        <p:nvSpPr>
          <p:cNvPr id="25" name="m!!text rectangle">
            <a:extLst>
              <a:ext uri="{FF2B5EF4-FFF2-40B4-BE49-F238E27FC236}">
                <a16:creationId xmlns:a16="http://schemas.microsoft.com/office/drawing/2014/main" id="{A3473CF9-37EB-43E7-89EF-D2D1C53D1D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427711" y="4638503"/>
            <a:ext cx="6288577" cy="1332634"/>
          </a:xfrm>
          <a:prstGeom prst="rect">
            <a:avLst/>
          </a:prstGeom>
          <a:solidFill>
            <a:schemeClr val="bg1">
              <a:alpha val="95000"/>
            </a:schemeClr>
          </a:solidFill>
          <a:ln w="12700">
            <a:solidFill>
              <a:srgbClr val="EFEFEF"/>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184D784C-09C2-4209-A54C-7272AAABAA90}"/>
              </a:ext>
            </a:extLst>
          </p:cNvPr>
          <p:cNvSpPr>
            <a:spLocks noGrp="1"/>
          </p:cNvSpPr>
          <p:nvPr>
            <p:ph type="title"/>
          </p:nvPr>
        </p:nvSpPr>
        <p:spPr>
          <a:xfrm>
            <a:off x="1577340" y="4727173"/>
            <a:ext cx="5989320" cy="868823"/>
          </a:xfrm>
        </p:spPr>
        <p:txBody>
          <a:bodyPr vert="horz" lIns="91440" tIns="45720" rIns="91440" bIns="45720" rtlCol="0" anchor="ctr">
            <a:normAutofit/>
          </a:bodyPr>
          <a:lstStyle/>
          <a:p>
            <a:pPr algn="ctr"/>
            <a:r>
              <a:rPr lang="en-US" sz="3500" dirty="0"/>
              <a:t>Cost &amp; Benefits</a:t>
            </a:r>
          </a:p>
        </p:txBody>
      </p:sp>
      <p:sp>
        <p:nvSpPr>
          <p:cNvPr id="27" name="m!!accent">
            <a:extLst>
              <a:ext uri="{FF2B5EF4-FFF2-40B4-BE49-F238E27FC236}">
                <a16:creationId xmlns:a16="http://schemas.microsoft.com/office/drawing/2014/main" id="{586B4EF9-43BA-4655-A6FF-1D8E21574C9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862332" y="5628237"/>
            <a:ext cx="5419335" cy="685800"/>
          </a:xfrm>
          <a:prstGeom prst="roundRect">
            <a:avLst>
              <a:gd name="adj" fmla="val 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4" name="Date Placeholder 3">
            <a:extLst>
              <a:ext uri="{FF2B5EF4-FFF2-40B4-BE49-F238E27FC236}">
                <a16:creationId xmlns:a16="http://schemas.microsoft.com/office/drawing/2014/main" id="{6D4C7CB0-FBE1-485A-979E-AFFF09854263}"/>
              </a:ext>
            </a:extLst>
          </p:cNvPr>
          <p:cNvSpPr>
            <a:spLocks noGrp="1"/>
          </p:cNvSpPr>
          <p:nvPr>
            <p:ph type="dt" sz="half" idx="10"/>
          </p:nvPr>
        </p:nvSpPr>
        <p:spPr>
          <a:xfrm>
            <a:off x="628650" y="6356350"/>
            <a:ext cx="2057400" cy="365125"/>
          </a:xfrm>
        </p:spPr>
        <p:txBody>
          <a:bodyPr vert="horz" lIns="91440" tIns="45720" rIns="91440" bIns="45720" rtlCol="0" anchor="ctr">
            <a:normAutofit/>
          </a:bodyPr>
          <a:lstStyle/>
          <a:p>
            <a:pPr defTabSz="914400">
              <a:spcAft>
                <a:spcPts val="600"/>
              </a:spcAft>
              <a:defRPr/>
            </a:pPr>
            <a:fld id="{B051283D-A526-41C6-8C05-199FD45FCE24}" type="datetime1">
              <a:rPr lang="en-US" smtClean="0">
                <a:solidFill>
                  <a:schemeClr val="bg1"/>
                </a:solidFill>
                <a:latin typeface="Calibri" panose="020F0502020204030204"/>
              </a:rPr>
              <a:t>2/24/2025</a:t>
            </a:fld>
            <a:endParaRPr lang="en-US">
              <a:solidFill>
                <a:schemeClr val="bg1"/>
              </a:solidFill>
              <a:latin typeface="Calibri" panose="020F0502020204030204"/>
            </a:endParaRPr>
          </a:p>
        </p:txBody>
      </p:sp>
      <p:sp>
        <p:nvSpPr>
          <p:cNvPr id="5" name="Slide Number Placeholder 4">
            <a:extLst>
              <a:ext uri="{FF2B5EF4-FFF2-40B4-BE49-F238E27FC236}">
                <a16:creationId xmlns:a16="http://schemas.microsoft.com/office/drawing/2014/main" id="{4892CD39-0D00-43C5-8A2D-E2EDFA3A7F9B}"/>
              </a:ext>
            </a:extLst>
          </p:cNvPr>
          <p:cNvSpPr>
            <a:spLocks noGrp="1"/>
          </p:cNvSpPr>
          <p:nvPr>
            <p:ph type="sldNum" sz="quarter" idx="12"/>
          </p:nvPr>
        </p:nvSpPr>
        <p:spPr>
          <a:xfrm>
            <a:off x="6457950" y="6356350"/>
            <a:ext cx="2057400" cy="365125"/>
          </a:xfrm>
        </p:spPr>
        <p:txBody>
          <a:bodyPr vert="horz" lIns="91440" tIns="45720" rIns="91440" bIns="45720" rtlCol="0" anchor="ctr">
            <a:normAutofit/>
          </a:bodyPr>
          <a:lstStyle/>
          <a:p>
            <a:pPr defTabSz="914400">
              <a:spcAft>
                <a:spcPts val="600"/>
              </a:spcAft>
              <a:defRPr/>
            </a:pPr>
            <a:fld id="{849F1A12-756A-4552-B54B-B66CFF5610E9}" type="slidenum">
              <a:rPr lang="en-US" sz="1200" b="0">
                <a:solidFill>
                  <a:schemeClr val="bg1"/>
                </a:solidFill>
                <a:latin typeface="Calibri" panose="020F0502020204030204"/>
              </a:rPr>
              <a:pPr defTabSz="914400">
                <a:spcAft>
                  <a:spcPts val="600"/>
                </a:spcAft>
                <a:defRPr/>
              </a:pPr>
              <a:t>22</a:t>
            </a:fld>
            <a:endParaRPr lang="en-US" sz="1200" b="0">
              <a:solidFill>
                <a:schemeClr val="bg1"/>
              </a:solidFill>
              <a:latin typeface="Calibri" panose="020F0502020204030204"/>
            </a:endParaRPr>
          </a:p>
        </p:txBody>
      </p:sp>
      <p:sp>
        <p:nvSpPr>
          <p:cNvPr id="3" name="Footer Placeholder 2"/>
          <p:cNvSpPr>
            <a:spLocks noGrp="1"/>
          </p:cNvSpPr>
          <p:nvPr>
            <p:ph type="ftr" sz="quarter" idx="11"/>
          </p:nvPr>
        </p:nvSpPr>
        <p:spPr/>
        <p:txBody>
          <a:bodyPr/>
          <a:lstStyle/>
          <a:p>
            <a:r>
              <a:rPr lang="en-US"/>
              <a:t>CRP</a:t>
            </a:r>
          </a:p>
        </p:txBody>
      </p:sp>
    </p:spTree>
    <p:extLst>
      <p:ext uri="{BB962C8B-B14F-4D97-AF65-F5344CB8AC3E}">
        <p14:creationId xmlns:p14="http://schemas.microsoft.com/office/powerpoint/2010/main" val="313345648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Content Placeholder 6"/>
          <p:cNvGraphicFramePr>
            <a:graphicFrameLocks noGrp="1"/>
          </p:cNvGraphicFramePr>
          <p:nvPr>
            <p:ph idx="1"/>
            <p:extLst>
              <p:ext uri="{D42A27DB-BD31-4B8C-83A1-F6EECF244321}">
                <p14:modId xmlns:p14="http://schemas.microsoft.com/office/powerpoint/2010/main" val="266239839"/>
              </p:ext>
            </p:extLst>
          </p:nvPr>
        </p:nvGraphicFramePr>
        <p:xfrm>
          <a:off x="654050" y="657483"/>
          <a:ext cx="7025044" cy="2617560"/>
        </p:xfrm>
        <a:graphic>
          <a:graphicData uri="http://schemas.openxmlformats.org/drawingml/2006/table">
            <a:tbl>
              <a:tblPr>
                <a:tableStyleId>{5C22544A-7EE6-4342-B048-85BDC9FD1C3A}</a:tableStyleId>
              </a:tblPr>
              <a:tblGrid>
                <a:gridCol w="4508050">
                  <a:extLst>
                    <a:ext uri="{9D8B030D-6E8A-4147-A177-3AD203B41FA5}">
                      <a16:colId xmlns:a16="http://schemas.microsoft.com/office/drawing/2014/main" val="20000"/>
                    </a:ext>
                  </a:extLst>
                </a:gridCol>
                <a:gridCol w="2516994">
                  <a:extLst>
                    <a:ext uri="{9D8B030D-6E8A-4147-A177-3AD203B41FA5}">
                      <a16:colId xmlns:a16="http://schemas.microsoft.com/office/drawing/2014/main" val="20001"/>
                    </a:ext>
                  </a:extLst>
                </a:gridCol>
              </a:tblGrid>
              <a:tr h="467919">
                <a:tc>
                  <a:txBody>
                    <a:bodyPr/>
                    <a:lstStyle/>
                    <a:p>
                      <a:pPr algn="l" fontAlgn="b"/>
                      <a:r>
                        <a:rPr lang="en-GB" sz="2000" b="0" i="0" u="none" strike="noStrike" dirty="0">
                          <a:solidFill>
                            <a:srgbClr val="000000"/>
                          </a:solidFill>
                          <a:effectLst/>
                          <a:latin typeface="Calibri" panose="020F0502020204030204" pitchFamily="34" charset="0"/>
                        </a:rPr>
                        <a:t>Description</a:t>
                      </a:r>
                    </a:p>
                  </a:txBody>
                  <a:tcPr marL="7620" marR="7620" marT="7620" marB="0" anchor="b"/>
                </a:tc>
                <a:tc>
                  <a:txBody>
                    <a:bodyPr/>
                    <a:lstStyle/>
                    <a:p>
                      <a:pPr algn="l" fontAlgn="b"/>
                      <a:r>
                        <a:rPr lang="en-GB" sz="2000" b="0" i="0" u="none" strike="noStrike" dirty="0">
                          <a:solidFill>
                            <a:srgbClr val="000000"/>
                          </a:solidFill>
                          <a:effectLst/>
                          <a:latin typeface="Calibri" panose="020F0502020204030204" pitchFamily="34" charset="0"/>
                        </a:rPr>
                        <a:t>Cost</a:t>
                      </a:r>
                      <a:endParaRPr lang="en-GB" sz="1600" b="0" i="0" u="none" strike="noStrike" dirty="0">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10000"/>
                  </a:ext>
                </a:extLst>
              </a:tr>
              <a:tr h="374335">
                <a:tc>
                  <a:txBody>
                    <a:bodyPr/>
                    <a:lstStyle/>
                    <a:p>
                      <a:pPr algn="l" fontAlgn="b"/>
                      <a:r>
                        <a:rPr lang="en-GB" sz="1400" u="none" strike="noStrike" dirty="0">
                          <a:effectLst/>
                        </a:rPr>
                        <a:t>Power Consumption</a:t>
                      </a:r>
                      <a:endParaRPr lang="en-GB" sz="1400" b="0" i="0" u="none" strike="noStrike" dirty="0">
                        <a:solidFill>
                          <a:srgbClr val="000000"/>
                        </a:solidFill>
                        <a:effectLst/>
                        <a:latin typeface="Calibri" panose="020F0502020204030204" pitchFamily="34" charset="0"/>
                      </a:endParaRPr>
                    </a:p>
                  </a:txBody>
                  <a:tcPr marL="7620" marR="7620" marT="7620" marB="0" anchor="b"/>
                </a:tc>
                <a:tc>
                  <a:txBody>
                    <a:bodyPr/>
                    <a:lstStyle/>
                    <a:p>
                      <a:pPr algn="l" fontAlgn="b"/>
                      <a:r>
                        <a:rPr lang="en-GB" sz="1400" b="0" i="0" u="none" strike="noStrike" dirty="0">
                          <a:solidFill>
                            <a:srgbClr val="000000"/>
                          </a:solidFill>
                          <a:effectLst/>
                          <a:latin typeface="Calibri" panose="020F0502020204030204" pitchFamily="34" charset="0"/>
                        </a:rPr>
                        <a:t>1,800 LKR</a:t>
                      </a:r>
                    </a:p>
                  </a:txBody>
                  <a:tcPr marL="7620" marR="7620" marT="7620" marB="0" anchor="b"/>
                </a:tc>
                <a:extLst>
                  <a:ext uri="{0D108BD9-81ED-4DB2-BD59-A6C34878D82A}">
                    <a16:rowId xmlns:a16="http://schemas.microsoft.com/office/drawing/2014/main" val="10001"/>
                  </a:ext>
                </a:extLst>
              </a:tr>
              <a:tr h="374335">
                <a:tc>
                  <a:txBody>
                    <a:bodyPr/>
                    <a:lstStyle/>
                    <a:p>
                      <a:pPr algn="l" fontAlgn="b"/>
                      <a:r>
                        <a:rPr lang="en-GB" sz="1400" u="none" strike="noStrike" dirty="0">
                          <a:effectLst/>
                        </a:rPr>
                        <a:t>Computational resources</a:t>
                      </a:r>
                      <a:endParaRPr lang="en-GB" sz="1400" b="0" i="0" u="none" strike="noStrike" dirty="0">
                        <a:solidFill>
                          <a:srgbClr val="000000"/>
                        </a:solidFill>
                        <a:effectLst/>
                        <a:latin typeface="Calibri" panose="020F0502020204030204" pitchFamily="34" charset="0"/>
                      </a:endParaRPr>
                    </a:p>
                  </a:txBody>
                  <a:tcPr marL="7620" marR="7620" marT="7620" marB="0" anchor="b"/>
                </a:tc>
                <a:tc>
                  <a:txBody>
                    <a:bodyPr/>
                    <a:lstStyle/>
                    <a:p>
                      <a:pPr algn="l" fontAlgn="b"/>
                      <a:r>
                        <a:rPr lang="en-GB" sz="1400" b="0" i="0" u="none" strike="noStrike" dirty="0">
                          <a:solidFill>
                            <a:srgbClr val="000000"/>
                          </a:solidFill>
                          <a:effectLst/>
                          <a:latin typeface="Calibri" panose="020F0502020204030204" pitchFamily="34" charset="0"/>
                        </a:rPr>
                        <a:t>4,000 LKR</a:t>
                      </a:r>
                    </a:p>
                  </a:txBody>
                  <a:tcPr marL="7620" marR="7620" marT="7620" marB="0" anchor="b"/>
                </a:tc>
                <a:extLst>
                  <a:ext uri="{0D108BD9-81ED-4DB2-BD59-A6C34878D82A}">
                    <a16:rowId xmlns:a16="http://schemas.microsoft.com/office/drawing/2014/main" val="10002"/>
                  </a:ext>
                </a:extLst>
              </a:tr>
              <a:tr h="298325">
                <a:tc>
                  <a:txBody>
                    <a:bodyPr/>
                    <a:lstStyle/>
                    <a:p>
                      <a:pPr algn="l" fontAlgn="b"/>
                      <a:r>
                        <a:rPr lang="en-GB" sz="1400" u="none" strike="noStrike" dirty="0">
                          <a:effectLst/>
                        </a:rPr>
                        <a:t>Cloud services</a:t>
                      </a:r>
                      <a:endParaRPr lang="en-GB" sz="1400" b="0" i="0" u="none" strike="noStrike" dirty="0">
                        <a:solidFill>
                          <a:srgbClr val="000000"/>
                        </a:solidFill>
                        <a:effectLst/>
                        <a:latin typeface="Calibri" panose="020F0502020204030204" pitchFamily="34" charset="0"/>
                      </a:endParaRPr>
                    </a:p>
                  </a:txBody>
                  <a:tcPr marL="7620" marR="7620" marT="7620" marB="0" anchor="b"/>
                </a:tc>
                <a:tc>
                  <a:txBody>
                    <a:bodyPr/>
                    <a:lstStyle/>
                    <a:p>
                      <a:pPr algn="l" fontAlgn="b"/>
                      <a:r>
                        <a:rPr lang="en-GB" sz="1400" b="0" i="0" u="none" strike="noStrike" dirty="0">
                          <a:solidFill>
                            <a:srgbClr val="000000"/>
                          </a:solidFill>
                          <a:effectLst/>
                          <a:latin typeface="Calibri" panose="020F0502020204030204" pitchFamily="34" charset="0"/>
                        </a:rPr>
                        <a:t>5,500 LKR</a:t>
                      </a:r>
                    </a:p>
                  </a:txBody>
                  <a:tcPr marL="7620" marR="7620" marT="7620" marB="0" anchor="b"/>
                </a:tc>
                <a:extLst>
                  <a:ext uri="{0D108BD9-81ED-4DB2-BD59-A6C34878D82A}">
                    <a16:rowId xmlns:a16="http://schemas.microsoft.com/office/drawing/2014/main" val="10003"/>
                  </a:ext>
                </a:extLst>
              </a:tr>
              <a:tr h="374335">
                <a:tc>
                  <a:txBody>
                    <a:bodyPr/>
                    <a:lstStyle/>
                    <a:p>
                      <a:pPr algn="l" fontAlgn="b"/>
                      <a:r>
                        <a:rPr lang="en-GB" sz="1400" u="none" strike="noStrike" dirty="0">
                          <a:effectLst/>
                        </a:rPr>
                        <a:t>Infra Structure</a:t>
                      </a:r>
                      <a:endParaRPr lang="en-GB" sz="1400" b="0" i="0" u="none" strike="noStrike" dirty="0">
                        <a:solidFill>
                          <a:srgbClr val="000000"/>
                        </a:solidFill>
                        <a:effectLst/>
                        <a:latin typeface="Calibri" panose="020F0502020204030204" pitchFamily="34" charset="0"/>
                      </a:endParaRPr>
                    </a:p>
                  </a:txBody>
                  <a:tcPr marL="7620" marR="7620" marT="7620" marB="0" anchor="b"/>
                </a:tc>
                <a:tc>
                  <a:txBody>
                    <a:bodyPr/>
                    <a:lstStyle/>
                    <a:p>
                      <a:pPr algn="l" fontAlgn="b"/>
                      <a:r>
                        <a:rPr lang="en-GB" sz="1400" b="0" i="0" u="none" strike="noStrike" dirty="0">
                          <a:solidFill>
                            <a:srgbClr val="000000"/>
                          </a:solidFill>
                          <a:effectLst/>
                          <a:latin typeface="Calibri" panose="020F0502020204030204" pitchFamily="34" charset="0"/>
                        </a:rPr>
                        <a:t>1,500 LKR</a:t>
                      </a:r>
                    </a:p>
                  </a:txBody>
                  <a:tcPr marL="7620" marR="7620" marT="7620" marB="0" anchor="b"/>
                </a:tc>
                <a:extLst>
                  <a:ext uri="{0D108BD9-81ED-4DB2-BD59-A6C34878D82A}">
                    <a16:rowId xmlns:a16="http://schemas.microsoft.com/office/drawing/2014/main" val="10004"/>
                  </a:ext>
                </a:extLst>
              </a:tr>
              <a:tr h="353976">
                <a:tc>
                  <a:txBody>
                    <a:bodyPr/>
                    <a:lstStyle/>
                    <a:p>
                      <a:pPr algn="l" fontAlgn="b"/>
                      <a:r>
                        <a:rPr lang="en-GB" sz="1400" b="0" u="none" strike="noStrike" dirty="0">
                          <a:effectLst/>
                        </a:rPr>
                        <a:t>Manpower</a:t>
                      </a:r>
                      <a:endParaRPr lang="en-GB" sz="1400" b="0" i="0" u="none" strike="noStrike" dirty="0">
                        <a:solidFill>
                          <a:srgbClr val="000000"/>
                        </a:solidFill>
                        <a:effectLst/>
                        <a:latin typeface="Calibri" panose="020F0502020204030204" pitchFamily="34" charset="0"/>
                      </a:endParaRPr>
                    </a:p>
                  </a:txBody>
                  <a:tcPr marL="7620" marR="7620" marT="7620" marB="0" anchor="b"/>
                </a:tc>
                <a:tc>
                  <a:txBody>
                    <a:bodyPr/>
                    <a:lstStyle/>
                    <a:p>
                      <a:pPr algn="l" fontAlgn="b"/>
                      <a:r>
                        <a:rPr lang="en-GB" sz="1400" b="0" i="0" u="none" strike="noStrike" dirty="0">
                          <a:solidFill>
                            <a:srgbClr val="000000"/>
                          </a:solidFill>
                          <a:effectLst/>
                          <a:latin typeface="Calibri" panose="020F0502020204030204" pitchFamily="34" charset="0"/>
                        </a:rPr>
                        <a:t>3,700 LKR</a:t>
                      </a:r>
                    </a:p>
                  </a:txBody>
                  <a:tcPr marL="7620" marR="7620" marT="7620" marB="0" anchor="b"/>
                </a:tc>
                <a:extLst>
                  <a:ext uri="{0D108BD9-81ED-4DB2-BD59-A6C34878D82A}">
                    <a16:rowId xmlns:a16="http://schemas.microsoft.com/office/drawing/2014/main" val="10005"/>
                  </a:ext>
                </a:extLst>
              </a:tr>
              <a:tr h="374335">
                <a:tc>
                  <a:txBody>
                    <a:bodyPr/>
                    <a:lstStyle/>
                    <a:p>
                      <a:pPr algn="l" fontAlgn="b"/>
                      <a:r>
                        <a:rPr lang="en-GB" sz="1600" u="none" strike="noStrike" dirty="0">
                          <a:effectLst/>
                        </a:rPr>
                        <a:t>Total Cost</a:t>
                      </a:r>
                      <a:endParaRPr lang="en-GB" sz="1600" b="1" i="0" u="none" strike="noStrike" dirty="0">
                        <a:solidFill>
                          <a:srgbClr val="000000"/>
                        </a:solidFill>
                        <a:effectLst/>
                        <a:latin typeface="Calibri" panose="020F0502020204030204" pitchFamily="34" charset="0"/>
                      </a:endParaRPr>
                    </a:p>
                  </a:txBody>
                  <a:tcPr marL="7620" marR="7620" marT="7620" marB="0" anchor="b"/>
                </a:tc>
                <a:tc>
                  <a:txBody>
                    <a:bodyPr/>
                    <a:lstStyle/>
                    <a:p>
                      <a:pPr algn="l" fontAlgn="b"/>
                      <a:r>
                        <a:rPr lang="en-GB" sz="1600" u="none" strike="noStrike" dirty="0">
                          <a:effectLst/>
                        </a:rPr>
                        <a:t>16,500 LKR</a:t>
                      </a:r>
                      <a:endParaRPr lang="en-GB" sz="1600" b="1" i="0" u="none" strike="noStrike" dirty="0">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10008"/>
                  </a:ext>
                </a:extLst>
              </a:tr>
            </a:tbl>
          </a:graphicData>
        </a:graphic>
      </p:graphicFrame>
      <p:sp>
        <p:nvSpPr>
          <p:cNvPr id="4" name="Date Placeholder 3"/>
          <p:cNvSpPr>
            <a:spLocks noGrp="1"/>
          </p:cNvSpPr>
          <p:nvPr>
            <p:ph type="dt" sz="half" idx="10"/>
          </p:nvPr>
        </p:nvSpPr>
        <p:spPr/>
        <p:txBody>
          <a:bodyPr/>
          <a:lstStyle/>
          <a:p>
            <a:fld id="{8795AD55-3F61-4350-97D6-D00F00F80D87}" type="datetime1">
              <a:rPr lang="en-US" smtClean="0"/>
              <a:t>2/24/2025</a:t>
            </a:fld>
            <a:endParaRPr lang="en-US"/>
          </a:p>
        </p:txBody>
      </p:sp>
      <p:sp>
        <p:nvSpPr>
          <p:cNvPr id="5" name="Footer Placeholder 4"/>
          <p:cNvSpPr>
            <a:spLocks noGrp="1"/>
          </p:cNvSpPr>
          <p:nvPr>
            <p:ph type="ftr" sz="quarter" idx="11"/>
          </p:nvPr>
        </p:nvSpPr>
        <p:spPr/>
        <p:txBody>
          <a:bodyPr/>
          <a:lstStyle/>
          <a:p>
            <a:r>
              <a:rPr lang="en-US"/>
              <a:t>CRP</a:t>
            </a:r>
          </a:p>
        </p:txBody>
      </p:sp>
      <p:sp>
        <p:nvSpPr>
          <p:cNvPr id="6" name="Slide Number Placeholder 5"/>
          <p:cNvSpPr>
            <a:spLocks noGrp="1"/>
          </p:cNvSpPr>
          <p:nvPr>
            <p:ph type="sldNum" sz="quarter" idx="12"/>
          </p:nvPr>
        </p:nvSpPr>
        <p:spPr/>
        <p:txBody>
          <a:bodyPr/>
          <a:lstStyle/>
          <a:p>
            <a:fld id="{849F1A12-756A-4552-B54B-B66CFF5610E9}" type="slidenum">
              <a:rPr lang="en-US" sz="1200" b="0" smtClean="0"/>
              <a:t>23</a:t>
            </a:fld>
            <a:endParaRPr lang="en-US" sz="1200" b="0" dirty="0"/>
          </a:p>
        </p:txBody>
      </p:sp>
      <p:sp>
        <p:nvSpPr>
          <p:cNvPr id="2" name="TextBox 1">
            <a:extLst>
              <a:ext uri="{FF2B5EF4-FFF2-40B4-BE49-F238E27FC236}">
                <a16:creationId xmlns:a16="http://schemas.microsoft.com/office/drawing/2014/main" id="{CCD965D7-0C66-320F-E8BA-0FD93A5E1790}"/>
              </a:ext>
            </a:extLst>
          </p:cNvPr>
          <p:cNvSpPr txBox="1"/>
          <p:nvPr/>
        </p:nvSpPr>
        <p:spPr>
          <a:xfrm>
            <a:off x="325768" y="3861783"/>
            <a:ext cx="8189582" cy="1564531"/>
          </a:xfrm>
          <a:prstGeom prst="rect">
            <a:avLst/>
          </a:prstGeom>
          <a:noFill/>
        </p:spPr>
        <p:txBody>
          <a:bodyPr wrap="square" rtlCol="0">
            <a:spAutoFit/>
          </a:bodyPr>
          <a:lstStyle/>
          <a:p>
            <a:r>
              <a:rPr lang="en-US" dirty="0"/>
              <a:t>Benefits: </a:t>
            </a:r>
          </a:p>
          <a:p>
            <a:pPr marL="285750" indent="-285750">
              <a:lnSpc>
                <a:spcPct val="150000"/>
              </a:lnSpc>
              <a:buFont typeface="Arial" panose="020B0604020202020204" pitchFamily="34" charset="0"/>
              <a:buChar char="•"/>
            </a:pPr>
            <a:r>
              <a:rPr lang="en-GB" dirty="0"/>
              <a:t>Helps optimize model selection for real-world applications in Sri Lanka’s transportation sector.</a:t>
            </a:r>
          </a:p>
          <a:p>
            <a:pPr marL="285750" indent="-285750">
              <a:lnSpc>
                <a:spcPct val="150000"/>
              </a:lnSpc>
              <a:buFont typeface="Arial" panose="020B0604020202020204" pitchFamily="34" charset="0"/>
              <a:buChar char="•"/>
            </a:pPr>
            <a:r>
              <a:rPr lang="en-GB" dirty="0"/>
              <a:t>Advances research in computer vision and AI for traffic management.</a:t>
            </a:r>
            <a:endParaRPr lang="en-US" dirty="0"/>
          </a:p>
        </p:txBody>
      </p:sp>
    </p:spTree>
    <p:extLst>
      <p:ext uri="{BB962C8B-B14F-4D97-AF65-F5344CB8AC3E}">
        <p14:creationId xmlns:p14="http://schemas.microsoft.com/office/powerpoint/2010/main" val="312545251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23" name="p!!Rectangle">
            <a:extLst>
              <a:ext uri="{FF2B5EF4-FFF2-40B4-BE49-F238E27FC236}">
                <a16:creationId xmlns:a16="http://schemas.microsoft.com/office/drawing/2014/main" id="{2FB82883-1DC0-4BE1-A607-009095F335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descr="Close up of book pages">
            <a:extLst>
              <a:ext uri="{FF2B5EF4-FFF2-40B4-BE49-F238E27FC236}">
                <a16:creationId xmlns:a16="http://schemas.microsoft.com/office/drawing/2014/main" id="{273ADCC6-897E-4499-9AC1-C34ED51F898D}"/>
              </a:ext>
            </a:extLst>
          </p:cNvPr>
          <p:cNvPicPr>
            <a:picLocks noChangeAspect="1"/>
          </p:cNvPicPr>
          <p:nvPr/>
        </p:nvPicPr>
        <p:blipFill rotWithShape="1">
          <a:blip r:embed="rId2"/>
          <a:srcRect/>
          <a:stretch/>
        </p:blipFill>
        <p:spPr>
          <a:xfrm>
            <a:off x="20" y="10"/>
            <a:ext cx="9143980" cy="6857990"/>
          </a:xfrm>
          <a:prstGeom prst="rect">
            <a:avLst/>
          </a:prstGeom>
        </p:spPr>
      </p:pic>
      <p:sp>
        <p:nvSpPr>
          <p:cNvPr id="25" name="m!!text rectangle">
            <a:extLst>
              <a:ext uri="{FF2B5EF4-FFF2-40B4-BE49-F238E27FC236}">
                <a16:creationId xmlns:a16="http://schemas.microsoft.com/office/drawing/2014/main" id="{A3473CF9-37EB-43E7-89EF-D2D1C53D1D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427711" y="4638503"/>
            <a:ext cx="6288577" cy="1332634"/>
          </a:xfrm>
          <a:prstGeom prst="rect">
            <a:avLst/>
          </a:prstGeom>
          <a:solidFill>
            <a:schemeClr val="bg1">
              <a:alpha val="95000"/>
            </a:schemeClr>
          </a:solidFill>
          <a:ln w="12700">
            <a:solidFill>
              <a:srgbClr val="EFEFEF"/>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184D784C-09C2-4209-A54C-7272AAABAA90}"/>
              </a:ext>
            </a:extLst>
          </p:cNvPr>
          <p:cNvSpPr>
            <a:spLocks noGrp="1"/>
          </p:cNvSpPr>
          <p:nvPr>
            <p:ph type="title"/>
          </p:nvPr>
        </p:nvSpPr>
        <p:spPr>
          <a:xfrm>
            <a:off x="1577340" y="4727173"/>
            <a:ext cx="5989320" cy="868823"/>
          </a:xfrm>
        </p:spPr>
        <p:txBody>
          <a:bodyPr vert="horz" lIns="91440" tIns="45720" rIns="91440" bIns="45720" rtlCol="0" anchor="ctr">
            <a:normAutofit/>
          </a:bodyPr>
          <a:lstStyle/>
          <a:p>
            <a:pPr algn="ctr"/>
            <a:r>
              <a:rPr lang="en-US" sz="3500" dirty="0"/>
              <a:t>Top level architecture &amp; WBS</a:t>
            </a:r>
          </a:p>
        </p:txBody>
      </p:sp>
      <p:sp>
        <p:nvSpPr>
          <p:cNvPr id="27" name="m!!accent">
            <a:extLst>
              <a:ext uri="{FF2B5EF4-FFF2-40B4-BE49-F238E27FC236}">
                <a16:creationId xmlns:a16="http://schemas.microsoft.com/office/drawing/2014/main" id="{586B4EF9-43BA-4655-A6FF-1D8E21574C9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862332" y="5628237"/>
            <a:ext cx="5419335" cy="685800"/>
          </a:xfrm>
          <a:prstGeom prst="roundRect">
            <a:avLst>
              <a:gd name="adj" fmla="val 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4" name="Date Placeholder 3">
            <a:extLst>
              <a:ext uri="{FF2B5EF4-FFF2-40B4-BE49-F238E27FC236}">
                <a16:creationId xmlns:a16="http://schemas.microsoft.com/office/drawing/2014/main" id="{6D4C7CB0-FBE1-485A-979E-AFFF09854263}"/>
              </a:ext>
            </a:extLst>
          </p:cNvPr>
          <p:cNvSpPr>
            <a:spLocks noGrp="1"/>
          </p:cNvSpPr>
          <p:nvPr>
            <p:ph type="dt" sz="half" idx="10"/>
          </p:nvPr>
        </p:nvSpPr>
        <p:spPr>
          <a:xfrm>
            <a:off x="628650" y="6356350"/>
            <a:ext cx="2057400" cy="365125"/>
          </a:xfrm>
        </p:spPr>
        <p:txBody>
          <a:bodyPr vert="horz" lIns="91440" tIns="45720" rIns="91440" bIns="45720" rtlCol="0" anchor="ctr">
            <a:normAutofit/>
          </a:bodyPr>
          <a:lstStyle/>
          <a:p>
            <a:pPr defTabSz="914400">
              <a:spcAft>
                <a:spcPts val="600"/>
              </a:spcAft>
              <a:defRPr/>
            </a:pPr>
            <a:fld id="{A3D2B1E5-00D0-4962-8AE3-D4742B874BAB}" type="datetime1">
              <a:rPr lang="en-US" smtClean="0">
                <a:solidFill>
                  <a:schemeClr val="bg1"/>
                </a:solidFill>
                <a:latin typeface="Calibri" panose="020F0502020204030204"/>
              </a:rPr>
              <a:t>2/24/2025</a:t>
            </a:fld>
            <a:endParaRPr lang="en-US">
              <a:solidFill>
                <a:schemeClr val="bg1"/>
              </a:solidFill>
              <a:latin typeface="Calibri" panose="020F0502020204030204"/>
            </a:endParaRPr>
          </a:p>
        </p:txBody>
      </p:sp>
      <p:sp>
        <p:nvSpPr>
          <p:cNvPr id="5" name="Slide Number Placeholder 4">
            <a:extLst>
              <a:ext uri="{FF2B5EF4-FFF2-40B4-BE49-F238E27FC236}">
                <a16:creationId xmlns:a16="http://schemas.microsoft.com/office/drawing/2014/main" id="{4892CD39-0D00-43C5-8A2D-E2EDFA3A7F9B}"/>
              </a:ext>
            </a:extLst>
          </p:cNvPr>
          <p:cNvSpPr>
            <a:spLocks noGrp="1"/>
          </p:cNvSpPr>
          <p:nvPr>
            <p:ph type="sldNum" sz="quarter" idx="12"/>
          </p:nvPr>
        </p:nvSpPr>
        <p:spPr>
          <a:xfrm>
            <a:off x="6457950" y="6356350"/>
            <a:ext cx="2057400" cy="365125"/>
          </a:xfrm>
        </p:spPr>
        <p:txBody>
          <a:bodyPr vert="horz" lIns="91440" tIns="45720" rIns="91440" bIns="45720" rtlCol="0" anchor="ctr">
            <a:normAutofit/>
          </a:bodyPr>
          <a:lstStyle/>
          <a:p>
            <a:pPr defTabSz="914400">
              <a:spcAft>
                <a:spcPts val="600"/>
              </a:spcAft>
              <a:defRPr/>
            </a:pPr>
            <a:fld id="{849F1A12-756A-4552-B54B-B66CFF5610E9}" type="slidenum">
              <a:rPr lang="en-US" sz="1200" b="0">
                <a:solidFill>
                  <a:schemeClr val="bg1"/>
                </a:solidFill>
                <a:latin typeface="Calibri" panose="020F0502020204030204"/>
              </a:rPr>
              <a:pPr defTabSz="914400">
                <a:spcAft>
                  <a:spcPts val="600"/>
                </a:spcAft>
                <a:defRPr/>
              </a:pPr>
              <a:t>24</a:t>
            </a:fld>
            <a:endParaRPr lang="en-US" sz="1200" b="0">
              <a:solidFill>
                <a:schemeClr val="bg1"/>
              </a:solidFill>
              <a:latin typeface="Calibri" panose="020F0502020204030204"/>
            </a:endParaRPr>
          </a:p>
        </p:txBody>
      </p:sp>
      <p:sp>
        <p:nvSpPr>
          <p:cNvPr id="3" name="Footer Placeholder 2"/>
          <p:cNvSpPr>
            <a:spLocks noGrp="1"/>
          </p:cNvSpPr>
          <p:nvPr>
            <p:ph type="ftr" sz="quarter" idx="11"/>
          </p:nvPr>
        </p:nvSpPr>
        <p:spPr/>
        <p:txBody>
          <a:bodyPr/>
          <a:lstStyle/>
          <a:p>
            <a:r>
              <a:rPr lang="en-US"/>
              <a:t>CRP</a:t>
            </a:r>
          </a:p>
        </p:txBody>
      </p:sp>
    </p:spTree>
    <p:extLst>
      <p:ext uri="{BB962C8B-B14F-4D97-AF65-F5344CB8AC3E}">
        <p14:creationId xmlns:p14="http://schemas.microsoft.com/office/powerpoint/2010/main" val="396317347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FC999F29-DE97-4A51-84E4-33DD6462CD8B}" type="datetime1">
              <a:rPr lang="en-US" smtClean="0"/>
              <a:t>2/24/2025</a:t>
            </a:fld>
            <a:endParaRPr lang="en-US"/>
          </a:p>
        </p:txBody>
      </p:sp>
      <p:sp>
        <p:nvSpPr>
          <p:cNvPr id="5" name="Footer Placeholder 4"/>
          <p:cNvSpPr>
            <a:spLocks noGrp="1"/>
          </p:cNvSpPr>
          <p:nvPr>
            <p:ph type="ftr" sz="quarter" idx="11"/>
          </p:nvPr>
        </p:nvSpPr>
        <p:spPr/>
        <p:txBody>
          <a:bodyPr/>
          <a:lstStyle/>
          <a:p>
            <a:r>
              <a:rPr lang="en-US"/>
              <a:t>CRP</a:t>
            </a:r>
          </a:p>
        </p:txBody>
      </p:sp>
      <p:sp>
        <p:nvSpPr>
          <p:cNvPr id="6" name="Slide Number Placeholder 5"/>
          <p:cNvSpPr>
            <a:spLocks noGrp="1"/>
          </p:cNvSpPr>
          <p:nvPr>
            <p:ph type="sldNum" sz="quarter" idx="12"/>
          </p:nvPr>
        </p:nvSpPr>
        <p:spPr/>
        <p:txBody>
          <a:bodyPr/>
          <a:lstStyle/>
          <a:p>
            <a:fld id="{849F1A12-756A-4552-B54B-B66CFF5610E9}" type="slidenum">
              <a:rPr lang="en-US" sz="1200" b="0" smtClean="0"/>
              <a:t>25</a:t>
            </a:fld>
            <a:endParaRPr lang="en-US" sz="1200" b="0" dirty="0"/>
          </a:p>
        </p:txBody>
      </p:sp>
      <p:sp>
        <p:nvSpPr>
          <p:cNvPr id="3" name="Title 1">
            <a:extLst>
              <a:ext uri="{FF2B5EF4-FFF2-40B4-BE49-F238E27FC236}">
                <a16:creationId xmlns:a16="http://schemas.microsoft.com/office/drawing/2014/main" id="{88F82F8E-F63A-203F-E813-64D9A761AAB3}"/>
              </a:ext>
            </a:extLst>
          </p:cNvPr>
          <p:cNvSpPr>
            <a:spLocks noGrp="1"/>
          </p:cNvSpPr>
          <p:nvPr>
            <p:ph type="title"/>
          </p:nvPr>
        </p:nvSpPr>
        <p:spPr>
          <a:xfrm>
            <a:off x="1316381" y="3032"/>
            <a:ext cx="5989320" cy="868823"/>
          </a:xfrm>
        </p:spPr>
        <p:txBody>
          <a:bodyPr vert="horz" lIns="91440" tIns="45720" rIns="91440" bIns="45720" rtlCol="0" anchor="ctr">
            <a:normAutofit/>
          </a:bodyPr>
          <a:lstStyle/>
          <a:p>
            <a:pPr algn="ctr"/>
            <a:r>
              <a:rPr lang="en-US" sz="3500" dirty="0">
                <a:cs typeface="Arial"/>
              </a:rPr>
              <a:t>Research Design</a:t>
            </a:r>
          </a:p>
        </p:txBody>
      </p:sp>
      <p:sp>
        <p:nvSpPr>
          <p:cNvPr id="10" name="Rectangle: Rounded Corners 9">
            <a:extLst>
              <a:ext uri="{FF2B5EF4-FFF2-40B4-BE49-F238E27FC236}">
                <a16:creationId xmlns:a16="http://schemas.microsoft.com/office/drawing/2014/main" id="{9B3D276C-B3D2-1BAE-D27D-BA467A1CDA6D}"/>
              </a:ext>
            </a:extLst>
          </p:cNvPr>
          <p:cNvSpPr/>
          <p:nvPr/>
        </p:nvSpPr>
        <p:spPr>
          <a:xfrm>
            <a:off x="433873" y="2460017"/>
            <a:ext cx="2057400" cy="979715"/>
          </a:xfrm>
          <a:prstGeom prst="roundRect">
            <a:avLst/>
          </a:prstGeom>
          <a:solidFill>
            <a:schemeClr val="accent4">
              <a:lumMod val="40000"/>
              <a:lumOff val="60000"/>
            </a:schemeClr>
          </a:solidFill>
          <a:ln/>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US" sz="2000" dirty="0">
                <a:solidFill>
                  <a:schemeClr val="tx1"/>
                </a:solidFill>
              </a:rPr>
              <a:t>Dataset (Sri Lankan Traffic Sign)</a:t>
            </a:r>
          </a:p>
        </p:txBody>
      </p:sp>
      <p:sp>
        <p:nvSpPr>
          <p:cNvPr id="11" name="Rectangle: Rounded Corners 10">
            <a:extLst>
              <a:ext uri="{FF2B5EF4-FFF2-40B4-BE49-F238E27FC236}">
                <a16:creationId xmlns:a16="http://schemas.microsoft.com/office/drawing/2014/main" id="{CDE3479C-A65E-7880-3571-5A41817003E9}"/>
              </a:ext>
            </a:extLst>
          </p:cNvPr>
          <p:cNvSpPr/>
          <p:nvPr/>
        </p:nvSpPr>
        <p:spPr>
          <a:xfrm>
            <a:off x="3105930" y="2460017"/>
            <a:ext cx="1969926" cy="979715"/>
          </a:xfrm>
          <a:prstGeom prst="roundRect">
            <a:avLst/>
          </a:prstGeom>
          <a:solidFill>
            <a:schemeClr val="accent1">
              <a:lumMod val="40000"/>
              <a:lumOff val="60000"/>
            </a:schemeClr>
          </a:solid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sz="2000" dirty="0">
                <a:solidFill>
                  <a:schemeClr val="tx1"/>
                </a:solidFill>
              </a:rPr>
              <a:t>Preprocessing</a:t>
            </a:r>
          </a:p>
        </p:txBody>
      </p:sp>
      <p:sp>
        <p:nvSpPr>
          <p:cNvPr id="12" name="Rectangle: Rounded Corners 11">
            <a:extLst>
              <a:ext uri="{FF2B5EF4-FFF2-40B4-BE49-F238E27FC236}">
                <a16:creationId xmlns:a16="http://schemas.microsoft.com/office/drawing/2014/main" id="{602922B3-2B31-7CA8-6CF4-516CA1BDEF9B}"/>
              </a:ext>
            </a:extLst>
          </p:cNvPr>
          <p:cNvSpPr/>
          <p:nvPr/>
        </p:nvSpPr>
        <p:spPr>
          <a:xfrm>
            <a:off x="4331444" y="4099320"/>
            <a:ext cx="1759987" cy="979715"/>
          </a:xfrm>
          <a:prstGeom prst="roundRect">
            <a:avLst/>
          </a:prstGeom>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Comparison &amp; Analysis</a:t>
            </a:r>
          </a:p>
        </p:txBody>
      </p:sp>
      <p:sp>
        <p:nvSpPr>
          <p:cNvPr id="13" name="Rectangle: Rounded Corners 12">
            <a:extLst>
              <a:ext uri="{FF2B5EF4-FFF2-40B4-BE49-F238E27FC236}">
                <a16:creationId xmlns:a16="http://schemas.microsoft.com/office/drawing/2014/main" id="{E0FECF72-C647-963F-D925-D7DAF0A58C79}"/>
              </a:ext>
            </a:extLst>
          </p:cNvPr>
          <p:cNvSpPr/>
          <p:nvPr/>
        </p:nvSpPr>
        <p:spPr>
          <a:xfrm>
            <a:off x="2085686" y="4099645"/>
            <a:ext cx="1759987" cy="979715"/>
          </a:xfrm>
          <a:prstGeom prst="roundRect">
            <a:avLst/>
          </a:prstGeom>
          <a:solidFill>
            <a:schemeClr val="accent1">
              <a:lumMod val="60000"/>
              <a:lumOff val="4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sz="2000" dirty="0">
                <a:solidFill>
                  <a:schemeClr val="tx1"/>
                </a:solidFill>
              </a:rPr>
              <a:t>Best Model Selection</a:t>
            </a:r>
          </a:p>
        </p:txBody>
      </p:sp>
      <p:sp>
        <p:nvSpPr>
          <p:cNvPr id="14" name="Rectangle: Rounded Corners 13">
            <a:extLst>
              <a:ext uri="{FF2B5EF4-FFF2-40B4-BE49-F238E27FC236}">
                <a16:creationId xmlns:a16="http://schemas.microsoft.com/office/drawing/2014/main" id="{D3B95477-39CE-A2E6-4557-1CB100AE553F}"/>
              </a:ext>
            </a:extLst>
          </p:cNvPr>
          <p:cNvSpPr/>
          <p:nvPr/>
        </p:nvSpPr>
        <p:spPr>
          <a:xfrm>
            <a:off x="6196693" y="2374375"/>
            <a:ext cx="2263840" cy="1140149"/>
          </a:xfrm>
          <a:prstGeom prst="roundRect">
            <a:avLst/>
          </a:prstGeom>
          <a:solidFill>
            <a:schemeClr val="accent2">
              <a:lumMod val="40000"/>
              <a:lumOff val="60000"/>
            </a:schemeClr>
          </a:solidFill>
          <a:ln/>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r>
              <a:rPr lang="en-US" sz="2000" dirty="0">
                <a:solidFill>
                  <a:schemeClr val="tx1"/>
                </a:solidFill>
              </a:rPr>
              <a:t>Model Inference (YOLOv8, Faster R-CNN, SSD)</a:t>
            </a:r>
          </a:p>
        </p:txBody>
      </p:sp>
      <p:sp>
        <p:nvSpPr>
          <p:cNvPr id="15" name="Rectangle: Rounded Corners 14">
            <a:extLst>
              <a:ext uri="{FF2B5EF4-FFF2-40B4-BE49-F238E27FC236}">
                <a16:creationId xmlns:a16="http://schemas.microsoft.com/office/drawing/2014/main" id="{66AFB0A0-32EB-AE88-FE77-0FD0E0668DA1}"/>
              </a:ext>
            </a:extLst>
          </p:cNvPr>
          <p:cNvSpPr/>
          <p:nvPr/>
        </p:nvSpPr>
        <p:spPr>
          <a:xfrm>
            <a:off x="6457950" y="4094128"/>
            <a:ext cx="1759987" cy="979715"/>
          </a:xfrm>
          <a:prstGeom prst="roundRect">
            <a:avLst/>
          </a:prstGeom>
          <a:solidFill>
            <a:schemeClr val="accent6">
              <a:lumMod val="60000"/>
              <a:lumOff val="40000"/>
            </a:schemeClr>
          </a:solidFill>
          <a:ln/>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US" sz="2000" dirty="0">
                <a:solidFill>
                  <a:schemeClr val="tx1"/>
                </a:solidFill>
              </a:rPr>
              <a:t>Evaluation (mAP)</a:t>
            </a:r>
          </a:p>
        </p:txBody>
      </p:sp>
      <p:cxnSp>
        <p:nvCxnSpPr>
          <p:cNvPr id="17" name="Straight Arrow Connector 16">
            <a:extLst>
              <a:ext uri="{FF2B5EF4-FFF2-40B4-BE49-F238E27FC236}">
                <a16:creationId xmlns:a16="http://schemas.microsoft.com/office/drawing/2014/main" id="{6B287175-6CE7-E51C-0B3C-741FA3A50478}"/>
              </a:ext>
            </a:extLst>
          </p:cNvPr>
          <p:cNvCxnSpPr>
            <a:cxnSpLocks/>
            <a:stCxn id="10" idx="3"/>
            <a:endCxn id="11" idx="1"/>
          </p:cNvCxnSpPr>
          <p:nvPr/>
        </p:nvCxnSpPr>
        <p:spPr>
          <a:xfrm>
            <a:off x="2491273" y="2949875"/>
            <a:ext cx="614657" cy="0"/>
          </a:xfrm>
          <a:prstGeom prst="straightConnector1">
            <a:avLst/>
          </a:prstGeom>
          <a:ln w="38100">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7E0B4CDA-9CA5-C907-617C-273470C02317}"/>
              </a:ext>
            </a:extLst>
          </p:cNvPr>
          <p:cNvCxnSpPr>
            <a:cxnSpLocks/>
            <a:stCxn id="11" idx="3"/>
            <a:endCxn id="14" idx="1"/>
          </p:cNvCxnSpPr>
          <p:nvPr/>
        </p:nvCxnSpPr>
        <p:spPr>
          <a:xfrm flipV="1">
            <a:off x="5075856" y="2944450"/>
            <a:ext cx="1120837" cy="5425"/>
          </a:xfrm>
          <a:prstGeom prst="straightConnector1">
            <a:avLst/>
          </a:prstGeom>
          <a:ln w="38100">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F904009D-1B12-B504-0CE5-15E927BCA958}"/>
              </a:ext>
            </a:extLst>
          </p:cNvPr>
          <p:cNvCxnSpPr>
            <a:cxnSpLocks/>
            <a:stCxn id="14" idx="2"/>
            <a:endCxn id="15" idx="0"/>
          </p:cNvCxnSpPr>
          <p:nvPr/>
        </p:nvCxnSpPr>
        <p:spPr>
          <a:xfrm rot="16200000" flipH="1">
            <a:off x="7043476" y="3799660"/>
            <a:ext cx="579604" cy="9331"/>
          </a:xfrm>
          <a:prstGeom prst="straightConnector1">
            <a:avLst/>
          </a:prstGeom>
          <a:ln w="38100">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B398ED6C-DBC7-2C9D-0C09-2697F82B6EAB}"/>
              </a:ext>
            </a:extLst>
          </p:cNvPr>
          <p:cNvCxnSpPr>
            <a:cxnSpLocks/>
            <a:stCxn id="15" idx="1"/>
            <a:endCxn id="12" idx="3"/>
          </p:cNvCxnSpPr>
          <p:nvPr/>
        </p:nvCxnSpPr>
        <p:spPr>
          <a:xfrm flipH="1">
            <a:off x="6091431" y="4583986"/>
            <a:ext cx="366519" cy="5192"/>
          </a:xfrm>
          <a:prstGeom prst="straightConnector1">
            <a:avLst/>
          </a:prstGeom>
          <a:ln w="38100">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a:extLst>
              <a:ext uri="{FF2B5EF4-FFF2-40B4-BE49-F238E27FC236}">
                <a16:creationId xmlns:a16="http://schemas.microsoft.com/office/drawing/2014/main" id="{75A2E673-E3EC-5446-7EF0-ED1E51CB126F}"/>
              </a:ext>
            </a:extLst>
          </p:cNvPr>
          <p:cNvCxnSpPr>
            <a:cxnSpLocks/>
            <a:stCxn id="12" idx="1"/>
            <a:endCxn id="13" idx="3"/>
          </p:cNvCxnSpPr>
          <p:nvPr/>
        </p:nvCxnSpPr>
        <p:spPr>
          <a:xfrm flipH="1">
            <a:off x="3845673" y="4589178"/>
            <a:ext cx="485771" cy="325"/>
          </a:xfrm>
          <a:prstGeom prst="straightConnector1">
            <a:avLst/>
          </a:prstGeom>
          <a:ln w="38100">
            <a:solidFill>
              <a:srgbClr val="002060"/>
            </a:solidFill>
            <a:tailEnd type="triangle"/>
          </a:ln>
        </p:spPr>
        <p:style>
          <a:lnRef idx="1">
            <a:schemeClr val="accent1"/>
          </a:lnRef>
          <a:fillRef idx="0">
            <a:schemeClr val="accent1"/>
          </a:fillRef>
          <a:effectRef idx="0">
            <a:schemeClr val="accent1"/>
          </a:effectRef>
          <a:fontRef idx="minor">
            <a:schemeClr val="tx1"/>
          </a:fontRef>
        </p:style>
      </p:cxnSp>
      <p:sp>
        <p:nvSpPr>
          <p:cNvPr id="44" name="Rectangle: Rounded Corners 43">
            <a:extLst>
              <a:ext uri="{FF2B5EF4-FFF2-40B4-BE49-F238E27FC236}">
                <a16:creationId xmlns:a16="http://schemas.microsoft.com/office/drawing/2014/main" id="{DE67A987-AE9F-50BC-3031-D5ED5EA7BA40}"/>
              </a:ext>
            </a:extLst>
          </p:cNvPr>
          <p:cNvSpPr/>
          <p:nvPr/>
        </p:nvSpPr>
        <p:spPr>
          <a:xfrm>
            <a:off x="3209563" y="907167"/>
            <a:ext cx="2057400" cy="1041126"/>
          </a:xfrm>
          <a:prstGeom prst="round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path path="circle">
              <a:fillToRect l="50000" t="50000" r="50000" b="50000"/>
            </a:path>
            <a:tileRect/>
          </a:gradFill>
          <a:ln/>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US" sz="2000" dirty="0">
                <a:solidFill>
                  <a:schemeClr val="tx1"/>
                </a:solidFill>
              </a:rPr>
              <a:t>Research Planning &amp; Proposal</a:t>
            </a:r>
          </a:p>
        </p:txBody>
      </p:sp>
      <p:sp>
        <p:nvSpPr>
          <p:cNvPr id="45" name="Rectangle: Rounded Corners 44">
            <a:extLst>
              <a:ext uri="{FF2B5EF4-FFF2-40B4-BE49-F238E27FC236}">
                <a16:creationId xmlns:a16="http://schemas.microsoft.com/office/drawing/2014/main" id="{6E3467E9-B125-24F9-62E2-CE95DAE8F8F3}"/>
              </a:ext>
            </a:extLst>
          </p:cNvPr>
          <p:cNvSpPr/>
          <p:nvPr/>
        </p:nvSpPr>
        <p:spPr>
          <a:xfrm>
            <a:off x="433873" y="937872"/>
            <a:ext cx="2057400" cy="979715"/>
          </a:xfrm>
          <a:prstGeom prst="roundRect">
            <a:avLst/>
          </a:prstGeom>
          <a:gradFill flip="none" rotWithShape="1">
            <a:gsLst>
              <a:gs pos="0">
                <a:srgbClr val="00B0F0">
                  <a:tint val="66000"/>
                  <a:satMod val="160000"/>
                </a:srgbClr>
              </a:gs>
              <a:gs pos="50000">
                <a:srgbClr val="00B0F0">
                  <a:tint val="44500"/>
                  <a:satMod val="160000"/>
                </a:srgbClr>
              </a:gs>
              <a:gs pos="100000">
                <a:srgbClr val="00B0F0">
                  <a:tint val="23500"/>
                  <a:satMod val="160000"/>
                </a:srgbClr>
              </a:gs>
            </a:gsLst>
            <a:path path="circle">
              <a:fillToRect l="50000" t="50000" r="50000" b="50000"/>
            </a:path>
            <a:tileRect/>
          </a:gradFill>
          <a:ln/>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US" sz="2000" dirty="0">
                <a:solidFill>
                  <a:schemeClr val="tx1"/>
                </a:solidFill>
              </a:rPr>
              <a:t>Literature Review</a:t>
            </a:r>
          </a:p>
        </p:txBody>
      </p:sp>
      <p:sp>
        <p:nvSpPr>
          <p:cNvPr id="46" name="Rectangle: Rounded Corners 45">
            <a:extLst>
              <a:ext uri="{FF2B5EF4-FFF2-40B4-BE49-F238E27FC236}">
                <a16:creationId xmlns:a16="http://schemas.microsoft.com/office/drawing/2014/main" id="{160CE1AA-5D46-D4DD-8B9B-F28EDF378C55}"/>
              </a:ext>
            </a:extLst>
          </p:cNvPr>
          <p:cNvSpPr/>
          <p:nvPr/>
        </p:nvSpPr>
        <p:spPr>
          <a:xfrm>
            <a:off x="6277001" y="937871"/>
            <a:ext cx="2057400" cy="979715"/>
          </a:xfrm>
          <a:prstGeom prst="roundRect">
            <a:avLst/>
          </a:prstGeom>
          <a:gradFill flip="none" rotWithShape="1">
            <a:gsLst>
              <a:gs pos="0">
                <a:srgbClr val="00B050">
                  <a:tint val="66000"/>
                  <a:satMod val="160000"/>
                </a:srgbClr>
              </a:gs>
              <a:gs pos="50000">
                <a:srgbClr val="00B050">
                  <a:tint val="44500"/>
                  <a:satMod val="160000"/>
                </a:srgbClr>
              </a:gs>
              <a:gs pos="100000">
                <a:srgbClr val="00B050">
                  <a:tint val="23500"/>
                  <a:satMod val="160000"/>
                </a:srgbClr>
              </a:gs>
            </a:gsLst>
            <a:path path="circle">
              <a:fillToRect l="50000" t="50000" r="50000" b="50000"/>
            </a:path>
            <a:tileRect/>
          </a:gradFill>
          <a:ln/>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US" sz="2000" dirty="0">
                <a:solidFill>
                  <a:schemeClr val="tx1"/>
                </a:solidFill>
              </a:rPr>
              <a:t>Preliminary Study</a:t>
            </a:r>
          </a:p>
        </p:txBody>
      </p:sp>
      <p:cxnSp>
        <p:nvCxnSpPr>
          <p:cNvPr id="47" name="Straight Arrow Connector 46">
            <a:extLst>
              <a:ext uri="{FF2B5EF4-FFF2-40B4-BE49-F238E27FC236}">
                <a16:creationId xmlns:a16="http://schemas.microsoft.com/office/drawing/2014/main" id="{B830BB67-110E-75D7-C5EB-AF877A261BA0}"/>
              </a:ext>
            </a:extLst>
          </p:cNvPr>
          <p:cNvCxnSpPr>
            <a:cxnSpLocks/>
            <a:stCxn id="46" idx="1"/>
            <a:endCxn id="44" idx="3"/>
          </p:cNvCxnSpPr>
          <p:nvPr/>
        </p:nvCxnSpPr>
        <p:spPr>
          <a:xfrm flipH="1">
            <a:off x="5266963" y="1427729"/>
            <a:ext cx="1010038" cy="1"/>
          </a:xfrm>
          <a:prstGeom prst="straightConnector1">
            <a:avLst/>
          </a:prstGeom>
          <a:ln w="38100">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50" name="Straight Arrow Connector 49">
            <a:extLst>
              <a:ext uri="{FF2B5EF4-FFF2-40B4-BE49-F238E27FC236}">
                <a16:creationId xmlns:a16="http://schemas.microsoft.com/office/drawing/2014/main" id="{509429CD-93C8-CE3C-723F-E8FE3D00CA5C}"/>
              </a:ext>
            </a:extLst>
          </p:cNvPr>
          <p:cNvCxnSpPr>
            <a:cxnSpLocks/>
            <a:stCxn id="44" idx="1"/>
            <a:endCxn id="45" idx="3"/>
          </p:cNvCxnSpPr>
          <p:nvPr/>
        </p:nvCxnSpPr>
        <p:spPr>
          <a:xfrm flipH="1">
            <a:off x="2491273" y="1427730"/>
            <a:ext cx="718290" cy="0"/>
          </a:xfrm>
          <a:prstGeom prst="straightConnector1">
            <a:avLst/>
          </a:prstGeom>
          <a:ln w="38100">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53" name="Straight Arrow Connector 52">
            <a:extLst>
              <a:ext uri="{FF2B5EF4-FFF2-40B4-BE49-F238E27FC236}">
                <a16:creationId xmlns:a16="http://schemas.microsoft.com/office/drawing/2014/main" id="{C8A28068-4CCA-FCCC-37A8-2EE179E1F039}"/>
              </a:ext>
            </a:extLst>
          </p:cNvPr>
          <p:cNvCxnSpPr>
            <a:cxnSpLocks/>
            <a:stCxn id="45" idx="2"/>
            <a:endCxn id="10" idx="0"/>
          </p:cNvCxnSpPr>
          <p:nvPr/>
        </p:nvCxnSpPr>
        <p:spPr>
          <a:xfrm>
            <a:off x="1462573" y="1917587"/>
            <a:ext cx="0" cy="542430"/>
          </a:xfrm>
          <a:prstGeom prst="straightConnector1">
            <a:avLst/>
          </a:prstGeom>
          <a:ln w="38100">
            <a:solidFill>
              <a:srgbClr val="002060"/>
            </a:solidFill>
            <a:tailEnd type="triangle"/>
          </a:ln>
        </p:spPr>
        <p:style>
          <a:lnRef idx="1">
            <a:schemeClr val="accent1"/>
          </a:lnRef>
          <a:fillRef idx="0">
            <a:schemeClr val="accent1"/>
          </a:fillRef>
          <a:effectRef idx="0">
            <a:schemeClr val="accent1"/>
          </a:effectRef>
          <a:fontRef idx="minor">
            <a:schemeClr val="tx1"/>
          </a:fontRef>
        </p:style>
      </p:cxnSp>
      <p:sp>
        <p:nvSpPr>
          <p:cNvPr id="78" name="Rectangle: Rounded Corners 77">
            <a:extLst>
              <a:ext uri="{FF2B5EF4-FFF2-40B4-BE49-F238E27FC236}">
                <a16:creationId xmlns:a16="http://schemas.microsoft.com/office/drawing/2014/main" id="{CEB85383-93A2-A6CC-BDCF-7AB734A1D5FF}"/>
              </a:ext>
            </a:extLst>
          </p:cNvPr>
          <p:cNvSpPr/>
          <p:nvPr/>
        </p:nvSpPr>
        <p:spPr>
          <a:xfrm>
            <a:off x="315720" y="5197248"/>
            <a:ext cx="2001322" cy="979715"/>
          </a:xfrm>
          <a:prstGeom prst="roundRect">
            <a:avLst/>
          </a:prstGeom>
          <a:gradFill flip="none" rotWithShape="1">
            <a:gsLst>
              <a:gs pos="0">
                <a:srgbClr val="7030A0">
                  <a:tint val="66000"/>
                  <a:satMod val="160000"/>
                </a:srgbClr>
              </a:gs>
              <a:gs pos="50000">
                <a:srgbClr val="7030A0">
                  <a:tint val="44500"/>
                  <a:satMod val="160000"/>
                </a:srgbClr>
              </a:gs>
              <a:gs pos="100000">
                <a:srgbClr val="7030A0">
                  <a:tint val="23500"/>
                  <a:satMod val="160000"/>
                </a:srgbClr>
              </a:gs>
            </a:gsLst>
            <a:path path="circle">
              <a:fillToRect l="50000" t="50000" r="50000" b="50000"/>
            </a:path>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sz="2000" dirty="0">
                <a:solidFill>
                  <a:schemeClr val="tx1"/>
                </a:solidFill>
              </a:rPr>
              <a:t>Report &amp; Documentation</a:t>
            </a:r>
          </a:p>
        </p:txBody>
      </p:sp>
      <p:cxnSp>
        <p:nvCxnSpPr>
          <p:cNvPr id="81" name="Straight Arrow Connector 80">
            <a:extLst>
              <a:ext uri="{FF2B5EF4-FFF2-40B4-BE49-F238E27FC236}">
                <a16:creationId xmlns:a16="http://schemas.microsoft.com/office/drawing/2014/main" id="{0E5BE24F-57F6-553F-58FF-A3BD0359D3C5}"/>
              </a:ext>
            </a:extLst>
          </p:cNvPr>
          <p:cNvCxnSpPr>
            <a:cxnSpLocks/>
            <a:stCxn id="13" idx="1"/>
            <a:endCxn id="78" idx="0"/>
          </p:cNvCxnSpPr>
          <p:nvPr/>
        </p:nvCxnSpPr>
        <p:spPr>
          <a:xfrm rot="10800000" flipV="1">
            <a:off x="1316382" y="4589502"/>
            <a:ext cx="769305" cy="607745"/>
          </a:xfrm>
          <a:prstGeom prst="bentConnector2">
            <a:avLst/>
          </a:prstGeom>
          <a:ln w="38100">
            <a:solidFill>
              <a:srgbClr val="00206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8046962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1BEED45F-87BE-0A13-D8DF-FFC90652FEEB}"/>
              </a:ext>
            </a:extLst>
          </p:cNvPr>
          <p:cNvSpPr>
            <a:spLocks noGrp="1"/>
          </p:cNvSpPr>
          <p:nvPr>
            <p:ph type="dt" sz="half" idx="10"/>
          </p:nvPr>
        </p:nvSpPr>
        <p:spPr/>
        <p:txBody>
          <a:bodyPr/>
          <a:lstStyle/>
          <a:p>
            <a:fld id="{0CB83CE1-CFD0-4252-B676-229062FE8D1B}" type="datetime1">
              <a:rPr lang="en-US" smtClean="0"/>
              <a:t>2/24/2025</a:t>
            </a:fld>
            <a:endParaRPr lang="en-US"/>
          </a:p>
        </p:txBody>
      </p:sp>
      <p:sp>
        <p:nvSpPr>
          <p:cNvPr id="5" name="Footer Placeholder 4">
            <a:extLst>
              <a:ext uri="{FF2B5EF4-FFF2-40B4-BE49-F238E27FC236}">
                <a16:creationId xmlns:a16="http://schemas.microsoft.com/office/drawing/2014/main" id="{3EDC2243-6D10-CD13-1BD9-6FD572F8DEB8}"/>
              </a:ext>
            </a:extLst>
          </p:cNvPr>
          <p:cNvSpPr>
            <a:spLocks noGrp="1"/>
          </p:cNvSpPr>
          <p:nvPr>
            <p:ph type="ftr" sz="quarter" idx="11"/>
          </p:nvPr>
        </p:nvSpPr>
        <p:spPr/>
        <p:txBody>
          <a:bodyPr/>
          <a:lstStyle/>
          <a:p>
            <a:r>
              <a:rPr lang="en-US"/>
              <a:t>CRP</a:t>
            </a:r>
          </a:p>
        </p:txBody>
      </p:sp>
      <p:sp>
        <p:nvSpPr>
          <p:cNvPr id="6" name="Slide Number Placeholder 5">
            <a:extLst>
              <a:ext uri="{FF2B5EF4-FFF2-40B4-BE49-F238E27FC236}">
                <a16:creationId xmlns:a16="http://schemas.microsoft.com/office/drawing/2014/main" id="{FD15EC2C-CBD3-548E-1A50-B7166AD0D648}"/>
              </a:ext>
            </a:extLst>
          </p:cNvPr>
          <p:cNvSpPr>
            <a:spLocks noGrp="1"/>
          </p:cNvSpPr>
          <p:nvPr>
            <p:ph type="sldNum" sz="quarter" idx="12"/>
          </p:nvPr>
        </p:nvSpPr>
        <p:spPr/>
        <p:txBody>
          <a:bodyPr/>
          <a:lstStyle/>
          <a:p>
            <a:fld id="{849F1A12-756A-4552-B54B-B66CFF5610E9}" type="slidenum">
              <a:rPr lang="en-US" sz="1200" smtClean="0"/>
              <a:t>26</a:t>
            </a:fld>
            <a:endParaRPr lang="en-US" dirty="0"/>
          </a:p>
        </p:txBody>
      </p:sp>
      <p:graphicFrame>
        <p:nvGraphicFramePr>
          <p:cNvPr id="7" name="Table 6">
            <a:extLst>
              <a:ext uri="{FF2B5EF4-FFF2-40B4-BE49-F238E27FC236}">
                <a16:creationId xmlns:a16="http://schemas.microsoft.com/office/drawing/2014/main" id="{64E87A02-82A4-F611-C7C0-2DDCD39BBB36}"/>
              </a:ext>
            </a:extLst>
          </p:cNvPr>
          <p:cNvGraphicFramePr>
            <a:graphicFrameLocks noGrp="1"/>
          </p:cNvGraphicFramePr>
          <p:nvPr>
            <p:extLst>
              <p:ext uri="{D42A27DB-BD31-4B8C-83A1-F6EECF244321}">
                <p14:modId xmlns:p14="http://schemas.microsoft.com/office/powerpoint/2010/main" val="1627004906"/>
              </p:ext>
            </p:extLst>
          </p:nvPr>
        </p:nvGraphicFramePr>
        <p:xfrm>
          <a:off x="335902" y="136522"/>
          <a:ext cx="8509518" cy="6168284"/>
        </p:xfrm>
        <a:graphic>
          <a:graphicData uri="http://schemas.openxmlformats.org/drawingml/2006/table">
            <a:tbl>
              <a:tblPr firstRow="1" firstCol="1" bandRow="1">
                <a:tableStyleId>{5C22544A-7EE6-4342-B048-85BDC9FD1C3A}</a:tableStyleId>
              </a:tblPr>
              <a:tblGrid>
                <a:gridCol w="690465">
                  <a:extLst>
                    <a:ext uri="{9D8B030D-6E8A-4147-A177-3AD203B41FA5}">
                      <a16:colId xmlns:a16="http://schemas.microsoft.com/office/drawing/2014/main" val="105702663"/>
                    </a:ext>
                  </a:extLst>
                </a:gridCol>
                <a:gridCol w="7819053">
                  <a:extLst>
                    <a:ext uri="{9D8B030D-6E8A-4147-A177-3AD203B41FA5}">
                      <a16:colId xmlns:a16="http://schemas.microsoft.com/office/drawing/2014/main" val="3174633413"/>
                    </a:ext>
                  </a:extLst>
                </a:gridCol>
              </a:tblGrid>
              <a:tr h="473264">
                <a:tc>
                  <a:txBody>
                    <a:bodyPr/>
                    <a:lstStyle/>
                    <a:p>
                      <a:pPr marL="0" marR="0">
                        <a:lnSpc>
                          <a:spcPct val="115000"/>
                        </a:lnSpc>
                        <a:spcBef>
                          <a:spcPts val="0"/>
                        </a:spcBef>
                        <a:spcAft>
                          <a:spcPts val="0"/>
                        </a:spcAft>
                      </a:pPr>
                      <a:r>
                        <a:rPr lang="en-US" sz="1400" kern="100">
                          <a:effectLst/>
                        </a:rPr>
                        <a:t>WBS</a:t>
                      </a:r>
                      <a:endParaRPr lang="en-US" sz="1400" kern="100">
                        <a:effectLst/>
                        <a:latin typeface="Aptos" panose="020B0004020202020204" pitchFamily="34" charset="0"/>
                        <a:ea typeface="Aptos" panose="020B0004020202020204" pitchFamily="34" charset="0"/>
                        <a:cs typeface="Arial" panose="020B0604020202020204" pitchFamily="34" charset="0"/>
                      </a:endParaRPr>
                    </a:p>
                  </a:txBody>
                  <a:tcPr marL="49248" marR="49248" marT="0" marB="0"/>
                </a:tc>
                <a:tc>
                  <a:txBody>
                    <a:bodyPr/>
                    <a:lstStyle/>
                    <a:p>
                      <a:pPr marL="0" marR="0">
                        <a:lnSpc>
                          <a:spcPct val="115000"/>
                        </a:lnSpc>
                        <a:spcBef>
                          <a:spcPts val="0"/>
                        </a:spcBef>
                        <a:spcAft>
                          <a:spcPts val="0"/>
                        </a:spcAft>
                      </a:pPr>
                      <a:r>
                        <a:rPr lang="en-US" sz="1400" kern="100">
                          <a:effectLst/>
                        </a:rPr>
                        <a:t>Task Description</a:t>
                      </a:r>
                      <a:endParaRPr lang="en-US" sz="1400" kern="100">
                        <a:effectLst/>
                        <a:latin typeface="Aptos" panose="020B0004020202020204" pitchFamily="34" charset="0"/>
                        <a:ea typeface="Aptos" panose="020B0004020202020204" pitchFamily="34" charset="0"/>
                        <a:cs typeface="Arial" panose="020B0604020202020204" pitchFamily="34" charset="0"/>
                      </a:endParaRPr>
                    </a:p>
                  </a:txBody>
                  <a:tcPr marL="49248" marR="49248" marT="0" marB="0"/>
                </a:tc>
                <a:extLst>
                  <a:ext uri="{0D108BD9-81ED-4DB2-BD59-A6C34878D82A}">
                    <a16:rowId xmlns:a16="http://schemas.microsoft.com/office/drawing/2014/main" val="438419016"/>
                  </a:ext>
                </a:extLst>
              </a:tr>
              <a:tr h="229644">
                <a:tc>
                  <a:txBody>
                    <a:bodyPr/>
                    <a:lstStyle/>
                    <a:p>
                      <a:pPr marL="0" marR="0">
                        <a:lnSpc>
                          <a:spcPct val="115000"/>
                        </a:lnSpc>
                        <a:spcBef>
                          <a:spcPts val="0"/>
                        </a:spcBef>
                        <a:spcAft>
                          <a:spcPts val="0"/>
                        </a:spcAft>
                      </a:pPr>
                      <a:r>
                        <a:rPr lang="en-US" sz="1400" b="1" kern="100">
                          <a:effectLst/>
                        </a:rPr>
                        <a:t>1</a:t>
                      </a:r>
                      <a:endParaRPr lang="en-US" sz="1400" b="1" kern="100">
                        <a:effectLst/>
                        <a:latin typeface="Aptos" panose="020B0004020202020204" pitchFamily="34" charset="0"/>
                        <a:ea typeface="Aptos" panose="020B0004020202020204" pitchFamily="34" charset="0"/>
                        <a:cs typeface="Arial" panose="020B0604020202020204" pitchFamily="34" charset="0"/>
                      </a:endParaRPr>
                    </a:p>
                  </a:txBody>
                  <a:tcPr marL="49248" marR="49248" marT="0" marB="0"/>
                </a:tc>
                <a:tc>
                  <a:txBody>
                    <a:bodyPr/>
                    <a:lstStyle/>
                    <a:p>
                      <a:pPr marL="0" marR="0">
                        <a:lnSpc>
                          <a:spcPct val="115000"/>
                        </a:lnSpc>
                        <a:spcBef>
                          <a:spcPts val="0"/>
                        </a:spcBef>
                        <a:spcAft>
                          <a:spcPts val="0"/>
                        </a:spcAft>
                      </a:pPr>
                      <a:r>
                        <a:rPr lang="en-US" sz="1400" b="1" kern="100" dirty="0">
                          <a:effectLst/>
                        </a:rPr>
                        <a:t>Research Planning &amp; Proposal</a:t>
                      </a:r>
                      <a:endParaRPr lang="en-US" sz="1400" b="1" kern="100" dirty="0">
                        <a:effectLst/>
                        <a:latin typeface="Aptos" panose="020B0004020202020204" pitchFamily="34" charset="0"/>
                        <a:ea typeface="Aptos" panose="020B0004020202020204" pitchFamily="34" charset="0"/>
                        <a:cs typeface="Arial" panose="020B0604020202020204" pitchFamily="34" charset="0"/>
                      </a:endParaRPr>
                    </a:p>
                  </a:txBody>
                  <a:tcPr marL="49248" marR="49248" marT="0" marB="0"/>
                </a:tc>
                <a:extLst>
                  <a:ext uri="{0D108BD9-81ED-4DB2-BD59-A6C34878D82A}">
                    <a16:rowId xmlns:a16="http://schemas.microsoft.com/office/drawing/2014/main" val="552400855"/>
                  </a:ext>
                </a:extLst>
              </a:tr>
              <a:tr h="229644">
                <a:tc>
                  <a:txBody>
                    <a:bodyPr/>
                    <a:lstStyle/>
                    <a:p>
                      <a:pPr marL="0" marR="0">
                        <a:lnSpc>
                          <a:spcPct val="115000"/>
                        </a:lnSpc>
                        <a:spcBef>
                          <a:spcPts val="0"/>
                        </a:spcBef>
                        <a:spcAft>
                          <a:spcPts val="0"/>
                        </a:spcAft>
                      </a:pPr>
                      <a:r>
                        <a:rPr lang="en-US" sz="1400" kern="100">
                          <a:effectLst/>
                        </a:rPr>
                        <a:t>1.1</a:t>
                      </a:r>
                      <a:endParaRPr lang="en-US" sz="1400" kern="100">
                        <a:effectLst/>
                        <a:latin typeface="Aptos" panose="020B0004020202020204" pitchFamily="34" charset="0"/>
                        <a:ea typeface="Aptos" panose="020B0004020202020204" pitchFamily="34" charset="0"/>
                        <a:cs typeface="Arial" panose="020B0604020202020204" pitchFamily="34" charset="0"/>
                      </a:endParaRPr>
                    </a:p>
                  </a:txBody>
                  <a:tcPr marL="49248" marR="49248" marT="0" marB="0"/>
                </a:tc>
                <a:tc>
                  <a:txBody>
                    <a:bodyPr/>
                    <a:lstStyle/>
                    <a:p>
                      <a:pPr marL="0" marR="0">
                        <a:lnSpc>
                          <a:spcPct val="115000"/>
                        </a:lnSpc>
                        <a:spcBef>
                          <a:spcPts val="0"/>
                        </a:spcBef>
                        <a:spcAft>
                          <a:spcPts val="0"/>
                        </a:spcAft>
                      </a:pPr>
                      <a:r>
                        <a:rPr lang="en-US" sz="1400" kern="100">
                          <a:effectLst/>
                        </a:rPr>
                        <a:t>Define research problem &amp; objectives</a:t>
                      </a:r>
                      <a:endParaRPr lang="en-US" sz="1400" kern="100">
                        <a:effectLst/>
                        <a:latin typeface="Aptos" panose="020B0004020202020204" pitchFamily="34" charset="0"/>
                        <a:ea typeface="Aptos" panose="020B0004020202020204" pitchFamily="34" charset="0"/>
                        <a:cs typeface="Arial" panose="020B0604020202020204" pitchFamily="34" charset="0"/>
                      </a:endParaRPr>
                    </a:p>
                  </a:txBody>
                  <a:tcPr marL="49248" marR="49248" marT="0" marB="0"/>
                </a:tc>
                <a:extLst>
                  <a:ext uri="{0D108BD9-81ED-4DB2-BD59-A6C34878D82A}">
                    <a16:rowId xmlns:a16="http://schemas.microsoft.com/office/drawing/2014/main" val="3593750129"/>
                  </a:ext>
                </a:extLst>
              </a:tr>
              <a:tr h="229644">
                <a:tc>
                  <a:txBody>
                    <a:bodyPr/>
                    <a:lstStyle/>
                    <a:p>
                      <a:pPr marL="0" marR="0">
                        <a:lnSpc>
                          <a:spcPct val="115000"/>
                        </a:lnSpc>
                        <a:spcBef>
                          <a:spcPts val="0"/>
                        </a:spcBef>
                        <a:spcAft>
                          <a:spcPts val="0"/>
                        </a:spcAft>
                      </a:pPr>
                      <a:r>
                        <a:rPr lang="en-US" sz="1400" kern="100">
                          <a:effectLst/>
                        </a:rPr>
                        <a:t>1.2</a:t>
                      </a:r>
                      <a:endParaRPr lang="en-US" sz="1400" kern="100">
                        <a:effectLst/>
                        <a:latin typeface="Aptos" panose="020B0004020202020204" pitchFamily="34" charset="0"/>
                        <a:ea typeface="Aptos" panose="020B0004020202020204" pitchFamily="34" charset="0"/>
                        <a:cs typeface="Arial" panose="020B0604020202020204" pitchFamily="34" charset="0"/>
                      </a:endParaRPr>
                    </a:p>
                  </a:txBody>
                  <a:tcPr marL="49248" marR="49248" marT="0" marB="0"/>
                </a:tc>
                <a:tc>
                  <a:txBody>
                    <a:bodyPr/>
                    <a:lstStyle/>
                    <a:p>
                      <a:pPr marL="0" marR="0">
                        <a:lnSpc>
                          <a:spcPct val="115000"/>
                        </a:lnSpc>
                        <a:spcBef>
                          <a:spcPts val="0"/>
                        </a:spcBef>
                        <a:spcAft>
                          <a:spcPts val="0"/>
                        </a:spcAft>
                      </a:pPr>
                      <a:r>
                        <a:rPr lang="en-US" sz="1400" kern="100">
                          <a:effectLst/>
                        </a:rPr>
                        <a:t>Prepare research proposal</a:t>
                      </a:r>
                      <a:endParaRPr lang="en-US" sz="1400" kern="100">
                        <a:effectLst/>
                        <a:latin typeface="Aptos" panose="020B0004020202020204" pitchFamily="34" charset="0"/>
                        <a:ea typeface="Aptos" panose="020B0004020202020204" pitchFamily="34" charset="0"/>
                        <a:cs typeface="Arial" panose="020B0604020202020204" pitchFamily="34" charset="0"/>
                      </a:endParaRPr>
                    </a:p>
                  </a:txBody>
                  <a:tcPr marL="49248" marR="49248" marT="0" marB="0"/>
                </a:tc>
                <a:extLst>
                  <a:ext uri="{0D108BD9-81ED-4DB2-BD59-A6C34878D82A}">
                    <a16:rowId xmlns:a16="http://schemas.microsoft.com/office/drawing/2014/main" val="2302870748"/>
                  </a:ext>
                </a:extLst>
              </a:tr>
              <a:tr h="290101">
                <a:tc>
                  <a:txBody>
                    <a:bodyPr/>
                    <a:lstStyle/>
                    <a:p>
                      <a:pPr marL="0" marR="0">
                        <a:lnSpc>
                          <a:spcPct val="115000"/>
                        </a:lnSpc>
                        <a:spcBef>
                          <a:spcPts val="0"/>
                        </a:spcBef>
                        <a:spcAft>
                          <a:spcPts val="0"/>
                        </a:spcAft>
                      </a:pPr>
                      <a:r>
                        <a:rPr lang="en-US" sz="1400" kern="100">
                          <a:effectLst/>
                        </a:rPr>
                        <a:t>1.3</a:t>
                      </a:r>
                      <a:endParaRPr lang="en-US" sz="1400" kern="100">
                        <a:effectLst/>
                        <a:latin typeface="Aptos" panose="020B0004020202020204" pitchFamily="34" charset="0"/>
                        <a:ea typeface="Aptos" panose="020B0004020202020204" pitchFamily="34" charset="0"/>
                        <a:cs typeface="Arial" panose="020B0604020202020204" pitchFamily="34" charset="0"/>
                      </a:endParaRPr>
                    </a:p>
                  </a:txBody>
                  <a:tcPr marL="49248" marR="49248" marT="0" marB="0"/>
                </a:tc>
                <a:tc>
                  <a:txBody>
                    <a:bodyPr/>
                    <a:lstStyle/>
                    <a:p>
                      <a:pPr marL="0" marR="0">
                        <a:lnSpc>
                          <a:spcPct val="115000"/>
                        </a:lnSpc>
                        <a:spcBef>
                          <a:spcPts val="0"/>
                        </a:spcBef>
                        <a:spcAft>
                          <a:spcPts val="0"/>
                        </a:spcAft>
                      </a:pPr>
                      <a:r>
                        <a:rPr lang="en-US" sz="1400" kern="100">
                          <a:effectLst/>
                        </a:rPr>
                        <a:t>Identify dataset and object detection models</a:t>
                      </a:r>
                      <a:endParaRPr lang="en-US" sz="1400" kern="100">
                        <a:effectLst/>
                        <a:latin typeface="Aptos" panose="020B0004020202020204" pitchFamily="34" charset="0"/>
                        <a:ea typeface="Aptos" panose="020B0004020202020204" pitchFamily="34" charset="0"/>
                        <a:cs typeface="Arial" panose="020B0604020202020204" pitchFamily="34" charset="0"/>
                      </a:endParaRPr>
                    </a:p>
                  </a:txBody>
                  <a:tcPr marL="49248" marR="49248" marT="0" marB="0"/>
                </a:tc>
                <a:extLst>
                  <a:ext uri="{0D108BD9-81ED-4DB2-BD59-A6C34878D82A}">
                    <a16:rowId xmlns:a16="http://schemas.microsoft.com/office/drawing/2014/main" val="2375805504"/>
                  </a:ext>
                </a:extLst>
              </a:tr>
              <a:tr h="229644">
                <a:tc>
                  <a:txBody>
                    <a:bodyPr/>
                    <a:lstStyle/>
                    <a:p>
                      <a:pPr marL="0" marR="0">
                        <a:lnSpc>
                          <a:spcPct val="115000"/>
                        </a:lnSpc>
                        <a:spcBef>
                          <a:spcPts val="0"/>
                        </a:spcBef>
                        <a:spcAft>
                          <a:spcPts val="0"/>
                        </a:spcAft>
                      </a:pPr>
                      <a:r>
                        <a:rPr lang="en-US" sz="1400" b="1" kern="100">
                          <a:effectLst/>
                        </a:rPr>
                        <a:t>2</a:t>
                      </a:r>
                      <a:endParaRPr lang="en-US" sz="1400" b="1" kern="100">
                        <a:effectLst/>
                        <a:latin typeface="Aptos" panose="020B0004020202020204" pitchFamily="34" charset="0"/>
                        <a:ea typeface="Aptos" panose="020B0004020202020204" pitchFamily="34" charset="0"/>
                        <a:cs typeface="Arial" panose="020B0604020202020204" pitchFamily="34" charset="0"/>
                      </a:endParaRPr>
                    </a:p>
                  </a:txBody>
                  <a:tcPr marL="49248" marR="49248" marT="0" marB="0"/>
                </a:tc>
                <a:tc>
                  <a:txBody>
                    <a:bodyPr/>
                    <a:lstStyle/>
                    <a:p>
                      <a:pPr marL="0" marR="0">
                        <a:lnSpc>
                          <a:spcPct val="115000"/>
                        </a:lnSpc>
                        <a:spcBef>
                          <a:spcPts val="0"/>
                        </a:spcBef>
                        <a:spcAft>
                          <a:spcPts val="0"/>
                        </a:spcAft>
                      </a:pPr>
                      <a:r>
                        <a:rPr lang="en-US" sz="1400" b="1" kern="100" dirty="0">
                          <a:effectLst/>
                        </a:rPr>
                        <a:t>Literature Review</a:t>
                      </a:r>
                      <a:endParaRPr lang="en-US" sz="1400" b="1" kern="100" dirty="0">
                        <a:effectLst/>
                        <a:latin typeface="Aptos" panose="020B0004020202020204" pitchFamily="34" charset="0"/>
                        <a:ea typeface="Aptos" panose="020B0004020202020204" pitchFamily="34" charset="0"/>
                        <a:cs typeface="Arial" panose="020B0604020202020204" pitchFamily="34" charset="0"/>
                      </a:endParaRPr>
                    </a:p>
                  </a:txBody>
                  <a:tcPr marL="49248" marR="49248" marT="0" marB="0"/>
                </a:tc>
                <a:extLst>
                  <a:ext uri="{0D108BD9-81ED-4DB2-BD59-A6C34878D82A}">
                    <a16:rowId xmlns:a16="http://schemas.microsoft.com/office/drawing/2014/main" val="3065753526"/>
                  </a:ext>
                </a:extLst>
              </a:tr>
              <a:tr h="278348">
                <a:tc>
                  <a:txBody>
                    <a:bodyPr/>
                    <a:lstStyle/>
                    <a:p>
                      <a:pPr marL="0" marR="0">
                        <a:lnSpc>
                          <a:spcPct val="115000"/>
                        </a:lnSpc>
                        <a:spcBef>
                          <a:spcPts val="0"/>
                        </a:spcBef>
                        <a:spcAft>
                          <a:spcPts val="0"/>
                        </a:spcAft>
                      </a:pPr>
                      <a:r>
                        <a:rPr lang="en-US" sz="1400" kern="100">
                          <a:effectLst/>
                        </a:rPr>
                        <a:t>2.1</a:t>
                      </a:r>
                      <a:endParaRPr lang="en-US" sz="1400" kern="100">
                        <a:effectLst/>
                        <a:latin typeface="Aptos" panose="020B0004020202020204" pitchFamily="34" charset="0"/>
                        <a:ea typeface="Aptos" panose="020B0004020202020204" pitchFamily="34" charset="0"/>
                        <a:cs typeface="Arial" panose="020B0604020202020204" pitchFamily="34" charset="0"/>
                      </a:endParaRPr>
                    </a:p>
                  </a:txBody>
                  <a:tcPr marL="49248" marR="49248" marT="0" marB="0"/>
                </a:tc>
                <a:tc>
                  <a:txBody>
                    <a:bodyPr/>
                    <a:lstStyle/>
                    <a:p>
                      <a:pPr marL="0" marR="0">
                        <a:lnSpc>
                          <a:spcPct val="115000"/>
                        </a:lnSpc>
                        <a:spcBef>
                          <a:spcPts val="0"/>
                        </a:spcBef>
                        <a:spcAft>
                          <a:spcPts val="0"/>
                        </a:spcAft>
                      </a:pPr>
                      <a:r>
                        <a:rPr lang="en-US" sz="1400" kern="100">
                          <a:effectLst/>
                        </a:rPr>
                        <a:t>Review related research on traffic sign detection</a:t>
                      </a:r>
                      <a:endParaRPr lang="en-US" sz="1400" kern="100">
                        <a:effectLst/>
                        <a:latin typeface="Aptos" panose="020B0004020202020204" pitchFamily="34" charset="0"/>
                        <a:ea typeface="Aptos" panose="020B0004020202020204" pitchFamily="34" charset="0"/>
                        <a:cs typeface="Arial" panose="020B0604020202020204" pitchFamily="34" charset="0"/>
                      </a:endParaRPr>
                    </a:p>
                  </a:txBody>
                  <a:tcPr marL="49248" marR="49248" marT="0" marB="0"/>
                </a:tc>
                <a:extLst>
                  <a:ext uri="{0D108BD9-81ED-4DB2-BD59-A6C34878D82A}">
                    <a16:rowId xmlns:a16="http://schemas.microsoft.com/office/drawing/2014/main" val="1335233419"/>
                  </a:ext>
                </a:extLst>
              </a:tr>
              <a:tr h="291825">
                <a:tc>
                  <a:txBody>
                    <a:bodyPr/>
                    <a:lstStyle/>
                    <a:p>
                      <a:pPr marL="0" marR="0">
                        <a:lnSpc>
                          <a:spcPct val="115000"/>
                        </a:lnSpc>
                        <a:spcBef>
                          <a:spcPts val="0"/>
                        </a:spcBef>
                        <a:spcAft>
                          <a:spcPts val="0"/>
                        </a:spcAft>
                      </a:pPr>
                      <a:r>
                        <a:rPr lang="en-US" sz="1400" kern="100">
                          <a:effectLst/>
                        </a:rPr>
                        <a:t>2.2</a:t>
                      </a:r>
                      <a:endParaRPr lang="en-US" sz="1400" kern="100">
                        <a:effectLst/>
                        <a:latin typeface="Aptos" panose="020B0004020202020204" pitchFamily="34" charset="0"/>
                        <a:ea typeface="Aptos" panose="020B0004020202020204" pitchFamily="34" charset="0"/>
                        <a:cs typeface="Arial" panose="020B0604020202020204" pitchFamily="34" charset="0"/>
                      </a:endParaRPr>
                    </a:p>
                  </a:txBody>
                  <a:tcPr marL="49248" marR="49248" marT="0" marB="0"/>
                </a:tc>
                <a:tc>
                  <a:txBody>
                    <a:bodyPr/>
                    <a:lstStyle/>
                    <a:p>
                      <a:pPr marL="0" marR="0">
                        <a:lnSpc>
                          <a:spcPct val="115000"/>
                        </a:lnSpc>
                        <a:spcBef>
                          <a:spcPts val="0"/>
                        </a:spcBef>
                        <a:spcAft>
                          <a:spcPts val="0"/>
                        </a:spcAft>
                      </a:pPr>
                      <a:r>
                        <a:rPr lang="en-US" sz="1400" kern="100">
                          <a:effectLst/>
                        </a:rPr>
                        <a:t>Study object detection techniques (YOLOv8, Faster R-CNN, SSD)</a:t>
                      </a:r>
                      <a:endParaRPr lang="en-US" sz="1400" kern="100">
                        <a:effectLst/>
                        <a:latin typeface="Aptos" panose="020B0004020202020204" pitchFamily="34" charset="0"/>
                        <a:ea typeface="Aptos" panose="020B0004020202020204" pitchFamily="34" charset="0"/>
                        <a:cs typeface="Arial" panose="020B0604020202020204" pitchFamily="34" charset="0"/>
                      </a:endParaRPr>
                    </a:p>
                  </a:txBody>
                  <a:tcPr marL="49248" marR="49248" marT="0" marB="0"/>
                </a:tc>
                <a:extLst>
                  <a:ext uri="{0D108BD9-81ED-4DB2-BD59-A6C34878D82A}">
                    <a16:rowId xmlns:a16="http://schemas.microsoft.com/office/drawing/2014/main" val="2765206383"/>
                  </a:ext>
                </a:extLst>
              </a:tr>
              <a:tr h="281015">
                <a:tc>
                  <a:txBody>
                    <a:bodyPr/>
                    <a:lstStyle/>
                    <a:p>
                      <a:pPr marL="0" marR="0">
                        <a:lnSpc>
                          <a:spcPct val="115000"/>
                        </a:lnSpc>
                        <a:spcBef>
                          <a:spcPts val="0"/>
                        </a:spcBef>
                        <a:spcAft>
                          <a:spcPts val="0"/>
                        </a:spcAft>
                      </a:pPr>
                      <a:r>
                        <a:rPr lang="en-US" sz="1400" kern="100">
                          <a:effectLst/>
                        </a:rPr>
                        <a:t>2.3</a:t>
                      </a:r>
                      <a:endParaRPr lang="en-US" sz="1400" kern="100">
                        <a:effectLst/>
                        <a:latin typeface="Aptos" panose="020B0004020202020204" pitchFamily="34" charset="0"/>
                        <a:ea typeface="Aptos" panose="020B0004020202020204" pitchFamily="34" charset="0"/>
                        <a:cs typeface="Arial" panose="020B0604020202020204" pitchFamily="34" charset="0"/>
                      </a:endParaRPr>
                    </a:p>
                  </a:txBody>
                  <a:tcPr marL="49248" marR="49248" marT="0" marB="0"/>
                </a:tc>
                <a:tc>
                  <a:txBody>
                    <a:bodyPr/>
                    <a:lstStyle/>
                    <a:p>
                      <a:pPr marL="0" marR="0">
                        <a:lnSpc>
                          <a:spcPct val="115000"/>
                        </a:lnSpc>
                        <a:spcBef>
                          <a:spcPts val="0"/>
                        </a:spcBef>
                        <a:spcAft>
                          <a:spcPts val="0"/>
                        </a:spcAft>
                      </a:pPr>
                      <a:r>
                        <a:rPr lang="en-US" sz="1400" kern="100">
                          <a:effectLst/>
                        </a:rPr>
                        <a:t>Analyze previous work on AI-based traffic systems</a:t>
                      </a:r>
                      <a:endParaRPr lang="en-US" sz="1400" kern="100">
                        <a:effectLst/>
                        <a:latin typeface="Aptos" panose="020B0004020202020204" pitchFamily="34" charset="0"/>
                        <a:ea typeface="Aptos" panose="020B0004020202020204" pitchFamily="34" charset="0"/>
                        <a:cs typeface="Arial" panose="020B0604020202020204" pitchFamily="34" charset="0"/>
                      </a:endParaRPr>
                    </a:p>
                  </a:txBody>
                  <a:tcPr marL="49248" marR="49248" marT="0" marB="0"/>
                </a:tc>
                <a:extLst>
                  <a:ext uri="{0D108BD9-81ED-4DB2-BD59-A6C34878D82A}">
                    <a16:rowId xmlns:a16="http://schemas.microsoft.com/office/drawing/2014/main" val="2521797841"/>
                  </a:ext>
                </a:extLst>
              </a:tr>
              <a:tr h="229644">
                <a:tc>
                  <a:txBody>
                    <a:bodyPr/>
                    <a:lstStyle/>
                    <a:p>
                      <a:pPr marL="0" marR="0">
                        <a:lnSpc>
                          <a:spcPct val="115000"/>
                        </a:lnSpc>
                        <a:spcBef>
                          <a:spcPts val="0"/>
                        </a:spcBef>
                        <a:spcAft>
                          <a:spcPts val="0"/>
                        </a:spcAft>
                      </a:pPr>
                      <a:r>
                        <a:rPr lang="en-US" sz="1400" b="1" kern="100">
                          <a:effectLst/>
                        </a:rPr>
                        <a:t>3</a:t>
                      </a:r>
                      <a:endParaRPr lang="en-US" sz="1400" b="1" kern="100">
                        <a:effectLst/>
                        <a:latin typeface="Aptos" panose="020B0004020202020204" pitchFamily="34" charset="0"/>
                        <a:ea typeface="Aptos" panose="020B0004020202020204" pitchFamily="34" charset="0"/>
                        <a:cs typeface="Arial" panose="020B0604020202020204" pitchFamily="34" charset="0"/>
                      </a:endParaRPr>
                    </a:p>
                  </a:txBody>
                  <a:tcPr marL="49248" marR="49248" marT="0" marB="0"/>
                </a:tc>
                <a:tc>
                  <a:txBody>
                    <a:bodyPr/>
                    <a:lstStyle/>
                    <a:p>
                      <a:pPr marL="0" marR="0">
                        <a:lnSpc>
                          <a:spcPct val="115000"/>
                        </a:lnSpc>
                        <a:spcBef>
                          <a:spcPts val="0"/>
                        </a:spcBef>
                        <a:spcAft>
                          <a:spcPts val="0"/>
                        </a:spcAft>
                      </a:pPr>
                      <a:r>
                        <a:rPr lang="en-US" sz="1400" b="1" kern="100" dirty="0">
                          <a:effectLst/>
                        </a:rPr>
                        <a:t>Data Collection &amp; Preparation</a:t>
                      </a:r>
                      <a:endParaRPr lang="en-US" sz="1400" b="1" kern="100" dirty="0">
                        <a:effectLst/>
                        <a:latin typeface="Aptos" panose="020B0004020202020204" pitchFamily="34" charset="0"/>
                        <a:ea typeface="Aptos" panose="020B0004020202020204" pitchFamily="34" charset="0"/>
                        <a:cs typeface="Arial" panose="020B0604020202020204" pitchFamily="34" charset="0"/>
                      </a:endParaRPr>
                    </a:p>
                  </a:txBody>
                  <a:tcPr marL="49248" marR="49248" marT="0" marB="0"/>
                </a:tc>
                <a:extLst>
                  <a:ext uri="{0D108BD9-81ED-4DB2-BD59-A6C34878D82A}">
                    <a16:rowId xmlns:a16="http://schemas.microsoft.com/office/drawing/2014/main" val="769789008"/>
                  </a:ext>
                </a:extLst>
              </a:tr>
              <a:tr h="245923">
                <a:tc>
                  <a:txBody>
                    <a:bodyPr/>
                    <a:lstStyle/>
                    <a:p>
                      <a:pPr marL="0" marR="0">
                        <a:lnSpc>
                          <a:spcPct val="115000"/>
                        </a:lnSpc>
                        <a:spcBef>
                          <a:spcPts val="0"/>
                        </a:spcBef>
                        <a:spcAft>
                          <a:spcPts val="0"/>
                        </a:spcAft>
                      </a:pPr>
                      <a:r>
                        <a:rPr lang="en-US" sz="1400" kern="100">
                          <a:effectLst/>
                        </a:rPr>
                        <a:t>3.1</a:t>
                      </a:r>
                      <a:endParaRPr lang="en-US" sz="1400" kern="100">
                        <a:effectLst/>
                        <a:latin typeface="Aptos" panose="020B0004020202020204" pitchFamily="34" charset="0"/>
                        <a:ea typeface="Aptos" panose="020B0004020202020204" pitchFamily="34" charset="0"/>
                        <a:cs typeface="Arial" panose="020B0604020202020204" pitchFamily="34" charset="0"/>
                      </a:endParaRPr>
                    </a:p>
                  </a:txBody>
                  <a:tcPr marL="49248" marR="49248" marT="0" marB="0"/>
                </a:tc>
                <a:tc>
                  <a:txBody>
                    <a:bodyPr/>
                    <a:lstStyle/>
                    <a:p>
                      <a:pPr marL="0" marR="0">
                        <a:lnSpc>
                          <a:spcPct val="115000"/>
                        </a:lnSpc>
                        <a:spcBef>
                          <a:spcPts val="0"/>
                        </a:spcBef>
                        <a:spcAft>
                          <a:spcPts val="0"/>
                        </a:spcAft>
                      </a:pPr>
                      <a:r>
                        <a:rPr lang="en-US" sz="1400" kern="100">
                          <a:effectLst/>
                        </a:rPr>
                        <a:t>Obtain the Sri Lankan traffic sign dataset</a:t>
                      </a:r>
                      <a:endParaRPr lang="en-US" sz="1400" kern="100">
                        <a:effectLst/>
                        <a:latin typeface="Aptos" panose="020B0004020202020204" pitchFamily="34" charset="0"/>
                        <a:ea typeface="Aptos" panose="020B0004020202020204" pitchFamily="34" charset="0"/>
                        <a:cs typeface="Arial" panose="020B0604020202020204" pitchFamily="34" charset="0"/>
                      </a:endParaRPr>
                    </a:p>
                  </a:txBody>
                  <a:tcPr marL="49248" marR="49248" marT="0" marB="0"/>
                </a:tc>
                <a:extLst>
                  <a:ext uri="{0D108BD9-81ED-4DB2-BD59-A6C34878D82A}">
                    <a16:rowId xmlns:a16="http://schemas.microsoft.com/office/drawing/2014/main" val="827954733"/>
                  </a:ext>
                </a:extLst>
              </a:tr>
              <a:tr h="229644">
                <a:tc>
                  <a:txBody>
                    <a:bodyPr/>
                    <a:lstStyle/>
                    <a:p>
                      <a:pPr marL="0" marR="0">
                        <a:lnSpc>
                          <a:spcPct val="115000"/>
                        </a:lnSpc>
                        <a:spcBef>
                          <a:spcPts val="0"/>
                        </a:spcBef>
                        <a:spcAft>
                          <a:spcPts val="0"/>
                        </a:spcAft>
                      </a:pPr>
                      <a:r>
                        <a:rPr lang="en-US" sz="1400" kern="100">
                          <a:effectLst/>
                        </a:rPr>
                        <a:t>3.2</a:t>
                      </a:r>
                      <a:endParaRPr lang="en-US" sz="1400" kern="100">
                        <a:effectLst/>
                        <a:latin typeface="Aptos" panose="020B0004020202020204" pitchFamily="34" charset="0"/>
                        <a:ea typeface="Aptos" panose="020B0004020202020204" pitchFamily="34" charset="0"/>
                        <a:cs typeface="Arial" panose="020B0604020202020204" pitchFamily="34" charset="0"/>
                      </a:endParaRPr>
                    </a:p>
                  </a:txBody>
                  <a:tcPr marL="49248" marR="49248" marT="0" marB="0"/>
                </a:tc>
                <a:tc>
                  <a:txBody>
                    <a:bodyPr/>
                    <a:lstStyle/>
                    <a:p>
                      <a:pPr marL="0" marR="0">
                        <a:lnSpc>
                          <a:spcPct val="115000"/>
                        </a:lnSpc>
                        <a:spcBef>
                          <a:spcPts val="0"/>
                        </a:spcBef>
                        <a:spcAft>
                          <a:spcPts val="0"/>
                        </a:spcAft>
                      </a:pPr>
                      <a:r>
                        <a:rPr lang="en-US" sz="1400" kern="100">
                          <a:effectLst/>
                        </a:rPr>
                        <a:t>Perform data pre-processing</a:t>
                      </a:r>
                      <a:endParaRPr lang="en-US" sz="1400" kern="100">
                        <a:effectLst/>
                        <a:latin typeface="Aptos" panose="020B0004020202020204" pitchFamily="34" charset="0"/>
                        <a:ea typeface="Aptos" panose="020B0004020202020204" pitchFamily="34" charset="0"/>
                        <a:cs typeface="Arial" panose="020B0604020202020204" pitchFamily="34" charset="0"/>
                      </a:endParaRPr>
                    </a:p>
                  </a:txBody>
                  <a:tcPr marL="49248" marR="49248" marT="0" marB="0"/>
                </a:tc>
                <a:extLst>
                  <a:ext uri="{0D108BD9-81ED-4DB2-BD59-A6C34878D82A}">
                    <a16:rowId xmlns:a16="http://schemas.microsoft.com/office/drawing/2014/main" val="649545338"/>
                  </a:ext>
                </a:extLst>
              </a:tr>
              <a:tr h="229644">
                <a:tc>
                  <a:txBody>
                    <a:bodyPr/>
                    <a:lstStyle/>
                    <a:p>
                      <a:pPr marL="0" marR="0">
                        <a:lnSpc>
                          <a:spcPct val="115000"/>
                        </a:lnSpc>
                        <a:spcBef>
                          <a:spcPts val="0"/>
                        </a:spcBef>
                        <a:spcAft>
                          <a:spcPts val="0"/>
                        </a:spcAft>
                      </a:pPr>
                      <a:r>
                        <a:rPr lang="en-US" sz="1400" b="1" kern="100">
                          <a:effectLst/>
                        </a:rPr>
                        <a:t>4</a:t>
                      </a:r>
                      <a:endParaRPr lang="en-US" sz="1400" b="1" kern="100">
                        <a:effectLst/>
                        <a:latin typeface="Aptos" panose="020B0004020202020204" pitchFamily="34" charset="0"/>
                        <a:ea typeface="Aptos" panose="020B0004020202020204" pitchFamily="34" charset="0"/>
                        <a:cs typeface="Arial" panose="020B0604020202020204" pitchFamily="34" charset="0"/>
                      </a:endParaRPr>
                    </a:p>
                  </a:txBody>
                  <a:tcPr marL="49248" marR="49248" marT="0" marB="0"/>
                </a:tc>
                <a:tc>
                  <a:txBody>
                    <a:bodyPr/>
                    <a:lstStyle/>
                    <a:p>
                      <a:pPr marL="0" marR="0">
                        <a:lnSpc>
                          <a:spcPct val="115000"/>
                        </a:lnSpc>
                        <a:spcBef>
                          <a:spcPts val="0"/>
                        </a:spcBef>
                        <a:spcAft>
                          <a:spcPts val="0"/>
                        </a:spcAft>
                      </a:pPr>
                      <a:r>
                        <a:rPr lang="en-US" sz="1400" b="1" kern="100" dirty="0">
                          <a:effectLst/>
                        </a:rPr>
                        <a:t>Model Evaluation &amp; Analysis</a:t>
                      </a:r>
                      <a:endParaRPr lang="en-US" sz="1400" b="1" kern="100" dirty="0">
                        <a:effectLst/>
                        <a:latin typeface="Aptos" panose="020B0004020202020204" pitchFamily="34" charset="0"/>
                        <a:ea typeface="Aptos" panose="020B0004020202020204" pitchFamily="34" charset="0"/>
                        <a:cs typeface="Arial" panose="020B0604020202020204" pitchFamily="34" charset="0"/>
                      </a:endParaRPr>
                    </a:p>
                  </a:txBody>
                  <a:tcPr marL="49248" marR="49248" marT="0" marB="0"/>
                </a:tc>
                <a:extLst>
                  <a:ext uri="{0D108BD9-81ED-4DB2-BD59-A6C34878D82A}">
                    <a16:rowId xmlns:a16="http://schemas.microsoft.com/office/drawing/2014/main" val="2074067963"/>
                  </a:ext>
                </a:extLst>
              </a:tr>
              <a:tr h="254062">
                <a:tc>
                  <a:txBody>
                    <a:bodyPr/>
                    <a:lstStyle/>
                    <a:p>
                      <a:pPr marL="0" marR="0">
                        <a:lnSpc>
                          <a:spcPct val="115000"/>
                        </a:lnSpc>
                        <a:spcBef>
                          <a:spcPts val="0"/>
                        </a:spcBef>
                        <a:spcAft>
                          <a:spcPts val="0"/>
                        </a:spcAft>
                      </a:pPr>
                      <a:r>
                        <a:rPr lang="en-US" sz="1400" kern="100">
                          <a:effectLst/>
                        </a:rPr>
                        <a:t>4.1</a:t>
                      </a:r>
                      <a:endParaRPr lang="en-US" sz="1400" kern="100">
                        <a:effectLst/>
                        <a:latin typeface="Aptos" panose="020B0004020202020204" pitchFamily="34" charset="0"/>
                        <a:ea typeface="Aptos" panose="020B0004020202020204" pitchFamily="34" charset="0"/>
                        <a:cs typeface="Arial" panose="020B0604020202020204" pitchFamily="34" charset="0"/>
                      </a:endParaRPr>
                    </a:p>
                  </a:txBody>
                  <a:tcPr marL="49248" marR="49248" marT="0" marB="0"/>
                </a:tc>
                <a:tc>
                  <a:txBody>
                    <a:bodyPr/>
                    <a:lstStyle/>
                    <a:p>
                      <a:pPr marL="0" marR="0">
                        <a:lnSpc>
                          <a:spcPct val="115000"/>
                        </a:lnSpc>
                        <a:spcBef>
                          <a:spcPts val="0"/>
                        </a:spcBef>
                        <a:spcAft>
                          <a:spcPts val="0"/>
                        </a:spcAft>
                      </a:pPr>
                      <a:r>
                        <a:rPr lang="en-US" sz="1400" kern="100">
                          <a:effectLst/>
                        </a:rPr>
                        <a:t>Apply object detection models on the dataset</a:t>
                      </a:r>
                      <a:endParaRPr lang="en-US" sz="1400" kern="100">
                        <a:effectLst/>
                        <a:latin typeface="Aptos" panose="020B0004020202020204" pitchFamily="34" charset="0"/>
                        <a:ea typeface="Aptos" panose="020B0004020202020204" pitchFamily="34" charset="0"/>
                        <a:cs typeface="Arial" panose="020B0604020202020204" pitchFamily="34" charset="0"/>
                      </a:endParaRPr>
                    </a:p>
                  </a:txBody>
                  <a:tcPr marL="49248" marR="49248" marT="0" marB="0"/>
                </a:tc>
                <a:extLst>
                  <a:ext uri="{0D108BD9-81ED-4DB2-BD59-A6C34878D82A}">
                    <a16:rowId xmlns:a16="http://schemas.microsoft.com/office/drawing/2014/main" val="2015903011"/>
                  </a:ext>
                </a:extLst>
              </a:tr>
              <a:tr h="229644">
                <a:tc>
                  <a:txBody>
                    <a:bodyPr/>
                    <a:lstStyle/>
                    <a:p>
                      <a:pPr marL="0" marR="0">
                        <a:lnSpc>
                          <a:spcPct val="115000"/>
                        </a:lnSpc>
                        <a:spcBef>
                          <a:spcPts val="0"/>
                        </a:spcBef>
                        <a:spcAft>
                          <a:spcPts val="0"/>
                        </a:spcAft>
                      </a:pPr>
                      <a:r>
                        <a:rPr lang="en-US" sz="1400" kern="100">
                          <a:effectLst/>
                        </a:rPr>
                        <a:t>4.2</a:t>
                      </a:r>
                      <a:endParaRPr lang="en-US" sz="1400" kern="100">
                        <a:effectLst/>
                        <a:latin typeface="Aptos" panose="020B0004020202020204" pitchFamily="34" charset="0"/>
                        <a:ea typeface="Aptos" panose="020B0004020202020204" pitchFamily="34" charset="0"/>
                        <a:cs typeface="Arial" panose="020B0604020202020204" pitchFamily="34" charset="0"/>
                      </a:endParaRPr>
                    </a:p>
                  </a:txBody>
                  <a:tcPr marL="49248" marR="49248" marT="0" marB="0"/>
                </a:tc>
                <a:tc>
                  <a:txBody>
                    <a:bodyPr/>
                    <a:lstStyle/>
                    <a:p>
                      <a:pPr marL="0" marR="0">
                        <a:lnSpc>
                          <a:spcPct val="115000"/>
                        </a:lnSpc>
                        <a:spcBef>
                          <a:spcPts val="0"/>
                        </a:spcBef>
                        <a:spcAft>
                          <a:spcPts val="0"/>
                        </a:spcAft>
                      </a:pPr>
                      <a:r>
                        <a:rPr lang="en-US" sz="1400" kern="100">
                          <a:effectLst/>
                        </a:rPr>
                        <a:t>Compute mAP scores for each model</a:t>
                      </a:r>
                      <a:endParaRPr lang="en-US" sz="1400" kern="100">
                        <a:effectLst/>
                        <a:latin typeface="Aptos" panose="020B0004020202020204" pitchFamily="34" charset="0"/>
                        <a:ea typeface="Aptos" panose="020B0004020202020204" pitchFamily="34" charset="0"/>
                        <a:cs typeface="Arial" panose="020B0604020202020204" pitchFamily="34" charset="0"/>
                      </a:endParaRPr>
                    </a:p>
                  </a:txBody>
                  <a:tcPr marL="49248" marR="49248" marT="0" marB="0"/>
                </a:tc>
                <a:extLst>
                  <a:ext uri="{0D108BD9-81ED-4DB2-BD59-A6C34878D82A}">
                    <a16:rowId xmlns:a16="http://schemas.microsoft.com/office/drawing/2014/main" val="3579303706"/>
                  </a:ext>
                </a:extLst>
              </a:tr>
              <a:tr h="289155">
                <a:tc>
                  <a:txBody>
                    <a:bodyPr/>
                    <a:lstStyle/>
                    <a:p>
                      <a:pPr marL="0" marR="0">
                        <a:lnSpc>
                          <a:spcPct val="115000"/>
                        </a:lnSpc>
                        <a:spcBef>
                          <a:spcPts val="0"/>
                        </a:spcBef>
                        <a:spcAft>
                          <a:spcPts val="0"/>
                        </a:spcAft>
                      </a:pPr>
                      <a:r>
                        <a:rPr lang="en-US" sz="1400" kern="100">
                          <a:effectLst/>
                        </a:rPr>
                        <a:t>4.3</a:t>
                      </a:r>
                      <a:endParaRPr lang="en-US" sz="1400" kern="100">
                        <a:effectLst/>
                        <a:latin typeface="Aptos" panose="020B0004020202020204" pitchFamily="34" charset="0"/>
                        <a:ea typeface="Aptos" panose="020B0004020202020204" pitchFamily="34" charset="0"/>
                        <a:cs typeface="Arial" panose="020B0604020202020204" pitchFamily="34" charset="0"/>
                      </a:endParaRPr>
                    </a:p>
                  </a:txBody>
                  <a:tcPr marL="49248" marR="49248" marT="0" marB="0"/>
                </a:tc>
                <a:tc>
                  <a:txBody>
                    <a:bodyPr/>
                    <a:lstStyle/>
                    <a:p>
                      <a:pPr marL="0" marR="0">
                        <a:lnSpc>
                          <a:spcPct val="115000"/>
                        </a:lnSpc>
                        <a:spcBef>
                          <a:spcPts val="0"/>
                        </a:spcBef>
                        <a:spcAft>
                          <a:spcPts val="0"/>
                        </a:spcAft>
                      </a:pPr>
                      <a:r>
                        <a:rPr lang="en-US" sz="1400" kern="100">
                          <a:effectLst/>
                        </a:rPr>
                        <a:t>Compare and analyze model performance</a:t>
                      </a:r>
                      <a:endParaRPr lang="en-US" sz="1400" kern="100">
                        <a:effectLst/>
                        <a:latin typeface="Aptos" panose="020B0004020202020204" pitchFamily="34" charset="0"/>
                        <a:ea typeface="Aptos" panose="020B0004020202020204" pitchFamily="34" charset="0"/>
                        <a:cs typeface="Arial" panose="020B0604020202020204" pitchFamily="34" charset="0"/>
                      </a:endParaRPr>
                    </a:p>
                  </a:txBody>
                  <a:tcPr marL="49248" marR="49248" marT="0" marB="0"/>
                </a:tc>
                <a:extLst>
                  <a:ext uri="{0D108BD9-81ED-4DB2-BD59-A6C34878D82A}">
                    <a16:rowId xmlns:a16="http://schemas.microsoft.com/office/drawing/2014/main" val="360824135"/>
                  </a:ext>
                </a:extLst>
              </a:tr>
              <a:tr h="229644">
                <a:tc>
                  <a:txBody>
                    <a:bodyPr/>
                    <a:lstStyle/>
                    <a:p>
                      <a:pPr marL="0" marR="0">
                        <a:lnSpc>
                          <a:spcPct val="115000"/>
                        </a:lnSpc>
                        <a:spcBef>
                          <a:spcPts val="0"/>
                        </a:spcBef>
                        <a:spcAft>
                          <a:spcPts val="0"/>
                        </a:spcAft>
                      </a:pPr>
                      <a:r>
                        <a:rPr lang="en-US" sz="1400" b="1" kern="100">
                          <a:effectLst/>
                        </a:rPr>
                        <a:t>5</a:t>
                      </a:r>
                      <a:endParaRPr lang="en-US" sz="1400" b="1" kern="100">
                        <a:effectLst/>
                        <a:latin typeface="Aptos" panose="020B0004020202020204" pitchFamily="34" charset="0"/>
                        <a:ea typeface="Aptos" panose="020B0004020202020204" pitchFamily="34" charset="0"/>
                        <a:cs typeface="Arial" panose="020B0604020202020204" pitchFamily="34" charset="0"/>
                      </a:endParaRPr>
                    </a:p>
                  </a:txBody>
                  <a:tcPr marL="49248" marR="49248" marT="0" marB="0"/>
                </a:tc>
                <a:tc>
                  <a:txBody>
                    <a:bodyPr/>
                    <a:lstStyle/>
                    <a:p>
                      <a:pPr marL="0" marR="0">
                        <a:lnSpc>
                          <a:spcPct val="115000"/>
                        </a:lnSpc>
                        <a:spcBef>
                          <a:spcPts val="0"/>
                        </a:spcBef>
                        <a:spcAft>
                          <a:spcPts val="0"/>
                        </a:spcAft>
                      </a:pPr>
                      <a:r>
                        <a:rPr lang="en-US" sz="1400" b="1" kern="100" dirty="0">
                          <a:effectLst/>
                        </a:rPr>
                        <a:t>Results Interpretation &amp; Documentation</a:t>
                      </a:r>
                      <a:endParaRPr lang="en-US" sz="1400" b="1" kern="100" dirty="0">
                        <a:effectLst/>
                        <a:latin typeface="Aptos" panose="020B0004020202020204" pitchFamily="34" charset="0"/>
                        <a:ea typeface="Aptos" panose="020B0004020202020204" pitchFamily="34" charset="0"/>
                        <a:cs typeface="Arial" panose="020B0604020202020204" pitchFamily="34" charset="0"/>
                      </a:endParaRPr>
                    </a:p>
                  </a:txBody>
                  <a:tcPr marL="49248" marR="49248" marT="0" marB="0"/>
                </a:tc>
                <a:extLst>
                  <a:ext uri="{0D108BD9-81ED-4DB2-BD59-A6C34878D82A}">
                    <a16:rowId xmlns:a16="http://schemas.microsoft.com/office/drawing/2014/main" val="3200239949"/>
                  </a:ext>
                </a:extLst>
              </a:tr>
              <a:tr h="229644">
                <a:tc>
                  <a:txBody>
                    <a:bodyPr/>
                    <a:lstStyle/>
                    <a:p>
                      <a:pPr marL="0" marR="0">
                        <a:lnSpc>
                          <a:spcPct val="115000"/>
                        </a:lnSpc>
                        <a:spcBef>
                          <a:spcPts val="0"/>
                        </a:spcBef>
                        <a:spcAft>
                          <a:spcPts val="0"/>
                        </a:spcAft>
                      </a:pPr>
                      <a:r>
                        <a:rPr lang="en-US" sz="1400" kern="100">
                          <a:effectLst/>
                        </a:rPr>
                        <a:t>5.1</a:t>
                      </a:r>
                      <a:endParaRPr lang="en-US" sz="1400" kern="100">
                        <a:effectLst/>
                        <a:latin typeface="Aptos" panose="020B0004020202020204" pitchFamily="34" charset="0"/>
                        <a:ea typeface="Aptos" panose="020B0004020202020204" pitchFamily="34" charset="0"/>
                        <a:cs typeface="Arial" panose="020B0604020202020204" pitchFamily="34" charset="0"/>
                      </a:endParaRPr>
                    </a:p>
                  </a:txBody>
                  <a:tcPr marL="49248" marR="49248" marT="0" marB="0"/>
                </a:tc>
                <a:tc>
                  <a:txBody>
                    <a:bodyPr/>
                    <a:lstStyle/>
                    <a:p>
                      <a:pPr marL="0" marR="0">
                        <a:lnSpc>
                          <a:spcPct val="115000"/>
                        </a:lnSpc>
                        <a:spcBef>
                          <a:spcPts val="0"/>
                        </a:spcBef>
                        <a:spcAft>
                          <a:spcPts val="0"/>
                        </a:spcAft>
                      </a:pPr>
                      <a:r>
                        <a:rPr lang="en-US" sz="1400" kern="100">
                          <a:effectLst/>
                        </a:rPr>
                        <a:t>Interpret evaluation results</a:t>
                      </a:r>
                      <a:endParaRPr lang="en-US" sz="1400" kern="100">
                        <a:effectLst/>
                        <a:latin typeface="Aptos" panose="020B0004020202020204" pitchFamily="34" charset="0"/>
                        <a:ea typeface="Aptos" panose="020B0004020202020204" pitchFamily="34" charset="0"/>
                        <a:cs typeface="Arial" panose="020B0604020202020204" pitchFamily="34" charset="0"/>
                      </a:endParaRPr>
                    </a:p>
                  </a:txBody>
                  <a:tcPr marL="49248" marR="49248" marT="0" marB="0"/>
                </a:tc>
                <a:extLst>
                  <a:ext uri="{0D108BD9-81ED-4DB2-BD59-A6C34878D82A}">
                    <a16:rowId xmlns:a16="http://schemas.microsoft.com/office/drawing/2014/main" val="3766164868"/>
                  </a:ext>
                </a:extLst>
              </a:tr>
              <a:tr h="229644">
                <a:tc>
                  <a:txBody>
                    <a:bodyPr/>
                    <a:lstStyle/>
                    <a:p>
                      <a:pPr marL="0" marR="0">
                        <a:lnSpc>
                          <a:spcPct val="115000"/>
                        </a:lnSpc>
                        <a:spcBef>
                          <a:spcPts val="0"/>
                        </a:spcBef>
                        <a:spcAft>
                          <a:spcPts val="0"/>
                        </a:spcAft>
                      </a:pPr>
                      <a:r>
                        <a:rPr lang="en-US" sz="1400" kern="100">
                          <a:effectLst/>
                        </a:rPr>
                        <a:t>5.2</a:t>
                      </a:r>
                      <a:endParaRPr lang="en-US" sz="1400" kern="100">
                        <a:effectLst/>
                        <a:latin typeface="Aptos" panose="020B0004020202020204" pitchFamily="34" charset="0"/>
                        <a:ea typeface="Aptos" panose="020B0004020202020204" pitchFamily="34" charset="0"/>
                        <a:cs typeface="Arial" panose="020B0604020202020204" pitchFamily="34" charset="0"/>
                      </a:endParaRPr>
                    </a:p>
                  </a:txBody>
                  <a:tcPr marL="49248" marR="49248" marT="0" marB="0"/>
                </a:tc>
                <a:tc>
                  <a:txBody>
                    <a:bodyPr/>
                    <a:lstStyle/>
                    <a:p>
                      <a:pPr marL="0" marR="0">
                        <a:lnSpc>
                          <a:spcPct val="115000"/>
                        </a:lnSpc>
                        <a:spcBef>
                          <a:spcPts val="0"/>
                        </a:spcBef>
                        <a:spcAft>
                          <a:spcPts val="0"/>
                        </a:spcAft>
                      </a:pPr>
                      <a:r>
                        <a:rPr lang="en-US" sz="1400" kern="100">
                          <a:effectLst/>
                        </a:rPr>
                        <a:t>Document findings and insights</a:t>
                      </a:r>
                      <a:endParaRPr lang="en-US" sz="1400" kern="100">
                        <a:effectLst/>
                        <a:latin typeface="Aptos" panose="020B0004020202020204" pitchFamily="34" charset="0"/>
                        <a:ea typeface="Aptos" panose="020B0004020202020204" pitchFamily="34" charset="0"/>
                        <a:cs typeface="Arial" panose="020B0604020202020204" pitchFamily="34" charset="0"/>
                      </a:endParaRPr>
                    </a:p>
                  </a:txBody>
                  <a:tcPr marL="49248" marR="49248" marT="0" marB="0"/>
                </a:tc>
                <a:extLst>
                  <a:ext uri="{0D108BD9-81ED-4DB2-BD59-A6C34878D82A}">
                    <a16:rowId xmlns:a16="http://schemas.microsoft.com/office/drawing/2014/main" val="4091939652"/>
                  </a:ext>
                </a:extLst>
              </a:tr>
              <a:tr h="294626">
                <a:tc>
                  <a:txBody>
                    <a:bodyPr/>
                    <a:lstStyle/>
                    <a:p>
                      <a:pPr marL="0" marR="0">
                        <a:lnSpc>
                          <a:spcPct val="115000"/>
                        </a:lnSpc>
                        <a:spcBef>
                          <a:spcPts val="0"/>
                        </a:spcBef>
                        <a:spcAft>
                          <a:spcPts val="0"/>
                        </a:spcAft>
                      </a:pPr>
                      <a:r>
                        <a:rPr lang="en-US" sz="1400" kern="100">
                          <a:effectLst/>
                        </a:rPr>
                        <a:t>5.3</a:t>
                      </a:r>
                      <a:endParaRPr lang="en-US" sz="1400" kern="100">
                        <a:effectLst/>
                        <a:latin typeface="Aptos" panose="020B0004020202020204" pitchFamily="34" charset="0"/>
                        <a:ea typeface="Aptos" panose="020B0004020202020204" pitchFamily="34" charset="0"/>
                        <a:cs typeface="Arial" panose="020B0604020202020204" pitchFamily="34" charset="0"/>
                      </a:endParaRPr>
                    </a:p>
                  </a:txBody>
                  <a:tcPr marL="49248" marR="49248" marT="0" marB="0"/>
                </a:tc>
                <a:tc>
                  <a:txBody>
                    <a:bodyPr/>
                    <a:lstStyle/>
                    <a:p>
                      <a:pPr marL="0" marR="0">
                        <a:lnSpc>
                          <a:spcPct val="115000"/>
                        </a:lnSpc>
                        <a:spcBef>
                          <a:spcPts val="0"/>
                        </a:spcBef>
                        <a:spcAft>
                          <a:spcPts val="0"/>
                        </a:spcAft>
                      </a:pPr>
                      <a:r>
                        <a:rPr lang="en-US" sz="1400" kern="100">
                          <a:effectLst/>
                        </a:rPr>
                        <a:t>Discuss implications for AI-based traffic systems</a:t>
                      </a:r>
                      <a:endParaRPr lang="en-US" sz="1400" kern="100">
                        <a:effectLst/>
                        <a:latin typeface="Aptos" panose="020B0004020202020204" pitchFamily="34" charset="0"/>
                        <a:ea typeface="Aptos" panose="020B0004020202020204" pitchFamily="34" charset="0"/>
                        <a:cs typeface="Arial" panose="020B0604020202020204" pitchFamily="34" charset="0"/>
                      </a:endParaRPr>
                    </a:p>
                  </a:txBody>
                  <a:tcPr marL="49248" marR="49248" marT="0" marB="0"/>
                </a:tc>
                <a:extLst>
                  <a:ext uri="{0D108BD9-81ED-4DB2-BD59-A6C34878D82A}">
                    <a16:rowId xmlns:a16="http://schemas.microsoft.com/office/drawing/2014/main" val="3854901987"/>
                  </a:ext>
                </a:extLst>
              </a:tr>
              <a:tr h="229644">
                <a:tc>
                  <a:txBody>
                    <a:bodyPr/>
                    <a:lstStyle/>
                    <a:p>
                      <a:pPr marL="0" marR="0">
                        <a:lnSpc>
                          <a:spcPct val="115000"/>
                        </a:lnSpc>
                        <a:spcBef>
                          <a:spcPts val="0"/>
                        </a:spcBef>
                        <a:spcAft>
                          <a:spcPts val="0"/>
                        </a:spcAft>
                      </a:pPr>
                      <a:r>
                        <a:rPr lang="en-US" sz="1400" b="1" kern="100">
                          <a:effectLst/>
                        </a:rPr>
                        <a:t>6</a:t>
                      </a:r>
                      <a:endParaRPr lang="en-US" sz="1400" b="1" kern="100">
                        <a:effectLst/>
                        <a:latin typeface="Aptos" panose="020B0004020202020204" pitchFamily="34" charset="0"/>
                        <a:ea typeface="Aptos" panose="020B0004020202020204" pitchFamily="34" charset="0"/>
                        <a:cs typeface="Arial" panose="020B0604020202020204" pitchFamily="34" charset="0"/>
                      </a:endParaRPr>
                    </a:p>
                  </a:txBody>
                  <a:tcPr marL="49248" marR="49248" marT="0" marB="0"/>
                </a:tc>
                <a:tc>
                  <a:txBody>
                    <a:bodyPr/>
                    <a:lstStyle/>
                    <a:p>
                      <a:pPr marL="0" marR="0">
                        <a:lnSpc>
                          <a:spcPct val="115000"/>
                        </a:lnSpc>
                        <a:spcBef>
                          <a:spcPts val="0"/>
                        </a:spcBef>
                        <a:spcAft>
                          <a:spcPts val="0"/>
                        </a:spcAft>
                      </a:pPr>
                      <a:r>
                        <a:rPr lang="en-US" sz="1400" b="1" kern="100" dirty="0">
                          <a:effectLst/>
                        </a:rPr>
                        <a:t>Report Writing &amp; Presentation</a:t>
                      </a:r>
                      <a:endParaRPr lang="en-US" sz="1400" b="1" kern="100" dirty="0">
                        <a:effectLst/>
                        <a:latin typeface="Aptos" panose="020B0004020202020204" pitchFamily="34" charset="0"/>
                        <a:ea typeface="Aptos" panose="020B0004020202020204" pitchFamily="34" charset="0"/>
                        <a:cs typeface="Arial" panose="020B0604020202020204" pitchFamily="34" charset="0"/>
                      </a:endParaRPr>
                    </a:p>
                  </a:txBody>
                  <a:tcPr marL="49248" marR="49248" marT="0" marB="0"/>
                </a:tc>
                <a:extLst>
                  <a:ext uri="{0D108BD9-81ED-4DB2-BD59-A6C34878D82A}">
                    <a16:rowId xmlns:a16="http://schemas.microsoft.com/office/drawing/2014/main" val="1381005630"/>
                  </a:ext>
                </a:extLst>
              </a:tr>
              <a:tr h="229644">
                <a:tc>
                  <a:txBody>
                    <a:bodyPr/>
                    <a:lstStyle/>
                    <a:p>
                      <a:pPr marL="0" marR="0">
                        <a:lnSpc>
                          <a:spcPct val="115000"/>
                        </a:lnSpc>
                        <a:spcBef>
                          <a:spcPts val="0"/>
                        </a:spcBef>
                        <a:spcAft>
                          <a:spcPts val="0"/>
                        </a:spcAft>
                      </a:pPr>
                      <a:r>
                        <a:rPr lang="en-US" sz="1400" kern="100">
                          <a:effectLst/>
                        </a:rPr>
                        <a:t>6.1</a:t>
                      </a:r>
                      <a:endParaRPr lang="en-US" sz="1400" kern="100">
                        <a:effectLst/>
                        <a:latin typeface="Aptos" panose="020B0004020202020204" pitchFamily="34" charset="0"/>
                        <a:ea typeface="Aptos" panose="020B0004020202020204" pitchFamily="34" charset="0"/>
                        <a:cs typeface="Arial" panose="020B0604020202020204" pitchFamily="34" charset="0"/>
                      </a:endParaRPr>
                    </a:p>
                  </a:txBody>
                  <a:tcPr marL="49248" marR="49248" marT="0" marB="0"/>
                </a:tc>
                <a:tc>
                  <a:txBody>
                    <a:bodyPr/>
                    <a:lstStyle/>
                    <a:p>
                      <a:pPr marL="0" marR="0">
                        <a:lnSpc>
                          <a:spcPct val="115000"/>
                        </a:lnSpc>
                        <a:spcBef>
                          <a:spcPts val="0"/>
                        </a:spcBef>
                        <a:spcAft>
                          <a:spcPts val="0"/>
                        </a:spcAft>
                      </a:pPr>
                      <a:r>
                        <a:rPr lang="en-US" sz="1400" kern="100">
                          <a:effectLst/>
                        </a:rPr>
                        <a:t>Write the final research report</a:t>
                      </a:r>
                      <a:endParaRPr lang="en-US" sz="1400" kern="100">
                        <a:effectLst/>
                        <a:latin typeface="Aptos" panose="020B0004020202020204" pitchFamily="34" charset="0"/>
                        <a:ea typeface="Aptos" panose="020B0004020202020204" pitchFamily="34" charset="0"/>
                        <a:cs typeface="Arial" panose="020B0604020202020204" pitchFamily="34" charset="0"/>
                      </a:endParaRPr>
                    </a:p>
                  </a:txBody>
                  <a:tcPr marL="49248" marR="49248" marT="0" marB="0"/>
                </a:tc>
                <a:extLst>
                  <a:ext uri="{0D108BD9-81ED-4DB2-BD59-A6C34878D82A}">
                    <a16:rowId xmlns:a16="http://schemas.microsoft.com/office/drawing/2014/main" val="4275754517"/>
                  </a:ext>
                </a:extLst>
              </a:tr>
              <a:tr h="229644">
                <a:tc>
                  <a:txBody>
                    <a:bodyPr/>
                    <a:lstStyle/>
                    <a:p>
                      <a:pPr marL="0" marR="0">
                        <a:lnSpc>
                          <a:spcPct val="115000"/>
                        </a:lnSpc>
                        <a:spcBef>
                          <a:spcPts val="0"/>
                        </a:spcBef>
                        <a:spcAft>
                          <a:spcPts val="0"/>
                        </a:spcAft>
                      </a:pPr>
                      <a:r>
                        <a:rPr lang="en-US" sz="1400" kern="100">
                          <a:effectLst/>
                        </a:rPr>
                        <a:t>6.2</a:t>
                      </a:r>
                      <a:endParaRPr lang="en-US" sz="1400" kern="100">
                        <a:effectLst/>
                        <a:latin typeface="Aptos" panose="020B0004020202020204" pitchFamily="34" charset="0"/>
                        <a:ea typeface="Aptos" panose="020B0004020202020204" pitchFamily="34" charset="0"/>
                        <a:cs typeface="Arial" panose="020B0604020202020204" pitchFamily="34" charset="0"/>
                      </a:endParaRPr>
                    </a:p>
                  </a:txBody>
                  <a:tcPr marL="49248" marR="49248" marT="0" marB="0"/>
                </a:tc>
                <a:tc>
                  <a:txBody>
                    <a:bodyPr/>
                    <a:lstStyle/>
                    <a:p>
                      <a:pPr marL="0" marR="0">
                        <a:lnSpc>
                          <a:spcPct val="115000"/>
                        </a:lnSpc>
                        <a:spcBef>
                          <a:spcPts val="0"/>
                        </a:spcBef>
                        <a:spcAft>
                          <a:spcPts val="0"/>
                        </a:spcAft>
                      </a:pPr>
                      <a:r>
                        <a:rPr lang="en-US" sz="1400" kern="100">
                          <a:effectLst/>
                        </a:rPr>
                        <a:t>Prepare the presentation slides</a:t>
                      </a:r>
                      <a:endParaRPr lang="en-US" sz="1400" kern="100">
                        <a:effectLst/>
                        <a:latin typeface="Aptos" panose="020B0004020202020204" pitchFamily="34" charset="0"/>
                        <a:ea typeface="Aptos" panose="020B0004020202020204" pitchFamily="34" charset="0"/>
                        <a:cs typeface="Arial" panose="020B0604020202020204" pitchFamily="34" charset="0"/>
                      </a:endParaRPr>
                    </a:p>
                  </a:txBody>
                  <a:tcPr marL="49248" marR="49248" marT="0" marB="0"/>
                </a:tc>
                <a:extLst>
                  <a:ext uri="{0D108BD9-81ED-4DB2-BD59-A6C34878D82A}">
                    <a16:rowId xmlns:a16="http://schemas.microsoft.com/office/drawing/2014/main" val="2741264062"/>
                  </a:ext>
                </a:extLst>
              </a:tr>
              <a:tr h="229644">
                <a:tc>
                  <a:txBody>
                    <a:bodyPr/>
                    <a:lstStyle/>
                    <a:p>
                      <a:pPr marL="0" marR="0">
                        <a:lnSpc>
                          <a:spcPct val="115000"/>
                        </a:lnSpc>
                        <a:spcBef>
                          <a:spcPts val="0"/>
                        </a:spcBef>
                        <a:spcAft>
                          <a:spcPts val="0"/>
                        </a:spcAft>
                      </a:pPr>
                      <a:r>
                        <a:rPr lang="en-US" sz="1400" kern="100">
                          <a:effectLst/>
                        </a:rPr>
                        <a:t>6.3</a:t>
                      </a:r>
                      <a:endParaRPr lang="en-US" sz="1400" kern="100">
                        <a:effectLst/>
                        <a:latin typeface="Aptos" panose="020B0004020202020204" pitchFamily="34" charset="0"/>
                        <a:ea typeface="Aptos" panose="020B0004020202020204" pitchFamily="34" charset="0"/>
                        <a:cs typeface="Arial" panose="020B0604020202020204" pitchFamily="34" charset="0"/>
                      </a:endParaRPr>
                    </a:p>
                  </a:txBody>
                  <a:tcPr marL="49248" marR="49248" marT="0" marB="0"/>
                </a:tc>
                <a:tc>
                  <a:txBody>
                    <a:bodyPr/>
                    <a:lstStyle/>
                    <a:p>
                      <a:pPr marL="0" marR="0">
                        <a:lnSpc>
                          <a:spcPct val="115000"/>
                        </a:lnSpc>
                        <a:spcBef>
                          <a:spcPts val="0"/>
                        </a:spcBef>
                        <a:spcAft>
                          <a:spcPts val="0"/>
                        </a:spcAft>
                      </a:pPr>
                      <a:r>
                        <a:rPr lang="en-US" sz="1400" kern="100" dirty="0">
                          <a:effectLst/>
                        </a:rPr>
                        <a:t>Present findings and conclusions</a:t>
                      </a:r>
                      <a:endParaRPr lang="en-US" sz="1400" kern="100" dirty="0">
                        <a:effectLst/>
                        <a:latin typeface="Aptos" panose="020B0004020202020204" pitchFamily="34" charset="0"/>
                        <a:ea typeface="Aptos" panose="020B0004020202020204" pitchFamily="34" charset="0"/>
                        <a:cs typeface="Arial" panose="020B0604020202020204" pitchFamily="34" charset="0"/>
                      </a:endParaRPr>
                    </a:p>
                  </a:txBody>
                  <a:tcPr marL="49248" marR="49248" marT="0" marB="0"/>
                </a:tc>
                <a:extLst>
                  <a:ext uri="{0D108BD9-81ED-4DB2-BD59-A6C34878D82A}">
                    <a16:rowId xmlns:a16="http://schemas.microsoft.com/office/drawing/2014/main" val="3700149591"/>
                  </a:ext>
                </a:extLst>
              </a:tr>
            </a:tbl>
          </a:graphicData>
        </a:graphic>
      </p:graphicFrame>
    </p:spTree>
    <p:extLst>
      <p:ext uri="{BB962C8B-B14F-4D97-AF65-F5344CB8AC3E}">
        <p14:creationId xmlns:p14="http://schemas.microsoft.com/office/powerpoint/2010/main" val="173029789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23" name="p!!Rectangle">
            <a:extLst>
              <a:ext uri="{FF2B5EF4-FFF2-40B4-BE49-F238E27FC236}">
                <a16:creationId xmlns:a16="http://schemas.microsoft.com/office/drawing/2014/main" id="{2FB82883-1DC0-4BE1-A607-009095F335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descr="Close up of book pages">
            <a:extLst>
              <a:ext uri="{FF2B5EF4-FFF2-40B4-BE49-F238E27FC236}">
                <a16:creationId xmlns:a16="http://schemas.microsoft.com/office/drawing/2014/main" id="{273ADCC6-897E-4499-9AC1-C34ED51F898D}"/>
              </a:ext>
            </a:extLst>
          </p:cNvPr>
          <p:cNvPicPr>
            <a:picLocks noChangeAspect="1"/>
          </p:cNvPicPr>
          <p:nvPr/>
        </p:nvPicPr>
        <p:blipFill rotWithShape="1">
          <a:blip r:embed="rId3"/>
          <a:srcRect/>
          <a:stretch/>
        </p:blipFill>
        <p:spPr>
          <a:xfrm>
            <a:off x="20" y="10"/>
            <a:ext cx="9143980" cy="6857990"/>
          </a:xfrm>
          <a:prstGeom prst="rect">
            <a:avLst/>
          </a:prstGeom>
        </p:spPr>
      </p:pic>
      <p:sp>
        <p:nvSpPr>
          <p:cNvPr id="25" name="m!!text rectangle">
            <a:extLst>
              <a:ext uri="{FF2B5EF4-FFF2-40B4-BE49-F238E27FC236}">
                <a16:creationId xmlns:a16="http://schemas.microsoft.com/office/drawing/2014/main" id="{A3473CF9-37EB-43E7-89EF-D2D1C53D1D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427711" y="4638503"/>
            <a:ext cx="6288577" cy="1332634"/>
          </a:xfrm>
          <a:prstGeom prst="rect">
            <a:avLst/>
          </a:prstGeom>
          <a:solidFill>
            <a:schemeClr val="bg1">
              <a:alpha val="95000"/>
            </a:schemeClr>
          </a:solidFill>
          <a:ln w="12700">
            <a:solidFill>
              <a:srgbClr val="EFEFEF"/>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184D784C-09C2-4209-A54C-7272AAABAA90}"/>
              </a:ext>
            </a:extLst>
          </p:cNvPr>
          <p:cNvSpPr>
            <a:spLocks noGrp="1"/>
          </p:cNvSpPr>
          <p:nvPr>
            <p:ph type="title"/>
          </p:nvPr>
        </p:nvSpPr>
        <p:spPr>
          <a:xfrm>
            <a:off x="1577340" y="4727173"/>
            <a:ext cx="5989320" cy="868823"/>
          </a:xfrm>
        </p:spPr>
        <p:txBody>
          <a:bodyPr vert="horz" lIns="91440" tIns="45720" rIns="91440" bIns="45720" rtlCol="0" anchor="ctr">
            <a:normAutofit/>
          </a:bodyPr>
          <a:lstStyle/>
          <a:p>
            <a:pPr algn="ctr"/>
            <a:r>
              <a:rPr lang="en-US" sz="3500" dirty="0"/>
              <a:t>Conclusion</a:t>
            </a:r>
          </a:p>
        </p:txBody>
      </p:sp>
      <p:sp>
        <p:nvSpPr>
          <p:cNvPr id="27" name="m!!accent">
            <a:extLst>
              <a:ext uri="{FF2B5EF4-FFF2-40B4-BE49-F238E27FC236}">
                <a16:creationId xmlns:a16="http://schemas.microsoft.com/office/drawing/2014/main" id="{586B4EF9-43BA-4655-A6FF-1D8E21574C9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862332" y="5628237"/>
            <a:ext cx="5419335" cy="685800"/>
          </a:xfrm>
          <a:prstGeom prst="roundRect">
            <a:avLst>
              <a:gd name="adj" fmla="val 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4" name="Date Placeholder 3">
            <a:extLst>
              <a:ext uri="{FF2B5EF4-FFF2-40B4-BE49-F238E27FC236}">
                <a16:creationId xmlns:a16="http://schemas.microsoft.com/office/drawing/2014/main" id="{6D4C7CB0-FBE1-485A-979E-AFFF09854263}"/>
              </a:ext>
            </a:extLst>
          </p:cNvPr>
          <p:cNvSpPr>
            <a:spLocks noGrp="1"/>
          </p:cNvSpPr>
          <p:nvPr>
            <p:ph type="dt" sz="half" idx="10"/>
          </p:nvPr>
        </p:nvSpPr>
        <p:spPr>
          <a:xfrm>
            <a:off x="628650" y="6356350"/>
            <a:ext cx="2057400" cy="365125"/>
          </a:xfrm>
        </p:spPr>
        <p:txBody>
          <a:bodyPr vert="horz" lIns="91440" tIns="45720" rIns="91440" bIns="45720" rtlCol="0" anchor="ctr">
            <a:normAutofit/>
          </a:bodyPr>
          <a:lstStyle/>
          <a:p>
            <a:pPr defTabSz="914400">
              <a:spcAft>
                <a:spcPts val="600"/>
              </a:spcAft>
              <a:defRPr/>
            </a:pPr>
            <a:fld id="{C2B9C45F-2833-45FC-B949-8AAADFC38083}" type="datetime1">
              <a:rPr lang="en-US" smtClean="0">
                <a:solidFill>
                  <a:schemeClr val="bg1"/>
                </a:solidFill>
                <a:latin typeface="Calibri" panose="020F0502020204030204"/>
              </a:rPr>
              <a:t>2/24/2025</a:t>
            </a:fld>
            <a:endParaRPr lang="en-US">
              <a:solidFill>
                <a:schemeClr val="bg1"/>
              </a:solidFill>
              <a:latin typeface="Calibri" panose="020F0502020204030204"/>
            </a:endParaRPr>
          </a:p>
        </p:txBody>
      </p:sp>
      <p:sp>
        <p:nvSpPr>
          <p:cNvPr id="5" name="Slide Number Placeholder 4">
            <a:extLst>
              <a:ext uri="{FF2B5EF4-FFF2-40B4-BE49-F238E27FC236}">
                <a16:creationId xmlns:a16="http://schemas.microsoft.com/office/drawing/2014/main" id="{4892CD39-0D00-43C5-8A2D-E2EDFA3A7F9B}"/>
              </a:ext>
            </a:extLst>
          </p:cNvPr>
          <p:cNvSpPr>
            <a:spLocks noGrp="1"/>
          </p:cNvSpPr>
          <p:nvPr>
            <p:ph type="sldNum" sz="quarter" idx="12"/>
          </p:nvPr>
        </p:nvSpPr>
        <p:spPr>
          <a:xfrm>
            <a:off x="6457950" y="6356350"/>
            <a:ext cx="2057400" cy="365125"/>
          </a:xfrm>
        </p:spPr>
        <p:txBody>
          <a:bodyPr vert="horz" lIns="91440" tIns="45720" rIns="91440" bIns="45720" rtlCol="0" anchor="ctr">
            <a:normAutofit/>
          </a:bodyPr>
          <a:lstStyle/>
          <a:p>
            <a:pPr defTabSz="914400">
              <a:spcAft>
                <a:spcPts val="600"/>
              </a:spcAft>
              <a:defRPr/>
            </a:pPr>
            <a:fld id="{849F1A12-756A-4552-B54B-B66CFF5610E9}" type="slidenum">
              <a:rPr lang="en-US" sz="1200" b="0">
                <a:solidFill>
                  <a:schemeClr val="bg1"/>
                </a:solidFill>
                <a:latin typeface="Calibri" panose="020F0502020204030204"/>
              </a:rPr>
              <a:pPr defTabSz="914400">
                <a:spcAft>
                  <a:spcPts val="600"/>
                </a:spcAft>
                <a:defRPr/>
              </a:pPr>
              <a:t>27</a:t>
            </a:fld>
            <a:endParaRPr lang="en-US" sz="1200" b="0">
              <a:solidFill>
                <a:schemeClr val="bg1"/>
              </a:solidFill>
              <a:latin typeface="Calibri" panose="020F0502020204030204"/>
            </a:endParaRPr>
          </a:p>
        </p:txBody>
      </p:sp>
      <p:sp>
        <p:nvSpPr>
          <p:cNvPr id="3" name="Footer Placeholder 2"/>
          <p:cNvSpPr>
            <a:spLocks noGrp="1"/>
          </p:cNvSpPr>
          <p:nvPr>
            <p:ph type="ftr" sz="quarter" idx="11"/>
          </p:nvPr>
        </p:nvSpPr>
        <p:spPr/>
        <p:txBody>
          <a:bodyPr/>
          <a:lstStyle/>
          <a:p>
            <a:r>
              <a:rPr lang="en-US"/>
              <a:t>CRP</a:t>
            </a:r>
          </a:p>
        </p:txBody>
      </p:sp>
    </p:spTree>
    <p:extLst>
      <p:ext uri="{BB962C8B-B14F-4D97-AF65-F5344CB8AC3E}">
        <p14:creationId xmlns:p14="http://schemas.microsoft.com/office/powerpoint/2010/main" val="231400439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24" name="Rectangle 23">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26" name="Rectangle 25">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914813" y="1914812"/>
            <a:ext cx="6858000" cy="3028377"/>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29">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914814" y="1924949"/>
            <a:ext cx="6857999" cy="302837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263195" y="4092815"/>
            <a:ext cx="2501979" cy="302838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4" name="Freeform: Shape 33">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376302" y="969718"/>
            <a:ext cx="292526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36" name="Rectangle 35">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914820" y="1904672"/>
            <a:ext cx="6858003" cy="3028376"/>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34380F5-514D-4989-966A-49BC47C96416}"/>
              </a:ext>
            </a:extLst>
          </p:cNvPr>
          <p:cNvSpPr>
            <a:spLocks noGrp="1"/>
          </p:cNvSpPr>
          <p:nvPr>
            <p:ph type="title"/>
          </p:nvPr>
        </p:nvSpPr>
        <p:spPr>
          <a:xfrm>
            <a:off x="350041" y="3325091"/>
            <a:ext cx="2401025" cy="649261"/>
          </a:xfrm>
        </p:spPr>
        <p:txBody>
          <a:bodyPr anchor="b">
            <a:normAutofit/>
          </a:bodyPr>
          <a:lstStyle/>
          <a:p>
            <a:pPr algn="ctr"/>
            <a:r>
              <a:rPr lang="en-US" sz="2400" dirty="0">
                <a:solidFill>
                  <a:srgbClr val="FFFFFF"/>
                </a:solidFill>
                <a:latin typeface="Times New Roman" panose="02020603050405020304" pitchFamily="18" charset="0"/>
                <a:ea typeface="Arial Unicode MS" pitchFamily="34" charset="-128"/>
                <a:cs typeface="Times New Roman" panose="02020603050405020304" pitchFamily="18" charset="0"/>
              </a:rPr>
              <a:t>Conclusion</a:t>
            </a:r>
            <a:endParaRPr lang="en-US" sz="2400" dirty="0">
              <a:solidFill>
                <a:srgbClr val="FFFFFF"/>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7CB860C7-93AD-4311-8CD4-4580644B47DD}"/>
              </a:ext>
            </a:extLst>
          </p:cNvPr>
          <p:cNvSpPr>
            <a:spLocks noGrp="1"/>
          </p:cNvSpPr>
          <p:nvPr>
            <p:ph idx="1"/>
          </p:nvPr>
        </p:nvSpPr>
        <p:spPr>
          <a:xfrm>
            <a:off x="3647794" y="291963"/>
            <a:ext cx="4916510" cy="5413649"/>
          </a:xfrm>
        </p:spPr>
        <p:txBody>
          <a:bodyPr anchor="ctr">
            <a:normAutofit/>
          </a:bodyPr>
          <a:lstStyle/>
          <a:p>
            <a:pPr>
              <a:lnSpc>
                <a:spcPct val="150000"/>
              </a:lnSpc>
              <a:spcBef>
                <a:spcPts val="0"/>
              </a:spcBef>
              <a:spcAft>
                <a:spcPts val="1000"/>
              </a:spcAft>
            </a:pPr>
            <a:r>
              <a:rPr lang="en-US" sz="1800" dirty="0">
                <a:effectLst/>
                <a:ea typeface="Calibri" panose="020F0502020204030204" pitchFamily="34" charset="0"/>
                <a:cs typeface="Times New Roman" panose="02020603050405020304" pitchFamily="18" charset="0"/>
              </a:rPr>
              <a:t>The study evaluates YOLOv8, Faster R-CNN, and SSD for Sri Lankan traffic sign detection.</a:t>
            </a:r>
          </a:p>
          <a:p>
            <a:pPr>
              <a:lnSpc>
                <a:spcPct val="150000"/>
              </a:lnSpc>
              <a:spcBef>
                <a:spcPts val="0"/>
              </a:spcBef>
              <a:spcAft>
                <a:spcPts val="1000"/>
              </a:spcAft>
            </a:pPr>
            <a:r>
              <a:rPr lang="en-US" sz="1800" dirty="0">
                <a:effectLst/>
                <a:ea typeface="Calibri" panose="020F0502020204030204" pitchFamily="34" charset="0"/>
                <a:cs typeface="Times New Roman" panose="02020603050405020304" pitchFamily="18" charset="0"/>
              </a:rPr>
              <a:t>mAP (mean Average Precision) is used to measure model performance.</a:t>
            </a:r>
          </a:p>
          <a:p>
            <a:pPr>
              <a:lnSpc>
                <a:spcPct val="150000"/>
              </a:lnSpc>
              <a:spcBef>
                <a:spcPts val="0"/>
              </a:spcBef>
              <a:spcAft>
                <a:spcPts val="1000"/>
              </a:spcAft>
            </a:pPr>
            <a:r>
              <a:rPr lang="en-US" sz="1800" dirty="0">
                <a:effectLst/>
                <a:ea typeface="Calibri" panose="020F0502020204030204" pitchFamily="34" charset="0"/>
                <a:cs typeface="Times New Roman" panose="02020603050405020304" pitchFamily="18" charset="0"/>
              </a:rPr>
              <a:t>The research identifies the most accurate model for Sri Lankan road conditions.</a:t>
            </a:r>
          </a:p>
          <a:p>
            <a:pPr>
              <a:lnSpc>
                <a:spcPct val="150000"/>
              </a:lnSpc>
              <a:spcBef>
                <a:spcPts val="0"/>
              </a:spcBef>
              <a:spcAft>
                <a:spcPts val="1000"/>
              </a:spcAft>
            </a:pPr>
            <a:r>
              <a:rPr lang="en-US" sz="1800" dirty="0">
                <a:effectLst/>
                <a:ea typeface="Calibri" panose="020F0502020204030204" pitchFamily="34" charset="0"/>
                <a:cs typeface="Times New Roman" panose="02020603050405020304" pitchFamily="18" charset="0"/>
              </a:rPr>
              <a:t>Findings contribute to AI-driven traffic systems and autonomous vehicles.</a:t>
            </a:r>
          </a:p>
          <a:p>
            <a:pPr>
              <a:lnSpc>
                <a:spcPct val="150000"/>
              </a:lnSpc>
              <a:spcBef>
                <a:spcPts val="0"/>
              </a:spcBef>
              <a:spcAft>
                <a:spcPts val="1000"/>
              </a:spcAft>
            </a:pPr>
            <a:r>
              <a:rPr lang="en-US" sz="1800" dirty="0">
                <a:effectLst/>
                <a:ea typeface="Calibri" panose="020F0502020204030204" pitchFamily="34" charset="0"/>
                <a:cs typeface="Times New Roman" panose="02020603050405020304" pitchFamily="18" charset="0"/>
              </a:rPr>
              <a:t>Helps improve road safety and smart transportation solutions in Sri Lanka.</a:t>
            </a:r>
          </a:p>
        </p:txBody>
      </p:sp>
      <p:sp>
        <p:nvSpPr>
          <p:cNvPr id="4" name="Date Placeholder 3">
            <a:extLst>
              <a:ext uri="{FF2B5EF4-FFF2-40B4-BE49-F238E27FC236}">
                <a16:creationId xmlns:a16="http://schemas.microsoft.com/office/drawing/2014/main" id="{CBBD532E-64D0-4EDF-8CB2-01936B63643A}"/>
              </a:ext>
            </a:extLst>
          </p:cNvPr>
          <p:cNvSpPr>
            <a:spLocks noGrp="1"/>
          </p:cNvSpPr>
          <p:nvPr>
            <p:ph type="dt" sz="half" idx="10"/>
          </p:nvPr>
        </p:nvSpPr>
        <p:spPr/>
        <p:txBody>
          <a:bodyPr/>
          <a:lstStyle/>
          <a:p>
            <a:fld id="{97C76220-D33C-4A51-B4B0-B842E51B8747}" type="datetime1">
              <a:rPr lang="en-US" smtClean="0"/>
              <a:t>2/24/2025</a:t>
            </a:fld>
            <a:endParaRPr lang="en-US"/>
          </a:p>
        </p:txBody>
      </p:sp>
      <p:sp>
        <p:nvSpPr>
          <p:cNvPr id="5" name="Slide Number Placeholder 4">
            <a:extLst>
              <a:ext uri="{FF2B5EF4-FFF2-40B4-BE49-F238E27FC236}">
                <a16:creationId xmlns:a16="http://schemas.microsoft.com/office/drawing/2014/main" id="{BE493AC1-341C-416D-9B4C-0E2ADB9F70BC}"/>
              </a:ext>
            </a:extLst>
          </p:cNvPr>
          <p:cNvSpPr>
            <a:spLocks noGrp="1"/>
          </p:cNvSpPr>
          <p:nvPr>
            <p:ph type="sldNum" sz="quarter" idx="12"/>
          </p:nvPr>
        </p:nvSpPr>
        <p:spPr/>
        <p:txBody>
          <a:bodyPr/>
          <a:lstStyle/>
          <a:p>
            <a:fld id="{849F1A12-756A-4552-B54B-B66CFF5610E9}" type="slidenum">
              <a:rPr lang="en-US" sz="1200" b="0" smtClean="0"/>
              <a:t>28</a:t>
            </a:fld>
            <a:endParaRPr lang="en-US" sz="1200" b="0" dirty="0"/>
          </a:p>
        </p:txBody>
      </p:sp>
      <p:sp>
        <p:nvSpPr>
          <p:cNvPr id="6" name="Footer Placeholder 5"/>
          <p:cNvSpPr>
            <a:spLocks noGrp="1"/>
          </p:cNvSpPr>
          <p:nvPr>
            <p:ph type="ftr" sz="quarter" idx="11"/>
          </p:nvPr>
        </p:nvSpPr>
        <p:spPr/>
        <p:txBody>
          <a:bodyPr/>
          <a:lstStyle/>
          <a:p>
            <a:r>
              <a:rPr lang="en-US"/>
              <a:t>CRP</a:t>
            </a:r>
          </a:p>
        </p:txBody>
      </p:sp>
    </p:spTree>
    <p:extLst>
      <p:ext uri="{BB962C8B-B14F-4D97-AF65-F5344CB8AC3E}">
        <p14:creationId xmlns:p14="http://schemas.microsoft.com/office/powerpoint/2010/main" val="215185686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0671A8AE-40A1-4631-A6B8-581AFF0654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descr="A person clasping its hands">
            <a:extLst>
              <a:ext uri="{FF2B5EF4-FFF2-40B4-BE49-F238E27FC236}">
                <a16:creationId xmlns:a16="http://schemas.microsoft.com/office/drawing/2014/main" id="{861628E7-3B8C-3B01-F94F-68F30E80F399}"/>
              </a:ext>
            </a:extLst>
          </p:cNvPr>
          <p:cNvPicPr>
            <a:picLocks noChangeAspect="1"/>
          </p:cNvPicPr>
          <p:nvPr/>
        </p:nvPicPr>
        <p:blipFill rotWithShape="1">
          <a:blip r:embed="rId3"/>
          <a:srcRect l="11284" r="25674"/>
          <a:stretch/>
        </p:blipFill>
        <p:spPr>
          <a:xfrm>
            <a:off x="2642616" y="10"/>
            <a:ext cx="6501384" cy="6857990"/>
          </a:xfrm>
          <a:prstGeom prst="rect">
            <a:avLst/>
          </a:prstGeom>
        </p:spPr>
      </p:pic>
      <p:sp>
        <p:nvSpPr>
          <p:cNvPr id="13" name="Rectangle 12">
            <a:extLst>
              <a:ext uri="{FF2B5EF4-FFF2-40B4-BE49-F238E27FC236}">
                <a16:creationId xmlns:a16="http://schemas.microsoft.com/office/drawing/2014/main" id="{AB58EF07-17C2-48CF-ABB0-EEF1F17CB8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 y="0"/>
            <a:ext cx="7004404" cy="6858000"/>
          </a:xfrm>
          <a:prstGeom prst="rect">
            <a:avLst/>
          </a:prstGeom>
          <a:gradFill>
            <a:gsLst>
              <a:gs pos="58000">
                <a:schemeClr val="bg1"/>
              </a:gs>
              <a:gs pos="33000">
                <a:schemeClr val="bg1">
                  <a:alpha val="64000"/>
                </a:schemeClr>
              </a:gs>
              <a:gs pos="0">
                <a:schemeClr val="bg1">
                  <a:alpha val="0"/>
                </a:schemeClr>
              </a:gs>
              <a:gs pos="100000">
                <a:schemeClr val="bg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E2B08967-137E-4BDC-A653-45102AAC5097}"/>
              </a:ext>
            </a:extLst>
          </p:cNvPr>
          <p:cNvSpPr>
            <a:spLocks noGrp="1"/>
          </p:cNvSpPr>
          <p:nvPr>
            <p:ph type="title"/>
          </p:nvPr>
        </p:nvSpPr>
        <p:spPr>
          <a:xfrm>
            <a:off x="358485" y="1122363"/>
            <a:ext cx="3017520" cy="365125"/>
          </a:xfrm>
        </p:spPr>
        <p:txBody>
          <a:bodyPr vert="horz" lIns="91440" tIns="45720" rIns="91440" bIns="45720" rtlCol="0" anchor="b">
            <a:normAutofit fontScale="90000"/>
          </a:bodyPr>
          <a:lstStyle/>
          <a:p>
            <a:r>
              <a:rPr lang="en-US" sz="2600" dirty="0"/>
              <a:t>Acknowledgement</a:t>
            </a:r>
          </a:p>
        </p:txBody>
      </p:sp>
      <p:sp>
        <p:nvSpPr>
          <p:cNvPr id="15" name="Rectangle 14">
            <a:extLst>
              <a:ext uri="{FF2B5EF4-FFF2-40B4-BE49-F238E27FC236}">
                <a16:creationId xmlns:a16="http://schemas.microsoft.com/office/drawing/2014/main" id="{AF2F604E-43BE-4DC3-B983-E071523364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51653" y="434802"/>
            <a:ext cx="146304" cy="52806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7" name="Rectangle 16">
            <a:extLst>
              <a:ext uri="{FF2B5EF4-FFF2-40B4-BE49-F238E27FC236}">
                <a16:creationId xmlns:a16="http://schemas.microsoft.com/office/drawing/2014/main" id="{08C9B587-E65E-4B52-B37C-ABEBB6E879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60771" y="4546920"/>
            <a:ext cx="2983230" cy="18288"/>
          </a:xfrm>
          <a:prstGeom prst="rect">
            <a:avLst/>
          </a:prstGeom>
          <a:solidFill>
            <a:schemeClr val="tx1"/>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 name="Date Placeholder 3">
            <a:extLst>
              <a:ext uri="{FF2B5EF4-FFF2-40B4-BE49-F238E27FC236}">
                <a16:creationId xmlns:a16="http://schemas.microsoft.com/office/drawing/2014/main" id="{3F585B6E-237C-472F-AEF2-3886503BBD71}"/>
              </a:ext>
            </a:extLst>
          </p:cNvPr>
          <p:cNvSpPr>
            <a:spLocks noGrp="1"/>
          </p:cNvSpPr>
          <p:nvPr>
            <p:ph type="dt" sz="half" idx="10"/>
          </p:nvPr>
        </p:nvSpPr>
        <p:spPr>
          <a:xfrm>
            <a:off x="358485" y="6356350"/>
            <a:ext cx="910755" cy="365125"/>
          </a:xfrm>
        </p:spPr>
        <p:txBody>
          <a:bodyPr vert="horz" lIns="91440" tIns="45720" rIns="91440" bIns="45720" rtlCol="0" anchor="ctr">
            <a:normAutofit/>
          </a:bodyPr>
          <a:lstStyle/>
          <a:p>
            <a:pPr defTabSz="914400">
              <a:spcAft>
                <a:spcPts val="600"/>
              </a:spcAft>
              <a:defRPr/>
            </a:pPr>
            <a:fld id="{45D2139B-174A-4466-B2C1-0B36F36C4A0E}" type="datetime1">
              <a:rPr lang="en-US" sz="1000" smtClean="0">
                <a:solidFill>
                  <a:schemeClr val="tx1"/>
                </a:solidFill>
                <a:latin typeface="Calibri" panose="020F0502020204030204"/>
              </a:rPr>
              <a:t>2/24/2025</a:t>
            </a:fld>
            <a:endParaRPr lang="en-US" sz="1000">
              <a:solidFill>
                <a:schemeClr val="tx1"/>
              </a:solidFill>
              <a:latin typeface="Calibri" panose="020F0502020204030204"/>
            </a:endParaRPr>
          </a:p>
        </p:txBody>
      </p:sp>
      <p:sp>
        <p:nvSpPr>
          <p:cNvPr id="5" name="Slide Number Placeholder 4">
            <a:extLst>
              <a:ext uri="{FF2B5EF4-FFF2-40B4-BE49-F238E27FC236}">
                <a16:creationId xmlns:a16="http://schemas.microsoft.com/office/drawing/2014/main" id="{A0A75DD1-A5D9-44D9-85F9-FE850FF98A6E}"/>
              </a:ext>
            </a:extLst>
          </p:cNvPr>
          <p:cNvSpPr>
            <a:spLocks noGrp="1"/>
          </p:cNvSpPr>
          <p:nvPr>
            <p:ph type="sldNum" sz="quarter" idx="12"/>
          </p:nvPr>
        </p:nvSpPr>
        <p:spPr>
          <a:xfrm>
            <a:off x="6728114" y="6356350"/>
            <a:ext cx="2057400" cy="365125"/>
          </a:xfrm>
        </p:spPr>
        <p:txBody>
          <a:bodyPr vert="horz" lIns="91440" tIns="45720" rIns="91440" bIns="45720" rtlCol="0" anchor="ctr">
            <a:normAutofit/>
          </a:bodyPr>
          <a:lstStyle/>
          <a:p>
            <a:pPr defTabSz="914400">
              <a:spcAft>
                <a:spcPts val="600"/>
              </a:spcAft>
              <a:defRPr/>
            </a:pPr>
            <a:fld id="{849F1A12-756A-4552-B54B-B66CFF5610E9}" type="slidenum">
              <a:rPr lang="en-US" sz="1000" b="0">
                <a:solidFill>
                  <a:schemeClr val="tx1"/>
                </a:solidFill>
                <a:latin typeface="Calibri" panose="020F0502020204030204"/>
              </a:rPr>
              <a:pPr defTabSz="914400">
                <a:spcAft>
                  <a:spcPts val="600"/>
                </a:spcAft>
                <a:defRPr/>
              </a:pPr>
              <a:t>29</a:t>
            </a:fld>
            <a:endParaRPr lang="en-US" sz="1000" b="0">
              <a:solidFill>
                <a:schemeClr val="tx1"/>
              </a:solidFill>
              <a:latin typeface="Calibri" panose="020F0502020204030204"/>
            </a:endParaRPr>
          </a:p>
        </p:txBody>
      </p:sp>
      <p:sp>
        <p:nvSpPr>
          <p:cNvPr id="3" name="Footer Placeholder 2"/>
          <p:cNvSpPr>
            <a:spLocks noGrp="1"/>
          </p:cNvSpPr>
          <p:nvPr>
            <p:ph type="ftr" sz="quarter" idx="11"/>
          </p:nvPr>
        </p:nvSpPr>
        <p:spPr/>
        <p:txBody>
          <a:bodyPr/>
          <a:lstStyle/>
          <a:p>
            <a:r>
              <a:rPr lang="en-US"/>
              <a:t>CRP</a:t>
            </a:r>
          </a:p>
        </p:txBody>
      </p:sp>
      <p:sp>
        <p:nvSpPr>
          <p:cNvPr id="6" name="TextBox 5">
            <a:extLst>
              <a:ext uri="{FF2B5EF4-FFF2-40B4-BE49-F238E27FC236}">
                <a16:creationId xmlns:a16="http://schemas.microsoft.com/office/drawing/2014/main" id="{AB94CAC3-65A5-C6A2-0F13-38D702297182}"/>
              </a:ext>
            </a:extLst>
          </p:cNvPr>
          <p:cNvSpPr txBox="1"/>
          <p:nvPr/>
        </p:nvSpPr>
        <p:spPr>
          <a:xfrm>
            <a:off x="438540" y="1782148"/>
            <a:ext cx="3262560" cy="2954655"/>
          </a:xfrm>
          <a:prstGeom prst="rect">
            <a:avLst/>
          </a:prstGeom>
          <a:noFill/>
        </p:spPr>
        <p:txBody>
          <a:bodyPr wrap="none" rtlCol="0">
            <a:spAutoFit/>
          </a:bodyPr>
          <a:lstStyle/>
          <a:p>
            <a:r>
              <a:rPr lang="en-US" sz="2400" dirty="0"/>
              <a:t>Thanks To,</a:t>
            </a:r>
          </a:p>
          <a:p>
            <a:endParaRPr lang="en-US" dirty="0"/>
          </a:p>
          <a:p>
            <a:r>
              <a:rPr lang="en-US" dirty="0"/>
              <a:t>Supervisor: Mrs. NF. Mafaza.</a:t>
            </a:r>
          </a:p>
          <a:p>
            <a:endParaRPr lang="en-US" dirty="0"/>
          </a:p>
          <a:p>
            <a:r>
              <a:rPr lang="en-US" dirty="0"/>
              <a:t>Assessor: Mrs. ALF. Sajeetha.</a:t>
            </a:r>
          </a:p>
          <a:p>
            <a:endParaRPr lang="en-US" dirty="0"/>
          </a:p>
          <a:p>
            <a:r>
              <a:rPr lang="en-US" dirty="0"/>
              <a:t>Coordinator: Mr. MIM. Nismy.</a:t>
            </a:r>
          </a:p>
          <a:p>
            <a:endParaRPr lang="en-US" dirty="0"/>
          </a:p>
          <a:p>
            <a:r>
              <a:rPr lang="en-US" dirty="0"/>
              <a:t>BCAS Campus Kalmunai.</a:t>
            </a:r>
          </a:p>
          <a:p>
            <a:endParaRPr lang="en-US" dirty="0"/>
          </a:p>
        </p:txBody>
      </p:sp>
      <p:pic>
        <p:nvPicPr>
          <p:cNvPr id="8" name="Picture 2" descr="British College of Applied Studies – Building Careers Transforming Live">
            <a:extLst>
              <a:ext uri="{FF2B5EF4-FFF2-40B4-BE49-F238E27FC236}">
                <a16:creationId xmlns:a16="http://schemas.microsoft.com/office/drawing/2014/main" id="{324AC82D-878E-EAEE-8EA8-BF810FC4886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95098" y="4713924"/>
            <a:ext cx="2314575" cy="1266825"/>
          </a:xfrm>
          <a:prstGeom prst="rect">
            <a:avLst/>
          </a:prstGeom>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0" scaled="1"/>
            <a:tileRect/>
          </a:gradFill>
        </p:spPr>
      </p:pic>
    </p:spTree>
    <p:extLst>
      <p:ext uri="{BB962C8B-B14F-4D97-AF65-F5344CB8AC3E}">
        <p14:creationId xmlns:p14="http://schemas.microsoft.com/office/powerpoint/2010/main" val="741349727"/>
      </p:ext>
    </p:extLst>
  </p:cSld>
  <p:clrMapOvr>
    <a:overrideClrMapping bg1="dk1" tx1="lt1" bg2="dk2" tx2="lt2" accent1="accent1" accent2="accent2" accent3="accent3" accent4="accent4" accent5="accent5" accent6="accent6" hlink="hlink" folHlink="folHlink"/>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1" name="Picture 4" descr="Magnifying glass on clear background">
            <a:extLst>
              <a:ext uri="{FF2B5EF4-FFF2-40B4-BE49-F238E27FC236}">
                <a16:creationId xmlns:a16="http://schemas.microsoft.com/office/drawing/2014/main" id="{E071316C-B123-4A02-9282-E7FB9E2CA428}"/>
              </a:ext>
            </a:extLst>
          </p:cNvPr>
          <p:cNvPicPr>
            <a:picLocks noChangeAspect="1"/>
          </p:cNvPicPr>
          <p:nvPr/>
        </p:nvPicPr>
        <p:blipFill rotWithShape="1">
          <a:blip r:embed="rId3"/>
          <a:srcRect l="33141" r="7915" b="-1"/>
          <a:stretch/>
        </p:blipFill>
        <p:spPr>
          <a:xfrm>
            <a:off x="3088140" y="10"/>
            <a:ext cx="6055860" cy="6857990"/>
          </a:xfrm>
          <a:prstGeom prst="rect">
            <a:avLst/>
          </a:prstGeom>
        </p:spPr>
      </p:pic>
      <p:sp>
        <p:nvSpPr>
          <p:cNvPr id="16" name="Freeform: Shape 15">
            <a:extLst>
              <a:ext uri="{FF2B5EF4-FFF2-40B4-BE49-F238E27FC236}">
                <a16:creationId xmlns:a16="http://schemas.microsoft.com/office/drawing/2014/main" id="{8F23F8A3-8FD7-4779-8323-FDC26BE998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0" y="-478"/>
            <a:ext cx="5894850" cy="6858478"/>
          </a:xfrm>
          <a:custGeom>
            <a:avLst/>
            <a:gdLst>
              <a:gd name="connsiteX0" fmla="*/ 7859800 w 7859800"/>
              <a:gd name="connsiteY0" fmla="*/ 6858478 h 6858478"/>
              <a:gd name="connsiteX1" fmla="*/ 435245 w 7859800"/>
              <a:gd name="connsiteY1" fmla="*/ 6858478 h 6858478"/>
              <a:gd name="connsiteX2" fmla="*/ 435505 w 7859800"/>
              <a:gd name="connsiteY2" fmla="*/ 6857916 h 6858478"/>
              <a:gd name="connsiteX3" fmla="*/ 0 w 7859800"/>
              <a:gd name="connsiteY3" fmla="*/ 6857916 h 6858478"/>
              <a:gd name="connsiteX4" fmla="*/ 0 w 7859800"/>
              <a:gd name="connsiteY4" fmla="*/ 0 h 6858478"/>
              <a:gd name="connsiteX5" fmla="*/ 3611620 w 7859800"/>
              <a:gd name="connsiteY5" fmla="*/ 0 h 6858478"/>
              <a:gd name="connsiteX6" fmla="*/ 4677848 w 7859800"/>
              <a:gd name="connsiteY6" fmla="*/ 0 h 6858478"/>
              <a:gd name="connsiteX7" fmla="*/ 4683425 w 7859800"/>
              <a:gd name="connsiteY7" fmla="*/ 0 h 68584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859800" h="6858478">
                <a:moveTo>
                  <a:pt x="7859800" y="6858478"/>
                </a:moveTo>
                <a:lnTo>
                  <a:pt x="435245" y="6858478"/>
                </a:lnTo>
                <a:lnTo>
                  <a:pt x="435505" y="6857916"/>
                </a:lnTo>
                <a:lnTo>
                  <a:pt x="0" y="6857916"/>
                </a:lnTo>
                <a:lnTo>
                  <a:pt x="0" y="0"/>
                </a:lnTo>
                <a:lnTo>
                  <a:pt x="3611620" y="0"/>
                </a:lnTo>
                <a:lnTo>
                  <a:pt x="4677848" y="0"/>
                </a:lnTo>
                <a:lnTo>
                  <a:pt x="4683425" y="0"/>
                </a:lnTo>
                <a:close/>
              </a:path>
            </a:pathLst>
          </a:custGeom>
          <a:solidFill>
            <a:schemeClr val="bg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8" name="Freeform: Shape 17">
            <a:extLst>
              <a:ext uri="{FF2B5EF4-FFF2-40B4-BE49-F238E27FC236}">
                <a16:creationId xmlns:a16="http://schemas.microsoft.com/office/drawing/2014/main" id="{F605C4CC-A25C-416F-8333-7CB7DC97D87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0" y="-478"/>
            <a:ext cx="5573380" cy="6858478"/>
          </a:xfrm>
          <a:custGeom>
            <a:avLst/>
            <a:gdLst>
              <a:gd name="connsiteX0" fmla="*/ 7431174 w 7431174"/>
              <a:gd name="connsiteY0" fmla="*/ 6858478 h 6858478"/>
              <a:gd name="connsiteX1" fmla="*/ 6619 w 7431174"/>
              <a:gd name="connsiteY1" fmla="*/ 6858478 h 6858478"/>
              <a:gd name="connsiteX2" fmla="*/ 6879 w 7431174"/>
              <a:gd name="connsiteY2" fmla="*/ 6857916 h 6858478"/>
              <a:gd name="connsiteX3" fmla="*/ 0 w 7431174"/>
              <a:gd name="connsiteY3" fmla="*/ 6857916 h 6858478"/>
              <a:gd name="connsiteX4" fmla="*/ 0 w 7431174"/>
              <a:gd name="connsiteY4" fmla="*/ 0 h 6858478"/>
              <a:gd name="connsiteX5" fmla="*/ 3182994 w 7431174"/>
              <a:gd name="connsiteY5" fmla="*/ 0 h 6858478"/>
              <a:gd name="connsiteX6" fmla="*/ 4249222 w 7431174"/>
              <a:gd name="connsiteY6" fmla="*/ 0 h 6858478"/>
              <a:gd name="connsiteX7" fmla="*/ 4254799 w 7431174"/>
              <a:gd name="connsiteY7" fmla="*/ 0 h 68584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431174" h="6858478">
                <a:moveTo>
                  <a:pt x="7431174" y="6858478"/>
                </a:moveTo>
                <a:lnTo>
                  <a:pt x="6619" y="6858478"/>
                </a:lnTo>
                <a:lnTo>
                  <a:pt x="6879" y="6857916"/>
                </a:lnTo>
                <a:lnTo>
                  <a:pt x="0" y="6857916"/>
                </a:lnTo>
                <a:lnTo>
                  <a:pt x="0" y="0"/>
                </a:lnTo>
                <a:lnTo>
                  <a:pt x="3182994" y="0"/>
                </a:lnTo>
                <a:lnTo>
                  <a:pt x="4249222" y="0"/>
                </a:lnTo>
                <a:lnTo>
                  <a:pt x="4254799" y="0"/>
                </a:lnTo>
                <a:close/>
              </a:path>
            </a:pathLst>
          </a:cu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659626D1-BFC5-4EA5-B70E-9C9E0C98EEDC}"/>
              </a:ext>
            </a:extLst>
          </p:cNvPr>
          <p:cNvSpPr>
            <a:spLocks noGrp="1"/>
          </p:cNvSpPr>
          <p:nvPr>
            <p:ph type="title"/>
          </p:nvPr>
        </p:nvSpPr>
        <p:spPr>
          <a:xfrm>
            <a:off x="5194384" y="5202168"/>
            <a:ext cx="3949616" cy="1325563"/>
          </a:xfrm>
        </p:spPr>
        <p:txBody>
          <a:bodyPr>
            <a:normAutofit/>
          </a:bodyPr>
          <a:lstStyle/>
          <a:p>
            <a:r>
              <a:rPr lang="en-US" b="1" dirty="0">
                <a:solidFill>
                  <a:srgbClr val="002060"/>
                </a:solidFill>
                <a:latin typeface="Times New Roman" panose="02020603050405020304" pitchFamily="18" charset="0"/>
                <a:cs typeface="Times New Roman" panose="02020603050405020304" pitchFamily="18" charset="0"/>
              </a:rPr>
              <a:t>Thank you</a:t>
            </a:r>
          </a:p>
        </p:txBody>
      </p:sp>
      <p:sp>
        <p:nvSpPr>
          <p:cNvPr id="4" name="Date Placeholder 3">
            <a:extLst>
              <a:ext uri="{FF2B5EF4-FFF2-40B4-BE49-F238E27FC236}">
                <a16:creationId xmlns:a16="http://schemas.microsoft.com/office/drawing/2014/main" id="{FFC13A2C-FE17-4642-BB3F-947CFA939596}"/>
              </a:ext>
            </a:extLst>
          </p:cNvPr>
          <p:cNvSpPr>
            <a:spLocks noGrp="1"/>
          </p:cNvSpPr>
          <p:nvPr>
            <p:ph type="dt" sz="half" idx="10"/>
          </p:nvPr>
        </p:nvSpPr>
        <p:spPr/>
        <p:txBody>
          <a:bodyPr/>
          <a:lstStyle/>
          <a:p>
            <a:fld id="{C18C2D31-4985-40DF-B82B-0311FCC2D062}" type="datetime1">
              <a:rPr lang="en-US" smtClean="0"/>
              <a:t>2/24/2025</a:t>
            </a:fld>
            <a:endParaRPr lang="en-US"/>
          </a:p>
        </p:txBody>
      </p:sp>
      <p:sp>
        <p:nvSpPr>
          <p:cNvPr id="5" name="Slide Number Placeholder 4">
            <a:extLst>
              <a:ext uri="{FF2B5EF4-FFF2-40B4-BE49-F238E27FC236}">
                <a16:creationId xmlns:a16="http://schemas.microsoft.com/office/drawing/2014/main" id="{E3768CAC-9BEA-471C-86F7-102292D727B5}"/>
              </a:ext>
            </a:extLst>
          </p:cNvPr>
          <p:cNvSpPr>
            <a:spLocks noGrp="1"/>
          </p:cNvSpPr>
          <p:nvPr>
            <p:ph type="sldNum" sz="quarter" idx="12"/>
          </p:nvPr>
        </p:nvSpPr>
        <p:spPr/>
        <p:txBody>
          <a:bodyPr/>
          <a:lstStyle/>
          <a:p>
            <a:fld id="{849F1A12-756A-4552-B54B-B66CFF5610E9}" type="slidenum">
              <a:rPr lang="en-US" sz="1200" b="0" smtClean="0"/>
              <a:t>30</a:t>
            </a:fld>
            <a:endParaRPr lang="en-US" sz="1200" b="0" dirty="0"/>
          </a:p>
        </p:txBody>
      </p:sp>
      <p:sp>
        <p:nvSpPr>
          <p:cNvPr id="6" name="Footer Placeholder 5"/>
          <p:cNvSpPr>
            <a:spLocks noGrp="1"/>
          </p:cNvSpPr>
          <p:nvPr>
            <p:ph type="ftr" sz="quarter" idx="11"/>
          </p:nvPr>
        </p:nvSpPr>
        <p:spPr/>
        <p:txBody>
          <a:bodyPr/>
          <a:lstStyle/>
          <a:p>
            <a:r>
              <a:rPr lang="en-US"/>
              <a:t>CRP</a:t>
            </a:r>
          </a:p>
        </p:txBody>
      </p:sp>
    </p:spTree>
    <p:extLst>
      <p:ext uri="{BB962C8B-B14F-4D97-AF65-F5344CB8AC3E}">
        <p14:creationId xmlns:p14="http://schemas.microsoft.com/office/powerpoint/2010/main" val="822589109"/>
      </p:ext>
    </p:extLst>
  </p:cSld>
  <p:clrMapOvr>
    <a:overrideClrMapping bg1="dk1" tx1="lt1" bg2="dk2" tx2="lt2" accent1="accent1" accent2="accent2" accent3="accent3" accent4="accent4" accent5="accent5" accent6="accent6" hlink="hlink" folHlink="folHlink"/>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C5E6CFF1-2F42-4E10-9A97-F116F46F53F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Many question marks on black background">
            <a:extLst>
              <a:ext uri="{FF2B5EF4-FFF2-40B4-BE49-F238E27FC236}">
                <a16:creationId xmlns:a16="http://schemas.microsoft.com/office/drawing/2014/main" id="{2C9F8FC4-8CB2-4A41-B09F-A22ED23624FC}"/>
              </a:ext>
            </a:extLst>
          </p:cNvPr>
          <p:cNvPicPr>
            <a:picLocks noChangeAspect="1"/>
          </p:cNvPicPr>
          <p:nvPr/>
        </p:nvPicPr>
        <p:blipFill rotWithShape="1">
          <a:blip r:embed="rId3">
            <a:alphaModFix amt="35000"/>
          </a:blip>
          <a:srcRect l="18667" r="2" b="2"/>
          <a:stretch/>
        </p:blipFill>
        <p:spPr>
          <a:xfrm>
            <a:off x="20" y="1"/>
            <a:ext cx="9143980" cy="6857999"/>
          </a:xfrm>
          <a:prstGeom prst="rect">
            <a:avLst/>
          </a:prstGeom>
        </p:spPr>
      </p:pic>
      <p:sp>
        <p:nvSpPr>
          <p:cNvPr id="2" name="Title 1">
            <a:extLst>
              <a:ext uri="{FF2B5EF4-FFF2-40B4-BE49-F238E27FC236}">
                <a16:creationId xmlns:a16="http://schemas.microsoft.com/office/drawing/2014/main" id="{46B936FA-1517-4206-A0B0-EBAA469B5390}"/>
              </a:ext>
            </a:extLst>
          </p:cNvPr>
          <p:cNvSpPr>
            <a:spLocks noGrp="1"/>
          </p:cNvSpPr>
          <p:nvPr>
            <p:ph type="title"/>
          </p:nvPr>
        </p:nvSpPr>
        <p:spPr>
          <a:xfrm>
            <a:off x="628650" y="1065862"/>
            <a:ext cx="2484873" cy="4726276"/>
          </a:xfrm>
        </p:spPr>
        <p:txBody>
          <a:bodyPr>
            <a:normAutofit/>
          </a:bodyPr>
          <a:lstStyle/>
          <a:p>
            <a:pPr marL="0" indent="0" algn="r"/>
            <a:r>
              <a:rPr lang="en-US" sz="3500" dirty="0">
                <a:solidFill>
                  <a:srgbClr val="FFFFFF"/>
                </a:solidFill>
                <a:latin typeface="Times New Roman" panose="02020603050405020304" pitchFamily="18" charset="0"/>
                <a:cs typeface="Times New Roman" panose="02020603050405020304" pitchFamily="18" charset="0"/>
              </a:rPr>
              <a:t>Questions?</a:t>
            </a:r>
          </a:p>
        </p:txBody>
      </p:sp>
      <p:cxnSp>
        <p:nvCxnSpPr>
          <p:cNvPr id="18" name="Straight Connector 17">
            <a:extLst>
              <a:ext uri="{FF2B5EF4-FFF2-40B4-BE49-F238E27FC236}">
                <a16:creationId xmlns:a16="http://schemas.microsoft.com/office/drawing/2014/main" id="{67182200-4859-4C8D-BCBB-55B245C28BA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3490029" y="2286000"/>
            <a:ext cx="0" cy="2286000"/>
          </a:xfrm>
          <a:prstGeom prst="line">
            <a:avLst/>
          </a:prstGeom>
          <a:ln w="15875">
            <a:solidFill>
              <a:srgbClr val="FFFFFF"/>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EDE59F10-0427-4537-8D1B-C89132D430B0}"/>
              </a:ext>
            </a:extLst>
          </p:cNvPr>
          <p:cNvSpPr>
            <a:spLocks noGrp="1"/>
          </p:cNvSpPr>
          <p:nvPr>
            <p:ph idx="1"/>
          </p:nvPr>
        </p:nvSpPr>
        <p:spPr>
          <a:xfrm>
            <a:off x="3866534" y="1065862"/>
            <a:ext cx="4308514" cy="4726276"/>
          </a:xfrm>
        </p:spPr>
        <p:txBody>
          <a:bodyPr anchor="ctr">
            <a:normAutofit/>
          </a:bodyPr>
          <a:lstStyle/>
          <a:p>
            <a:endParaRPr lang="en-US" sz="1700" dirty="0">
              <a:solidFill>
                <a:srgbClr val="FFFFFF"/>
              </a:solidFill>
            </a:endParaRPr>
          </a:p>
          <a:p>
            <a:endParaRPr lang="en-US" sz="1700" dirty="0">
              <a:solidFill>
                <a:srgbClr val="FFFFFF"/>
              </a:solidFill>
            </a:endParaRPr>
          </a:p>
        </p:txBody>
      </p:sp>
      <p:sp>
        <p:nvSpPr>
          <p:cNvPr id="4" name="Date Placeholder 3">
            <a:extLst>
              <a:ext uri="{FF2B5EF4-FFF2-40B4-BE49-F238E27FC236}">
                <a16:creationId xmlns:a16="http://schemas.microsoft.com/office/drawing/2014/main" id="{C7264A07-AA3B-4595-A6BD-F53DADC97DB4}"/>
              </a:ext>
            </a:extLst>
          </p:cNvPr>
          <p:cNvSpPr>
            <a:spLocks noGrp="1"/>
          </p:cNvSpPr>
          <p:nvPr>
            <p:ph type="dt" sz="half" idx="10"/>
          </p:nvPr>
        </p:nvSpPr>
        <p:spPr/>
        <p:txBody>
          <a:bodyPr/>
          <a:lstStyle/>
          <a:p>
            <a:fld id="{8EACAE47-FB93-4F33-8549-CD23BFEE2DE3}" type="datetime1">
              <a:rPr lang="en-US" smtClean="0"/>
              <a:t>2/24/2025</a:t>
            </a:fld>
            <a:endParaRPr lang="en-US"/>
          </a:p>
        </p:txBody>
      </p:sp>
      <p:sp>
        <p:nvSpPr>
          <p:cNvPr id="6" name="Slide Number Placeholder 5">
            <a:extLst>
              <a:ext uri="{FF2B5EF4-FFF2-40B4-BE49-F238E27FC236}">
                <a16:creationId xmlns:a16="http://schemas.microsoft.com/office/drawing/2014/main" id="{EA830C90-44F3-4F71-A20A-09B5E058D39C}"/>
              </a:ext>
            </a:extLst>
          </p:cNvPr>
          <p:cNvSpPr>
            <a:spLocks noGrp="1"/>
          </p:cNvSpPr>
          <p:nvPr>
            <p:ph type="sldNum" sz="quarter" idx="12"/>
          </p:nvPr>
        </p:nvSpPr>
        <p:spPr/>
        <p:txBody>
          <a:bodyPr/>
          <a:lstStyle/>
          <a:p>
            <a:fld id="{849F1A12-756A-4552-B54B-B66CFF5610E9}" type="slidenum">
              <a:rPr lang="en-US" sz="1200" b="0" smtClean="0">
                <a:solidFill>
                  <a:schemeClr val="tx1"/>
                </a:solidFill>
              </a:rPr>
              <a:t>31</a:t>
            </a:fld>
            <a:endParaRPr lang="en-US" sz="1200" b="0" dirty="0">
              <a:solidFill>
                <a:schemeClr val="tx1"/>
              </a:solidFill>
            </a:endParaRPr>
          </a:p>
        </p:txBody>
      </p:sp>
      <p:sp>
        <p:nvSpPr>
          <p:cNvPr id="7" name="Footer Placeholder 6"/>
          <p:cNvSpPr>
            <a:spLocks noGrp="1"/>
          </p:cNvSpPr>
          <p:nvPr>
            <p:ph type="ftr" sz="quarter" idx="11"/>
          </p:nvPr>
        </p:nvSpPr>
        <p:spPr/>
        <p:txBody>
          <a:bodyPr/>
          <a:lstStyle/>
          <a:p>
            <a:r>
              <a:rPr lang="en-US"/>
              <a:t>CRP</a:t>
            </a:r>
          </a:p>
        </p:txBody>
      </p:sp>
    </p:spTree>
    <p:extLst>
      <p:ext uri="{BB962C8B-B14F-4D97-AF65-F5344CB8AC3E}">
        <p14:creationId xmlns:p14="http://schemas.microsoft.com/office/powerpoint/2010/main" val="1151785945"/>
      </p:ext>
    </p:extLst>
  </p:cSld>
  <p:clrMapOvr>
    <a:overrideClrMapping bg1="dk1" tx1="lt1" bg2="dk2" tx2="lt2" accent1="accent1" accent2="accent2" accent3="accent3" accent4="accent4" accent5="accent5" accent6="accent6" hlink="hlink" folHlink="folHlink"/>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7686</TotalTime>
  <Words>2416</Words>
  <Application>Microsoft Office PowerPoint</Application>
  <PresentationFormat>On-screen Show (4:3)</PresentationFormat>
  <Paragraphs>344</Paragraphs>
  <Slides>31</Slides>
  <Notes>20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31</vt:i4>
      </vt:variant>
    </vt:vector>
  </HeadingPairs>
  <TitlesOfParts>
    <vt:vector size="37" baseType="lpstr">
      <vt:lpstr>SimSun</vt:lpstr>
      <vt:lpstr>Aptos</vt:lpstr>
      <vt:lpstr>Arial</vt:lpstr>
      <vt:lpstr>Calibri</vt:lpstr>
      <vt:lpstr>Times New Roman</vt:lpstr>
      <vt:lpstr>Office Theme</vt:lpstr>
      <vt:lpstr>Evaluating the Performance of Object Detection Models for Accurate Sri Lankan Traffic Sign Detection</vt:lpstr>
      <vt:lpstr>Table of Contents</vt:lpstr>
      <vt:lpstr>Introduction.</vt:lpstr>
      <vt:lpstr>Introduction</vt:lpstr>
      <vt:lpstr>2. Aim of Research.</vt:lpstr>
      <vt:lpstr>Aim</vt:lpstr>
      <vt:lpstr>3. Research Question</vt:lpstr>
      <vt:lpstr>Research Question</vt:lpstr>
      <vt:lpstr>4. Objective of Research </vt:lpstr>
      <vt:lpstr>Objective</vt:lpstr>
      <vt:lpstr>Objective &amp; Sub objectives</vt:lpstr>
      <vt:lpstr>5. Scope of Research</vt:lpstr>
      <vt:lpstr>Scope</vt:lpstr>
      <vt:lpstr>6.Limitations of Research</vt:lpstr>
      <vt:lpstr>Limitations</vt:lpstr>
      <vt:lpstr>7. Methodology</vt:lpstr>
      <vt:lpstr>Methodology</vt:lpstr>
      <vt:lpstr>Literature Review</vt:lpstr>
      <vt:lpstr>PowerPoint Presentation</vt:lpstr>
      <vt:lpstr>Timeline</vt:lpstr>
      <vt:lpstr>PowerPoint Presentation</vt:lpstr>
      <vt:lpstr>Cost &amp; Benefits</vt:lpstr>
      <vt:lpstr>PowerPoint Presentation</vt:lpstr>
      <vt:lpstr>Top level architecture &amp; WBS</vt:lpstr>
      <vt:lpstr>Research Design</vt:lpstr>
      <vt:lpstr>PowerPoint Presentation</vt:lpstr>
      <vt:lpstr>Conclusion</vt:lpstr>
      <vt:lpstr>Conclusion</vt:lpstr>
      <vt:lpstr>Acknowledgement</vt:lpstr>
      <vt:lpstr>Thank you</vt:lpstr>
      <vt:lpstr>Questions?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A.R.M.Nizzad</dc:creator>
  <cp:lastModifiedBy>Mohammed Naseer Sihanas</cp:lastModifiedBy>
  <cp:revision>269</cp:revision>
  <dcterms:created xsi:type="dcterms:W3CDTF">2021-04-20T06:12:09Z</dcterms:created>
  <dcterms:modified xsi:type="dcterms:W3CDTF">2025-02-24T05:12:48Z</dcterms:modified>
</cp:coreProperties>
</file>