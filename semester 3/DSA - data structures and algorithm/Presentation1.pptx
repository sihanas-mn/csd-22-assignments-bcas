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58C8C-1DF9-D6A5-CE3D-EE904D9D4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BB4ADD-2BC7-56F7-4AFC-F2127B428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DFE5B-DC54-9303-AC69-A52DBD216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844C1-FF50-414E-B24A-95929D0C58B7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16EC3-B481-52D3-536A-09772CC28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CB32D-1498-31A9-5888-88BA19ACC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957E-C4E1-4195-B667-8ACDB4C0B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831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3AEFC-8989-395A-B0FD-6653501A0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E1B96-199D-C8F2-5310-0D5B680AB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8C4F6-CC46-B3D1-90A7-8F505A3B2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844C1-FF50-414E-B24A-95929D0C58B7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24A94-D61D-BEA8-8342-7C0DD1AF0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F7551-FDF8-A182-F577-9A4F8A69A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957E-C4E1-4195-B667-8ACDB4C0B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936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8E141-F292-5D7C-F524-DAAB15841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97B08-9184-8F9C-0F02-5966C3E22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3D5B7-33ED-4689-D3AA-FB3445098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844C1-FF50-414E-B24A-95929D0C58B7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5049F-EABC-C55C-D9A3-9C229697A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9AF34-3B34-AA1F-2102-2E04D70CB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957E-C4E1-4195-B667-8ACDB4C0B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33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B82E3-0E2D-5495-4570-F6FE1CD17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F3D0D-52C6-E8DF-1968-40A3CE378F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9BA68-532F-2C5D-2ADC-1DA1AF22F3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FD2D9D-617D-73F9-F60F-4D395DF2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844C1-FF50-414E-B24A-95929D0C58B7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18F59-56D1-EB7A-35B7-900CF66A0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279CD-5124-0D91-3B8C-8EDBE000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957E-C4E1-4195-B667-8ACDB4C0B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969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03B7A-D869-62EC-675B-23A180D55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B53B2-02F4-9FDD-9B20-DA887C0D3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F7AFB-BF06-DCF0-7A7E-11A79BB81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1200F1-6875-3655-461F-9024311C46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3882F8-2488-3589-B361-1B0EB4DB56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AEF0CB-9B8A-CFED-FA82-D5CD7ECD7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844C1-FF50-414E-B24A-95929D0C58B7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0E4E19-219F-2B9C-F4AF-EDCF8E834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CD70CB-3B52-8CDE-C0C6-E31AAC338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957E-C4E1-4195-B667-8ACDB4C0B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83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1B9F3-8284-B318-7D00-C1E086F80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3A8E14-084C-94B0-1B28-D28E6E208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844C1-FF50-414E-B24A-95929D0C58B7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CCAB72-55DE-83C3-EB77-A52296CD0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E621FA-437C-7D69-133A-9598FAEFF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957E-C4E1-4195-B667-8ACDB4C0B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55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D1E1BF-71F1-4C19-E29D-8DD130C07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844C1-FF50-414E-B24A-95929D0C58B7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B67FF6-AFA6-766E-DB50-C7769A12B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43BFC-EC40-8FF3-83B0-AFB12BAED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957E-C4E1-4195-B667-8ACDB4C0B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18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C2FD-6FDF-175B-8678-FF5AF9EB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B88B1-99D6-1AF4-76B5-470006598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947C67-F3B1-CED8-EAF1-619F3A7EB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8D62E0-CB42-1BB1-655A-1174DA100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844C1-FF50-414E-B24A-95929D0C58B7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7511E-36C7-496E-90CE-DE0715A2B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AED2D-FD6B-DD64-4C62-78253BBC4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957E-C4E1-4195-B667-8ACDB4C0B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63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21E86-13BF-855D-1612-FC43A7FF4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8CD17E-AAEE-72F7-E91B-F7D58031C1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54E0E1-0DB0-82C1-1603-E02242D8A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7D9B8-E28C-8FE6-C633-84990E2D0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844C1-FF50-414E-B24A-95929D0C58B7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39D6F-B550-CD2A-8665-C74BE08BD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8AAF6-4EC4-6E70-FE7F-92C47199C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957E-C4E1-4195-B667-8ACDB4C0B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391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97064-B48E-AE11-1DEC-9609809EE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47A4AC-7C12-E6C1-E56C-AC901A716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8BACF-1AEF-118A-CB92-575CDC953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844C1-FF50-414E-B24A-95929D0C58B7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618CF-718F-D702-ABBE-03F747762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6187C-17DC-2294-2031-D75519E9B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957E-C4E1-4195-B667-8ACDB4C0B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98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4F439E-D84D-8A20-D4A8-0D069C6C52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E99628-FED4-D6B3-7164-87D09937A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88CCB-536C-1E1D-C24C-9BEDACEC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844C1-FF50-414E-B24A-95929D0C58B7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EEAFB-B54D-0E66-80E3-5DA6E0632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E6A99-B430-43F2-0B69-594EC78C3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E957E-C4E1-4195-B667-8ACDB4C0B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01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CEBAEF-D508-061F-BBED-BBE156B0A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68AC9-8C63-93DB-8653-256455B8C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24C81-EAB5-795F-1802-1CE634B6D4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5844C1-FF50-414E-B24A-95929D0C58B7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B6098-82E4-A971-FE1B-1D0A401BB5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DB3C-F9A2-42EE-0263-63BD569AF5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FE957E-C4E1-4195-B667-8ACDB4C0B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64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F6125-109A-17E6-2A6D-78F427635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User outline">
            <a:extLst>
              <a:ext uri="{FF2B5EF4-FFF2-40B4-BE49-F238E27FC236}">
                <a16:creationId xmlns:a16="http://schemas.microsoft.com/office/drawing/2014/main" id="{43BC58F2-0EC0-4D04-6B5B-D66015806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89149" y="1271856"/>
            <a:ext cx="664726" cy="664726"/>
          </a:xfrm>
          <a:prstGeom prst="rect">
            <a:avLst/>
          </a:prstGeom>
        </p:spPr>
      </p:pic>
      <p:pic>
        <p:nvPicPr>
          <p:cNvPr id="9" name="Graphic 8" descr="Register with solid fill">
            <a:extLst>
              <a:ext uri="{FF2B5EF4-FFF2-40B4-BE49-F238E27FC236}">
                <a16:creationId xmlns:a16="http://schemas.microsoft.com/office/drawing/2014/main" id="{1A0DBB02-4E15-9133-BA70-890D169387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9986" y="1123545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3ECA46B-2585-44FD-E32B-5CAE795E96F5}"/>
              </a:ext>
            </a:extLst>
          </p:cNvPr>
          <p:cNvSpPr txBox="1"/>
          <p:nvPr/>
        </p:nvSpPr>
        <p:spPr>
          <a:xfrm>
            <a:off x="3245155" y="223736"/>
            <a:ext cx="5783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How the FIFO is executed in Queue data structure</a:t>
            </a:r>
          </a:p>
          <a:p>
            <a:r>
              <a:rPr lang="en-US" sz="2000" dirty="0"/>
              <a:t>Scenario: Ticket  supply in a movie theater.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CED509-1EA9-5B1F-1D28-8DF3ED7F1FC0}"/>
              </a:ext>
            </a:extLst>
          </p:cNvPr>
          <p:cNvSpPr txBox="1"/>
          <p:nvPr/>
        </p:nvSpPr>
        <p:spPr>
          <a:xfrm>
            <a:off x="10647954" y="2022570"/>
            <a:ext cx="10906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Counter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5B0BC62-45CE-A29F-2C41-7E6DDA13D6F7}"/>
              </a:ext>
            </a:extLst>
          </p:cNvPr>
          <p:cNvCxnSpPr>
            <a:cxnSpLocks/>
          </p:cNvCxnSpPr>
          <p:nvPr/>
        </p:nvCxnSpPr>
        <p:spPr>
          <a:xfrm flipV="1">
            <a:off x="4125308" y="1130822"/>
            <a:ext cx="6033759" cy="141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0E7F74A-C6DF-CDE1-81C1-10C5D97B2E35}"/>
              </a:ext>
            </a:extLst>
          </p:cNvPr>
          <p:cNvCxnSpPr>
            <a:cxnSpLocks/>
          </p:cNvCxnSpPr>
          <p:nvPr/>
        </p:nvCxnSpPr>
        <p:spPr>
          <a:xfrm flipV="1">
            <a:off x="4125308" y="2287082"/>
            <a:ext cx="6033759" cy="141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80C9FC2-0E93-9116-7A67-3207672AE6E9}"/>
              </a:ext>
            </a:extLst>
          </p:cNvPr>
          <p:cNvGrpSpPr/>
          <p:nvPr/>
        </p:nvGrpSpPr>
        <p:grpSpPr>
          <a:xfrm>
            <a:off x="2769418" y="1152668"/>
            <a:ext cx="914400" cy="1216682"/>
            <a:chOff x="2819752" y="1152668"/>
            <a:chExt cx="914400" cy="1216682"/>
          </a:xfrm>
        </p:grpSpPr>
        <p:pic>
          <p:nvPicPr>
            <p:cNvPr id="14" name="Graphic 13" descr="Walk with solid fill">
              <a:extLst>
                <a:ext uri="{FF2B5EF4-FFF2-40B4-BE49-F238E27FC236}">
                  <a16:creationId xmlns:a16="http://schemas.microsoft.com/office/drawing/2014/main" id="{730B4189-94CA-229B-5344-B5419C10AC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819752" y="1152668"/>
              <a:ext cx="914400" cy="91440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85A6448-D1A6-6896-90FE-F35682C04979}"/>
                </a:ext>
              </a:extLst>
            </p:cNvPr>
            <p:cNvSpPr txBox="1"/>
            <p:nvPr/>
          </p:nvSpPr>
          <p:spPr>
            <a:xfrm>
              <a:off x="3024582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P1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088A362-1DDB-F8C4-1E56-2BDB44A4796F}"/>
              </a:ext>
            </a:extLst>
          </p:cNvPr>
          <p:cNvGrpSpPr/>
          <p:nvPr/>
        </p:nvGrpSpPr>
        <p:grpSpPr>
          <a:xfrm>
            <a:off x="104180" y="1134056"/>
            <a:ext cx="914400" cy="1235294"/>
            <a:chOff x="104180" y="1134056"/>
            <a:chExt cx="914400" cy="1235294"/>
          </a:xfrm>
        </p:grpSpPr>
        <p:pic>
          <p:nvPicPr>
            <p:cNvPr id="5" name="Graphic 4" descr="Walk with solid fill">
              <a:extLst>
                <a:ext uri="{FF2B5EF4-FFF2-40B4-BE49-F238E27FC236}">
                  <a16:creationId xmlns:a16="http://schemas.microsoft.com/office/drawing/2014/main" id="{EFA107FF-555B-74AE-ECAD-C3A67B409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4180" y="1134056"/>
              <a:ext cx="914400" cy="914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9846E57-D1ED-ADA4-2908-D57BA373EEAF}"/>
                </a:ext>
              </a:extLst>
            </p:cNvPr>
            <p:cNvSpPr txBox="1"/>
            <p:nvPr/>
          </p:nvSpPr>
          <p:spPr>
            <a:xfrm>
              <a:off x="276129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P5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6E17BAE-7CE2-AADC-279A-09E0A8AC8F4A}"/>
              </a:ext>
            </a:extLst>
          </p:cNvPr>
          <p:cNvGrpSpPr/>
          <p:nvPr/>
        </p:nvGrpSpPr>
        <p:grpSpPr>
          <a:xfrm>
            <a:off x="1451816" y="1134056"/>
            <a:ext cx="914400" cy="1235294"/>
            <a:chOff x="1451816" y="1134056"/>
            <a:chExt cx="914400" cy="1235294"/>
          </a:xfrm>
        </p:grpSpPr>
        <p:pic>
          <p:nvPicPr>
            <p:cNvPr id="11" name="Graphic 10" descr="Walk with solid fill">
              <a:extLst>
                <a:ext uri="{FF2B5EF4-FFF2-40B4-BE49-F238E27FC236}">
                  <a16:creationId xmlns:a16="http://schemas.microsoft.com/office/drawing/2014/main" id="{83DF97A0-8189-1E8A-EC9F-47A90B194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51816" y="1134056"/>
              <a:ext cx="914400" cy="914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B3F3EEE-25D5-0447-4C73-924F4552205E}"/>
                </a:ext>
              </a:extLst>
            </p:cNvPr>
            <p:cNvSpPr txBox="1"/>
            <p:nvPr/>
          </p:nvSpPr>
          <p:spPr>
            <a:xfrm>
              <a:off x="1665624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129971A-97AA-7F37-2ED5-BDA83803298E}"/>
              </a:ext>
            </a:extLst>
          </p:cNvPr>
          <p:cNvGrpSpPr/>
          <p:nvPr/>
        </p:nvGrpSpPr>
        <p:grpSpPr>
          <a:xfrm>
            <a:off x="802527" y="1134056"/>
            <a:ext cx="914400" cy="1235294"/>
            <a:chOff x="802527" y="1134056"/>
            <a:chExt cx="914400" cy="1235294"/>
          </a:xfrm>
        </p:grpSpPr>
        <p:pic>
          <p:nvPicPr>
            <p:cNvPr id="10" name="Graphic 9" descr="Walk with solid fill">
              <a:extLst>
                <a:ext uri="{FF2B5EF4-FFF2-40B4-BE49-F238E27FC236}">
                  <a16:creationId xmlns:a16="http://schemas.microsoft.com/office/drawing/2014/main" id="{9F97572E-4F68-6949-246D-8350FE147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2527" y="1134056"/>
              <a:ext cx="914400" cy="914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27762F4-20B6-37F9-F6B9-7D9C44922476}"/>
                </a:ext>
              </a:extLst>
            </p:cNvPr>
            <p:cNvSpPr txBox="1"/>
            <p:nvPr/>
          </p:nvSpPr>
          <p:spPr>
            <a:xfrm>
              <a:off x="992701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P4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64AF524-BF15-A335-FBCB-8A9A86807385}"/>
              </a:ext>
            </a:extLst>
          </p:cNvPr>
          <p:cNvGrpSpPr/>
          <p:nvPr/>
        </p:nvGrpSpPr>
        <p:grpSpPr>
          <a:xfrm>
            <a:off x="2111677" y="1152668"/>
            <a:ext cx="914400" cy="1216682"/>
            <a:chOff x="2111677" y="1152668"/>
            <a:chExt cx="914400" cy="1216682"/>
          </a:xfrm>
        </p:grpSpPr>
        <p:pic>
          <p:nvPicPr>
            <p:cNvPr id="12" name="Graphic 11" descr="Walk with solid fill">
              <a:extLst>
                <a:ext uri="{FF2B5EF4-FFF2-40B4-BE49-F238E27FC236}">
                  <a16:creationId xmlns:a16="http://schemas.microsoft.com/office/drawing/2014/main" id="{EAB24795-4484-BB73-ACAB-E03BAC43F2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11677" y="1152668"/>
              <a:ext cx="914400" cy="9144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27765B5-26F9-C083-A4B9-E8224D9858EC}"/>
                </a:ext>
              </a:extLst>
            </p:cNvPr>
            <p:cNvSpPr txBox="1"/>
            <p:nvPr/>
          </p:nvSpPr>
          <p:spPr>
            <a:xfrm>
              <a:off x="2319820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P2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1B5F4EBA-2162-703B-C4F6-FAA51FA6C212}"/>
              </a:ext>
            </a:extLst>
          </p:cNvPr>
          <p:cNvSpPr txBox="1"/>
          <p:nvPr/>
        </p:nvSpPr>
        <p:spPr>
          <a:xfrm>
            <a:off x="276129" y="2966093"/>
            <a:ext cx="11462508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Steps: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P1 (P1 is at front of the counter and waiting to get ticket)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Dequeue (P1 collects ticket &amp; leave, now P2 is at front of the counter) - First In First Out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P3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P5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Dequeue (P2 collects ticket &amp; leave, now P3 is at front of the counter)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36931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8C496-3073-3BD2-D106-03850AD6F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User outline">
            <a:extLst>
              <a:ext uri="{FF2B5EF4-FFF2-40B4-BE49-F238E27FC236}">
                <a16:creationId xmlns:a16="http://schemas.microsoft.com/office/drawing/2014/main" id="{0FE07970-960D-6BA7-7651-4067F1AE0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89149" y="1271856"/>
            <a:ext cx="664726" cy="664726"/>
          </a:xfrm>
          <a:prstGeom prst="rect">
            <a:avLst/>
          </a:prstGeom>
        </p:spPr>
      </p:pic>
      <p:pic>
        <p:nvPicPr>
          <p:cNvPr id="9" name="Graphic 8" descr="Register with solid fill">
            <a:extLst>
              <a:ext uri="{FF2B5EF4-FFF2-40B4-BE49-F238E27FC236}">
                <a16:creationId xmlns:a16="http://schemas.microsoft.com/office/drawing/2014/main" id="{80DAA0FA-3CC9-6842-A50D-83081668E1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9986" y="1123545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5489DD8-02A1-2F11-54AB-D2FE14ABE236}"/>
              </a:ext>
            </a:extLst>
          </p:cNvPr>
          <p:cNvSpPr txBox="1"/>
          <p:nvPr/>
        </p:nvSpPr>
        <p:spPr>
          <a:xfrm>
            <a:off x="3245155" y="223736"/>
            <a:ext cx="5783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How the FIFO is executed in Queue data structure</a:t>
            </a:r>
          </a:p>
          <a:p>
            <a:r>
              <a:rPr lang="en-US" sz="2000" dirty="0"/>
              <a:t>Scenario: Ticket  supply in a movie theater.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2AEFC2-96F6-BDBA-51A5-7817B1DB9A69}"/>
              </a:ext>
            </a:extLst>
          </p:cNvPr>
          <p:cNvSpPr txBox="1"/>
          <p:nvPr/>
        </p:nvSpPr>
        <p:spPr>
          <a:xfrm>
            <a:off x="10647954" y="2022570"/>
            <a:ext cx="10906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Counter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E72C40-EF63-FC3C-5766-FEBE1AA5BDC5}"/>
              </a:ext>
            </a:extLst>
          </p:cNvPr>
          <p:cNvCxnSpPr>
            <a:cxnSpLocks/>
          </p:cNvCxnSpPr>
          <p:nvPr/>
        </p:nvCxnSpPr>
        <p:spPr>
          <a:xfrm flipV="1">
            <a:off x="4125308" y="1130822"/>
            <a:ext cx="6033759" cy="141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918A2A-D1DE-8A61-829C-282B3B13FFFF}"/>
              </a:ext>
            </a:extLst>
          </p:cNvPr>
          <p:cNvCxnSpPr>
            <a:cxnSpLocks/>
          </p:cNvCxnSpPr>
          <p:nvPr/>
        </p:nvCxnSpPr>
        <p:spPr>
          <a:xfrm flipV="1">
            <a:off x="4125308" y="2287082"/>
            <a:ext cx="6033759" cy="141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2A47954-0741-6E9D-EE67-DBAD96E4FDAE}"/>
              </a:ext>
            </a:extLst>
          </p:cNvPr>
          <p:cNvGrpSpPr/>
          <p:nvPr/>
        </p:nvGrpSpPr>
        <p:grpSpPr>
          <a:xfrm>
            <a:off x="9505785" y="1152668"/>
            <a:ext cx="914400" cy="1216682"/>
            <a:chOff x="2819752" y="1152668"/>
            <a:chExt cx="914400" cy="1216682"/>
          </a:xfrm>
        </p:grpSpPr>
        <p:pic>
          <p:nvPicPr>
            <p:cNvPr id="14" name="Graphic 13" descr="Walk with solid fill">
              <a:extLst>
                <a:ext uri="{FF2B5EF4-FFF2-40B4-BE49-F238E27FC236}">
                  <a16:creationId xmlns:a16="http://schemas.microsoft.com/office/drawing/2014/main" id="{4E020511-8DDD-DCBC-C072-FB78CED940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819752" y="1152668"/>
              <a:ext cx="914400" cy="91440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340A01D-6FB3-D0BF-9ABE-31EC533B10B4}"/>
                </a:ext>
              </a:extLst>
            </p:cNvPr>
            <p:cNvSpPr txBox="1"/>
            <p:nvPr/>
          </p:nvSpPr>
          <p:spPr>
            <a:xfrm>
              <a:off x="3024582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P1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EA74037-3692-5ACA-D3BE-1703C4FFB03A}"/>
              </a:ext>
            </a:extLst>
          </p:cNvPr>
          <p:cNvGrpSpPr/>
          <p:nvPr/>
        </p:nvGrpSpPr>
        <p:grpSpPr>
          <a:xfrm>
            <a:off x="104180" y="1134056"/>
            <a:ext cx="914400" cy="1235294"/>
            <a:chOff x="104180" y="1134056"/>
            <a:chExt cx="914400" cy="1235294"/>
          </a:xfrm>
        </p:grpSpPr>
        <p:pic>
          <p:nvPicPr>
            <p:cNvPr id="5" name="Graphic 4" descr="Walk with solid fill">
              <a:extLst>
                <a:ext uri="{FF2B5EF4-FFF2-40B4-BE49-F238E27FC236}">
                  <a16:creationId xmlns:a16="http://schemas.microsoft.com/office/drawing/2014/main" id="{5B572BDE-AF72-C7FA-C104-5570BC257D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4180" y="1134056"/>
              <a:ext cx="914400" cy="914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607175B-ABEB-3421-3905-08D61E4AA672}"/>
                </a:ext>
              </a:extLst>
            </p:cNvPr>
            <p:cNvSpPr txBox="1"/>
            <p:nvPr/>
          </p:nvSpPr>
          <p:spPr>
            <a:xfrm>
              <a:off x="276129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P5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7DD00C1-C163-E86C-0E9B-06EDFF94CC33}"/>
              </a:ext>
            </a:extLst>
          </p:cNvPr>
          <p:cNvGrpSpPr/>
          <p:nvPr/>
        </p:nvGrpSpPr>
        <p:grpSpPr>
          <a:xfrm>
            <a:off x="1451816" y="1134056"/>
            <a:ext cx="914400" cy="1235294"/>
            <a:chOff x="1451816" y="1134056"/>
            <a:chExt cx="914400" cy="1235294"/>
          </a:xfrm>
        </p:grpSpPr>
        <p:pic>
          <p:nvPicPr>
            <p:cNvPr id="11" name="Graphic 10" descr="Walk with solid fill">
              <a:extLst>
                <a:ext uri="{FF2B5EF4-FFF2-40B4-BE49-F238E27FC236}">
                  <a16:creationId xmlns:a16="http://schemas.microsoft.com/office/drawing/2014/main" id="{6A9ED25A-6118-F55A-6FAC-172DB0679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51816" y="1134056"/>
              <a:ext cx="914400" cy="914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DB56073-DC78-1A14-1B4E-D57894F6E99C}"/>
                </a:ext>
              </a:extLst>
            </p:cNvPr>
            <p:cNvSpPr txBox="1"/>
            <p:nvPr/>
          </p:nvSpPr>
          <p:spPr>
            <a:xfrm>
              <a:off x="1665624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9220DD7-C409-F822-B41B-B6CA23DC6B18}"/>
              </a:ext>
            </a:extLst>
          </p:cNvPr>
          <p:cNvGrpSpPr/>
          <p:nvPr/>
        </p:nvGrpSpPr>
        <p:grpSpPr>
          <a:xfrm>
            <a:off x="802527" y="1134056"/>
            <a:ext cx="914400" cy="1235294"/>
            <a:chOff x="802527" y="1134056"/>
            <a:chExt cx="914400" cy="1235294"/>
          </a:xfrm>
        </p:grpSpPr>
        <p:pic>
          <p:nvPicPr>
            <p:cNvPr id="10" name="Graphic 9" descr="Walk with solid fill">
              <a:extLst>
                <a:ext uri="{FF2B5EF4-FFF2-40B4-BE49-F238E27FC236}">
                  <a16:creationId xmlns:a16="http://schemas.microsoft.com/office/drawing/2014/main" id="{363EE494-9318-AE06-BC97-357AE69BA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2527" y="1134056"/>
              <a:ext cx="914400" cy="914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30F4123-14C5-7528-AB1E-94E6ACA34359}"/>
                </a:ext>
              </a:extLst>
            </p:cNvPr>
            <p:cNvSpPr txBox="1"/>
            <p:nvPr/>
          </p:nvSpPr>
          <p:spPr>
            <a:xfrm>
              <a:off x="992701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P4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DF97384-3CDE-30F1-193E-74A166547316}"/>
              </a:ext>
            </a:extLst>
          </p:cNvPr>
          <p:cNvGrpSpPr/>
          <p:nvPr/>
        </p:nvGrpSpPr>
        <p:grpSpPr>
          <a:xfrm>
            <a:off x="2111677" y="1152668"/>
            <a:ext cx="914400" cy="1216682"/>
            <a:chOff x="2111677" y="1152668"/>
            <a:chExt cx="914400" cy="1216682"/>
          </a:xfrm>
        </p:grpSpPr>
        <p:pic>
          <p:nvPicPr>
            <p:cNvPr id="12" name="Graphic 11" descr="Walk with solid fill">
              <a:extLst>
                <a:ext uri="{FF2B5EF4-FFF2-40B4-BE49-F238E27FC236}">
                  <a16:creationId xmlns:a16="http://schemas.microsoft.com/office/drawing/2014/main" id="{7179823B-CE59-5C9A-85C7-037007BF2F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11677" y="1152668"/>
              <a:ext cx="914400" cy="9144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889284A-8AAB-9907-15D9-1CBE842856EE}"/>
                </a:ext>
              </a:extLst>
            </p:cNvPr>
            <p:cNvSpPr txBox="1"/>
            <p:nvPr/>
          </p:nvSpPr>
          <p:spPr>
            <a:xfrm>
              <a:off x="2319820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P2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EC7C4C6-613B-C23D-E87E-F0E679036C8B}"/>
              </a:ext>
            </a:extLst>
          </p:cNvPr>
          <p:cNvSpPr txBox="1"/>
          <p:nvPr/>
        </p:nvSpPr>
        <p:spPr>
          <a:xfrm>
            <a:off x="276129" y="2966093"/>
            <a:ext cx="11462508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Steps: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P1 (P1 is at front of the counter and waiting to get ticket)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Dequeue (P1 collects ticket &amp; leave, now P2 is at front of the counter) - First In First Out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P3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P5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Dequeue (P2 collects ticket &amp; leave, now P3 is at front of the counter)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EB22F4-48D1-467F-98F1-DD0271EC9698}"/>
              </a:ext>
            </a:extLst>
          </p:cNvPr>
          <p:cNvSpPr/>
          <p:nvPr/>
        </p:nvSpPr>
        <p:spPr>
          <a:xfrm>
            <a:off x="629174" y="3429000"/>
            <a:ext cx="7222921" cy="3712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EA5A13-CCA4-7D5F-AA1A-02C85E6EF337}"/>
              </a:ext>
            </a:extLst>
          </p:cNvPr>
          <p:cNvSpPr txBox="1"/>
          <p:nvPr/>
        </p:nvSpPr>
        <p:spPr>
          <a:xfrm>
            <a:off x="9576391" y="429043"/>
            <a:ext cx="850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First In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C41E044-943F-C049-21F4-9C4E410C0B9A}"/>
              </a:ext>
            </a:extLst>
          </p:cNvPr>
          <p:cNvCxnSpPr>
            <a:cxnSpLocks/>
          </p:cNvCxnSpPr>
          <p:nvPr/>
        </p:nvCxnSpPr>
        <p:spPr>
          <a:xfrm>
            <a:off x="10001828" y="722874"/>
            <a:ext cx="0" cy="35429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471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7734B-507B-ABFE-B3D4-9D0195109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User outline">
            <a:extLst>
              <a:ext uri="{FF2B5EF4-FFF2-40B4-BE49-F238E27FC236}">
                <a16:creationId xmlns:a16="http://schemas.microsoft.com/office/drawing/2014/main" id="{319994F3-44B3-D67D-447A-CA6D360AB3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89149" y="1271856"/>
            <a:ext cx="664726" cy="664726"/>
          </a:xfrm>
          <a:prstGeom prst="rect">
            <a:avLst/>
          </a:prstGeom>
        </p:spPr>
      </p:pic>
      <p:pic>
        <p:nvPicPr>
          <p:cNvPr id="9" name="Graphic 8" descr="Register with solid fill">
            <a:extLst>
              <a:ext uri="{FF2B5EF4-FFF2-40B4-BE49-F238E27FC236}">
                <a16:creationId xmlns:a16="http://schemas.microsoft.com/office/drawing/2014/main" id="{4EF3A7A8-781C-3858-D151-5CE22AEE5B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9986" y="1123545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C36DA4A-E208-9845-2831-33C0CE957180}"/>
              </a:ext>
            </a:extLst>
          </p:cNvPr>
          <p:cNvSpPr txBox="1"/>
          <p:nvPr/>
        </p:nvSpPr>
        <p:spPr>
          <a:xfrm>
            <a:off x="3245155" y="223736"/>
            <a:ext cx="5783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How the FIFO is executed in Queue data structure</a:t>
            </a:r>
          </a:p>
          <a:p>
            <a:r>
              <a:rPr lang="en-US" sz="2000" dirty="0"/>
              <a:t>Scenario: Ticket  supply in a movie theater.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9B2C65-8015-9FFE-9521-8EFEABCBC75E}"/>
              </a:ext>
            </a:extLst>
          </p:cNvPr>
          <p:cNvSpPr txBox="1"/>
          <p:nvPr/>
        </p:nvSpPr>
        <p:spPr>
          <a:xfrm>
            <a:off x="10647954" y="2022570"/>
            <a:ext cx="10906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Counter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861C272-ACDF-94A3-80D9-573EF1E03CCE}"/>
              </a:ext>
            </a:extLst>
          </p:cNvPr>
          <p:cNvCxnSpPr>
            <a:cxnSpLocks/>
          </p:cNvCxnSpPr>
          <p:nvPr/>
        </p:nvCxnSpPr>
        <p:spPr>
          <a:xfrm flipV="1">
            <a:off x="4125308" y="1130822"/>
            <a:ext cx="6033759" cy="141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1BCD929-46C8-5593-B87B-FE9C0CACD44B}"/>
              </a:ext>
            </a:extLst>
          </p:cNvPr>
          <p:cNvCxnSpPr>
            <a:cxnSpLocks/>
          </p:cNvCxnSpPr>
          <p:nvPr/>
        </p:nvCxnSpPr>
        <p:spPr>
          <a:xfrm flipV="1">
            <a:off x="4125308" y="2287082"/>
            <a:ext cx="6033759" cy="141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5CDE3D3-C463-3E82-1A09-E60A10A62D1F}"/>
              </a:ext>
            </a:extLst>
          </p:cNvPr>
          <p:cNvGrpSpPr/>
          <p:nvPr/>
        </p:nvGrpSpPr>
        <p:grpSpPr>
          <a:xfrm>
            <a:off x="9505785" y="1152668"/>
            <a:ext cx="914400" cy="1216682"/>
            <a:chOff x="2819752" y="1152668"/>
            <a:chExt cx="914400" cy="1216682"/>
          </a:xfrm>
        </p:grpSpPr>
        <p:pic>
          <p:nvPicPr>
            <p:cNvPr id="14" name="Graphic 13" descr="Walk with solid fill">
              <a:extLst>
                <a:ext uri="{FF2B5EF4-FFF2-40B4-BE49-F238E27FC236}">
                  <a16:creationId xmlns:a16="http://schemas.microsoft.com/office/drawing/2014/main" id="{52B46323-E80F-6CB9-0AEA-5D6E457C1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819752" y="1152668"/>
              <a:ext cx="914400" cy="91440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F2545B-82E7-ACCE-939E-832E3BFB323D}"/>
                </a:ext>
              </a:extLst>
            </p:cNvPr>
            <p:cNvSpPr txBox="1"/>
            <p:nvPr/>
          </p:nvSpPr>
          <p:spPr>
            <a:xfrm>
              <a:off x="3024582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P1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EF0B5DB-2FCC-09D1-78A3-5B9DA26BC5D1}"/>
              </a:ext>
            </a:extLst>
          </p:cNvPr>
          <p:cNvGrpSpPr/>
          <p:nvPr/>
        </p:nvGrpSpPr>
        <p:grpSpPr>
          <a:xfrm>
            <a:off x="104180" y="1134056"/>
            <a:ext cx="914400" cy="1235294"/>
            <a:chOff x="104180" y="1134056"/>
            <a:chExt cx="914400" cy="1235294"/>
          </a:xfrm>
        </p:grpSpPr>
        <p:pic>
          <p:nvPicPr>
            <p:cNvPr id="5" name="Graphic 4" descr="Walk with solid fill">
              <a:extLst>
                <a:ext uri="{FF2B5EF4-FFF2-40B4-BE49-F238E27FC236}">
                  <a16:creationId xmlns:a16="http://schemas.microsoft.com/office/drawing/2014/main" id="{7508FE93-F46D-025D-FE74-317BEAE8D2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4180" y="1134056"/>
              <a:ext cx="914400" cy="914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5559AB7-560C-FB5F-85DE-7715CF35C839}"/>
                </a:ext>
              </a:extLst>
            </p:cNvPr>
            <p:cNvSpPr txBox="1"/>
            <p:nvPr/>
          </p:nvSpPr>
          <p:spPr>
            <a:xfrm>
              <a:off x="276129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P5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14925F6-9BF1-FB8E-CFDE-CE85121A8171}"/>
              </a:ext>
            </a:extLst>
          </p:cNvPr>
          <p:cNvGrpSpPr/>
          <p:nvPr/>
        </p:nvGrpSpPr>
        <p:grpSpPr>
          <a:xfrm>
            <a:off x="1451816" y="1134056"/>
            <a:ext cx="914400" cy="1235294"/>
            <a:chOff x="1451816" y="1134056"/>
            <a:chExt cx="914400" cy="1235294"/>
          </a:xfrm>
        </p:grpSpPr>
        <p:pic>
          <p:nvPicPr>
            <p:cNvPr id="11" name="Graphic 10" descr="Walk with solid fill">
              <a:extLst>
                <a:ext uri="{FF2B5EF4-FFF2-40B4-BE49-F238E27FC236}">
                  <a16:creationId xmlns:a16="http://schemas.microsoft.com/office/drawing/2014/main" id="{4FCFEE75-BD08-8484-8B7C-3797F736B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51816" y="1134056"/>
              <a:ext cx="914400" cy="914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9BCC4A9-F542-970D-E0F3-2B415E173361}"/>
                </a:ext>
              </a:extLst>
            </p:cNvPr>
            <p:cNvSpPr txBox="1"/>
            <p:nvPr/>
          </p:nvSpPr>
          <p:spPr>
            <a:xfrm>
              <a:off x="1665624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CAEDF15-C2F6-6D6D-4DAE-0FEAF25EB046}"/>
              </a:ext>
            </a:extLst>
          </p:cNvPr>
          <p:cNvGrpSpPr/>
          <p:nvPr/>
        </p:nvGrpSpPr>
        <p:grpSpPr>
          <a:xfrm>
            <a:off x="802527" y="1134056"/>
            <a:ext cx="914400" cy="1235294"/>
            <a:chOff x="802527" y="1134056"/>
            <a:chExt cx="914400" cy="1235294"/>
          </a:xfrm>
        </p:grpSpPr>
        <p:pic>
          <p:nvPicPr>
            <p:cNvPr id="10" name="Graphic 9" descr="Walk with solid fill">
              <a:extLst>
                <a:ext uri="{FF2B5EF4-FFF2-40B4-BE49-F238E27FC236}">
                  <a16:creationId xmlns:a16="http://schemas.microsoft.com/office/drawing/2014/main" id="{BE9919C4-BF37-67C6-7F39-BF43883D1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2527" y="1134056"/>
              <a:ext cx="914400" cy="914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93F0419-0095-BA6D-CC8B-959823AB6119}"/>
                </a:ext>
              </a:extLst>
            </p:cNvPr>
            <p:cNvSpPr txBox="1"/>
            <p:nvPr/>
          </p:nvSpPr>
          <p:spPr>
            <a:xfrm>
              <a:off x="992701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P4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350E39A-8363-08CB-3025-51E416092526}"/>
              </a:ext>
            </a:extLst>
          </p:cNvPr>
          <p:cNvGrpSpPr/>
          <p:nvPr/>
        </p:nvGrpSpPr>
        <p:grpSpPr>
          <a:xfrm>
            <a:off x="8730598" y="1152668"/>
            <a:ext cx="914400" cy="1216682"/>
            <a:chOff x="2111677" y="1152668"/>
            <a:chExt cx="914400" cy="1216682"/>
          </a:xfrm>
        </p:grpSpPr>
        <p:pic>
          <p:nvPicPr>
            <p:cNvPr id="12" name="Graphic 11" descr="Walk with solid fill">
              <a:extLst>
                <a:ext uri="{FF2B5EF4-FFF2-40B4-BE49-F238E27FC236}">
                  <a16:creationId xmlns:a16="http://schemas.microsoft.com/office/drawing/2014/main" id="{5D179E5F-85BA-7F86-751E-46C02A54B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11677" y="1152668"/>
              <a:ext cx="914400" cy="9144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0A8427F-0A05-50F7-2434-A32D43F989F5}"/>
                </a:ext>
              </a:extLst>
            </p:cNvPr>
            <p:cNvSpPr txBox="1"/>
            <p:nvPr/>
          </p:nvSpPr>
          <p:spPr>
            <a:xfrm>
              <a:off x="2319820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P2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437D19C-87C2-E8AF-71A6-34CD76EE0655}"/>
              </a:ext>
            </a:extLst>
          </p:cNvPr>
          <p:cNvSpPr txBox="1"/>
          <p:nvPr/>
        </p:nvSpPr>
        <p:spPr>
          <a:xfrm>
            <a:off x="276129" y="2966093"/>
            <a:ext cx="11462508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Steps: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P1 (P1 is at front of the counter and waiting to get ticket)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Dequeue (P1 collects ticket &amp; leave, now P2 is at front of the counter) - First In First Out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P3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P5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Dequeue (P2 collects ticket &amp; leave, now P3 is at front of the counter)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AF551C-D1CE-8E24-083A-C305138A81AE}"/>
              </a:ext>
            </a:extLst>
          </p:cNvPr>
          <p:cNvSpPr/>
          <p:nvPr/>
        </p:nvSpPr>
        <p:spPr>
          <a:xfrm>
            <a:off x="629175" y="3831672"/>
            <a:ext cx="1477596" cy="3712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4F9AF45-985F-6F70-EB5E-3EA7FEF5137B}"/>
              </a:ext>
            </a:extLst>
          </p:cNvPr>
          <p:cNvGrpSpPr/>
          <p:nvPr/>
        </p:nvGrpSpPr>
        <p:grpSpPr>
          <a:xfrm>
            <a:off x="9576391" y="429043"/>
            <a:ext cx="850874" cy="648124"/>
            <a:chOff x="9710615" y="429043"/>
            <a:chExt cx="850874" cy="64812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C142D8A-2C0F-ADDB-4A27-59D1CE400452}"/>
                </a:ext>
              </a:extLst>
            </p:cNvPr>
            <p:cNvSpPr txBox="1"/>
            <p:nvPr/>
          </p:nvSpPr>
          <p:spPr>
            <a:xfrm>
              <a:off x="9710615" y="429043"/>
              <a:ext cx="8508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First In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EEFDA31-29B5-0436-D8F5-B97388E96AF4}"/>
                </a:ext>
              </a:extLst>
            </p:cNvPr>
            <p:cNvCxnSpPr>
              <a:cxnSpLocks/>
            </p:cNvCxnSpPr>
            <p:nvPr/>
          </p:nvCxnSpPr>
          <p:spPr>
            <a:xfrm>
              <a:off x="10136052" y="722874"/>
              <a:ext cx="0" cy="35429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0587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848D0-445E-5A42-8746-CB913BFF6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User outline">
            <a:extLst>
              <a:ext uri="{FF2B5EF4-FFF2-40B4-BE49-F238E27FC236}">
                <a16:creationId xmlns:a16="http://schemas.microsoft.com/office/drawing/2014/main" id="{36B78716-2B48-5377-6396-FD48C5731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89149" y="1271856"/>
            <a:ext cx="664726" cy="664726"/>
          </a:xfrm>
          <a:prstGeom prst="rect">
            <a:avLst/>
          </a:prstGeom>
        </p:spPr>
      </p:pic>
      <p:pic>
        <p:nvPicPr>
          <p:cNvPr id="9" name="Graphic 8" descr="Register with solid fill">
            <a:extLst>
              <a:ext uri="{FF2B5EF4-FFF2-40B4-BE49-F238E27FC236}">
                <a16:creationId xmlns:a16="http://schemas.microsoft.com/office/drawing/2014/main" id="{A7FEB619-343E-8501-C796-BA2932735B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9986" y="1123545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674893F-B071-A21F-491D-778FA61352A0}"/>
              </a:ext>
            </a:extLst>
          </p:cNvPr>
          <p:cNvSpPr txBox="1"/>
          <p:nvPr/>
        </p:nvSpPr>
        <p:spPr>
          <a:xfrm>
            <a:off x="3245155" y="223736"/>
            <a:ext cx="5783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How the FIFO is executed in Queue data structure</a:t>
            </a:r>
          </a:p>
          <a:p>
            <a:r>
              <a:rPr lang="en-US" sz="2000" dirty="0"/>
              <a:t>Scenario: Ticket  supply in a movie theater.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B52E87-28CD-DC4D-077B-E6FFD5FCEEAA}"/>
              </a:ext>
            </a:extLst>
          </p:cNvPr>
          <p:cNvSpPr txBox="1"/>
          <p:nvPr/>
        </p:nvSpPr>
        <p:spPr>
          <a:xfrm>
            <a:off x="10647954" y="2022570"/>
            <a:ext cx="10906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Counter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DBF1A21-5F43-F2A8-1BE7-BEEF71FE6AD6}"/>
              </a:ext>
            </a:extLst>
          </p:cNvPr>
          <p:cNvCxnSpPr>
            <a:cxnSpLocks/>
          </p:cNvCxnSpPr>
          <p:nvPr/>
        </p:nvCxnSpPr>
        <p:spPr>
          <a:xfrm flipV="1">
            <a:off x="4125308" y="1130822"/>
            <a:ext cx="6033759" cy="141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3256A14-B177-E089-55D7-02AF770A7C6C}"/>
              </a:ext>
            </a:extLst>
          </p:cNvPr>
          <p:cNvCxnSpPr>
            <a:cxnSpLocks/>
          </p:cNvCxnSpPr>
          <p:nvPr/>
        </p:nvCxnSpPr>
        <p:spPr>
          <a:xfrm flipV="1">
            <a:off x="4125308" y="2287082"/>
            <a:ext cx="6033759" cy="141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A455139-F595-4B73-2F6B-AFCC37270361}"/>
              </a:ext>
            </a:extLst>
          </p:cNvPr>
          <p:cNvGrpSpPr/>
          <p:nvPr/>
        </p:nvGrpSpPr>
        <p:grpSpPr>
          <a:xfrm>
            <a:off x="9644998" y="2459847"/>
            <a:ext cx="914400" cy="1216682"/>
            <a:chOff x="2819752" y="1152668"/>
            <a:chExt cx="914400" cy="1216682"/>
          </a:xfrm>
        </p:grpSpPr>
        <p:pic>
          <p:nvPicPr>
            <p:cNvPr id="14" name="Graphic 13" descr="Walk with solid fill">
              <a:extLst>
                <a:ext uri="{FF2B5EF4-FFF2-40B4-BE49-F238E27FC236}">
                  <a16:creationId xmlns:a16="http://schemas.microsoft.com/office/drawing/2014/main" id="{1792BC4E-B316-EDA6-2730-CE61BABC8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819752" y="1152668"/>
              <a:ext cx="914400" cy="91440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99C4E18-03D2-8732-91C7-1294D974312F}"/>
                </a:ext>
              </a:extLst>
            </p:cNvPr>
            <p:cNvSpPr txBox="1"/>
            <p:nvPr/>
          </p:nvSpPr>
          <p:spPr>
            <a:xfrm>
              <a:off x="3024582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P1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1878F4E-D117-0BE8-0C7E-664F414090B5}"/>
              </a:ext>
            </a:extLst>
          </p:cNvPr>
          <p:cNvGrpSpPr/>
          <p:nvPr/>
        </p:nvGrpSpPr>
        <p:grpSpPr>
          <a:xfrm>
            <a:off x="104180" y="1134056"/>
            <a:ext cx="914400" cy="1235294"/>
            <a:chOff x="104180" y="1134056"/>
            <a:chExt cx="914400" cy="1235294"/>
          </a:xfrm>
        </p:grpSpPr>
        <p:pic>
          <p:nvPicPr>
            <p:cNvPr id="5" name="Graphic 4" descr="Walk with solid fill">
              <a:extLst>
                <a:ext uri="{FF2B5EF4-FFF2-40B4-BE49-F238E27FC236}">
                  <a16:creationId xmlns:a16="http://schemas.microsoft.com/office/drawing/2014/main" id="{31B09B94-C4D6-7464-B109-9730B0754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4180" y="1134056"/>
              <a:ext cx="914400" cy="914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0A8F4CD-A488-E30A-719C-CDBD5F35B404}"/>
                </a:ext>
              </a:extLst>
            </p:cNvPr>
            <p:cNvSpPr txBox="1"/>
            <p:nvPr/>
          </p:nvSpPr>
          <p:spPr>
            <a:xfrm>
              <a:off x="276129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P5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19A6B4E-384F-6094-1DF9-155557A7550E}"/>
              </a:ext>
            </a:extLst>
          </p:cNvPr>
          <p:cNvGrpSpPr/>
          <p:nvPr/>
        </p:nvGrpSpPr>
        <p:grpSpPr>
          <a:xfrm>
            <a:off x="1451816" y="1134056"/>
            <a:ext cx="914400" cy="1235294"/>
            <a:chOff x="1451816" y="1134056"/>
            <a:chExt cx="914400" cy="1235294"/>
          </a:xfrm>
        </p:grpSpPr>
        <p:pic>
          <p:nvPicPr>
            <p:cNvPr id="11" name="Graphic 10" descr="Walk with solid fill">
              <a:extLst>
                <a:ext uri="{FF2B5EF4-FFF2-40B4-BE49-F238E27FC236}">
                  <a16:creationId xmlns:a16="http://schemas.microsoft.com/office/drawing/2014/main" id="{2081EB4F-A7A4-0EAF-AD6C-5B34E8544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51816" y="1134056"/>
              <a:ext cx="914400" cy="914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7C78C17-8C77-9190-F5BF-C42C73F85E07}"/>
                </a:ext>
              </a:extLst>
            </p:cNvPr>
            <p:cNvSpPr txBox="1"/>
            <p:nvPr/>
          </p:nvSpPr>
          <p:spPr>
            <a:xfrm>
              <a:off x="1665624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45598FA-A1C0-7FB2-19F2-C327C62BE2AE}"/>
              </a:ext>
            </a:extLst>
          </p:cNvPr>
          <p:cNvGrpSpPr/>
          <p:nvPr/>
        </p:nvGrpSpPr>
        <p:grpSpPr>
          <a:xfrm>
            <a:off x="802527" y="1134056"/>
            <a:ext cx="914400" cy="1235294"/>
            <a:chOff x="802527" y="1134056"/>
            <a:chExt cx="914400" cy="1235294"/>
          </a:xfrm>
        </p:grpSpPr>
        <p:pic>
          <p:nvPicPr>
            <p:cNvPr id="10" name="Graphic 9" descr="Walk with solid fill">
              <a:extLst>
                <a:ext uri="{FF2B5EF4-FFF2-40B4-BE49-F238E27FC236}">
                  <a16:creationId xmlns:a16="http://schemas.microsoft.com/office/drawing/2014/main" id="{1BFF03ED-8EF6-3717-C4D5-BF80F61FE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2527" y="1134056"/>
              <a:ext cx="914400" cy="914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FA75B7A-2A97-47FB-5F4C-E17BCD3DABD7}"/>
                </a:ext>
              </a:extLst>
            </p:cNvPr>
            <p:cNvSpPr txBox="1"/>
            <p:nvPr/>
          </p:nvSpPr>
          <p:spPr>
            <a:xfrm>
              <a:off x="992701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P4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4996B68-8B4C-D095-F424-A56E6DFFF4ED}"/>
              </a:ext>
            </a:extLst>
          </p:cNvPr>
          <p:cNvGrpSpPr/>
          <p:nvPr/>
        </p:nvGrpSpPr>
        <p:grpSpPr>
          <a:xfrm>
            <a:off x="9384940" y="1152668"/>
            <a:ext cx="914400" cy="1216682"/>
            <a:chOff x="2111677" y="1152668"/>
            <a:chExt cx="914400" cy="1216682"/>
          </a:xfrm>
        </p:grpSpPr>
        <p:pic>
          <p:nvPicPr>
            <p:cNvPr id="12" name="Graphic 11" descr="Walk with solid fill">
              <a:extLst>
                <a:ext uri="{FF2B5EF4-FFF2-40B4-BE49-F238E27FC236}">
                  <a16:creationId xmlns:a16="http://schemas.microsoft.com/office/drawing/2014/main" id="{7A685CD1-074D-EFF8-66F1-0CFA4FFD3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11677" y="1152668"/>
              <a:ext cx="914400" cy="9144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F25F758-E293-77F1-3963-77E6102BAEA0}"/>
                </a:ext>
              </a:extLst>
            </p:cNvPr>
            <p:cNvSpPr txBox="1"/>
            <p:nvPr/>
          </p:nvSpPr>
          <p:spPr>
            <a:xfrm>
              <a:off x="2319820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P2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5B3192B-AC57-BE7B-900A-BA61FDDBC32B}"/>
              </a:ext>
            </a:extLst>
          </p:cNvPr>
          <p:cNvSpPr txBox="1"/>
          <p:nvPr/>
        </p:nvSpPr>
        <p:spPr>
          <a:xfrm>
            <a:off x="276129" y="2966093"/>
            <a:ext cx="11462508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Steps: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P1 (P1 is at front of the counter and waiting to get ticket)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Dequeue (P1 collects ticket &amp; leave, now P2 is at front of the counter) - First In First Out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P3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P5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Dequeue (P2 collects ticket &amp; leave, now P3 is at front of the counter)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312DDF-A53B-16FC-56C9-91E802E94EA7}"/>
              </a:ext>
            </a:extLst>
          </p:cNvPr>
          <p:cNvSpPr/>
          <p:nvPr/>
        </p:nvSpPr>
        <p:spPr>
          <a:xfrm>
            <a:off x="629175" y="4318234"/>
            <a:ext cx="9529892" cy="3712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0DFACBC-AF9D-A31C-BB68-A7BC6877675A}"/>
              </a:ext>
            </a:extLst>
          </p:cNvPr>
          <p:cNvGrpSpPr/>
          <p:nvPr/>
        </p:nvGrpSpPr>
        <p:grpSpPr>
          <a:xfrm>
            <a:off x="8212187" y="2758238"/>
            <a:ext cx="1506763" cy="369332"/>
            <a:chOff x="8346411" y="2758238"/>
            <a:chExt cx="1506763" cy="36933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CFF565D-C3DE-8127-3E59-A2AECEBEE7F3}"/>
                </a:ext>
              </a:extLst>
            </p:cNvPr>
            <p:cNvSpPr txBox="1"/>
            <p:nvPr/>
          </p:nvSpPr>
          <p:spPr>
            <a:xfrm>
              <a:off x="8346411" y="2758238"/>
              <a:ext cx="10368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First Out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78DE748-6EEA-F774-7D48-761293849068}"/>
                </a:ext>
              </a:extLst>
            </p:cNvPr>
            <p:cNvCxnSpPr>
              <a:cxnSpLocks/>
            </p:cNvCxnSpPr>
            <p:nvPr/>
          </p:nvCxnSpPr>
          <p:spPr>
            <a:xfrm>
              <a:off x="9383233" y="2966093"/>
              <a:ext cx="469941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378956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A3EC3-FAD8-06C2-D6FC-FA01A3910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User outline">
            <a:extLst>
              <a:ext uri="{FF2B5EF4-FFF2-40B4-BE49-F238E27FC236}">
                <a16:creationId xmlns:a16="http://schemas.microsoft.com/office/drawing/2014/main" id="{6014B66F-6936-43C2-8B72-9345C0ECF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89149" y="1271856"/>
            <a:ext cx="664726" cy="664726"/>
          </a:xfrm>
          <a:prstGeom prst="rect">
            <a:avLst/>
          </a:prstGeom>
        </p:spPr>
      </p:pic>
      <p:pic>
        <p:nvPicPr>
          <p:cNvPr id="9" name="Graphic 8" descr="Register with solid fill">
            <a:extLst>
              <a:ext uri="{FF2B5EF4-FFF2-40B4-BE49-F238E27FC236}">
                <a16:creationId xmlns:a16="http://schemas.microsoft.com/office/drawing/2014/main" id="{C067B5EA-8C1B-6861-CB6D-359C64FF00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9986" y="1123545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149507A-46F1-E420-1405-A48CACA2674D}"/>
              </a:ext>
            </a:extLst>
          </p:cNvPr>
          <p:cNvSpPr txBox="1"/>
          <p:nvPr/>
        </p:nvSpPr>
        <p:spPr>
          <a:xfrm>
            <a:off x="3245155" y="223736"/>
            <a:ext cx="5783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How the FIFO is executed in Queue data structure</a:t>
            </a:r>
          </a:p>
          <a:p>
            <a:r>
              <a:rPr lang="en-US" sz="2000" dirty="0"/>
              <a:t>Scenario: Ticket  supply in a movie theater.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FD28DA-0981-6EF0-3FF8-3F961AB53D21}"/>
              </a:ext>
            </a:extLst>
          </p:cNvPr>
          <p:cNvSpPr txBox="1"/>
          <p:nvPr/>
        </p:nvSpPr>
        <p:spPr>
          <a:xfrm>
            <a:off x="10647954" y="2022570"/>
            <a:ext cx="10906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Counter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32C39CA-2EBB-2517-6541-26BB8CEAAEE8}"/>
              </a:ext>
            </a:extLst>
          </p:cNvPr>
          <p:cNvCxnSpPr>
            <a:cxnSpLocks/>
          </p:cNvCxnSpPr>
          <p:nvPr/>
        </p:nvCxnSpPr>
        <p:spPr>
          <a:xfrm flipV="1">
            <a:off x="4125308" y="1130822"/>
            <a:ext cx="6033759" cy="141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61DFE8C-AB9B-3916-5A74-9E302BF08BF0}"/>
              </a:ext>
            </a:extLst>
          </p:cNvPr>
          <p:cNvCxnSpPr>
            <a:cxnSpLocks/>
          </p:cNvCxnSpPr>
          <p:nvPr/>
        </p:nvCxnSpPr>
        <p:spPr>
          <a:xfrm flipV="1">
            <a:off x="4125308" y="2287082"/>
            <a:ext cx="6033759" cy="141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5E8BD4-E12A-F21F-0B7D-AED63487EF00}"/>
              </a:ext>
            </a:extLst>
          </p:cNvPr>
          <p:cNvGrpSpPr/>
          <p:nvPr/>
        </p:nvGrpSpPr>
        <p:grpSpPr>
          <a:xfrm>
            <a:off x="104180" y="1134056"/>
            <a:ext cx="914400" cy="1235294"/>
            <a:chOff x="104180" y="1134056"/>
            <a:chExt cx="914400" cy="1235294"/>
          </a:xfrm>
        </p:grpSpPr>
        <p:pic>
          <p:nvPicPr>
            <p:cNvPr id="5" name="Graphic 4" descr="Walk with solid fill">
              <a:extLst>
                <a:ext uri="{FF2B5EF4-FFF2-40B4-BE49-F238E27FC236}">
                  <a16:creationId xmlns:a16="http://schemas.microsoft.com/office/drawing/2014/main" id="{F07DDA9A-37A8-4794-8790-816F23BC9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4180" y="1134056"/>
              <a:ext cx="914400" cy="914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E19803B-0D1E-2DAA-2ABB-1E52F20E2BCA}"/>
                </a:ext>
              </a:extLst>
            </p:cNvPr>
            <p:cNvSpPr txBox="1"/>
            <p:nvPr/>
          </p:nvSpPr>
          <p:spPr>
            <a:xfrm>
              <a:off x="276129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P5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4D3827B-E0E7-0509-33F3-407803B116A1}"/>
              </a:ext>
            </a:extLst>
          </p:cNvPr>
          <p:cNvGrpSpPr/>
          <p:nvPr/>
        </p:nvGrpSpPr>
        <p:grpSpPr>
          <a:xfrm>
            <a:off x="8691523" y="1134056"/>
            <a:ext cx="914400" cy="1235294"/>
            <a:chOff x="1451816" y="1134056"/>
            <a:chExt cx="914400" cy="1235294"/>
          </a:xfrm>
        </p:grpSpPr>
        <p:pic>
          <p:nvPicPr>
            <p:cNvPr id="11" name="Graphic 10" descr="Walk with solid fill">
              <a:extLst>
                <a:ext uri="{FF2B5EF4-FFF2-40B4-BE49-F238E27FC236}">
                  <a16:creationId xmlns:a16="http://schemas.microsoft.com/office/drawing/2014/main" id="{FBD83BA2-B24C-53D0-114F-32807BD72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51816" y="1134056"/>
              <a:ext cx="914400" cy="914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BB6963E-8A3B-BE5D-31CF-29430466AA70}"/>
                </a:ext>
              </a:extLst>
            </p:cNvPr>
            <p:cNvSpPr txBox="1"/>
            <p:nvPr/>
          </p:nvSpPr>
          <p:spPr>
            <a:xfrm>
              <a:off x="1665624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FE5FE80-A07E-E89E-CD33-EADF8CF90C06}"/>
              </a:ext>
            </a:extLst>
          </p:cNvPr>
          <p:cNvGrpSpPr/>
          <p:nvPr/>
        </p:nvGrpSpPr>
        <p:grpSpPr>
          <a:xfrm>
            <a:off x="802527" y="1134056"/>
            <a:ext cx="914400" cy="1235294"/>
            <a:chOff x="802527" y="1134056"/>
            <a:chExt cx="914400" cy="1235294"/>
          </a:xfrm>
        </p:grpSpPr>
        <p:pic>
          <p:nvPicPr>
            <p:cNvPr id="10" name="Graphic 9" descr="Walk with solid fill">
              <a:extLst>
                <a:ext uri="{FF2B5EF4-FFF2-40B4-BE49-F238E27FC236}">
                  <a16:creationId xmlns:a16="http://schemas.microsoft.com/office/drawing/2014/main" id="{0FF700D3-FF08-C236-2A56-877B1D81E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2527" y="1134056"/>
              <a:ext cx="914400" cy="914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114804F-7949-24B8-53E9-31D871C94389}"/>
                </a:ext>
              </a:extLst>
            </p:cNvPr>
            <p:cNvSpPr txBox="1"/>
            <p:nvPr/>
          </p:nvSpPr>
          <p:spPr>
            <a:xfrm>
              <a:off x="992701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P4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75B95B3-278B-BC59-B8D0-9047DE20FF37}"/>
              </a:ext>
            </a:extLst>
          </p:cNvPr>
          <p:cNvGrpSpPr/>
          <p:nvPr/>
        </p:nvGrpSpPr>
        <p:grpSpPr>
          <a:xfrm>
            <a:off x="9384940" y="1152668"/>
            <a:ext cx="914400" cy="1216682"/>
            <a:chOff x="2111677" y="1152668"/>
            <a:chExt cx="914400" cy="1216682"/>
          </a:xfrm>
        </p:grpSpPr>
        <p:pic>
          <p:nvPicPr>
            <p:cNvPr id="12" name="Graphic 11" descr="Walk with solid fill">
              <a:extLst>
                <a:ext uri="{FF2B5EF4-FFF2-40B4-BE49-F238E27FC236}">
                  <a16:creationId xmlns:a16="http://schemas.microsoft.com/office/drawing/2014/main" id="{2DD6D287-B609-6BE3-98FE-95B146B77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11677" y="1152668"/>
              <a:ext cx="914400" cy="9144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DAC9B08-D572-B00A-6173-62706B99DA67}"/>
                </a:ext>
              </a:extLst>
            </p:cNvPr>
            <p:cNvSpPr txBox="1"/>
            <p:nvPr/>
          </p:nvSpPr>
          <p:spPr>
            <a:xfrm>
              <a:off x="2319820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P2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C40861E1-BF70-2E04-F91B-EFC4A50F83F6}"/>
              </a:ext>
            </a:extLst>
          </p:cNvPr>
          <p:cNvSpPr txBox="1"/>
          <p:nvPr/>
        </p:nvSpPr>
        <p:spPr>
          <a:xfrm>
            <a:off x="276129" y="2966093"/>
            <a:ext cx="11462508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Steps: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P1 (P1 is at front of the counter and waiting to get ticket)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Dequeue (P1 collects ticket &amp; leave, now P2 is at front of the counter) - First In First Out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P3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P5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Dequeue (P2 collects ticket &amp; leave, now P3 is at front of the counter)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80576D-2D1E-A791-CA5A-ABCBDC4B9078}"/>
              </a:ext>
            </a:extLst>
          </p:cNvPr>
          <p:cNvSpPr/>
          <p:nvPr/>
        </p:nvSpPr>
        <p:spPr>
          <a:xfrm>
            <a:off x="629175" y="4746073"/>
            <a:ext cx="1477595" cy="3712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181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6F12B-E705-EB9C-C88D-0435B6547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User outline">
            <a:extLst>
              <a:ext uri="{FF2B5EF4-FFF2-40B4-BE49-F238E27FC236}">
                <a16:creationId xmlns:a16="http://schemas.microsoft.com/office/drawing/2014/main" id="{9899D548-5ED5-4CE1-5F19-E07173495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89149" y="1271856"/>
            <a:ext cx="664726" cy="664726"/>
          </a:xfrm>
          <a:prstGeom prst="rect">
            <a:avLst/>
          </a:prstGeom>
        </p:spPr>
      </p:pic>
      <p:pic>
        <p:nvPicPr>
          <p:cNvPr id="9" name="Graphic 8" descr="Register with solid fill">
            <a:extLst>
              <a:ext uri="{FF2B5EF4-FFF2-40B4-BE49-F238E27FC236}">
                <a16:creationId xmlns:a16="http://schemas.microsoft.com/office/drawing/2014/main" id="{8AEDFE95-D023-3DD3-6070-13393315B1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9986" y="1123545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241D3B3-AADC-7BFF-8420-863D66151B95}"/>
              </a:ext>
            </a:extLst>
          </p:cNvPr>
          <p:cNvSpPr txBox="1"/>
          <p:nvPr/>
        </p:nvSpPr>
        <p:spPr>
          <a:xfrm>
            <a:off x="3245155" y="223736"/>
            <a:ext cx="5783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How the FIFO is executed in Queue data structure</a:t>
            </a:r>
          </a:p>
          <a:p>
            <a:r>
              <a:rPr lang="en-US" sz="2000" dirty="0"/>
              <a:t>Scenario: Ticket  supply in a movie theater.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61E4D9-A82E-DF0D-78A6-36DE97490F90}"/>
              </a:ext>
            </a:extLst>
          </p:cNvPr>
          <p:cNvSpPr txBox="1"/>
          <p:nvPr/>
        </p:nvSpPr>
        <p:spPr>
          <a:xfrm>
            <a:off x="10647954" y="2022570"/>
            <a:ext cx="10906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Counter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64BDA9F-9EF0-5211-8037-DCC77D168212}"/>
              </a:ext>
            </a:extLst>
          </p:cNvPr>
          <p:cNvCxnSpPr>
            <a:cxnSpLocks/>
          </p:cNvCxnSpPr>
          <p:nvPr/>
        </p:nvCxnSpPr>
        <p:spPr>
          <a:xfrm flipV="1">
            <a:off x="4125308" y="1130822"/>
            <a:ext cx="6033759" cy="141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7EF8813-1EE7-4ECD-B730-BAA5B57DAD45}"/>
              </a:ext>
            </a:extLst>
          </p:cNvPr>
          <p:cNvCxnSpPr>
            <a:cxnSpLocks/>
          </p:cNvCxnSpPr>
          <p:nvPr/>
        </p:nvCxnSpPr>
        <p:spPr>
          <a:xfrm flipV="1">
            <a:off x="4125308" y="2287082"/>
            <a:ext cx="6033759" cy="141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BDDCCE3-D9F6-8D74-9002-B1C25B8F671F}"/>
              </a:ext>
            </a:extLst>
          </p:cNvPr>
          <p:cNvGrpSpPr/>
          <p:nvPr/>
        </p:nvGrpSpPr>
        <p:grpSpPr>
          <a:xfrm>
            <a:off x="104180" y="1134056"/>
            <a:ext cx="914400" cy="1235294"/>
            <a:chOff x="104180" y="1134056"/>
            <a:chExt cx="914400" cy="1235294"/>
          </a:xfrm>
        </p:grpSpPr>
        <p:pic>
          <p:nvPicPr>
            <p:cNvPr id="5" name="Graphic 4" descr="Walk with solid fill">
              <a:extLst>
                <a:ext uri="{FF2B5EF4-FFF2-40B4-BE49-F238E27FC236}">
                  <a16:creationId xmlns:a16="http://schemas.microsoft.com/office/drawing/2014/main" id="{E6EE1EC2-0200-4733-13B6-9230C52034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4180" y="1134056"/>
              <a:ext cx="914400" cy="914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31808AB-6978-7E6D-3C68-37F18DC1AE85}"/>
                </a:ext>
              </a:extLst>
            </p:cNvPr>
            <p:cNvSpPr txBox="1"/>
            <p:nvPr/>
          </p:nvSpPr>
          <p:spPr>
            <a:xfrm>
              <a:off x="276129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P5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C8F59CD-2022-A2D0-AF0B-0F1B7868817B}"/>
              </a:ext>
            </a:extLst>
          </p:cNvPr>
          <p:cNvGrpSpPr/>
          <p:nvPr/>
        </p:nvGrpSpPr>
        <p:grpSpPr>
          <a:xfrm>
            <a:off x="8691523" y="1134056"/>
            <a:ext cx="914400" cy="1235294"/>
            <a:chOff x="1451816" y="1134056"/>
            <a:chExt cx="914400" cy="1235294"/>
          </a:xfrm>
        </p:grpSpPr>
        <p:pic>
          <p:nvPicPr>
            <p:cNvPr id="11" name="Graphic 10" descr="Walk with solid fill">
              <a:extLst>
                <a:ext uri="{FF2B5EF4-FFF2-40B4-BE49-F238E27FC236}">
                  <a16:creationId xmlns:a16="http://schemas.microsoft.com/office/drawing/2014/main" id="{05E339E5-69D2-D6FA-F6DC-5346F53EF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51816" y="1134056"/>
              <a:ext cx="914400" cy="914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CC3100D-6655-146C-48F6-E6A6AFADF604}"/>
                </a:ext>
              </a:extLst>
            </p:cNvPr>
            <p:cNvSpPr txBox="1"/>
            <p:nvPr/>
          </p:nvSpPr>
          <p:spPr>
            <a:xfrm>
              <a:off x="1665624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35D78BD-593B-3357-9FC4-3A5CCA73AFA8}"/>
              </a:ext>
            </a:extLst>
          </p:cNvPr>
          <p:cNvGrpSpPr/>
          <p:nvPr/>
        </p:nvGrpSpPr>
        <p:grpSpPr>
          <a:xfrm>
            <a:off x="7949955" y="1134056"/>
            <a:ext cx="914400" cy="1235294"/>
            <a:chOff x="802527" y="1134056"/>
            <a:chExt cx="914400" cy="1235294"/>
          </a:xfrm>
        </p:grpSpPr>
        <p:pic>
          <p:nvPicPr>
            <p:cNvPr id="10" name="Graphic 9" descr="Walk with solid fill">
              <a:extLst>
                <a:ext uri="{FF2B5EF4-FFF2-40B4-BE49-F238E27FC236}">
                  <a16:creationId xmlns:a16="http://schemas.microsoft.com/office/drawing/2014/main" id="{A8772978-60F8-975B-62F8-E1585DC5E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2527" y="1134056"/>
              <a:ext cx="914400" cy="914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FEC11AE-24CA-F955-0210-17CA484E5BDB}"/>
                </a:ext>
              </a:extLst>
            </p:cNvPr>
            <p:cNvSpPr txBox="1"/>
            <p:nvPr/>
          </p:nvSpPr>
          <p:spPr>
            <a:xfrm>
              <a:off x="992701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P4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1D2F288-AA8A-C85B-C3C8-4B2C6341D99B}"/>
              </a:ext>
            </a:extLst>
          </p:cNvPr>
          <p:cNvGrpSpPr/>
          <p:nvPr/>
        </p:nvGrpSpPr>
        <p:grpSpPr>
          <a:xfrm>
            <a:off x="9384940" y="1152668"/>
            <a:ext cx="914400" cy="1216682"/>
            <a:chOff x="2111677" y="1152668"/>
            <a:chExt cx="914400" cy="1216682"/>
          </a:xfrm>
        </p:grpSpPr>
        <p:pic>
          <p:nvPicPr>
            <p:cNvPr id="12" name="Graphic 11" descr="Walk with solid fill">
              <a:extLst>
                <a:ext uri="{FF2B5EF4-FFF2-40B4-BE49-F238E27FC236}">
                  <a16:creationId xmlns:a16="http://schemas.microsoft.com/office/drawing/2014/main" id="{A7A0FF7B-EAB2-107B-757D-4637F5E514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11677" y="1152668"/>
              <a:ext cx="914400" cy="9144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49095CA-F20F-18BE-8023-4FE8FED9B76E}"/>
                </a:ext>
              </a:extLst>
            </p:cNvPr>
            <p:cNvSpPr txBox="1"/>
            <p:nvPr/>
          </p:nvSpPr>
          <p:spPr>
            <a:xfrm>
              <a:off x="2319820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P2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AE1532F-9FCF-E643-0D8B-2E5FFC0822DF}"/>
              </a:ext>
            </a:extLst>
          </p:cNvPr>
          <p:cNvSpPr txBox="1"/>
          <p:nvPr/>
        </p:nvSpPr>
        <p:spPr>
          <a:xfrm>
            <a:off x="276129" y="2966093"/>
            <a:ext cx="11462508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Steps: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P1 (P1 is at front of the counter and waiting to get ticket)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Dequeue (P1 collects ticket &amp; leave, now P2 is at front of the counter) - First In First Out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P3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P5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Dequeue (P2 collects ticket &amp; leave, now P3 is at front of the counter)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1AC359-D0BE-B91C-DC55-417E07E85FA6}"/>
              </a:ext>
            </a:extLst>
          </p:cNvPr>
          <p:cNvSpPr/>
          <p:nvPr/>
        </p:nvSpPr>
        <p:spPr>
          <a:xfrm>
            <a:off x="629175" y="5224246"/>
            <a:ext cx="1477595" cy="3712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2722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00426-423D-A77B-B3E0-434FCF2E7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User outline">
            <a:extLst>
              <a:ext uri="{FF2B5EF4-FFF2-40B4-BE49-F238E27FC236}">
                <a16:creationId xmlns:a16="http://schemas.microsoft.com/office/drawing/2014/main" id="{6AFB332B-DE6C-F1F2-7220-066F087BB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89149" y="1271856"/>
            <a:ext cx="664726" cy="664726"/>
          </a:xfrm>
          <a:prstGeom prst="rect">
            <a:avLst/>
          </a:prstGeom>
        </p:spPr>
      </p:pic>
      <p:pic>
        <p:nvPicPr>
          <p:cNvPr id="9" name="Graphic 8" descr="Register with solid fill">
            <a:extLst>
              <a:ext uri="{FF2B5EF4-FFF2-40B4-BE49-F238E27FC236}">
                <a16:creationId xmlns:a16="http://schemas.microsoft.com/office/drawing/2014/main" id="{5C56ED1D-F5D1-9275-A2AE-35449F23EB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9986" y="1123545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7D2DCCA-9AF3-CB87-A490-2429DC98A764}"/>
              </a:ext>
            </a:extLst>
          </p:cNvPr>
          <p:cNvSpPr txBox="1"/>
          <p:nvPr/>
        </p:nvSpPr>
        <p:spPr>
          <a:xfrm>
            <a:off x="3245155" y="223736"/>
            <a:ext cx="5783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How the FIFO is executed in Queue data structure</a:t>
            </a:r>
          </a:p>
          <a:p>
            <a:r>
              <a:rPr lang="en-US" sz="2000" dirty="0"/>
              <a:t>Scenario: Ticket  supply in a movie theater.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7DD03D-6636-3732-A8A6-EBA9F6CBA130}"/>
              </a:ext>
            </a:extLst>
          </p:cNvPr>
          <p:cNvSpPr txBox="1"/>
          <p:nvPr/>
        </p:nvSpPr>
        <p:spPr>
          <a:xfrm>
            <a:off x="10647954" y="2022570"/>
            <a:ext cx="10906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Counter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C5CE49F-DF7A-3241-B97F-49BB38BF5C36}"/>
              </a:ext>
            </a:extLst>
          </p:cNvPr>
          <p:cNvCxnSpPr>
            <a:cxnSpLocks/>
          </p:cNvCxnSpPr>
          <p:nvPr/>
        </p:nvCxnSpPr>
        <p:spPr>
          <a:xfrm flipV="1">
            <a:off x="4125308" y="1130822"/>
            <a:ext cx="6033759" cy="141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7FC32C-6849-E54B-082A-02C0A73007F5}"/>
              </a:ext>
            </a:extLst>
          </p:cNvPr>
          <p:cNvCxnSpPr>
            <a:cxnSpLocks/>
          </p:cNvCxnSpPr>
          <p:nvPr/>
        </p:nvCxnSpPr>
        <p:spPr>
          <a:xfrm flipV="1">
            <a:off x="4125308" y="2287082"/>
            <a:ext cx="6033759" cy="141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531BDEC-4E3A-8CE6-96BB-A0342260C7D0}"/>
              </a:ext>
            </a:extLst>
          </p:cNvPr>
          <p:cNvGrpSpPr/>
          <p:nvPr/>
        </p:nvGrpSpPr>
        <p:grpSpPr>
          <a:xfrm>
            <a:off x="7192885" y="1134056"/>
            <a:ext cx="914400" cy="1235294"/>
            <a:chOff x="104180" y="1134056"/>
            <a:chExt cx="914400" cy="1235294"/>
          </a:xfrm>
        </p:grpSpPr>
        <p:pic>
          <p:nvPicPr>
            <p:cNvPr id="5" name="Graphic 4" descr="Walk with solid fill">
              <a:extLst>
                <a:ext uri="{FF2B5EF4-FFF2-40B4-BE49-F238E27FC236}">
                  <a16:creationId xmlns:a16="http://schemas.microsoft.com/office/drawing/2014/main" id="{4018FFBD-56B7-2069-654D-6B2555E28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4180" y="1134056"/>
              <a:ext cx="914400" cy="914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C1DD20C-EAE4-AB0B-3D59-86A3079A1797}"/>
                </a:ext>
              </a:extLst>
            </p:cNvPr>
            <p:cNvSpPr txBox="1"/>
            <p:nvPr/>
          </p:nvSpPr>
          <p:spPr>
            <a:xfrm>
              <a:off x="276129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P5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F864976-A9C3-C341-4010-C438193DDFD3}"/>
              </a:ext>
            </a:extLst>
          </p:cNvPr>
          <p:cNvGrpSpPr/>
          <p:nvPr/>
        </p:nvGrpSpPr>
        <p:grpSpPr>
          <a:xfrm>
            <a:off x="8691523" y="1134056"/>
            <a:ext cx="914400" cy="1235294"/>
            <a:chOff x="1451816" y="1134056"/>
            <a:chExt cx="914400" cy="1235294"/>
          </a:xfrm>
        </p:grpSpPr>
        <p:pic>
          <p:nvPicPr>
            <p:cNvPr id="11" name="Graphic 10" descr="Walk with solid fill">
              <a:extLst>
                <a:ext uri="{FF2B5EF4-FFF2-40B4-BE49-F238E27FC236}">
                  <a16:creationId xmlns:a16="http://schemas.microsoft.com/office/drawing/2014/main" id="{E648F853-BA35-4531-30D5-95C9C08C5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51816" y="1134056"/>
              <a:ext cx="914400" cy="914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EA0849C-E6CB-FB77-853E-0E9D3B907382}"/>
                </a:ext>
              </a:extLst>
            </p:cNvPr>
            <p:cNvSpPr txBox="1"/>
            <p:nvPr/>
          </p:nvSpPr>
          <p:spPr>
            <a:xfrm>
              <a:off x="1665624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0DB2DD-A590-E249-D2EB-AA2F4060F429}"/>
              </a:ext>
            </a:extLst>
          </p:cNvPr>
          <p:cNvGrpSpPr/>
          <p:nvPr/>
        </p:nvGrpSpPr>
        <p:grpSpPr>
          <a:xfrm>
            <a:off x="7949955" y="1134056"/>
            <a:ext cx="914400" cy="1235294"/>
            <a:chOff x="802527" y="1134056"/>
            <a:chExt cx="914400" cy="1235294"/>
          </a:xfrm>
        </p:grpSpPr>
        <p:pic>
          <p:nvPicPr>
            <p:cNvPr id="10" name="Graphic 9" descr="Walk with solid fill">
              <a:extLst>
                <a:ext uri="{FF2B5EF4-FFF2-40B4-BE49-F238E27FC236}">
                  <a16:creationId xmlns:a16="http://schemas.microsoft.com/office/drawing/2014/main" id="{1A1269D2-8F7D-CCE5-4A75-B90C79ED7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2527" y="1134056"/>
              <a:ext cx="914400" cy="914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9067F68-6E51-1680-0761-7907C1AAFAD7}"/>
                </a:ext>
              </a:extLst>
            </p:cNvPr>
            <p:cNvSpPr txBox="1"/>
            <p:nvPr/>
          </p:nvSpPr>
          <p:spPr>
            <a:xfrm>
              <a:off x="992701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P4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BE047A4-CDE7-9ED2-09B3-4312078638E2}"/>
              </a:ext>
            </a:extLst>
          </p:cNvPr>
          <p:cNvGrpSpPr/>
          <p:nvPr/>
        </p:nvGrpSpPr>
        <p:grpSpPr>
          <a:xfrm>
            <a:off x="9384940" y="1152668"/>
            <a:ext cx="914400" cy="1216682"/>
            <a:chOff x="2111677" y="1152668"/>
            <a:chExt cx="914400" cy="1216682"/>
          </a:xfrm>
        </p:grpSpPr>
        <p:pic>
          <p:nvPicPr>
            <p:cNvPr id="12" name="Graphic 11" descr="Walk with solid fill">
              <a:extLst>
                <a:ext uri="{FF2B5EF4-FFF2-40B4-BE49-F238E27FC236}">
                  <a16:creationId xmlns:a16="http://schemas.microsoft.com/office/drawing/2014/main" id="{05D49BB9-182F-A0B0-4F9E-ACB43220058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11677" y="1152668"/>
              <a:ext cx="914400" cy="9144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B9CB708-A665-8F3B-2D04-6750AB9C76EF}"/>
                </a:ext>
              </a:extLst>
            </p:cNvPr>
            <p:cNvSpPr txBox="1"/>
            <p:nvPr/>
          </p:nvSpPr>
          <p:spPr>
            <a:xfrm>
              <a:off x="2319820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P2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58FAC52-2113-E599-A780-CEBC796106DF}"/>
              </a:ext>
            </a:extLst>
          </p:cNvPr>
          <p:cNvSpPr txBox="1"/>
          <p:nvPr/>
        </p:nvSpPr>
        <p:spPr>
          <a:xfrm>
            <a:off x="276129" y="2966093"/>
            <a:ext cx="11462508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Steps: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P1 (P1 is at front of the counter and waiting to get ticket)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Dequeue (P1 collects ticket &amp; leave, now P2 is at front of the counter) - First In First Out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P3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P5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Dequeue (P2 collects ticket &amp; leave, now P3 is at front of the counter)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64AF58-8081-67A4-DB2A-C275F7000249}"/>
              </a:ext>
            </a:extLst>
          </p:cNvPr>
          <p:cNvSpPr/>
          <p:nvPr/>
        </p:nvSpPr>
        <p:spPr>
          <a:xfrm>
            <a:off x="629175" y="5685641"/>
            <a:ext cx="1477595" cy="3712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565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108E3-9462-6F37-3D5A-45FC7D2A8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User outline">
            <a:extLst>
              <a:ext uri="{FF2B5EF4-FFF2-40B4-BE49-F238E27FC236}">
                <a16:creationId xmlns:a16="http://schemas.microsoft.com/office/drawing/2014/main" id="{02CD5839-158A-257F-1396-A7F5ABB87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89149" y="1271856"/>
            <a:ext cx="664726" cy="664726"/>
          </a:xfrm>
          <a:prstGeom prst="rect">
            <a:avLst/>
          </a:prstGeom>
        </p:spPr>
      </p:pic>
      <p:pic>
        <p:nvPicPr>
          <p:cNvPr id="9" name="Graphic 8" descr="Register with solid fill">
            <a:extLst>
              <a:ext uri="{FF2B5EF4-FFF2-40B4-BE49-F238E27FC236}">
                <a16:creationId xmlns:a16="http://schemas.microsoft.com/office/drawing/2014/main" id="{18FBA7C9-049B-63CF-83C1-F57B294B97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9986" y="1123545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9F505B5-1642-8A90-023B-D131F83A06F0}"/>
              </a:ext>
            </a:extLst>
          </p:cNvPr>
          <p:cNvSpPr txBox="1"/>
          <p:nvPr/>
        </p:nvSpPr>
        <p:spPr>
          <a:xfrm>
            <a:off x="3245155" y="223736"/>
            <a:ext cx="5783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How the FIFO is executed in Queue data structure</a:t>
            </a:r>
          </a:p>
          <a:p>
            <a:r>
              <a:rPr lang="en-US" sz="2000" dirty="0"/>
              <a:t>Scenario: Ticket  supply in a movie theater.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BF8AE8-5683-3150-DA85-65C8D2EBA66D}"/>
              </a:ext>
            </a:extLst>
          </p:cNvPr>
          <p:cNvSpPr txBox="1"/>
          <p:nvPr/>
        </p:nvSpPr>
        <p:spPr>
          <a:xfrm>
            <a:off x="10647954" y="2022570"/>
            <a:ext cx="10906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Counter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985C413-23FE-B209-CE0D-25A28A477939}"/>
              </a:ext>
            </a:extLst>
          </p:cNvPr>
          <p:cNvCxnSpPr>
            <a:cxnSpLocks/>
          </p:cNvCxnSpPr>
          <p:nvPr/>
        </p:nvCxnSpPr>
        <p:spPr>
          <a:xfrm flipV="1">
            <a:off x="4125308" y="1130822"/>
            <a:ext cx="6033759" cy="141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BFC1585-41B8-908E-3400-11AB13AE94E6}"/>
              </a:ext>
            </a:extLst>
          </p:cNvPr>
          <p:cNvCxnSpPr>
            <a:cxnSpLocks/>
          </p:cNvCxnSpPr>
          <p:nvPr/>
        </p:nvCxnSpPr>
        <p:spPr>
          <a:xfrm flipV="1">
            <a:off x="4125308" y="2287082"/>
            <a:ext cx="6033759" cy="141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3811208-3AF2-81E3-E0CB-3B1C028F402F}"/>
              </a:ext>
            </a:extLst>
          </p:cNvPr>
          <p:cNvGrpSpPr/>
          <p:nvPr/>
        </p:nvGrpSpPr>
        <p:grpSpPr>
          <a:xfrm>
            <a:off x="7528445" y="1134056"/>
            <a:ext cx="914400" cy="1235294"/>
            <a:chOff x="104180" y="1134056"/>
            <a:chExt cx="914400" cy="1235294"/>
          </a:xfrm>
        </p:grpSpPr>
        <p:pic>
          <p:nvPicPr>
            <p:cNvPr id="5" name="Graphic 4" descr="Walk with solid fill">
              <a:extLst>
                <a:ext uri="{FF2B5EF4-FFF2-40B4-BE49-F238E27FC236}">
                  <a16:creationId xmlns:a16="http://schemas.microsoft.com/office/drawing/2014/main" id="{FC460507-73C5-648E-1CD6-6D6FCF3B8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4180" y="1134056"/>
              <a:ext cx="914400" cy="914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4EF2C9D-3CDB-7175-5404-B2E0596A26D7}"/>
                </a:ext>
              </a:extLst>
            </p:cNvPr>
            <p:cNvSpPr txBox="1"/>
            <p:nvPr/>
          </p:nvSpPr>
          <p:spPr>
            <a:xfrm>
              <a:off x="276129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P5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49D1763-759D-77DD-21D8-E1507C6C4D4E}"/>
              </a:ext>
            </a:extLst>
          </p:cNvPr>
          <p:cNvGrpSpPr/>
          <p:nvPr/>
        </p:nvGrpSpPr>
        <p:grpSpPr>
          <a:xfrm>
            <a:off x="9245197" y="1134056"/>
            <a:ext cx="914400" cy="1235294"/>
            <a:chOff x="1451816" y="1134056"/>
            <a:chExt cx="914400" cy="1235294"/>
          </a:xfrm>
        </p:grpSpPr>
        <p:pic>
          <p:nvPicPr>
            <p:cNvPr id="11" name="Graphic 10" descr="Walk with solid fill">
              <a:extLst>
                <a:ext uri="{FF2B5EF4-FFF2-40B4-BE49-F238E27FC236}">
                  <a16:creationId xmlns:a16="http://schemas.microsoft.com/office/drawing/2014/main" id="{9E1810BB-BC87-02B4-1328-1E77F889E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51816" y="1134056"/>
              <a:ext cx="914400" cy="914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8EAFD35-BFEB-2F35-738E-85AD8C1984E4}"/>
                </a:ext>
              </a:extLst>
            </p:cNvPr>
            <p:cNvSpPr txBox="1"/>
            <p:nvPr/>
          </p:nvSpPr>
          <p:spPr>
            <a:xfrm>
              <a:off x="1665624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88DEBD4-62DA-56B8-5A2A-879938B4670E}"/>
              </a:ext>
            </a:extLst>
          </p:cNvPr>
          <p:cNvGrpSpPr/>
          <p:nvPr/>
        </p:nvGrpSpPr>
        <p:grpSpPr>
          <a:xfrm>
            <a:off x="8377794" y="1134056"/>
            <a:ext cx="914400" cy="1235294"/>
            <a:chOff x="802527" y="1134056"/>
            <a:chExt cx="914400" cy="1235294"/>
          </a:xfrm>
        </p:grpSpPr>
        <p:pic>
          <p:nvPicPr>
            <p:cNvPr id="10" name="Graphic 9" descr="Walk with solid fill">
              <a:extLst>
                <a:ext uri="{FF2B5EF4-FFF2-40B4-BE49-F238E27FC236}">
                  <a16:creationId xmlns:a16="http://schemas.microsoft.com/office/drawing/2014/main" id="{989771BC-3A5B-8968-9AB7-A5ACBBC3FB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2527" y="1134056"/>
              <a:ext cx="914400" cy="914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AE2E907-CF58-A765-DB4B-DE91481A4D18}"/>
                </a:ext>
              </a:extLst>
            </p:cNvPr>
            <p:cNvSpPr txBox="1"/>
            <p:nvPr/>
          </p:nvSpPr>
          <p:spPr>
            <a:xfrm>
              <a:off x="992701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P4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BB2DC36-8DA4-9CEF-E865-69AB0FBE7B2E}"/>
              </a:ext>
            </a:extLst>
          </p:cNvPr>
          <p:cNvGrpSpPr/>
          <p:nvPr/>
        </p:nvGrpSpPr>
        <p:grpSpPr>
          <a:xfrm>
            <a:off x="9733554" y="2702839"/>
            <a:ext cx="914400" cy="1216682"/>
            <a:chOff x="2111677" y="1152668"/>
            <a:chExt cx="914400" cy="1216682"/>
          </a:xfrm>
        </p:grpSpPr>
        <p:pic>
          <p:nvPicPr>
            <p:cNvPr id="12" name="Graphic 11" descr="Walk with solid fill">
              <a:extLst>
                <a:ext uri="{FF2B5EF4-FFF2-40B4-BE49-F238E27FC236}">
                  <a16:creationId xmlns:a16="http://schemas.microsoft.com/office/drawing/2014/main" id="{D13C62C2-0F35-0CF5-BD1C-D7545FB34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11677" y="1152668"/>
              <a:ext cx="914400" cy="9144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439629A-444D-2856-BBD4-3B11B63FD140}"/>
                </a:ext>
              </a:extLst>
            </p:cNvPr>
            <p:cNvSpPr txBox="1"/>
            <p:nvPr/>
          </p:nvSpPr>
          <p:spPr>
            <a:xfrm>
              <a:off x="2319820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P2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1BF7BB28-6391-781F-DF18-57FC58CC9DAB}"/>
              </a:ext>
            </a:extLst>
          </p:cNvPr>
          <p:cNvSpPr txBox="1"/>
          <p:nvPr/>
        </p:nvSpPr>
        <p:spPr>
          <a:xfrm>
            <a:off x="276129" y="2966093"/>
            <a:ext cx="11462508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Steps: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P1 (P1 is at front of the counter and waiting to get ticket)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Dequeue (P1 collects ticket &amp; leave, now P2 is at front of the counter) - First In First Out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P3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P5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Dequeue (P2 collects ticket &amp; leave, now P3 is at front of the counter)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ED5DF6-3794-175D-15A1-37DB2D0E6BA3}"/>
              </a:ext>
            </a:extLst>
          </p:cNvPr>
          <p:cNvSpPr/>
          <p:nvPr/>
        </p:nvSpPr>
        <p:spPr>
          <a:xfrm>
            <a:off x="629175" y="6121869"/>
            <a:ext cx="7684315" cy="3712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0785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956E1-80A3-A657-4DCE-0A724344B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User outline">
            <a:extLst>
              <a:ext uri="{FF2B5EF4-FFF2-40B4-BE49-F238E27FC236}">
                <a16:creationId xmlns:a16="http://schemas.microsoft.com/office/drawing/2014/main" id="{4F044A7B-7ECC-F5F9-8F84-EC4A199FF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89149" y="1271856"/>
            <a:ext cx="664726" cy="664726"/>
          </a:xfrm>
          <a:prstGeom prst="rect">
            <a:avLst/>
          </a:prstGeom>
        </p:spPr>
      </p:pic>
      <p:pic>
        <p:nvPicPr>
          <p:cNvPr id="9" name="Graphic 8" descr="Register with solid fill">
            <a:extLst>
              <a:ext uri="{FF2B5EF4-FFF2-40B4-BE49-F238E27FC236}">
                <a16:creationId xmlns:a16="http://schemas.microsoft.com/office/drawing/2014/main" id="{324337C6-4725-7216-0392-5D6009DE8C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9986" y="1123545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8DB115E-223D-B4E0-ED63-764326824E21}"/>
              </a:ext>
            </a:extLst>
          </p:cNvPr>
          <p:cNvSpPr txBox="1"/>
          <p:nvPr/>
        </p:nvSpPr>
        <p:spPr>
          <a:xfrm>
            <a:off x="3245155" y="223736"/>
            <a:ext cx="5783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How the FIFO is executed in Queue data structure</a:t>
            </a:r>
          </a:p>
          <a:p>
            <a:r>
              <a:rPr lang="en-US" sz="2000" dirty="0"/>
              <a:t>Scenario: Ticket  supply in a movie theater.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03060C-B04E-475E-6860-672423CF3563}"/>
              </a:ext>
            </a:extLst>
          </p:cNvPr>
          <p:cNvSpPr txBox="1"/>
          <p:nvPr/>
        </p:nvSpPr>
        <p:spPr>
          <a:xfrm>
            <a:off x="10647954" y="2022570"/>
            <a:ext cx="10906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Counter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F2F78DE-6465-7972-AE32-B722CC8664BC}"/>
              </a:ext>
            </a:extLst>
          </p:cNvPr>
          <p:cNvCxnSpPr>
            <a:cxnSpLocks/>
          </p:cNvCxnSpPr>
          <p:nvPr/>
        </p:nvCxnSpPr>
        <p:spPr>
          <a:xfrm flipV="1">
            <a:off x="4125308" y="1130822"/>
            <a:ext cx="6033759" cy="141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641E88D-4F4E-170E-73A4-1D42B6D491A6}"/>
              </a:ext>
            </a:extLst>
          </p:cNvPr>
          <p:cNvCxnSpPr>
            <a:cxnSpLocks/>
          </p:cNvCxnSpPr>
          <p:nvPr/>
        </p:nvCxnSpPr>
        <p:spPr>
          <a:xfrm flipV="1">
            <a:off x="4125308" y="2287082"/>
            <a:ext cx="6033759" cy="141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FC97545-E796-9792-3176-5A61F2CA0ECC}"/>
              </a:ext>
            </a:extLst>
          </p:cNvPr>
          <p:cNvGrpSpPr/>
          <p:nvPr/>
        </p:nvGrpSpPr>
        <p:grpSpPr>
          <a:xfrm>
            <a:off x="7528445" y="1134056"/>
            <a:ext cx="914400" cy="1235294"/>
            <a:chOff x="104180" y="1134056"/>
            <a:chExt cx="914400" cy="1235294"/>
          </a:xfrm>
        </p:grpSpPr>
        <p:pic>
          <p:nvPicPr>
            <p:cNvPr id="5" name="Graphic 4" descr="Walk with solid fill">
              <a:extLst>
                <a:ext uri="{FF2B5EF4-FFF2-40B4-BE49-F238E27FC236}">
                  <a16:creationId xmlns:a16="http://schemas.microsoft.com/office/drawing/2014/main" id="{46A234D8-6668-3040-D26A-5724207FC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4180" y="1134056"/>
              <a:ext cx="914400" cy="914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57CA450-4205-3F4E-4D58-93815B24DAE5}"/>
                </a:ext>
              </a:extLst>
            </p:cNvPr>
            <p:cNvSpPr txBox="1"/>
            <p:nvPr/>
          </p:nvSpPr>
          <p:spPr>
            <a:xfrm>
              <a:off x="276129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P5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05D7031-5BBA-13DE-0475-91A41ABBAB73}"/>
              </a:ext>
            </a:extLst>
          </p:cNvPr>
          <p:cNvGrpSpPr/>
          <p:nvPr/>
        </p:nvGrpSpPr>
        <p:grpSpPr>
          <a:xfrm>
            <a:off x="9245197" y="1134056"/>
            <a:ext cx="914400" cy="1235294"/>
            <a:chOff x="1451816" y="1134056"/>
            <a:chExt cx="914400" cy="1235294"/>
          </a:xfrm>
        </p:grpSpPr>
        <p:pic>
          <p:nvPicPr>
            <p:cNvPr id="11" name="Graphic 10" descr="Walk with solid fill">
              <a:extLst>
                <a:ext uri="{FF2B5EF4-FFF2-40B4-BE49-F238E27FC236}">
                  <a16:creationId xmlns:a16="http://schemas.microsoft.com/office/drawing/2014/main" id="{2A1E5811-87AB-10D0-CBB8-92872CA33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51816" y="1134056"/>
              <a:ext cx="914400" cy="914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5D5765F-B0C2-0C93-4ADA-4D15EC7A54EE}"/>
                </a:ext>
              </a:extLst>
            </p:cNvPr>
            <p:cNvSpPr txBox="1"/>
            <p:nvPr/>
          </p:nvSpPr>
          <p:spPr>
            <a:xfrm>
              <a:off x="1665624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A8F3761-A705-90D3-C026-90AAC86A37C0}"/>
              </a:ext>
            </a:extLst>
          </p:cNvPr>
          <p:cNvGrpSpPr/>
          <p:nvPr/>
        </p:nvGrpSpPr>
        <p:grpSpPr>
          <a:xfrm>
            <a:off x="8377794" y="1134056"/>
            <a:ext cx="914400" cy="1235294"/>
            <a:chOff x="802527" y="1134056"/>
            <a:chExt cx="914400" cy="1235294"/>
          </a:xfrm>
        </p:grpSpPr>
        <p:pic>
          <p:nvPicPr>
            <p:cNvPr id="10" name="Graphic 9" descr="Walk with solid fill">
              <a:extLst>
                <a:ext uri="{FF2B5EF4-FFF2-40B4-BE49-F238E27FC236}">
                  <a16:creationId xmlns:a16="http://schemas.microsoft.com/office/drawing/2014/main" id="{5B86253B-FF7C-5D22-0B12-32489B230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2527" y="1134056"/>
              <a:ext cx="914400" cy="914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E12FEAD-82A8-B819-A866-E92F590FB2A3}"/>
                </a:ext>
              </a:extLst>
            </p:cNvPr>
            <p:cNvSpPr txBox="1"/>
            <p:nvPr/>
          </p:nvSpPr>
          <p:spPr>
            <a:xfrm>
              <a:off x="992701" y="200001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P4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B67411D-BE6F-5807-4434-260A360C5E02}"/>
              </a:ext>
            </a:extLst>
          </p:cNvPr>
          <p:cNvSpPr txBox="1"/>
          <p:nvPr/>
        </p:nvSpPr>
        <p:spPr>
          <a:xfrm>
            <a:off x="276129" y="2966093"/>
            <a:ext cx="11462508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Steps: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P1 (P1 is at front of the counter and waiting to get ticket)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Dequeue (P1 collects ticket &amp; leave, now P2 is at front of the counter) - First In First Out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P3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Enqueue P5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Dequeue (P2 collects ticket &amp; leave, now P3 is at front of the counter)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B4694B-EBA6-7E1D-B9FF-BD4FB43DB17A}"/>
              </a:ext>
            </a:extLst>
          </p:cNvPr>
          <p:cNvSpPr/>
          <p:nvPr/>
        </p:nvSpPr>
        <p:spPr>
          <a:xfrm>
            <a:off x="629175" y="6121869"/>
            <a:ext cx="7684315" cy="3712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0362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801</Words>
  <Application>Microsoft Office PowerPoint</Application>
  <PresentationFormat>Widescreen</PresentationFormat>
  <Paragraphs>141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Naseer Sihanas</dc:creator>
  <cp:lastModifiedBy>Mohammed Naseer Sihanas</cp:lastModifiedBy>
  <cp:revision>1</cp:revision>
  <dcterms:created xsi:type="dcterms:W3CDTF">2025-04-13T06:24:17Z</dcterms:created>
  <dcterms:modified xsi:type="dcterms:W3CDTF">2025-04-13T07:23:26Z</dcterms:modified>
</cp:coreProperties>
</file>