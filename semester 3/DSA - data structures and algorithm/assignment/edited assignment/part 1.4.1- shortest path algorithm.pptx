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Naseer Sihanas" userId="baf10d46-ca0e-4f93-8b9a-bd1fa4bc7e8f" providerId="ADAL" clId="{F8EAB2A9-7D63-48B9-8997-D3DEBD9DB31B}"/>
    <pc:docChg chg="modSld">
      <pc:chgData name="Mohammed Naseer Sihanas" userId="baf10d46-ca0e-4f93-8b9a-bd1fa4bc7e8f" providerId="ADAL" clId="{F8EAB2A9-7D63-48B9-8997-D3DEBD9DB31B}" dt="2025-04-19T06:20:10.886" v="3" actId="20577"/>
      <pc:docMkLst>
        <pc:docMk/>
      </pc:docMkLst>
      <pc:sldChg chg="modSp mod">
        <pc:chgData name="Mohammed Naseer Sihanas" userId="baf10d46-ca0e-4f93-8b9a-bd1fa4bc7e8f" providerId="ADAL" clId="{F8EAB2A9-7D63-48B9-8997-D3DEBD9DB31B}" dt="2025-04-19T06:20:10.886" v="3" actId="20577"/>
        <pc:sldMkLst>
          <pc:docMk/>
          <pc:sldMk cId="1280660787" sldId="256"/>
        </pc:sldMkLst>
        <pc:spChg chg="mod">
          <ac:chgData name="Mohammed Naseer Sihanas" userId="baf10d46-ca0e-4f93-8b9a-bd1fa4bc7e8f" providerId="ADAL" clId="{F8EAB2A9-7D63-48B9-8997-D3DEBD9DB31B}" dt="2025-04-19T06:20:10.886" v="3" actId="20577"/>
          <ac:spMkLst>
            <pc:docMk/>
            <pc:sldMk cId="1280660787" sldId="256"/>
            <ac:spMk id="7" creationId="{C6BDDC8F-EBDD-C59C-4604-5B5A2403ADC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FEA3-6909-2E75-18C6-7A64D4117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0C161-E927-1EA3-0159-ADE473585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059C9-1D7C-D02A-0DC3-5DEDA8555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A75D4-DDA8-77C9-FF15-4962D4E0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26472-4B73-1E07-7908-71BEFC44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9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D3869-A1BD-DFC9-B8E4-95A3D31A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E7D89-CFB4-7AD1-312F-D937B8AD2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AC566-B845-F957-BD07-53F88B0A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C8F84-4A95-CCD6-A15A-B26D1618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2538D-7140-C479-68DB-56C485B8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86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645D-5E2E-8B4C-4583-07BDBBEA7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E0051-7FDB-6642-9987-E6AC2A530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C8B1F-9F53-F6CD-B860-45ABFFDC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4200D-077B-6FED-F2FE-E6FE4EAB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85426-ECDF-F698-FE73-306C90B2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9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7D1CE-4ADF-53F3-03F7-F18C7381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2CA8F-6ABB-B604-2A7C-0E32E276A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B8942-C63B-F092-3DEC-E86BC0F6C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62A8C-A52A-6B19-736C-EE962630A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1FC85-6FAD-22C9-EB27-6A42C0B6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1948B-2FDC-4BF9-76D1-5E3588F6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50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2E547-D466-8065-D562-9D0362AE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F505E-0AB2-3223-D2A6-10DCD0A70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6A253-CE7B-FE31-E6AC-F3342AA54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4D6D41-8ED9-BF0B-BAD1-A5D49A672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1753B-32D0-4D1F-3F66-084015B38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3F1742-9BCE-C9AD-AEE1-B085776F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A6907-C531-F7FE-1AF5-7AB5978D9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66098-EE5C-BDA1-6511-D6D75EFC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5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69D8D-FCF0-7ADF-5A61-EF52AB99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8ED03-50DF-B68A-E7C1-2B1924FAB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FF0EF-FB3E-52EF-BD49-5BE9D44D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56F39-29CF-2C40-3043-789974B46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30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67558-33BB-64E7-72C3-C5E073AC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3553A5-BF25-DE78-FA00-F19E07D5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ACA3-BD87-50B4-15A4-08C1705E7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9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57BE-E531-6952-B9E1-E97F82AC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135F3-7841-E7DE-1373-3980B0EFA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B7FA6-F8AB-3746-1C8A-C187B0E0D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66891-CDA5-EAF2-09F5-51BE1A82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5C3E0-713E-2E11-05DF-A0B553BF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F8C3A-4C75-6C8E-CA77-13F782F4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7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AB27-3C18-300E-CC13-A8F53223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DF3FA-E923-BDC2-06FF-86AEEB376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81ABC-05AA-15FD-E208-3594DAAEF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0A069-D92B-258D-7E8C-4DC48184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64264-87CA-CCA9-444A-E52A9759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3C47A-B280-B6A5-4C06-E0449F959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44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F249-B851-7BD2-2A1E-6F2D18DC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0F84D-EFC6-B82D-2947-A9E4B20A9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B8DA8-2124-BD2F-9D04-81AF41599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3E017-A55C-2478-4FE0-965EAA37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B90AA-B862-8277-5C54-F2F82E88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22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9B73CF-C73A-74C7-5FC2-7612DF7E5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DF491-A083-DAC5-E38A-DA6773A1D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DD3AA-FBC6-BB36-975A-8887A630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10C60-57B8-27C6-F57A-9411CB86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F530D-A71A-6811-C5AB-A9EBBCB4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1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7C38D-D574-DA8C-A170-7878CDC2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687B6-2493-D354-C934-869B110F5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BE7AA-DEC6-17F0-460D-34A10A1EB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2C5F9-F67F-4873-BC58-53DB99CB1A1E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4156D-FF1E-D327-343C-DDBA51AE6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C2C70-FE85-5FB1-24A1-F0A391A6B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F7B2E-596A-4E58-AB20-04340C936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2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BDDC8F-EBDD-C59C-4604-5B5A2403ADC9}"/>
              </a:ext>
            </a:extLst>
          </p:cNvPr>
          <p:cNvSpPr txBox="1"/>
          <p:nvPr/>
        </p:nvSpPr>
        <p:spPr>
          <a:xfrm>
            <a:off x="2842147" y="586433"/>
            <a:ext cx="60937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Algorithms Bellman-Ford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Dijkstra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660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AF6606-FA7C-0753-7E50-B2338BC172B1}"/>
              </a:ext>
            </a:extLst>
          </p:cNvPr>
          <p:cNvSpPr txBox="1"/>
          <p:nvPr/>
        </p:nvSpPr>
        <p:spPr>
          <a:xfrm>
            <a:off x="1968689" y="586433"/>
            <a:ext cx="9145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Introduction to Shortest Path Algorithms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58C44-0035-DBFF-5D65-FBDFDA12D622}"/>
              </a:ext>
            </a:extLst>
          </p:cNvPr>
          <p:cNvSpPr txBox="1"/>
          <p:nvPr/>
        </p:nvSpPr>
        <p:spPr>
          <a:xfrm>
            <a:off x="972402" y="1442198"/>
            <a:ext cx="110239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Shortest path algorithms are fundamental in network analysis and graph theory. They help us find the most efficient path between nodes in a graph, with applications in: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D6EAD-DAF6-D2B5-037D-2B4B9D457593}"/>
              </a:ext>
            </a:extLst>
          </p:cNvPr>
          <p:cNvSpPr txBox="1"/>
          <p:nvPr/>
        </p:nvSpPr>
        <p:spPr>
          <a:xfrm>
            <a:off x="1641144" y="3036627"/>
            <a:ext cx="60937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GPS navigation systems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Network routing protocols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Transportation planning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Social network analysis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Game pathfinding</a:t>
            </a:r>
          </a:p>
        </p:txBody>
      </p:sp>
    </p:spTree>
    <p:extLst>
      <p:ext uri="{BB962C8B-B14F-4D97-AF65-F5344CB8AC3E}">
        <p14:creationId xmlns:p14="http://schemas.microsoft.com/office/powerpoint/2010/main" val="910485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AA55E6-7456-ED2B-63C3-B23B0608562C}"/>
              </a:ext>
            </a:extLst>
          </p:cNvPr>
          <p:cNvSpPr txBox="1"/>
          <p:nvPr/>
        </p:nvSpPr>
        <p:spPr>
          <a:xfrm>
            <a:off x="2309883" y="722910"/>
            <a:ext cx="7598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Scenario: Route Planning for a Delivery Truck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C7787-5829-715D-688E-F409467F9D1E}"/>
              </a:ext>
            </a:extLst>
          </p:cNvPr>
          <p:cNvSpPr txBox="1"/>
          <p:nvPr/>
        </p:nvSpPr>
        <p:spPr>
          <a:xfrm>
            <a:off x="1381835" y="1531667"/>
            <a:ext cx="994580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 </a:t>
            </a:r>
            <a:r>
              <a:rPr lang="en-US" sz="2400" b="1" dirty="0"/>
              <a:t>Problem Description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A delivery truck needs to find the shortest route from the Depot (A) to Delivery Point D, visiting other points if necessary (B and C).  </a:t>
            </a:r>
          </a:p>
          <a:p>
            <a:r>
              <a:rPr lang="en-US" sz="2400" dirty="0"/>
              <a:t>The distances between locations are given in kilometers: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 to B: 4 km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 to C: 2 km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 to C: 1 km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 to D: 5 km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C to D: 8 km</a:t>
            </a:r>
          </a:p>
          <a:p>
            <a:r>
              <a:rPr lang="en-US" sz="2400" dirty="0"/>
              <a:t>Goal: Determine the shortest path from A to D using both Bellman-Ford and Dijkstra's algorithms.</a:t>
            </a:r>
          </a:p>
        </p:txBody>
      </p:sp>
    </p:spTree>
    <p:extLst>
      <p:ext uri="{BB962C8B-B14F-4D97-AF65-F5344CB8AC3E}">
        <p14:creationId xmlns:p14="http://schemas.microsoft.com/office/powerpoint/2010/main" val="3837092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B5C1154-9A7E-28FB-3A50-D0AF90B55B62}"/>
              </a:ext>
            </a:extLst>
          </p:cNvPr>
          <p:cNvSpPr/>
          <p:nvPr/>
        </p:nvSpPr>
        <p:spPr>
          <a:xfrm>
            <a:off x="1801504" y="2483893"/>
            <a:ext cx="846162" cy="945107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FC98DE5-39D9-E2B6-FEE5-9FE77F6BA363}"/>
              </a:ext>
            </a:extLst>
          </p:cNvPr>
          <p:cNvSpPr/>
          <p:nvPr/>
        </p:nvSpPr>
        <p:spPr>
          <a:xfrm>
            <a:off x="4019265" y="4177921"/>
            <a:ext cx="846162" cy="945107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C013B4-05F6-097C-DD89-6F01B9725696}"/>
              </a:ext>
            </a:extLst>
          </p:cNvPr>
          <p:cNvSpPr/>
          <p:nvPr/>
        </p:nvSpPr>
        <p:spPr>
          <a:xfrm>
            <a:off x="6096000" y="2636292"/>
            <a:ext cx="846162" cy="94510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044611-A426-DA63-6447-753280034A7C}"/>
              </a:ext>
            </a:extLst>
          </p:cNvPr>
          <p:cNvSpPr/>
          <p:nvPr/>
        </p:nvSpPr>
        <p:spPr>
          <a:xfrm>
            <a:off x="4019265" y="1262419"/>
            <a:ext cx="846162" cy="945107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0B7364-4992-C6DA-C849-E0C40D4DA569}"/>
              </a:ext>
            </a:extLst>
          </p:cNvPr>
          <p:cNvCxnSpPr>
            <a:cxnSpLocks/>
          </p:cNvCxnSpPr>
          <p:nvPr/>
        </p:nvCxnSpPr>
        <p:spPr>
          <a:xfrm flipV="1">
            <a:off x="2560194" y="1734972"/>
            <a:ext cx="1495517" cy="8873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4F225A-6A50-8834-AF8F-796F429C13E2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4865427" y="1734973"/>
            <a:ext cx="1354491" cy="10397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462BF1-AEA4-C77F-4319-20A0CFDA62F0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2523748" y="3290592"/>
            <a:ext cx="1531963" cy="1158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7E8003-6F76-9253-00F4-E83EBAC65DF2}"/>
              </a:ext>
            </a:extLst>
          </p:cNvPr>
          <p:cNvCxnSpPr>
            <a:stCxn id="3" idx="6"/>
            <a:endCxn id="4" idx="3"/>
          </p:cNvCxnSpPr>
          <p:nvPr/>
        </p:nvCxnSpPr>
        <p:spPr>
          <a:xfrm flipV="1">
            <a:off x="4865427" y="3442991"/>
            <a:ext cx="1354491" cy="12074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E026DC3-08F4-48F9-D5EC-7EB261F2EED4}"/>
              </a:ext>
            </a:extLst>
          </p:cNvPr>
          <p:cNvCxnSpPr>
            <a:stCxn id="5" idx="4"/>
            <a:endCxn id="3" idx="0"/>
          </p:cNvCxnSpPr>
          <p:nvPr/>
        </p:nvCxnSpPr>
        <p:spPr>
          <a:xfrm>
            <a:off x="4442346" y="2207526"/>
            <a:ext cx="0" cy="19703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56FB08-7A66-DD8C-F5EF-F30961053DCB}"/>
              </a:ext>
            </a:extLst>
          </p:cNvPr>
          <p:cNvSpPr txBox="1"/>
          <p:nvPr/>
        </p:nvSpPr>
        <p:spPr>
          <a:xfrm>
            <a:off x="2560194" y="1734972"/>
            <a:ext cx="846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4km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656D9E-AF41-F836-A66A-AD4375643C34}"/>
              </a:ext>
            </a:extLst>
          </p:cNvPr>
          <p:cNvSpPr txBox="1"/>
          <p:nvPr/>
        </p:nvSpPr>
        <p:spPr>
          <a:xfrm>
            <a:off x="5478337" y="1733267"/>
            <a:ext cx="1045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5km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D10A04-C341-4E63-0DAD-D4F716326419}"/>
              </a:ext>
            </a:extLst>
          </p:cNvPr>
          <p:cNvSpPr txBox="1"/>
          <p:nvPr/>
        </p:nvSpPr>
        <p:spPr>
          <a:xfrm>
            <a:off x="5711589" y="4122263"/>
            <a:ext cx="812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8km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37962A-842F-FCF3-8964-35F54F5BA227}"/>
              </a:ext>
            </a:extLst>
          </p:cNvPr>
          <p:cNvSpPr txBox="1"/>
          <p:nvPr/>
        </p:nvSpPr>
        <p:spPr>
          <a:xfrm>
            <a:off x="2224585" y="3862067"/>
            <a:ext cx="696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29FE83-A956-B0C9-9C4F-E5F1F0EAC001}"/>
              </a:ext>
            </a:extLst>
          </p:cNvPr>
          <p:cNvSpPr txBox="1"/>
          <p:nvPr/>
        </p:nvSpPr>
        <p:spPr>
          <a:xfrm>
            <a:off x="4442346" y="2864403"/>
            <a:ext cx="730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1km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BB5DD3-6EA4-0210-5DF8-B2FA959CAAC2}"/>
              </a:ext>
            </a:extLst>
          </p:cNvPr>
          <p:cNvSpPr txBox="1"/>
          <p:nvPr/>
        </p:nvSpPr>
        <p:spPr>
          <a:xfrm>
            <a:off x="2431475" y="562620"/>
            <a:ext cx="6093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Route Planning for a Delivery Truck</a:t>
            </a:r>
          </a:p>
        </p:txBody>
      </p:sp>
    </p:spTree>
    <p:extLst>
      <p:ext uri="{BB962C8B-B14F-4D97-AF65-F5344CB8AC3E}">
        <p14:creationId xmlns:p14="http://schemas.microsoft.com/office/powerpoint/2010/main" val="3925836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013779-AFD8-8031-DD92-0CA4690DD7B6}"/>
              </a:ext>
            </a:extLst>
          </p:cNvPr>
          <p:cNvSpPr txBox="1"/>
          <p:nvPr/>
        </p:nvSpPr>
        <p:spPr>
          <a:xfrm>
            <a:off x="2241645" y="654672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Bellman-Ford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2A19F-2325-0430-440A-6A007B2A8A24}"/>
              </a:ext>
            </a:extLst>
          </p:cNvPr>
          <p:cNvSpPr txBox="1"/>
          <p:nvPr/>
        </p:nvSpPr>
        <p:spPr>
          <a:xfrm>
            <a:off x="1064526" y="1463428"/>
            <a:ext cx="108226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Overview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The Bellman-Ford algorithm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Works with weighted directed graphs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Can handle negative edge weights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Detects negative cycles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Runs in O(V·E) time complexity (V = vertices, E = edges)</a:t>
            </a:r>
          </a:p>
        </p:txBody>
      </p:sp>
    </p:spTree>
    <p:extLst>
      <p:ext uri="{BB962C8B-B14F-4D97-AF65-F5344CB8AC3E}">
        <p14:creationId xmlns:p14="http://schemas.microsoft.com/office/powerpoint/2010/main" val="141855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BD1BD7-56A0-37A0-C099-B5C8C375E628}"/>
              </a:ext>
            </a:extLst>
          </p:cNvPr>
          <p:cNvSpPr txBox="1"/>
          <p:nvPr/>
        </p:nvSpPr>
        <p:spPr>
          <a:xfrm>
            <a:off x="1491018" y="2935445"/>
            <a:ext cx="60937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Iteration 1:</a:t>
            </a:r>
          </a:p>
          <a:p>
            <a:r>
              <a:rPr lang="en-US" sz="2400" dirty="0"/>
              <a:t>   * A -&gt; B: B = 4</a:t>
            </a:r>
          </a:p>
          <a:p>
            <a:r>
              <a:rPr lang="en-US" sz="2400" dirty="0"/>
              <a:t>   * A -&gt; C: C = 2</a:t>
            </a:r>
          </a:p>
          <a:p>
            <a:r>
              <a:rPr lang="en-US" sz="2400" dirty="0"/>
              <a:t>   * B -&gt; C: C = min(2, 4 + 1) = 2 (No change)</a:t>
            </a:r>
          </a:p>
          <a:p>
            <a:r>
              <a:rPr lang="en-US" sz="2400" dirty="0"/>
              <a:t>   * B -&gt; D: D = 4 + 5 = 9</a:t>
            </a:r>
          </a:p>
          <a:p>
            <a:r>
              <a:rPr lang="en-US" sz="2400" dirty="0"/>
              <a:t>   * C -&gt; D: D = min(9, 2 + 8) = 9 (No change)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3B5DFC-33EE-1986-6DEE-30773350BECA}"/>
              </a:ext>
            </a:extLst>
          </p:cNvPr>
          <p:cNvSpPr txBox="1"/>
          <p:nvPr/>
        </p:nvSpPr>
        <p:spPr>
          <a:xfrm>
            <a:off x="1491018" y="1173287"/>
            <a:ext cx="6093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Bellman-Ford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2A4F11-CD94-AE3A-408A-E3F2B676A5CD}"/>
              </a:ext>
            </a:extLst>
          </p:cNvPr>
          <p:cNvSpPr txBox="1"/>
          <p:nvPr/>
        </p:nvSpPr>
        <p:spPr>
          <a:xfrm>
            <a:off x="1285165" y="5684713"/>
            <a:ext cx="8185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Result: Shortest path A -&gt; C -&gt; D, Total distance = 10 km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93E10CD-535D-BE1F-626D-8B3EF05E998D}"/>
              </a:ext>
            </a:extLst>
          </p:cNvPr>
          <p:cNvSpPr/>
          <p:nvPr/>
        </p:nvSpPr>
        <p:spPr>
          <a:xfrm>
            <a:off x="6406486" y="1020888"/>
            <a:ext cx="846162" cy="945107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EB7483-7EDD-7E03-8773-1033E53A109C}"/>
              </a:ext>
            </a:extLst>
          </p:cNvPr>
          <p:cNvSpPr/>
          <p:nvPr/>
        </p:nvSpPr>
        <p:spPr>
          <a:xfrm>
            <a:off x="8624247" y="2714916"/>
            <a:ext cx="846162" cy="945107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971E56-10CC-9F58-BF5F-53C3373484B3}"/>
              </a:ext>
            </a:extLst>
          </p:cNvPr>
          <p:cNvSpPr/>
          <p:nvPr/>
        </p:nvSpPr>
        <p:spPr>
          <a:xfrm>
            <a:off x="10700982" y="1173287"/>
            <a:ext cx="846162" cy="94510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A60429-9C5E-A36A-48CE-8B75BE1AF17C}"/>
              </a:ext>
            </a:extLst>
          </p:cNvPr>
          <p:cNvCxnSpPr>
            <a:cxnSpLocks/>
            <a:stCxn id="14" idx="5"/>
          </p:cNvCxnSpPr>
          <p:nvPr/>
        </p:nvCxnSpPr>
        <p:spPr>
          <a:xfrm>
            <a:off x="7128730" y="1827587"/>
            <a:ext cx="1531963" cy="1158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9873C8-A3E9-2E23-680F-179B930D33AB}"/>
              </a:ext>
            </a:extLst>
          </p:cNvPr>
          <p:cNvCxnSpPr>
            <a:stCxn id="15" idx="6"/>
            <a:endCxn id="16" idx="3"/>
          </p:cNvCxnSpPr>
          <p:nvPr/>
        </p:nvCxnSpPr>
        <p:spPr>
          <a:xfrm flipV="1">
            <a:off x="9470409" y="1979986"/>
            <a:ext cx="1354491" cy="12074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5A4F734-6C33-763B-0F89-38CFEDCDF695}"/>
              </a:ext>
            </a:extLst>
          </p:cNvPr>
          <p:cNvSpPr txBox="1"/>
          <p:nvPr/>
        </p:nvSpPr>
        <p:spPr>
          <a:xfrm>
            <a:off x="10316571" y="2659258"/>
            <a:ext cx="812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8km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718D0-327E-BAFD-611D-B96C6C9AB095}"/>
              </a:ext>
            </a:extLst>
          </p:cNvPr>
          <p:cNvSpPr txBox="1"/>
          <p:nvPr/>
        </p:nvSpPr>
        <p:spPr>
          <a:xfrm>
            <a:off x="6829567" y="2399062"/>
            <a:ext cx="696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2km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88995-19F9-7AE3-28FA-E8CAB4B9D124}"/>
              </a:ext>
            </a:extLst>
          </p:cNvPr>
          <p:cNvSpPr txBox="1"/>
          <p:nvPr/>
        </p:nvSpPr>
        <p:spPr>
          <a:xfrm>
            <a:off x="1431879" y="1979758"/>
            <a:ext cx="60937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initialization:</a:t>
            </a:r>
          </a:p>
          <a:p>
            <a:r>
              <a:rPr lang="en-US" sz="2000" b="1" dirty="0"/>
              <a:t>   * Distances: A = 0, B = ∞, C = ∞, D = ∞</a:t>
            </a:r>
          </a:p>
        </p:txBody>
      </p:sp>
    </p:spTree>
    <p:extLst>
      <p:ext uri="{BB962C8B-B14F-4D97-AF65-F5344CB8AC3E}">
        <p14:creationId xmlns:p14="http://schemas.microsoft.com/office/powerpoint/2010/main" val="3862465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61EF2-B680-C690-962A-996D82BCEF3A}"/>
              </a:ext>
            </a:extLst>
          </p:cNvPr>
          <p:cNvSpPr txBox="1"/>
          <p:nvPr/>
        </p:nvSpPr>
        <p:spPr>
          <a:xfrm>
            <a:off x="1313598" y="681967"/>
            <a:ext cx="6093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Dijkstra's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8D6D2-5D8B-3FA2-891F-D90E4775877C}"/>
              </a:ext>
            </a:extLst>
          </p:cNvPr>
          <p:cNvSpPr txBox="1"/>
          <p:nvPr/>
        </p:nvSpPr>
        <p:spPr>
          <a:xfrm>
            <a:off x="1763974" y="1490723"/>
            <a:ext cx="914513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Overview: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Works with weighted directed graphs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Requires all edge weights to be non-negative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Uses a priority queue for efficient node selection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Runs in O(V²) time, or O((V+E)log V) with a binary heap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Employs a greedy approach</a:t>
            </a:r>
          </a:p>
        </p:txBody>
      </p:sp>
    </p:spTree>
    <p:extLst>
      <p:ext uri="{BB962C8B-B14F-4D97-AF65-F5344CB8AC3E}">
        <p14:creationId xmlns:p14="http://schemas.microsoft.com/office/powerpoint/2010/main" val="293777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A580B3-ECB2-67CF-4B65-9D00089BA3DA}"/>
              </a:ext>
            </a:extLst>
          </p:cNvPr>
          <p:cNvSpPr txBox="1"/>
          <p:nvPr/>
        </p:nvSpPr>
        <p:spPr>
          <a:xfrm>
            <a:off x="412845" y="1218835"/>
            <a:ext cx="855373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Initialization:</a:t>
            </a:r>
          </a:p>
          <a:p>
            <a:r>
              <a:rPr lang="en-US" sz="2000" dirty="0"/>
              <a:t>   * Distances: A = 0, B = ∞, C = ∞, D = ∞</a:t>
            </a:r>
          </a:p>
          <a:p>
            <a:r>
              <a:rPr lang="en-US" sz="2000" dirty="0"/>
              <a:t>   * Priority Queue: {A:0, B:∞, C:∞, D:∞}</a:t>
            </a:r>
          </a:p>
          <a:p>
            <a:r>
              <a:rPr lang="en-US" sz="2000" dirty="0"/>
              <a:t>* Extract A:</a:t>
            </a:r>
          </a:p>
          <a:p>
            <a:r>
              <a:rPr lang="en-US" sz="2000" dirty="0"/>
              <a:t>   * A -&gt; B: B = 4</a:t>
            </a:r>
          </a:p>
          <a:p>
            <a:r>
              <a:rPr lang="en-US" sz="2000" dirty="0"/>
              <a:t>   * A -&gt; C: C = 2</a:t>
            </a:r>
          </a:p>
          <a:p>
            <a:r>
              <a:rPr lang="en-US" sz="2000" dirty="0"/>
              <a:t>   * Queue: {C:2, B:4, D:∞}</a:t>
            </a:r>
          </a:p>
          <a:p>
            <a:r>
              <a:rPr lang="en-US" sz="2000" dirty="0"/>
              <a:t>* Extract C:</a:t>
            </a:r>
          </a:p>
          <a:p>
            <a:r>
              <a:rPr lang="en-US" sz="2000" dirty="0"/>
              <a:t>   * C -&gt; D: D = 2 + 8 = 10</a:t>
            </a:r>
          </a:p>
          <a:p>
            <a:r>
              <a:rPr lang="en-US" sz="2000" dirty="0"/>
              <a:t>   * Queue: {B:4, D:10}</a:t>
            </a:r>
          </a:p>
          <a:p>
            <a:r>
              <a:rPr lang="en-US" sz="2000" dirty="0"/>
              <a:t>* Extract B:</a:t>
            </a:r>
          </a:p>
          <a:p>
            <a:r>
              <a:rPr lang="en-US" sz="2000" dirty="0"/>
              <a:t>   * B -&gt; D: D = min(10, 4 + 5) = 9</a:t>
            </a:r>
          </a:p>
          <a:p>
            <a:r>
              <a:rPr lang="en-US" sz="2000" dirty="0"/>
              <a:t>   * Queue: {D:9}</a:t>
            </a:r>
          </a:p>
          <a:p>
            <a:r>
              <a:rPr lang="en-US" sz="2000" dirty="0"/>
              <a:t>* Extract D:</a:t>
            </a:r>
          </a:p>
          <a:p>
            <a:r>
              <a:rPr lang="en-US" sz="2000" dirty="0"/>
              <a:t>   * Queue: {}</a:t>
            </a:r>
          </a:p>
          <a:p>
            <a:r>
              <a:rPr lang="en-US" sz="2000" dirty="0"/>
              <a:t>* Result: Shortest path A -&gt; C -&gt; D, Total distance = 10 km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30E00-ECF1-32FF-2C11-446CB317D9CA}"/>
              </a:ext>
            </a:extLst>
          </p:cNvPr>
          <p:cNvSpPr txBox="1"/>
          <p:nvPr/>
        </p:nvSpPr>
        <p:spPr>
          <a:xfrm>
            <a:off x="412845" y="695615"/>
            <a:ext cx="6093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Dijkstra's Algorithm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ED3F62-953C-DF33-D663-E2AF3375C13C}"/>
              </a:ext>
            </a:extLst>
          </p:cNvPr>
          <p:cNvSpPr/>
          <p:nvPr/>
        </p:nvSpPr>
        <p:spPr>
          <a:xfrm>
            <a:off x="5554638" y="2407646"/>
            <a:ext cx="846162" cy="945107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6F6954-184A-5819-489C-A636351B3337}"/>
              </a:ext>
            </a:extLst>
          </p:cNvPr>
          <p:cNvSpPr/>
          <p:nvPr/>
        </p:nvSpPr>
        <p:spPr>
          <a:xfrm>
            <a:off x="7772399" y="4101674"/>
            <a:ext cx="846162" cy="945107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19007D-5340-D699-F040-5D834222BB78}"/>
              </a:ext>
            </a:extLst>
          </p:cNvPr>
          <p:cNvSpPr/>
          <p:nvPr/>
        </p:nvSpPr>
        <p:spPr>
          <a:xfrm>
            <a:off x="9849134" y="2560045"/>
            <a:ext cx="846162" cy="94510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01451C-83D2-96B2-6AEA-D7420B16E5D8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6276882" y="3214345"/>
            <a:ext cx="1531963" cy="11585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84E448-D14E-0668-7A60-ABF9F63FF040}"/>
              </a:ext>
            </a:extLst>
          </p:cNvPr>
          <p:cNvCxnSpPr>
            <a:stCxn id="7" idx="6"/>
            <a:endCxn id="8" idx="3"/>
          </p:cNvCxnSpPr>
          <p:nvPr/>
        </p:nvCxnSpPr>
        <p:spPr>
          <a:xfrm flipV="1">
            <a:off x="8618561" y="3366744"/>
            <a:ext cx="1354491" cy="12074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35F002-A78E-C510-C5B3-344C86DD507C}"/>
              </a:ext>
            </a:extLst>
          </p:cNvPr>
          <p:cNvSpPr txBox="1"/>
          <p:nvPr/>
        </p:nvSpPr>
        <p:spPr>
          <a:xfrm>
            <a:off x="9464723" y="4046016"/>
            <a:ext cx="812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8km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794403-02E6-D54D-A52E-B6378BE5D8BC}"/>
              </a:ext>
            </a:extLst>
          </p:cNvPr>
          <p:cNvSpPr txBox="1"/>
          <p:nvPr/>
        </p:nvSpPr>
        <p:spPr>
          <a:xfrm>
            <a:off x="5977719" y="3785820"/>
            <a:ext cx="696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2km</a:t>
            </a:r>
          </a:p>
        </p:txBody>
      </p:sp>
    </p:spTree>
    <p:extLst>
      <p:ext uri="{BB962C8B-B14F-4D97-AF65-F5344CB8AC3E}">
        <p14:creationId xmlns:p14="http://schemas.microsoft.com/office/powerpoint/2010/main" val="3030013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F92CE0-5B81-16B6-FA33-40F448C860A6}"/>
              </a:ext>
            </a:extLst>
          </p:cNvPr>
          <p:cNvSpPr txBox="1"/>
          <p:nvPr/>
        </p:nvSpPr>
        <p:spPr>
          <a:xfrm>
            <a:off x="931459" y="989800"/>
            <a:ext cx="961825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Conclusion</a:t>
            </a:r>
          </a:p>
          <a:p>
            <a:r>
              <a:rPr lang="en-US" sz="3200" dirty="0"/>
              <a:t>* In this scenario, both algorithms find the same shortest path.</a:t>
            </a:r>
          </a:p>
          <a:p>
            <a:r>
              <a:rPr lang="en-US" sz="3200" dirty="0"/>
              <a:t>* Dijkstra's is generally more efficient for this type of problem (non-negative weights). </a:t>
            </a:r>
          </a:p>
        </p:txBody>
      </p:sp>
    </p:spTree>
    <p:extLst>
      <p:ext uri="{BB962C8B-B14F-4D97-AF65-F5344CB8AC3E}">
        <p14:creationId xmlns:p14="http://schemas.microsoft.com/office/powerpoint/2010/main" val="2754798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Azeez Fathima Rihana</dc:creator>
  <cp:lastModifiedBy>Mohammed Naseer Sihanas</cp:lastModifiedBy>
  <cp:revision>5</cp:revision>
  <dcterms:created xsi:type="dcterms:W3CDTF">2025-04-17T06:28:30Z</dcterms:created>
  <dcterms:modified xsi:type="dcterms:W3CDTF">2025-04-19T06:20:11Z</dcterms:modified>
</cp:coreProperties>
</file>