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9"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59621F-C0C0-47DD-97F4-5B24E7ABBA69}" type="datetimeFigureOut">
              <a:rPr lang="en-US" smtClean="0"/>
              <a:t>4/19/2025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3E2EF9-26C3-4B6A-BAE3-93C371838F22}" type="slidenum">
              <a:rPr lang="en-US" smtClean="0"/>
              <a:t>‹#›</a:t>
            </a:fld>
            <a:endParaRPr lang="en-US"/>
          </a:p>
        </p:txBody>
      </p:sp>
    </p:spTree>
    <p:extLst>
      <p:ext uri="{BB962C8B-B14F-4D97-AF65-F5344CB8AC3E}">
        <p14:creationId xmlns:p14="http://schemas.microsoft.com/office/powerpoint/2010/main" val="3300744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Group theory is a fundamental area of mathematics that explores the concept of groups. A group is a set combined with an operation that satisfies certain conditions, allowing us to study symmetry and structure in a formal way.</a:t>
            </a:r>
            <a:endParaRPr lang="en-US" dirty="0"/>
          </a:p>
        </p:txBody>
      </p:sp>
      <p:sp>
        <p:nvSpPr>
          <p:cNvPr id="4" name="Slide Number Placeholder 3"/>
          <p:cNvSpPr>
            <a:spLocks noGrp="1"/>
          </p:cNvSpPr>
          <p:nvPr>
            <p:ph type="sldNum" sz="quarter" idx="5"/>
          </p:nvPr>
        </p:nvSpPr>
        <p:spPr/>
        <p:txBody>
          <a:bodyPr/>
          <a:lstStyle/>
          <a:p>
            <a:fld id="{153E2EF9-26C3-4B6A-BAE3-93C371838F22}" type="slidenum">
              <a:rPr lang="en-US" smtClean="0"/>
              <a:t>3</a:t>
            </a:fld>
            <a:endParaRPr lang="en-US"/>
          </a:p>
        </p:txBody>
      </p:sp>
    </p:spTree>
    <p:extLst>
      <p:ext uri="{BB962C8B-B14F-4D97-AF65-F5344CB8AC3E}">
        <p14:creationId xmlns:p14="http://schemas.microsoft.com/office/powerpoint/2010/main" val="2555040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Understanding these properties is essential as they form the foundation of group theory. These properties ensure that the group structure is robust and can be applied to various mathematical and computational problems.</a:t>
            </a:r>
            <a:endParaRPr lang="en-US" dirty="0"/>
          </a:p>
        </p:txBody>
      </p:sp>
      <p:sp>
        <p:nvSpPr>
          <p:cNvPr id="4" name="Slide Number Placeholder 3"/>
          <p:cNvSpPr>
            <a:spLocks noGrp="1"/>
          </p:cNvSpPr>
          <p:nvPr>
            <p:ph type="sldNum" sz="quarter" idx="5"/>
          </p:nvPr>
        </p:nvSpPr>
        <p:spPr/>
        <p:txBody>
          <a:bodyPr/>
          <a:lstStyle/>
          <a:p>
            <a:fld id="{153E2EF9-26C3-4B6A-BAE3-93C371838F22}" type="slidenum">
              <a:rPr lang="en-US" smtClean="0"/>
              <a:t>4</a:t>
            </a:fld>
            <a:endParaRPr lang="en-US"/>
          </a:p>
        </p:txBody>
      </p:sp>
    </p:spTree>
    <p:extLst>
      <p:ext uri="{BB962C8B-B14F-4D97-AF65-F5344CB8AC3E}">
        <p14:creationId xmlns:p14="http://schemas.microsoft.com/office/powerpoint/2010/main" val="3235721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Group theory isn't just a theoretical construct; it's a practical tool that enhances our ability to think abstractly and solve complex problems, which is invaluable in computing.</a:t>
            </a:r>
            <a:endParaRPr lang="en-US" dirty="0"/>
          </a:p>
        </p:txBody>
      </p:sp>
      <p:sp>
        <p:nvSpPr>
          <p:cNvPr id="4" name="Slide Number Placeholder 3"/>
          <p:cNvSpPr>
            <a:spLocks noGrp="1"/>
          </p:cNvSpPr>
          <p:nvPr>
            <p:ph type="sldNum" sz="quarter" idx="5"/>
          </p:nvPr>
        </p:nvSpPr>
        <p:spPr/>
        <p:txBody>
          <a:bodyPr/>
          <a:lstStyle/>
          <a:p>
            <a:fld id="{153E2EF9-26C3-4B6A-BAE3-93C371838F22}" type="slidenum">
              <a:rPr lang="en-US" smtClean="0"/>
              <a:t>5</a:t>
            </a:fld>
            <a:endParaRPr lang="en-US"/>
          </a:p>
        </p:txBody>
      </p:sp>
    </p:spTree>
    <p:extLst>
      <p:ext uri="{BB962C8B-B14F-4D97-AF65-F5344CB8AC3E}">
        <p14:creationId xmlns:p14="http://schemas.microsoft.com/office/powerpoint/2010/main" val="1860767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computing students, group theory provides the tools to understand and develop secure systems, reliable data transmission methods, and efficient algorithms.</a:t>
            </a:r>
            <a:endParaRPr lang="en-US" dirty="0"/>
          </a:p>
        </p:txBody>
      </p:sp>
      <p:sp>
        <p:nvSpPr>
          <p:cNvPr id="4" name="Slide Number Placeholder 3"/>
          <p:cNvSpPr>
            <a:spLocks noGrp="1"/>
          </p:cNvSpPr>
          <p:nvPr>
            <p:ph type="sldNum" sz="quarter" idx="5"/>
          </p:nvPr>
        </p:nvSpPr>
        <p:spPr/>
        <p:txBody>
          <a:bodyPr/>
          <a:lstStyle/>
          <a:p>
            <a:fld id="{153E2EF9-26C3-4B6A-BAE3-93C371838F22}" type="slidenum">
              <a:rPr lang="en-US" smtClean="0"/>
              <a:t>6</a:t>
            </a:fld>
            <a:endParaRPr lang="en-US"/>
          </a:p>
        </p:txBody>
      </p:sp>
    </p:spTree>
    <p:extLst>
      <p:ext uri="{BB962C8B-B14F-4D97-AF65-F5344CB8AC3E}">
        <p14:creationId xmlns:p14="http://schemas.microsoft.com/office/powerpoint/2010/main" val="97876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Beyond theoretical applications, group theory has practical uses in areas like graphics and robotics, where understanding symmetry and transformations is crucial.​</a:t>
            </a:r>
          </a:p>
          <a:p>
            <a:endParaRPr lang="en-US" dirty="0"/>
          </a:p>
        </p:txBody>
      </p:sp>
      <p:sp>
        <p:nvSpPr>
          <p:cNvPr id="4" name="Slide Number Placeholder 3"/>
          <p:cNvSpPr>
            <a:spLocks noGrp="1"/>
          </p:cNvSpPr>
          <p:nvPr>
            <p:ph type="sldNum" sz="quarter" idx="5"/>
          </p:nvPr>
        </p:nvSpPr>
        <p:spPr/>
        <p:txBody>
          <a:bodyPr/>
          <a:lstStyle/>
          <a:p>
            <a:fld id="{153E2EF9-26C3-4B6A-BAE3-93C371838F22}" type="slidenum">
              <a:rPr lang="en-US" smtClean="0"/>
              <a:t>7</a:t>
            </a:fld>
            <a:endParaRPr lang="en-US"/>
          </a:p>
        </p:txBody>
      </p:sp>
    </p:spTree>
    <p:extLst>
      <p:ext uri="{BB962C8B-B14F-4D97-AF65-F5344CB8AC3E}">
        <p14:creationId xmlns:p14="http://schemas.microsoft.com/office/powerpoint/2010/main" val="1745820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By applying group theory, we can optimize algorithms and data structures, leading to more efficient and effective computing solutions.</a:t>
            </a:r>
            <a:endParaRPr lang="en-US" dirty="0"/>
          </a:p>
        </p:txBody>
      </p:sp>
      <p:sp>
        <p:nvSpPr>
          <p:cNvPr id="4" name="Slide Number Placeholder 3"/>
          <p:cNvSpPr>
            <a:spLocks noGrp="1"/>
          </p:cNvSpPr>
          <p:nvPr>
            <p:ph type="sldNum" sz="quarter" idx="5"/>
          </p:nvPr>
        </p:nvSpPr>
        <p:spPr/>
        <p:txBody>
          <a:bodyPr/>
          <a:lstStyle/>
          <a:p>
            <a:fld id="{153E2EF9-26C3-4B6A-BAE3-93C371838F22}" type="slidenum">
              <a:rPr lang="en-US" smtClean="0"/>
              <a:t>8</a:t>
            </a:fld>
            <a:endParaRPr lang="en-US"/>
          </a:p>
        </p:txBody>
      </p:sp>
    </p:spTree>
    <p:extLst>
      <p:ext uri="{BB962C8B-B14F-4D97-AF65-F5344CB8AC3E}">
        <p14:creationId xmlns:p14="http://schemas.microsoft.com/office/powerpoint/2010/main" val="2320143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Group theory isn't confined to academic exercises; it's at the heart of technologies we use daily, from secure communications to blockchain.</a:t>
            </a:r>
            <a:endParaRPr lang="en-US" dirty="0"/>
          </a:p>
        </p:txBody>
      </p:sp>
      <p:sp>
        <p:nvSpPr>
          <p:cNvPr id="4" name="Slide Number Placeholder 3"/>
          <p:cNvSpPr>
            <a:spLocks noGrp="1"/>
          </p:cNvSpPr>
          <p:nvPr>
            <p:ph type="sldNum" sz="quarter" idx="5"/>
          </p:nvPr>
        </p:nvSpPr>
        <p:spPr/>
        <p:txBody>
          <a:bodyPr/>
          <a:lstStyle/>
          <a:p>
            <a:fld id="{153E2EF9-26C3-4B6A-BAE3-93C371838F22}" type="slidenum">
              <a:rPr lang="en-US" smtClean="0"/>
              <a:t>9</a:t>
            </a:fld>
            <a:endParaRPr lang="en-US"/>
          </a:p>
        </p:txBody>
      </p:sp>
    </p:spTree>
    <p:extLst>
      <p:ext uri="{BB962C8B-B14F-4D97-AF65-F5344CB8AC3E}">
        <p14:creationId xmlns:p14="http://schemas.microsoft.com/office/powerpoint/2010/main" val="1649100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Studying group theory equips students with a versatile set of skills that are applicable in numerous areas within and outside computing.</a:t>
            </a:r>
            <a:endParaRPr lang="en-US" b="1" dirty="0"/>
          </a:p>
        </p:txBody>
      </p:sp>
      <p:sp>
        <p:nvSpPr>
          <p:cNvPr id="4" name="Slide Number Placeholder 3"/>
          <p:cNvSpPr>
            <a:spLocks noGrp="1"/>
          </p:cNvSpPr>
          <p:nvPr>
            <p:ph type="sldNum" sz="quarter" idx="5"/>
          </p:nvPr>
        </p:nvSpPr>
        <p:spPr/>
        <p:txBody>
          <a:bodyPr/>
          <a:lstStyle/>
          <a:p>
            <a:fld id="{153E2EF9-26C3-4B6A-BAE3-93C371838F22}" type="slidenum">
              <a:rPr lang="en-US" smtClean="0"/>
              <a:t>10</a:t>
            </a:fld>
            <a:endParaRPr lang="en-US"/>
          </a:p>
        </p:txBody>
      </p:sp>
    </p:spTree>
    <p:extLst>
      <p:ext uri="{BB962C8B-B14F-4D97-AF65-F5344CB8AC3E}">
        <p14:creationId xmlns:p14="http://schemas.microsoft.com/office/powerpoint/2010/main" val="1530025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05178-773E-9898-A1DE-CFF65F7389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0D4871-5F81-AB27-82FD-2E0DEB62F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7006E6-0206-7661-B212-A884F0CB23B5}"/>
              </a:ext>
            </a:extLst>
          </p:cNvPr>
          <p:cNvSpPr>
            <a:spLocks noGrp="1"/>
          </p:cNvSpPr>
          <p:nvPr>
            <p:ph type="dt" sz="half" idx="10"/>
          </p:nvPr>
        </p:nvSpPr>
        <p:spPr/>
        <p:txBody>
          <a:bodyPr/>
          <a:lstStyle/>
          <a:p>
            <a:fld id="{B1C0A6B4-8A4A-4CB6-ABAD-8D0E603C1866}" type="datetimeFigureOut">
              <a:rPr lang="en-US" smtClean="0"/>
              <a:t>4/19/2025</a:t>
            </a:fld>
            <a:endParaRPr lang="en-US"/>
          </a:p>
        </p:txBody>
      </p:sp>
      <p:sp>
        <p:nvSpPr>
          <p:cNvPr id="5" name="Footer Placeholder 4">
            <a:extLst>
              <a:ext uri="{FF2B5EF4-FFF2-40B4-BE49-F238E27FC236}">
                <a16:creationId xmlns:a16="http://schemas.microsoft.com/office/drawing/2014/main" id="{3A352537-CB54-12FB-544F-25B65AFBD4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34CBB2-CFE7-6889-171C-17BBFAFEFDFC}"/>
              </a:ext>
            </a:extLst>
          </p:cNvPr>
          <p:cNvSpPr>
            <a:spLocks noGrp="1"/>
          </p:cNvSpPr>
          <p:nvPr>
            <p:ph type="sldNum" sz="quarter" idx="12"/>
          </p:nvPr>
        </p:nvSpPr>
        <p:spPr/>
        <p:txBody>
          <a:bodyPr/>
          <a:lstStyle/>
          <a:p>
            <a:fld id="{AE693A2A-617F-4EA2-B173-472580D61979}" type="slidenum">
              <a:rPr lang="en-US" smtClean="0"/>
              <a:t>‹#›</a:t>
            </a:fld>
            <a:endParaRPr lang="en-US"/>
          </a:p>
        </p:txBody>
      </p:sp>
    </p:spTree>
    <p:extLst>
      <p:ext uri="{BB962C8B-B14F-4D97-AF65-F5344CB8AC3E}">
        <p14:creationId xmlns:p14="http://schemas.microsoft.com/office/powerpoint/2010/main" val="444635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A2B12-52E9-343B-6151-57C0BF54B0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5F023C-738B-9CCF-051E-EC0E2A120F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7E8770-DA09-3991-95E0-4F93E8F8AECE}"/>
              </a:ext>
            </a:extLst>
          </p:cNvPr>
          <p:cNvSpPr>
            <a:spLocks noGrp="1"/>
          </p:cNvSpPr>
          <p:nvPr>
            <p:ph type="dt" sz="half" idx="10"/>
          </p:nvPr>
        </p:nvSpPr>
        <p:spPr/>
        <p:txBody>
          <a:bodyPr/>
          <a:lstStyle/>
          <a:p>
            <a:fld id="{B1C0A6B4-8A4A-4CB6-ABAD-8D0E603C1866}" type="datetimeFigureOut">
              <a:rPr lang="en-US" smtClean="0"/>
              <a:t>4/19/2025</a:t>
            </a:fld>
            <a:endParaRPr lang="en-US"/>
          </a:p>
        </p:txBody>
      </p:sp>
      <p:sp>
        <p:nvSpPr>
          <p:cNvPr id="5" name="Footer Placeholder 4">
            <a:extLst>
              <a:ext uri="{FF2B5EF4-FFF2-40B4-BE49-F238E27FC236}">
                <a16:creationId xmlns:a16="http://schemas.microsoft.com/office/drawing/2014/main" id="{76E2D795-43A1-0731-8E90-6344664D65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58C6EC-1612-82F4-57A0-E3172E0AFF0D}"/>
              </a:ext>
            </a:extLst>
          </p:cNvPr>
          <p:cNvSpPr>
            <a:spLocks noGrp="1"/>
          </p:cNvSpPr>
          <p:nvPr>
            <p:ph type="sldNum" sz="quarter" idx="12"/>
          </p:nvPr>
        </p:nvSpPr>
        <p:spPr/>
        <p:txBody>
          <a:bodyPr/>
          <a:lstStyle/>
          <a:p>
            <a:fld id="{AE693A2A-617F-4EA2-B173-472580D61979}" type="slidenum">
              <a:rPr lang="en-US" smtClean="0"/>
              <a:t>‹#›</a:t>
            </a:fld>
            <a:endParaRPr lang="en-US"/>
          </a:p>
        </p:txBody>
      </p:sp>
    </p:spTree>
    <p:extLst>
      <p:ext uri="{BB962C8B-B14F-4D97-AF65-F5344CB8AC3E}">
        <p14:creationId xmlns:p14="http://schemas.microsoft.com/office/powerpoint/2010/main" val="3527065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277AB-FFD8-5C05-F192-F2BB66995C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CD154C-BE11-C1B2-6C3B-3B66BBE732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14623D-D929-3680-DDF3-94492BD09F58}"/>
              </a:ext>
            </a:extLst>
          </p:cNvPr>
          <p:cNvSpPr>
            <a:spLocks noGrp="1"/>
          </p:cNvSpPr>
          <p:nvPr>
            <p:ph type="dt" sz="half" idx="10"/>
          </p:nvPr>
        </p:nvSpPr>
        <p:spPr/>
        <p:txBody>
          <a:bodyPr/>
          <a:lstStyle/>
          <a:p>
            <a:fld id="{B1C0A6B4-8A4A-4CB6-ABAD-8D0E603C1866}" type="datetimeFigureOut">
              <a:rPr lang="en-US" smtClean="0"/>
              <a:t>4/19/2025</a:t>
            </a:fld>
            <a:endParaRPr lang="en-US"/>
          </a:p>
        </p:txBody>
      </p:sp>
      <p:sp>
        <p:nvSpPr>
          <p:cNvPr id="5" name="Footer Placeholder 4">
            <a:extLst>
              <a:ext uri="{FF2B5EF4-FFF2-40B4-BE49-F238E27FC236}">
                <a16:creationId xmlns:a16="http://schemas.microsoft.com/office/drawing/2014/main" id="{5B21C9E3-8D86-85C8-8511-DCA035A4E8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7471A0-A60E-5487-C57D-B4CB3D99527B}"/>
              </a:ext>
            </a:extLst>
          </p:cNvPr>
          <p:cNvSpPr>
            <a:spLocks noGrp="1"/>
          </p:cNvSpPr>
          <p:nvPr>
            <p:ph type="sldNum" sz="quarter" idx="12"/>
          </p:nvPr>
        </p:nvSpPr>
        <p:spPr/>
        <p:txBody>
          <a:bodyPr/>
          <a:lstStyle/>
          <a:p>
            <a:fld id="{AE693A2A-617F-4EA2-B173-472580D61979}" type="slidenum">
              <a:rPr lang="en-US" smtClean="0"/>
              <a:t>‹#›</a:t>
            </a:fld>
            <a:endParaRPr lang="en-US"/>
          </a:p>
        </p:txBody>
      </p:sp>
    </p:spTree>
    <p:extLst>
      <p:ext uri="{BB962C8B-B14F-4D97-AF65-F5344CB8AC3E}">
        <p14:creationId xmlns:p14="http://schemas.microsoft.com/office/powerpoint/2010/main" val="982654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93428-46EE-182B-6513-324451758B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978FCF-562C-9C0A-83A5-A29ECF512C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587BED-E469-E10A-FF3E-D5F975A114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E1483A-05A1-650D-5CFD-EC80B66739D9}"/>
              </a:ext>
            </a:extLst>
          </p:cNvPr>
          <p:cNvSpPr>
            <a:spLocks noGrp="1"/>
          </p:cNvSpPr>
          <p:nvPr>
            <p:ph type="dt" sz="half" idx="10"/>
          </p:nvPr>
        </p:nvSpPr>
        <p:spPr/>
        <p:txBody>
          <a:bodyPr/>
          <a:lstStyle/>
          <a:p>
            <a:fld id="{B1C0A6B4-8A4A-4CB6-ABAD-8D0E603C1866}" type="datetimeFigureOut">
              <a:rPr lang="en-US" smtClean="0"/>
              <a:t>4/19/2025</a:t>
            </a:fld>
            <a:endParaRPr lang="en-US"/>
          </a:p>
        </p:txBody>
      </p:sp>
      <p:sp>
        <p:nvSpPr>
          <p:cNvPr id="6" name="Footer Placeholder 5">
            <a:extLst>
              <a:ext uri="{FF2B5EF4-FFF2-40B4-BE49-F238E27FC236}">
                <a16:creationId xmlns:a16="http://schemas.microsoft.com/office/drawing/2014/main" id="{14624426-61B7-9FFD-1EEF-78C5D2A50B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931FA5-B3E4-F422-CD92-50115962877B}"/>
              </a:ext>
            </a:extLst>
          </p:cNvPr>
          <p:cNvSpPr>
            <a:spLocks noGrp="1"/>
          </p:cNvSpPr>
          <p:nvPr>
            <p:ph type="sldNum" sz="quarter" idx="12"/>
          </p:nvPr>
        </p:nvSpPr>
        <p:spPr/>
        <p:txBody>
          <a:bodyPr/>
          <a:lstStyle/>
          <a:p>
            <a:fld id="{AE693A2A-617F-4EA2-B173-472580D61979}" type="slidenum">
              <a:rPr lang="en-US" smtClean="0"/>
              <a:t>‹#›</a:t>
            </a:fld>
            <a:endParaRPr lang="en-US"/>
          </a:p>
        </p:txBody>
      </p:sp>
    </p:spTree>
    <p:extLst>
      <p:ext uri="{BB962C8B-B14F-4D97-AF65-F5344CB8AC3E}">
        <p14:creationId xmlns:p14="http://schemas.microsoft.com/office/powerpoint/2010/main" val="63241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0A947-8148-F575-86CC-DF6F5B2F7E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026444-D85A-1550-A350-EE9BE99AFD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36E29-A8B7-D5F6-9CC6-35DDC7ECD5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6E8161-BDA7-2EE5-C82A-DC312FB264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BA4451-7FE3-2B5B-07F7-3962BFED4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0CDA74-333C-9253-6CA9-B3F77637AD80}"/>
              </a:ext>
            </a:extLst>
          </p:cNvPr>
          <p:cNvSpPr>
            <a:spLocks noGrp="1"/>
          </p:cNvSpPr>
          <p:nvPr>
            <p:ph type="dt" sz="half" idx="10"/>
          </p:nvPr>
        </p:nvSpPr>
        <p:spPr/>
        <p:txBody>
          <a:bodyPr/>
          <a:lstStyle/>
          <a:p>
            <a:fld id="{B1C0A6B4-8A4A-4CB6-ABAD-8D0E603C1866}" type="datetimeFigureOut">
              <a:rPr lang="en-US" smtClean="0"/>
              <a:t>4/19/2025</a:t>
            </a:fld>
            <a:endParaRPr lang="en-US"/>
          </a:p>
        </p:txBody>
      </p:sp>
      <p:sp>
        <p:nvSpPr>
          <p:cNvPr id="8" name="Footer Placeholder 7">
            <a:extLst>
              <a:ext uri="{FF2B5EF4-FFF2-40B4-BE49-F238E27FC236}">
                <a16:creationId xmlns:a16="http://schemas.microsoft.com/office/drawing/2014/main" id="{1E7C133D-6E55-8C88-C7EB-4A00A9FF2F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804214-033E-1835-B3C5-28F963B37909}"/>
              </a:ext>
            </a:extLst>
          </p:cNvPr>
          <p:cNvSpPr>
            <a:spLocks noGrp="1"/>
          </p:cNvSpPr>
          <p:nvPr>
            <p:ph type="sldNum" sz="quarter" idx="12"/>
          </p:nvPr>
        </p:nvSpPr>
        <p:spPr/>
        <p:txBody>
          <a:bodyPr/>
          <a:lstStyle/>
          <a:p>
            <a:fld id="{AE693A2A-617F-4EA2-B173-472580D61979}" type="slidenum">
              <a:rPr lang="en-US" smtClean="0"/>
              <a:t>‹#›</a:t>
            </a:fld>
            <a:endParaRPr lang="en-US"/>
          </a:p>
        </p:txBody>
      </p:sp>
    </p:spTree>
    <p:extLst>
      <p:ext uri="{BB962C8B-B14F-4D97-AF65-F5344CB8AC3E}">
        <p14:creationId xmlns:p14="http://schemas.microsoft.com/office/powerpoint/2010/main" val="766166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04A9A-4B11-3EBE-1295-41954996B6F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E81B5B-0322-5969-0284-31D75BFBDDEC}"/>
              </a:ext>
            </a:extLst>
          </p:cNvPr>
          <p:cNvSpPr>
            <a:spLocks noGrp="1"/>
          </p:cNvSpPr>
          <p:nvPr>
            <p:ph type="dt" sz="half" idx="10"/>
          </p:nvPr>
        </p:nvSpPr>
        <p:spPr/>
        <p:txBody>
          <a:bodyPr/>
          <a:lstStyle/>
          <a:p>
            <a:fld id="{B1C0A6B4-8A4A-4CB6-ABAD-8D0E603C1866}" type="datetimeFigureOut">
              <a:rPr lang="en-US" smtClean="0"/>
              <a:t>4/19/2025</a:t>
            </a:fld>
            <a:endParaRPr lang="en-US"/>
          </a:p>
        </p:txBody>
      </p:sp>
      <p:sp>
        <p:nvSpPr>
          <p:cNvPr id="4" name="Footer Placeholder 3">
            <a:extLst>
              <a:ext uri="{FF2B5EF4-FFF2-40B4-BE49-F238E27FC236}">
                <a16:creationId xmlns:a16="http://schemas.microsoft.com/office/drawing/2014/main" id="{A161698B-8220-AB2B-B607-FFF4BE54BF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867677-1B7D-FEC1-4F63-6A18C694733F}"/>
              </a:ext>
            </a:extLst>
          </p:cNvPr>
          <p:cNvSpPr>
            <a:spLocks noGrp="1"/>
          </p:cNvSpPr>
          <p:nvPr>
            <p:ph type="sldNum" sz="quarter" idx="12"/>
          </p:nvPr>
        </p:nvSpPr>
        <p:spPr/>
        <p:txBody>
          <a:bodyPr/>
          <a:lstStyle/>
          <a:p>
            <a:fld id="{AE693A2A-617F-4EA2-B173-472580D61979}" type="slidenum">
              <a:rPr lang="en-US" smtClean="0"/>
              <a:t>‹#›</a:t>
            </a:fld>
            <a:endParaRPr lang="en-US"/>
          </a:p>
        </p:txBody>
      </p:sp>
    </p:spTree>
    <p:extLst>
      <p:ext uri="{BB962C8B-B14F-4D97-AF65-F5344CB8AC3E}">
        <p14:creationId xmlns:p14="http://schemas.microsoft.com/office/powerpoint/2010/main" val="1827173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241283-FA82-C30B-BFCE-3460A40DC04A}"/>
              </a:ext>
            </a:extLst>
          </p:cNvPr>
          <p:cNvSpPr>
            <a:spLocks noGrp="1"/>
          </p:cNvSpPr>
          <p:nvPr>
            <p:ph type="dt" sz="half" idx="10"/>
          </p:nvPr>
        </p:nvSpPr>
        <p:spPr/>
        <p:txBody>
          <a:bodyPr/>
          <a:lstStyle/>
          <a:p>
            <a:fld id="{B1C0A6B4-8A4A-4CB6-ABAD-8D0E603C1866}" type="datetimeFigureOut">
              <a:rPr lang="en-US" smtClean="0"/>
              <a:t>4/19/2025</a:t>
            </a:fld>
            <a:endParaRPr lang="en-US"/>
          </a:p>
        </p:txBody>
      </p:sp>
      <p:sp>
        <p:nvSpPr>
          <p:cNvPr id="3" name="Footer Placeholder 2">
            <a:extLst>
              <a:ext uri="{FF2B5EF4-FFF2-40B4-BE49-F238E27FC236}">
                <a16:creationId xmlns:a16="http://schemas.microsoft.com/office/drawing/2014/main" id="{6797106D-F112-8CC9-F72A-C14D8CAE6E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A40E2A-3470-4587-AD57-43B3109A3128}"/>
              </a:ext>
            </a:extLst>
          </p:cNvPr>
          <p:cNvSpPr>
            <a:spLocks noGrp="1"/>
          </p:cNvSpPr>
          <p:nvPr>
            <p:ph type="sldNum" sz="quarter" idx="12"/>
          </p:nvPr>
        </p:nvSpPr>
        <p:spPr/>
        <p:txBody>
          <a:bodyPr/>
          <a:lstStyle/>
          <a:p>
            <a:fld id="{AE693A2A-617F-4EA2-B173-472580D61979}" type="slidenum">
              <a:rPr lang="en-US" smtClean="0"/>
              <a:t>‹#›</a:t>
            </a:fld>
            <a:endParaRPr lang="en-US"/>
          </a:p>
        </p:txBody>
      </p:sp>
    </p:spTree>
    <p:extLst>
      <p:ext uri="{BB962C8B-B14F-4D97-AF65-F5344CB8AC3E}">
        <p14:creationId xmlns:p14="http://schemas.microsoft.com/office/powerpoint/2010/main" val="2193091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0A212-5AD2-26C4-BDF8-717C251F6D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A86A0A-DBD6-7B57-B7A7-44FE9925B7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EE1D06-3961-09C1-4A6F-75FAF28F8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E0FC3B-C2E3-A30F-7CF3-8898734F646B}"/>
              </a:ext>
            </a:extLst>
          </p:cNvPr>
          <p:cNvSpPr>
            <a:spLocks noGrp="1"/>
          </p:cNvSpPr>
          <p:nvPr>
            <p:ph type="dt" sz="half" idx="10"/>
          </p:nvPr>
        </p:nvSpPr>
        <p:spPr/>
        <p:txBody>
          <a:bodyPr/>
          <a:lstStyle/>
          <a:p>
            <a:fld id="{B1C0A6B4-8A4A-4CB6-ABAD-8D0E603C1866}" type="datetimeFigureOut">
              <a:rPr lang="en-US" smtClean="0"/>
              <a:t>4/19/2025</a:t>
            </a:fld>
            <a:endParaRPr lang="en-US"/>
          </a:p>
        </p:txBody>
      </p:sp>
      <p:sp>
        <p:nvSpPr>
          <p:cNvPr id="6" name="Footer Placeholder 5">
            <a:extLst>
              <a:ext uri="{FF2B5EF4-FFF2-40B4-BE49-F238E27FC236}">
                <a16:creationId xmlns:a16="http://schemas.microsoft.com/office/drawing/2014/main" id="{65B823ED-382C-5BEA-5BC0-9AEF8292CF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D15BB4-ED0B-B2E8-3A9F-4C6F2E3D19D2}"/>
              </a:ext>
            </a:extLst>
          </p:cNvPr>
          <p:cNvSpPr>
            <a:spLocks noGrp="1"/>
          </p:cNvSpPr>
          <p:nvPr>
            <p:ph type="sldNum" sz="quarter" idx="12"/>
          </p:nvPr>
        </p:nvSpPr>
        <p:spPr/>
        <p:txBody>
          <a:bodyPr/>
          <a:lstStyle/>
          <a:p>
            <a:fld id="{AE693A2A-617F-4EA2-B173-472580D61979}" type="slidenum">
              <a:rPr lang="en-US" smtClean="0"/>
              <a:t>‹#›</a:t>
            </a:fld>
            <a:endParaRPr lang="en-US"/>
          </a:p>
        </p:txBody>
      </p:sp>
    </p:spTree>
    <p:extLst>
      <p:ext uri="{BB962C8B-B14F-4D97-AF65-F5344CB8AC3E}">
        <p14:creationId xmlns:p14="http://schemas.microsoft.com/office/powerpoint/2010/main" val="269028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EF1BC-1337-EFBB-19C2-396BC23AA0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C2E498-8AC5-B3A0-82B6-4DDDDC94CD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2C6509-E9F7-90B6-AD1A-B917625C65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312062-5996-F339-BBAD-58660C101B7D}"/>
              </a:ext>
            </a:extLst>
          </p:cNvPr>
          <p:cNvSpPr>
            <a:spLocks noGrp="1"/>
          </p:cNvSpPr>
          <p:nvPr>
            <p:ph type="dt" sz="half" idx="10"/>
          </p:nvPr>
        </p:nvSpPr>
        <p:spPr/>
        <p:txBody>
          <a:bodyPr/>
          <a:lstStyle/>
          <a:p>
            <a:fld id="{B1C0A6B4-8A4A-4CB6-ABAD-8D0E603C1866}" type="datetimeFigureOut">
              <a:rPr lang="en-US" smtClean="0"/>
              <a:t>4/19/2025</a:t>
            </a:fld>
            <a:endParaRPr lang="en-US"/>
          </a:p>
        </p:txBody>
      </p:sp>
      <p:sp>
        <p:nvSpPr>
          <p:cNvPr id="6" name="Footer Placeholder 5">
            <a:extLst>
              <a:ext uri="{FF2B5EF4-FFF2-40B4-BE49-F238E27FC236}">
                <a16:creationId xmlns:a16="http://schemas.microsoft.com/office/drawing/2014/main" id="{81042066-DF2A-D21E-FD3D-7C4AC29610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B6C9A9-AAED-7F1C-E95C-F85BBF829223}"/>
              </a:ext>
            </a:extLst>
          </p:cNvPr>
          <p:cNvSpPr>
            <a:spLocks noGrp="1"/>
          </p:cNvSpPr>
          <p:nvPr>
            <p:ph type="sldNum" sz="quarter" idx="12"/>
          </p:nvPr>
        </p:nvSpPr>
        <p:spPr/>
        <p:txBody>
          <a:bodyPr/>
          <a:lstStyle/>
          <a:p>
            <a:fld id="{AE693A2A-617F-4EA2-B173-472580D61979}" type="slidenum">
              <a:rPr lang="en-US" smtClean="0"/>
              <a:t>‹#›</a:t>
            </a:fld>
            <a:endParaRPr lang="en-US"/>
          </a:p>
        </p:txBody>
      </p:sp>
    </p:spTree>
    <p:extLst>
      <p:ext uri="{BB962C8B-B14F-4D97-AF65-F5344CB8AC3E}">
        <p14:creationId xmlns:p14="http://schemas.microsoft.com/office/powerpoint/2010/main" val="1993575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8F52A-31B2-446D-6B75-5E5088F8AF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264014-69F1-E2F4-A9BB-45EA2D3424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36F03C-26E0-6E9D-CADA-DD57540EA9D3}"/>
              </a:ext>
            </a:extLst>
          </p:cNvPr>
          <p:cNvSpPr>
            <a:spLocks noGrp="1"/>
          </p:cNvSpPr>
          <p:nvPr>
            <p:ph type="dt" sz="half" idx="10"/>
          </p:nvPr>
        </p:nvSpPr>
        <p:spPr/>
        <p:txBody>
          <a:bodyPr/>
          <a:lstStyle/>
          <a:p>
            <a:fld id="{B1C0A6B4-8A4A-4CB6-ABAD-8D0E603C1866}" type="datetimeFigureOut">
              <a:rPr lang="en-US" smtClean="0"/>
              <a:t>4/19/2025</a:t>
            </a:fld>
            <a:endParaRPr lang="en-US"/>
          </a:p>
        </p:txBody>
      </p:sp>
      <p:sp>
        <p:nvSpPr>
          <p:cNvPr id="5" name="Footer Placeholder 4">
            <a:extLst>
              <a:ext uri="{FF2B5EF4-FFF2-40B4-BE49-F238E27FC236}">
                <a16:creationId xmlns:a16="http://schemas.microsoft.com/office/drawing/2014/main" id="{59F60E85-F5FC-903F-C0E4-79631D9963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CA792-55A7-7090-9958-68D2F76E0CB0}"/>
              </a:ext>
            </a:extLst>
          </p:cNvPr>
          <p:cNvSpPr>
            <a:spLocks noGrp="1"/>
          </p:cNvSpPr>
          <p:nvPr>
            <p:ph type="sldNum" sz="quarter" idx="12"/>
          </p:nvPr>
        </p:nvSpPr>
        <p:spPr/>
        <p:txBody>
          <a:bodyPr/>
          <a:lstStyle/>
          <a:p>
            <a:fld id="{AE693A2A-617F-4EA2-B173-472580D61979}" type="slidenum">
              <a:rPr lang="en-US" smtClean="0"/>
              <a:t>‹#›</a:t>
            </a:fld>
            <a:endParaRPr lang="en-US"/>
          </a:p>
        </p:txBody>
      </p:sp>
    </p:spTree>
    <p:extLst>
      <p:ext uri="{BB962C8B-B14F-4D97-AF65-F5344CB8AC3E}">
        <p14:creationId xmlns:p14="http://schemas.microsoft.com/office/powerpoint/2010/main" val="3348978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AC7447-F2D0-1C19-B0B1-59F955F61F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AB5186-E0B6-12AF-6D6C-30061D8A0E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EA1CBD-5340-7F07-079E-656E420BCD33}"/>
              </a:ext>
            </a:extLst>
          </p:cNvPr>
          <p:cNvSpPr>
            <a:spLocks noGrp="1"/>
          </p:cNvSpPr>
          <p:nvPr>
            <p:ph type="dt" sz="half" idx="10"/>
          </p:nvPr>
        </p:nvSpPr>
        <p:spPr/>
        <p:txBody>
          <a:bodyPr/>
          <a:lstStyle/>
          <a:p>
            <a:fld id="{B1C0A6B4-8A4A-4CB6-ABAD-8D0E603C1866}" type="datetimeFigureOut">
              <a:rPr lang="en-US" smtClean="0"/>
              <a:t>4/19/2025</a:t>
            </a:fld>
            <a:endParaRPr lang="en-US"/>
          </a:p>
        </p:txBody>
      </p:sp>
      <p:sp>
        <p:nvSpPr>
          <p:cNvPr id="5" name="Footer Placeholder 4">
            <a:extLst>
              <a:ext uri="{FF2B5EF4-FFF2-40B4-BE49-F238E27FC236}">
                <a16:creationId xmlns:a16="http://schemas.microsoft.com/office/drawing/2014/main" id="{FB3484B5-105C-D433-E017-30F30E89CC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FECC21-729C-858E-3678-56D3ED3E0BE1}"/>
              </a:ext>
            </a:extLst>
          </p:cNvPr>
          <p:cNvSpPr>
            <a:spLocks noGrp="1"/>
          </p:cNvSpPr>
          <p:nvPr>
            <p:ph type="sldNum" sz="quarter" idx="12"/>
          </p:nvPr>
        </p:nvSpPr>
        <p:spPr/>
        <p:txBody>
          <a:bodyPr/>
          <a:lstStyle/>
          <a:p>
            <a:fld id="{AE693A2A-617F-4EA2-B173-472580D61979}" type="slidenum">
              <a:rPr lang="en-US" smtClean="0"/>
              <a:t>‹#›</a:t>
            </a:fld>
            <a:endParaRPr lang="en-US"/>
          </a:p>
        </p:txBody>
      </p:sp>
    </p:spTree>
    <p:extLst>
      <p:ext uri="{BB962C8B-B14F-4D97-AF65-F5344CB8AC3E}">
        <p14:creationId xmlns:p14="http://schemas.microsoft.com/office/powerpoint/2010/main" val="3497526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95D437-1510-DDBA-986E-2644FF7024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FE02FB-7E4F-3B1A-B55C-4F4F1F25C1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633991-A5AC-CCE7-26FC-75AB45754E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C0A6B4-8A4A-4CB6-ABAD-8D0E603C1866}" type="datetimeFigureOut">
              <a:rPr lang="en-US" smtClean="0"/>
              <a:t>4/19/2025</a:t>
            </a:fld>
            <a:endParaRPr lang="en-US"/>
          </a:p>
        </p:txBody>
      </p:sp>
      <p:sp>
        <p:nvSpPr>
          <p:cNvPr id="5" name="Footer Placeholder 4">
            <a:extLst>
              <a:ext uri="{FF2B5EF4-FFF2-40B4-BE49-F238E27FC236}">
                <a16:creationId xmlns:a16="http://schemas.microsoft.com/office/drawing/2014/main" id="{6C0EA50A-8CFD-56ED-DFA3-7B34A45E6A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82FAD7-FC84-5D1F-5099-C28C55CFE9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693A2A-617F-4EA2-B173-472580D61979}" type="slidenum">
              <a:rPr lang="en-US" smtClean="0"/>
              <a:t>‹#›</a:t>
            </a:fld>
            <a:endParaRPr lang="en-US"/>
          </a:p>
        </p:txBody>
      </p:sp>
    </p:spTree>
    <p:extLst>
      <p:ext uri="{BB962C8B-B14F-4D97-AF65-F5344CB8AC3E}">
        <p14:creationId xmlns:p14="http://schemas.microsoft.com/office/powerpoint/2010/main" val="139748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B092B-3D3E-B178-6F8C-0245B9F7EE3B}"/>
              </a:ext>
            </a:extLst>
          </p:cNvPr>
          <p:cNvSpPr>
            <a:spLocks noGrp="1"/>
          </p:cNvSpPr>
          <p:nvPr>
            <p:ph type="ctrTitle"/>
          </p:nvPr>
        </p:nvSpPr>
        <p:spPr>
          <a:xfrm>
            <a:off x="1523999" y="227627"/>
            <a:ext cx="9144000" cy="2387600"/>
          </a:xfrm>
        </p:spPr>
        <p:txBody>
          <a:bodyPr>
            <a:normAutofit fontScale="90000"/>
          </a:bodyPr>
          <a:lstStyle/>
          <a:p>
            <a:r>
              <a:rPr lang="en-GB" dirty="0"/>
              <a:t>Group Theory in Computing: Foundations and Applications</a:t>
            </a:r>
            <a:endParaRPr lang="en-US" dirty="0"/>
          </a:p>
        </p:txBody>
      </p:sp>
      <p:sp>
        <p:nvSpPr>
          <p:cNvPr id="3" name="Subtitle 2">
            <a:extLst>
              <a:ext uri="{FF2B5EF4-FFF2-40B4-BE49-F238E27FC236}">
                <a16:creationId xmlns:a16="http://schemas.microsoft.com/office/drawing/2014/main" id="{F79CA6E3-7AFF-B74D-9E78-EF42205DDAD6}"/>
              </a:ext>
            </a:extLst>
          </p:cNvPr>
          <p:cNvSpPr>
            <a:spLocks noGrp="1"/>
          </p:cNvSpPr>
          <p:nvPr>
            <p:ph type="subTitle" idx="1"/>
          </p:nvPr>
        </p:nvSpPr>
        <p:spPr>
          <a:xfrm>
            <a:off x="1573159" y="2587012"/>
            <a:ext cx="9144000" cy="1655762"/>
          </a:xfrm>
        </p:spPr>
        <p:txBody>
          <a:bodyPr/>
          <a:lstStyle/>
          <a:p>
            <a:r>
              <a:rPr lang="en-GB" dirty="0"/>
              <a:t>Empowering Computational Thinking through Algebraic Structures</a:t>
            </a:r>
            <a:endParaRPr lang="en-US" dirty="0"/>
          </a:p>
        </p:txBody>
      </p:sp>
      <p:sp>
        <p:nvSpPr>
          <p:cNvPr id="4" name="Subtitle 2">
            <a:extLst>
              <a:ext uri="{FF2B5EF4-FFF2-40B4-BE49-F238E27FC236}">
                <a16:creationId xmlns:a16="http://schemas.microsoft.com/office/drawing/2014/main" id="{BA777BBD-0B50-4335-52CE-80F04F8916E2}"/>
              </a:ext>
            </a:extLst>
          </p:cNvPr>
          <p:cNvSpPr txBox="1">
            <a:spLocks/>
          </p:cNvSpPr>
          <p:nvPr/>
        </p:nvSpPr>
        <p:spPr>
          <a:xfrm>
            <a:off x="1523999" y="4429919"/>
            <a:ext cx="6120581"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t>Presented by: MN. Sihanas</a:t>
            </a:r>
          </a:p>
          <a:p>
            <a:pPr algn="l"/>
            <a:r>
              <a:rPr lang="en-US" dirty="0"/>
              <a:t>HND in Computing – 22</a:t>
            </a:r>
          </a:p>
          <a:p>
            <a:pPr algn="l"/>
            <a:r>
              <a:rPr lang="en-US" dirty="0"/>
              <a:t>BCAS Campus Kalmunai</a:t>
            </a:r>
          </a:p>
        </p:txBody>
      </p:sp>
    </p:spTree>
    <p:extLst>
      <p:ext uri="{BB962C8B-B14F-4D97-AF65-F5344CB8AC3E}">
        <p14:creationId xmlns:p14="http://schemas.microsoft.com/office/powerpoint/2010/main" val="1630024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99D3A-9A35-BE59-0032-7FBC69DC9F03}"/>
              </a:ext>
            </a:extLst>
          </p:cNvPr>
          <p:cNvSpPr>
            <a:spLocks noGrp="1"/>
          </p:cNvSpPr>
          <p:nvPr>
            <p:ph type="title"/>
          </p:nvPr>
        </p:nvSpPr>
        <p:spPr/>
        <p:txBody>
          <a:bodyPr/>
          <a:lstStyle/>
          <a:p>
            <a:r>
              <a:rPr lang="en-US" dirty="0"/>
              <a:t>Table of Contents</a:t>
            </a:r>
          </a:p>
        </p:txBody>
      </p:sp>
      <p:sp>
        <p:nvSpPr>
          <p:cNvPr id="4" name="Rectangle 1">
            <a:extLst>
              <a:ext uri="{FF2B5EF4-FFF2-40B4-BE49-F238E27FC236}">
                <a16:creationId xmlns:a16="http://schemas.microsoft.com/office/drawing/2014/main" id="{5AE0EA25-DAAC-AB5B-CA10-C4D0CF90B751}"/>
              </a:ext>
            </a:extLst>
          </p:cNvPr>
          <p:cNvSpPr>
            <a:spLocks noGrp="1" noChangeArrowheads="1"/>
          </p:cNvSpPr>
          <p:nvPr>
            <p:ph idx="1"/>
          </p:nvPr>
        </p:nvSpPr>
        <p:spPr bwMode="auto">
          <a:xfrm>
            <a:off x="838200" y="1456564"/>
            <a:ext cx="6250429"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Introduction to Group Theory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Properties of Groups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Importance in Computing Education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Relevance for Computing Students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Applications in Computing</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Problem-Solving with Group Theory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Real-World Applications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Educational Benefits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Conclusion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References​</a:t>
            </a:r>
          </a:p>
        </p:txBody>
      </p:sp>
    </p:spTree>
    <p:extLst>
      <p:ext uri="{BB962C8B-B14F-4D97-AF65-F5344CB8AC3E}">
        <p14:creationId xmlns:p14="http://schemas.microsoft.com/office/powerpoint/2010/main" val="425358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445A3-9635-201F-B6AA-1471DEF98EBD}"/>
              </a:ext>
            </a:extLst>
          </p:cNvPr>
          <p:cNvSpPr>
            <a:spLocks noGrp="1"/>
          </p:cNvSpPr>
          <p:nvPr>
            <p:ph type="title"/>
          </p:nvPr>
        </p:nvSpPr>
        <p:spPr/>
        <p:txBody>
          <a:bodyPr/>
          <a:lstStyle/>
          <a:p>
            <a:r>
              <a:rPr lang="en-US" dirty="0"/>
              <a:t>Introduction to Group Theory</a:t>
            </a:r>
          </a:p>
        </p:txBody>
      </p:sp>
      <p:sp>
        <p:nvSpPr>
          <p:cNvPr id="3" name="Content Placeholder 2">
            <a:extLst>
              <a:ext uri="{FF2B5EF4-FFF2-40B4-BE49-F238E27FC236}">
                <a16:creationId xmlns:a16="http://schemas.microsoft.com/office/drawing/2014/main" id="{A3F454CE-0585-8472-DEAB-C639966BB8DF}"/>
              </a:ext>
            </a:extLst>
          </p:cNvPr>
          <p:cNvSpPr>
            <a:spLocks noGrp="1"/>
          </p:cNvSpPr>
          <p:nvPr>
            <p:ph idx="1"/>
          </p:nvPr>
        </p:nvSpPr>
        <p:spPr/>
        <p:txBody>
          <a:bodyPr/>
          <a:lstStyle/>
          <a:p>
            <a:pPr>
              <a:lnSpc>
                <a:spcPct val="100000"/>
              </a:lnSpc>
            </a:pPr>
            <a:r>
              <a:rPr lang="en-GB" b="1" dirty="0"/>
              <a:t>Definition:</a:t>
            </a:r>
            <a:r>
              <a:rPr lang="en-GB" dirty="0"/>
              <a:t> Group theory is the study of algebraic structures known as groups, which consist of a set equipped with an operation that combines any two elements to form a third element.</a:t>
            </a:r>
            <a:endParaRPr lang="en-US" dirty="0"/>
          </a:p>
        </p:txBody>
      </p:sp>
    </p:spTree>
    <p:extLst>
      <p:ext uri="{BB962C8B-B14F-4D97-AF65-F5344CB8AC3E}">
        <p14:creationId xmlns:p14="http://schemas.microsoft.com/office/powerpoint/2010/main" val="753977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EFABE-0CB6-6FDB-BE41-2F7425E8D0F6}"/>
              </a:ext>
            </a:extLst>
          </p:cNvPr>
          <p:cNvSpPr>
            <a:spLocks noGrp="1"/>
          </p:cNvSpPr>
          <p:nvPr>
            <p:ph type="title"/>
          </p:nvPr>
        </p:nvSpPr>
        <p:spPr/>
        <p:txBody>
          <a:bodyPr/>
          <a:lstStyle/>
          <a:p>
            <a:r>
              <a:rPr lang="en-US" dirty="0"/>
              <a:t>Properties of Groups</a:t>
            </a:r>
          </a:p>
        </p:txBody>
      </p:sp>
      <p:sp>
        <p:nvSpPr>
          <p:cNvPr id="3" name="Content Placeholder 2">
            <a:extLst>
              <a:ext uri="{FF2B5EF4-FFF2-40B4-BE49-F238E27FC236}">
                <a16:creationId xmlns:a16="http://schemas.microsoft.com/office/drawing/2014/main" id="{A9FE7A77-B228-50A4-209D-35A0C5B45C38}"/>
              </a:ext>
            </a:extLst>
          </p:cNvPr>
          <p:cNvSpPr>
            <a:spLocks noGrp="1"/>
          </p:cNvSpPr>
          <p:nvPr>
            <p:ph idx="1"/>
          </p:nvPr>
        </p:nvSpPr>
        <p:spPr/>
        <p:txBody>
          <a:bodyPr/>
          <a:lstStyle/>
          <a:p>
            <a:pPr marL="0" indent="0">
              <a:buNone/>
            </a:pPr>
            <a:r>
              <a:rPr lang="en-GB" dirty="0"/>
              <a:t>A group must satisfy four key properties:</a:t>
            </a:r>
          </a:p>
          <a:p>
            <a:pPr marL="514350" indent="-514350">
              <a:buFont typeface="+mj-lt"/>
              <a:buAutoNum type="arabicPeriod"/>
            </a:pPr>
            <a:r>
              <a:rPr lang="en-GB" b="1" dirty="0"/>
              <a:t>Closure</a:t>
            </a:r>
            <a:r>
              <a:rPr lang="en-GB" dirty="0"/>
              <a:t>: Combining any two elements of the group results in another element within the group.</a:t>
            </a:r>
          </a:p>
          <a:p>
            <a:pPr marL="514350" indent="-514350">
              <a:buFont typeface="+mj-lt"/>
              <a:buAutoNum type="arabicPeriod"/>
            </a:pPr>
            <a:r>
              <a:rPr lang="en-GB" b="1" dirty="0"/>
              <a:t>Associativity</a:t>
            </a:r>
            <a:r>
              <a:rPr lang="en-GB" dirty="0"/>
              <a:t>: The group operation is associative; that is, (a * b) * c = a * (b * c).</a:t>
            </a:r>
          </a:p>
          <a:p>
            <a:pPr marL="514350" indent="-514350">
              <a:buFont typeface="+mj-lt"/>
              <a:buAutoNum type="arabicPeriod"/>
            </a:pPr>
            <a:r>
              <a:rPr lang="en-GB" b="1" dirty="0"/>
              <a:t>Identity Element</a:t>
            </a:r>
            <a:r>
              <a:rPr lang="en-GB" dirty="0"/>
              <a:t>: There exists an element that, when combined with any element of the group, yields that element.</a:t>
            </a:r>
          </a:p>
          <a:p>
            <a:pPr marL="514350" indent="-514350">
              <a:buFont typeface="+mj-lt"/>
              <a:buAutoNum type="arabicPeriod"/>
            </a:pPr>
            <a:r>
              <a:rPr lang="en-GB" b="1" dirty="0"/>
              <a:t>Inverse Element</a:t>
            </a:r>
            <a:r>
              <a:rPr lang="en-GB" dirty="0"/>
              <a:t>: For every element, there exists another element that combines with it to produce the identity element.</a:t>
            </a:r>
            <a:endParaRPr lang="en-US" dirty="0"/>
          </a:p>
        </p:txBody>
      </p:sp>
    </p:spTree>
    <p:extLst>
      <p:ext uri="{BB962C8B-B14F-4D97-AF65-F5344CB8AC3E}">
        <p14:creationId xmlns:p14="http://schemas.microsoft.com/office/powerpoint/2010/main" val="1234579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7C29B-F342-994F-E002-B932D42ACB38}"/>
              </a:ext>
            </a:extLst>
          </p:cNvPr>
          <p:cNvSpPr>
            <a:spLocks noGrp="1"/>
          </p:cNvSpPr>
          <p:nvPr>
            <p:ph type="title"/>
          </p:nvPr>
        </p:nvSpPr>
        <p:spPr/>
        <p:txBody>
          <a:bodyPr/>
          <a:lstStyle/>
          <a:p>
            <a:r>
              <a:rPr lang="en-US" dirty="0"/>
              <a:t>Importance in Computing Education</a:t>
            </a:r>
          </a:p>
        </p:txBody>
      </p:sp>
      <p:sp>
        <p:nvSpPr>
          <p:cNvPr id="3" name="Content Placeholder 2">
            <a:extLst>
              <a:ext uri="{FF2B5EF4-FFF2-40B4-BE49-F238E27FC236}">
                <a16:creationId xmlns:a16="http://schemas.microsoft.com/office/drawing/2014/main" id="{E91F1F92-269F-3AD1-0398-A4A0917B9DF7}"/>
              </a:ext>
            </a:extLst>
          </p:cNvPr>
          <p:cNvSpPr>
            <a:spLocks noGrp="1"/>
          </p:cNvSpPr>
          <p:nvPr>
            <p:ph idx="1"/>
          </p:nvPr>
        </p:nvSpPr>
        <p:spPr/>
        <p:txBody>
          <a:bodyPr/>
          <a:lstStyle/>
          <a:p>
            <a:r>
              <a:rPr lang="en-GB" b="1" dirty="0"/>
              <a:t>Mathematical Maturity</a:t>
            </a:r>
            <a:r>
              <a:rPr lang="en-GB" dirty="0"/>
              <a:t>: Studying group theory enhances abstract thinking and problem-solving skills.</a:t>
            </a:r>
          </a:p>
          <a:p>
            <a:r>
              <a:rPr lang="en-GB" b="1" dirty="0"/>
              <a:t>Foundation for Advanced Topics</a:t>
            </a:r>
            <a:r>
              <a:rPr lang="en-GB" dirty="0"/>
              <a:t>: It lays the groundwork for understanding more complex areas like cryptography and algorithms.</a:t>
            </a:r>
          </a:p>
          <a:p>
            <a:r>
              <a:rPr lang="en-GB" b="1" dirty="0"/>
              <a:t>Interdisciplinary Applications</a:t>
            </a:r>
            <a:r>
              <a:rPr lang="en-GB" dirty="0"/>
              <a:t>: Group theory concepts are applicable in physics, chemistry, and computer science.​</a:t>
            </a:r>
            <a:endParaRPr lang="en-US" dirty="0"/>
          </a:p>
        </p:txBody>
      </p:sp>
    </p:spTree>
    <p:extLst>
      <p:ext uri="{BB962C8B-B14F-4D97-AF65-F5344CB8AC3E}">
        <p14:creationId xmlns:p14="http://schemas.microsoft.com/office/powerpoint/2010/main" val="1624062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43AC-073E-7ABC-919A-DCA53E64CD3D}"/>
              </a:ext>
            </a:extLst>
          </p:cNvPr>
          <p:cNvSpPr>
            <a:spLocks noGrp="1"/>
          </p:cNvSpPr>
          <p:nvPr>
            <p:ph type="title"/>
          </p:nvPr>
        </p:nvSpPr>
        <p:spPr/>
        <p:txBody>
          <a:bodyPr/>
          <a:lstStyle/>
          <a:p>
            <a:r>
              <a:rPr lang="en-US" dirty="0"/>
              <a:t>Relevance for Computing Students</a:t>
            </a:r>
          </a:p>
        </p:txBody>
      </p:sp>
      <p:sp>
        <p:nvSpPr>
          <p:cNvPr id="3" name="Content Placeholder 2">
            <a:extLst>
              <a:ext uri="{FF2B5EF4-FFF2-40B4-BE49-F238E27FC236}">
                <a16:creationId xmlns:a16="http://schemas.microsoft.com/office/drawing/2014/main" id="{072189D4-206A-966F-82E6-72C8032A1737}"/>
              </a:ext>
            </a:extLst>
          </p:cNvPr>
          <p:cNvSpPr>
            <a:spLocks noGrp="1"/>
          </p:cNvSpPr>
          <p:nvPr>
            <p:ph idx="1"/>
          </p:nvPr>
        </p:nvSpPr>
        <p:spPr/>
        <p:txBody>
          <a:bodyPr/>
          <a:lstStyle/>
          <a:p>
            <a:r>
              <a:rPr lang="en-GB" b="1" dirty="0"/>
              <a:t>Cryptography</a:t>
            </a:r>
            <a:r>
              <a:rPr lang="en-GB" dirty="0"/>
              <a:t>: Many encryption algorithms are based on group theory principles.</a:t>
            </a:r>
          </a:p>
          <a:p>
            <a:r>
              <a:rPr lang="en-GB" b="1" dirty="0"/>
              <a:t>Error Detection and Correction</a:t>
            </a:r>
            <a:r>
              <a:rPr lang="en-GB" dirty="0"/>
              <a:t>: Group theory aids in developing codes that can detect and correct errors in data transmission.</a:t>
            </a:r>
          </a:p>
          <a:p>
            <a:r>
              <a:rPr lang="en-GB" b="1" dirty="0"/>
              <a:t>Algorithm Design</a:t>
            </a:r>
            <a:r>
              <a:rPr lang="en-GB" dirty="0"/>
              <a:t>: Understanding group structures can lead to more efficient algorithms.</a:t>
            </a:r>
            <a:endParaRPr lang="en-US" dirty="0"/>
          </a:p>
        </p:txBody>
      </p:sp>
    </p:spTree>
    <p:extLst>
      <p:ext uri="{BB962C8B-B14F-4D97-AF65-F5344CB8AC3E}">
        <p14:creationId xmlns:p14="http://schemas.microsoft.com/office/powerpoint/2010/main" val="4262872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2067B-D453-665C-49E2-65B0C3DA6B53}"/>
              </a:ext>
            </a:extLst>
          </p:cNvPr>
          <p:cNvSpPr>
            <a:spLocks noGrp="1"/>
          </p:cNvSpPr>
          <p:nvPr>
            <p:ph type="title"/>
          </p:nvPr>
        </p:nvSpPr>
        <p:spPr/>
        <p:txBody>
          <a:bodyPr/>
          <a:lstStyle/>
          <a:p>
            <a:r>
              <a:rPr lang="en-US" dirty="0"/>
              <a:t>Applications in Computing</a:t>
            </a:r>
          </a:p>
        </p:txBody>
      </p:sp>
      <p:sp>
        <p:nvSpPr>
          <p:cNvPr id="3" name="Content Placeholder 2">
            <a:extLst>
              <a:ext uri="{FF2B5EF4-FFF2-40B4-BE49-F238E27FC236}">
                <a16:creationId xmlns:a16="http://schemas.microsoft.com/office/drawing/2014/main" id="{E617C72E-99FC-C82B-B631-4382C131883B}"/>
              </a:ext>
            </a:extLst>
          </p:cNvPr>
          <p:cNvSpPr>
            <a:spLocks noGrp="1"/>
          </p:cNvSpPr>
          <p:nvPr>
            <p:ph idx="1"/>
          </p:nvPr>
        </p:nvSpPr>
        <p:spPr/>
        <p:txBody>
          <a:bodyPr/>
          <a:lstStyle/>
          <a:p>
            <a:r>
              <a:rPr lang="en-US" b="1" dirty="0"/>
              <a:t>Symmetry in Graphics</a:t>
            </a:r>
            <a:r>
              <a:rPr lang="en-US" dirty="0"/>
              <a:t>: Group theory helps in rendering symmetrical objects in computer graphics.</a:t>
            </a:r>
          </a:p>
          <a:p>
            <a:r>
              <a:rPr lang="en-US" b="1" dirty="0"/>
              <a:t>Robotics</a:t>
            </a:r>
            <a:r>
              <a:rPr lang="en-US" dirty="0"/>
              <a:t>: It assists in understanding and programming symmetrical movements.</a:t>
            </a:r>
          </a:p>
          <a:p>
            <a:r>
              <a:rPr lang="en-US" b="1" dirty="0"/>
              <a:t>Computer Vision</a:t>
            </a:r>
            <a:r>
              <a:rPr lang="en-US" dirty="0"/>
              <a:t>: Group theory aids in recognizing patterns and structures in images.</a:t>
            </a:r>
          </a:p>
        </p:txBody>
      </p:sp>
    </p:spTree>
    <p:extLst>
      <p:ext uri="{BB962C8B-B14F-4D97-AF65-F5344CB8AC3E}">
        <p14:creationId xmlns:p14="http://schemas.microsoft.com/office/powerpoint/2010/main" val="1332451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EF0D-4D23-8487-2B75-E2611DAE3508}"/>
              </a:ext>
            </a:extLst>
          </p:cNvPr>
          <p:cNvSpPr>
            <a:spLocks noGrp="1"/>
          </p:cNvSpPr>
          <p:nvPr>
            <p:ph type="title"/>
          </p:nvPr>
        </p:nvSpPr>
        <p:spPr/>
        <p:txBody>
          <a:bodyPr/>
          <a:lstStyle/>
          <a:p>
            <a:r>
              <a:rPr lang="en-US" dirty="0"/>
              <a:t>Problem-Solving with Group Theory</a:t>
            </a:r>
          </a:p>
        </p:txBody>
      </p:sp>
      <p:sp>
        <p:nvSpPr>
          <p:cNvPr id="3" name="Content Placeholder 2">
            <a:extLst>
              <a:ext uri="{FF2B5EF4-FFF2-40B4-BE49-F238E27FC236}">
                <a16:creationId xmlns:a16="http://schemas.microsoft.com/office/drawing/2014/main" id="{2A5D24C1-5B2F-3BA1-06C3-2D32F3703EE2}"/>
              </a:ext>
            </a:extLst>
          </p:cNvPr>
          <p:cNvSpPr>
            <a:spLocks noGrp="1"/>
          </p:cNvSpPr>
          <p:nvPr>
            <p:ph idx="1"/>
          </p:nvPr>
        </p:nvSpPr>
        <p:spPr/>
        <p:txBody>
          <a:bodyPr/>
          <a:lstStyle/>
          <a:p>
            <a:r>
              <a:rPr lang="en-GB" b="1" dirty="0"/>
              <a:t>Algorithm Optimization</a:t>
            </a:r>
            <a:r>
              <a:rPr lang="en-GB" dirty="0"/>
              <a:t>: Group theory can lead to more efficient algorithms by understanding the underlying structure of problems.</a:t>
            </a:r>
          </a:p>
          <a:p>
            <a:r>
              <a:rPr lang="en-GB" b="1" dirty="0"/>
              <a:t>Data Structures</a:t>
            </a:r>
            <a:r>
              <a:rPr lang="en-GB" dirty="0"/>
              <a:t>: It provides a framework for organizing and manipulating data effectively.</a:t>
            </a:r>
            <a:endParaRPr lang="en-US" dirty="0"/>
          </a:p>
        </p:txBody>
      </p:sp>
    </p:spTree>
    <p:extLst>
      <p:ext uri="{BB962C8B-B14F-4D97-AF65-F5344CB8AC3E}">
        <p14:creationId xmlns:p14="http://schemas.microsoft.com/office/powerpoint/2010/main" val="1109857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8EC07-7CAF-D8F9-A602-3226C73B591F}"/>
              </a:ext>
            </a:extLst>
          </p:cNvPr>
          <p:cNvSpPr>
            <a:spLocks noGrp="1"/>
          </p:cNvSpPr>
          <p:nvPr>
            <p:ph type="title"/>
          </p:nvPr>
        </p:nvSpPr>
        <p:spPr/>
        <p:txBody>
          <a:bodyPr/>
          <a:lstStyle/>
          <a:p>
            <a:r>
              <a:rPr lang="en-US" dirty="0"/>
              <a:t>Real-World Applications</a:t>
            </a:r>
          </a:p>
        </p:txBody>
      </p:sp>
      <p:sp>
        <p:nvSpPr>
          <p:cNvPr id="3" name="Content Placeholder 2">
            <a:extLst>
              <a:ext uri="{FF2B5EF4-FFF2-40B4-BE49-F238E27FC236}">
                <a16:creationId xmlns:a16="http://schemas.microsoft.com/office/drawing/2014/main" id="{025A31BF-0578-AAA5-38B8-C2600A23E6EE}"/>
              </a:ext>
            </a:extLst>
          </p:cNvPr>
          <p:cNvSpPr>
            <a:spLocks noGrp="1"/>
          </p:cNvSpPr>
          <p:nvPr>
            <p:ph idx="1"/>
          </p:nvPr>
        </p:nvSpPr>
        <p:spPr/>
        <p:txBody>
          <a:bodyPr/>
          <a:lstStyle/>
          <a:p>
            <a:r>
              <a:rPr lang="en-GB" b="1" dirty="0"/>
              <a:t>Cryptography</a:t>
            </a:r>
            <a:r>
              <a:rPr lang="en-GB" dirty="0"/>
              <a:t>: Secure communication relies heavily on group theory.</a:t>
            </a:r>
          </a:p>
          <a:p>
            <a:r>
              <a:rPr lang="en-GB" b="1" dirty="0"/>
              <a:t>Error-Correcting Codes</a:t>
            </a:r>
            <a:r>
              <a:rPr lang="en-GB" dirty="0"/>
              <a:t>: Ensuring data integrity in storage and transmission.</a:t>
            </a:r>
          </a:p>
          <a:p>
            <a:r>
              <a:rPr lang="en-GB" b="1" dirty="0"/>
              <a:t>Blockchain Technology</a:t>
            </a:r>
            <a:r>
              <a:rPr lang="en-GB" dirty="0"/>
              <a:t>: Underlying mathematical structures are based on group theory.</a:t>
            </a:r>
            <a:endParaRPr lang="en-US" dirty="0"/>
          </a:p>
        </p:txBody>
      </p:sp>
    </p:spTree>
    <p:extLst>
      <p:ext uri="{BB962C8B-B14F-4D97-AF65-F5344CB8AC3E}">
        <p14:creationId xmlns:p14="http://schemas.microsoft.com/office/powerpoint/2010/main" val="3147576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DF332-0401-937C-B662-A5DDF5A7594B}"/>
              </a:ext>
            </a:extLst>
          </p:cNvPr>
          <p:cNvSpPr>
            <a:spLocks noGrp="1"/>
          </p:cNvSpPr>
          <p:nvPr>
            <p:ph type="title"/>
          </p:nvPr>
        </p:nvSpPr>
        <p:spPr/>
        <p:txBody>
          <a:bodyPr/>
          <a:lstStyle/>
          <a:p>
            <a:r>
              <a:rPr lang="en-US" dirty="0"/>
              <a:t>Educational Benefits</a:t>
            </a:r>
          </a:p>
        </p:txBody>
      </p:sp>
      <p:sp>
        <p:nvSpPr>
          <p:cNvPr id="3" name="Content Placeholder 2">
            <a:extLst>
              <a:ext uri="{FF2B5EF4-FFF2-40B4-BE49-F238E27FC236}">
                <a16:creationId xmlns:a16="http://schemas.microsoft.com/office/drawing/2014/main" id="{2F391B8E-DFA3-E25F-4043-629B687C8753}"/>
              </a:ext>
            </a:extLst>
          </p:cNvPr>
          <p:cNvSpPr>
            <a:spLocks noGrp="1"/>
          </p:cNvSpPr>
          <p:nvPr>
            <p:ph idx="1"/>
          </p:nvPr>
        </p:nvSpPr>
        <p:spPr/>
        <p:txBody>
          <a:bodyPr/>
          <a:lstStyle/>
          <a:p>
            <a:r>
              <a:rPr lang="en-GB" b="1" dirty="0"/>
              <a:t>Enhanced Problem-Solving Skills</a:t>
            </a:r>
            <a:r>
              <a:rPr lang="en-GB" dirty="0"/>
              <a:t>: Develops logical reasoning and analytical thinking.</a:t>
            </a:r>
          </a:p>
          <a:p>
            <a:r>
              <a:rPr lang="en-GB" b="1" dirty="0"/>
              <a:t>Preparation for Advanced Studies</a:t>
            </a:r>
            <a:r>
              <a:rPr lang="en-GB" dirty="0"/>
              <a:t>: Provides a strong foundation for further studies in mathematics and computer science.</a:t>
            </a:r>
          </a:p>
          <a:p>
            <a:r>
              <a:rPr lang="en-GB" b="1" dirty="0"/>
              <a:t>Versatility</a:t>
            </a:r>
            <a:r>
              <a:rPr lang="en-GB" dirty="0"/>
              <a:t>: Applicable across various domains in computing and beyond.​</a:t>
            </a:r>
            <a:endParaRPr lang="en-US" dirty="0"/>
          </a:p>
        </p:txBody>
      </p:sp>
    </p:spTree>
    <p:extLst>
      <p:ext uri="{BB962C8B-B14F-4D97-AF65-F5344CB8AC3E}">
        <p14:creationId xmlns:p14="http://schemas.microsoft.com/office/powerpoint/2010/main" val="2194464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CAF10-FAA6-26D2-0F87-8D37F47BF7D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7FAABCFC-9C17-81C9-ED1D-D9053339B879}"/>
              </a:ext>
            </a:extLst>
          </p:cNvPr>
          <p:cNvSpPr>
            <a:spLocks noGrp="1"/>
          </p:cNvSpPr>
          <p:nvPr>
            <p:ph idx="1"/>
          </p:nvPr>
        </p:nvSpPr>
        <p:spPr/>
        <p:txBody>
          <a:bodyPr/>
          <a:lstStyle/>
          <a:p>
            <a:r>
              <a:rPr lang="en-GB" dirty="0"/>
              <a:t>Group theory is a fundamental component of computing education.</a:t>
            </a:r>
          </a:p>
          <a:p>
            <a:r>
              <a:rPr lang="en-GB" dirty="0"/>
              <a:t>Its principles are widely applicable in various computing domains.</a:t>
            </a:r>
          </a:p>
          <a:p>
            <a:r>
              <a:rPr lang="en-GB" dirty="0"/>
              <a:t>Understanding group theory enhances both theoretical knowledge and practical skills.</a:t>
            </a:r>
            <a:endParaRPr lang="en-US" dirty="0"/>
          </a:p>
        </p:txBody>
      </p:sp>
    </p:spTree>
    <p:extLst>
      <p:ext uri="{BB962C8B-B14F-4D97-AF65-F5344CB8AC3E}">
        <p14:creationId xmlns:p14="http://schemas.microsoft.com/office/powerpoint/2010/main" val="3406982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D357-8853-E2BE-688F-657B589E267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BE8C384-FBDB-2671-E36A-B3B3E3B1B706}"/>
              </a:ext>
            </a:extLst>
          </p:cNvPr>
          <p:cNvSpPr>
            <a:spLocks noGrp="1"/>
          </p:cNvSpPr>
          <p:nvPr>
            <p:ph idx="1"/>
          </p:nvPr>
        </p:nvSpPr>
        <p:spPr>
          <a:xfrm>
            <a:off x="838200" y="1540487"/>
            <a:ext cx="10515600" cy="4351338"/>
          </a:xfrm>
        </p:spPr>
        <p:txBody>
          <a:bodyPr>
            <a:normAutofit fontScale="85000" lnSpcReduction="20000"/>
          </a:bodyPr>
          <a:lstStyle/>
          <a:p>
            <a:r>
              <a:rPr lang="en-US" dirty="0" err="1"/>
              <a:t>GeeksforGeeks</a:t>
            </a:r>
            <a:r>
              <a:rPr lang="en-US" dirty="0"/>
              <a:t>, 2022. </a:t>
            </a:r>
            <a:r>
              <a:rPr lang="en-US" dirty="0" err="1"/>
              <a:t>GeeksforGeeks</a:t>
            </a:r>
            <a:r>
              <a:rPr lang="en-US" dirty="0"/>
              <a:t>. [Online] </a:t>
            </a:r>
          </a:p>
          <a:p>
            <a:pPr marL="0" indent="0">
              <a:buNone/>
            </a:pPr>
            <a:r>
              <a:rPr lang="en-US" dirty="0"/>
              <a:t>Available at: https://www.geeksforgeeks.org/applications-of-group-theory/</a:t>
            </a:r>
          </a:p>
          <a:p>
            <a:pPr marL="0" indent="0">
              <a:buNone/>
            </a:pPr>
            <a:r>
              <a:rPr lang="en-US" dirty="0"/>
              <a:t>[Accessed 10 4 2025].</a:t>
            </a:r>
          </a:p>
          <a:p>
            <a:pPr marL="0" indent="0">
              <a:buNone/>
            </a:pPr>
            <a:endParaRPr lang="en-US" dirty="0"/>
          </a:p>
          <a:p>
            <a:r>
              <a:rPr lang="en-US" dirty="0" err="1"/>
              <a:t>Hulpke</a:t>
            </a:r>
            <a:r>
              <a:rPr lang="en-US" dirty="0"/>
              <a:t>, A., 2014. </a:t>
            </a:r>
            <a:r>
              <a:rPr lang="en-US" dirty="0" err="1"/>
              <a:t>math.colostate</a:t>
            </a:r>
            <a:r>
              <a:rPr lang="en-US" dirty="0"/>
              <a:t>. [Online] </a:t>
            </a:r>
          </a:p>
          <a:p>
            <a:pPr marL="0" indent="0">
              <a:buNone/>
            </a:pPr>
            <a:r>
              <a:rPr lang="en-US" dirty="0"/>
              <a:t>Available at: https://www.math.colostate.edu/~hulpke/CGT/CGT.html</a:t>
            </a:r>
          </a:p>
          <a:p>
            <a:pPr marL="0" indent="0">
              <a:buNone/>
            </a:pPr>
            <a:r>
              <a:rPr lang="en-US" dirty="0"/>
              <a:t>[Accessed 8 04 2025].</a:t>
            </a:r>
          </a:p>
          <a:p>
            <a:pPr marL="0" indent="0">
              <a:buNone/>
            </a:pPr>
            <a:endParaRPr lang="en-US" dirty="0"/>
          </a:p>
          <a:p>
            <a:r>
              <a:rPr lang="en-US" dirty="0" err="1"/>
              <a:t>liu</a:t>
            </a:r>
            <a:r>
              <a:rPr lang="en-US" dirty="0"/>
              <a:t>, y., 2007. cse.psu.edu. [Online] </a:t>
            </a:r>
          </a:p>
          <a:p>
            <a:pPr marL="0" indent="0">
              <a:buNone/>
            </a:pPr>
            <a:r>
              <a:rPr lang="en-US" dirty="0"/>
              <a:t>Available at: https://www.cse.psu.edu/~yul11/CourseFall2007.htm</a:t>
            </a:r>
          </a:p>
          <a:p>
            <a:pPr marL="0" indent="0">
              <a:buNone/>
            </a:pPr>
            <a:r>
              <a:rPr lang="en-US" dirty="0"/>
              <a:t>[Accessed 9 4 2025].</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039648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827</Words>
  <Application>Microsoft Office PowerPoint</Application>
  <PresentationFormat>Widescreen</PresentationFormat>
  <Paragraphs>79</Paragraphs>
  <Slides>12</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Group Theory in Computing: Foundations and Applications</vt:lpstr>
      <vt:lpstr>Table of Contents</vt:lpstr>
      <vt:lpstr>Introduction to Group Theory</vt:lpstr>
      <vt:lpstr>Properties of Groups</vt:lpstr>
      <vt:lpstr>Importance in Computing Education</vt:lpstr>
      <vt:lpstr>Relevance for Computing Students</vt:lpstr>
      <vt:lpstr>Applications in Computing</vt:lpstr>
      <vt:lpstr>Problem-Solving with Group Theory</vt:lpstr>
      <vt:lpstr>Real-World Applications</vt:lpstr>
      <vt:lpstr>Educational Benefits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Mohammed Naseer Sihanas</dc:creator>
  <cp:lastModifiedBy>Mohammed Naseer Sihanas</cp:lastModifiedBy>
  <cp:revision>1</cp:revision>
  <dcterms:created xsi:type="dcterms:W3CDTF">2025-04-19T05:36:24Z</dcterms:created>
  <dcterms:modified xsi:type="dcterms:W3CDTF">2025-04-19T05:52:57Z</dcterms:modified>
</cp:coreProperties>
</file>