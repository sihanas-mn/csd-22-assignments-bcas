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1" r:id="rId1"/>
  </p:sldMasterIdLst>
  <p:notesMasterIdLst>
    <p:notesMasterId r:id="rId48"/>
  </p:notesMasterIdLst>
  <p:handoutMasterIdLst>
    <p:handoutMasterId r:id="rId49"/>
  </p:handoutMasterIdLst>
  <p:sldIdLst>
    <p:sldId id="256" r:id="rId2"/>
    <p:sldId id="258" r:id="rId3"/>
    <p:sldId id="259" r:id="rId4"/>
    <p:sldId id="282" r:id="rId5"/>
    <p:sldId id="264" r:id="rId6"/>
    <p:sldId id="265" r:id="rId7"/>
    <p:sldId id="279" r:id="rId8"/>
    <p:sldId id="257" r:id="rId9"/>
    <p:sldId id="266" r:id="rId10"/>
    <p:sldId id="280" r:id="rId11"/>
    <p:sldId id="271" r:id="rId12"/>
    <p:sldId id="268" r:id="rId13"/>
    <p:sldId id="269" r:id="rId14"/>
    <p:sldId id="281" r:id="rId15"/>
    <p:sldId id="260" r:id="rId16"/>
    <p:sldId id="261" r:id="rId17"/>
    <p:sldId id="283" r:id="rId18"/>
    <p:sldId id="273" r:id="rId19"/>
    <p:sldId id="267" r:id="rId20"/>
    <p:sldId id="284" r:id="rId21"/>
    <p:sldId id="272" r:id="rId22"/>
    <p:sldId id="263" r:id="rId23"/>
    <p:sldId id="262" r:id="rId24"/>
    <p:sldId id="285" r:id="rId25"/>
    <p:sldId id="287" r:id="rId26"/>
    <p:sldId id="290" r:id="rId27"/>
    <p:sldId id="291" r:id="rId28"/>
    <p:sldId id="292" r:id="rId29"/>
    <p:sldId id="294" r:id="rId30"/>
    <p:sldId id="295" r:id="rId31"/>
    <p:sldId id="296" r:id="rId32"/>
    <p:sldId id="298" r:id="rId33"/>
    <p:sldId id="299" r:id="rId34"/>
    <p:sldId id="301" r:id="rId35"/>
    <p:sldId id="302" r:id="rId36"/>
    <p:sldId id="304" r:id="rId37"/>
    <p:sldId id="306" r:id="rId38"/>
    <p:sldId id="307" r:id="rId39"/>
    <p:sldId id="308" r:id="rId40"/>
    <p:sldId id="310" r:id="rId41"/>
    <p:sldId id="311" r:id="rId42"/>
    <p:sldId id="316" r:id="rId43"/>
    <p:sldId id="312" r:id="rId44"/>
    <p:sldId id="313" r:id="rId45"/>
    <p:sldId id="314" r:id="rId46"/>
    <p:sldId id="315" r:id="rId47"/>
  </p:sldIdLst>
  <p:sldSz cx="9144000" cy="6858000" type="screen4x3"/>
  <p:notesSz cx="9296400" cy="70104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0EB6"/>
    <a:srgbClr val="0000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42" autoAdjust="0"/>
    <p:restoredTop sz="94624" autoAdjust="0"/>
  </p:normalViewPr>
  <p:slideViewPr>
    <p:cSldViewPr>
      <p:cViewPr varScale="1">
        <p:scale>
          <a:sx n="82" d="100"/>
          <a:sy n="82" d="100"/>
        </p:scale>
        <p:origin x="99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slide" Target="slides/slide38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42" Type="http://schemas.openxmlformats.org/officeDocument/2006/relationships/slide" Target="slides/slide41.xml" /><Relationship Id="rId47" Type="http://schemas.openxmlformats.org/officeDocument/2006/relationships/slide" Target="slides/slide46.xml" /><Relationship Id="rId50" Type="http://schemas.openxmlformats.org/officeDocument/2006/relationships/presProps" Target="pres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slide" Target="slides/slide37.xml" /><Relationship Id="rId46" Type="http://schemas.openxmlformats.org/officeDocument/2006/relationships/slide" Target="slides/slide45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41" Type="http://schemas.openxmlformats.org/officeDocument/2006/relationships/slide" Target="slides/slide40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slide" Target="slides/slide36.xml" /><Relationship Id="rId40" Type="http://schemas.openxmlformats.org/officeDocument/2006/relationships/slide" Target="slides/slide39.xml" /><Relationship Id="rId45" Type="http://schemas.openxmlformats.org/officeDocument/2006/relationships/slide" Target="slides/slide44.xml" /><Relationship Id="rId53" Type="http://schemas.openxmlformats.org/officeDocument/2006/relationships/tableStyles" Target="tableStyle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49" Type="http://schemas.openxmlformats.org/officeDocument/2006/relationships/handoutMaster" Target="handoutMasters/handoutMaster1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4" Type="http://schemas.openxmlformats.org/officeDocument/2006/relationships/slide" Target="slides/slide43.xml" /><Relationship Id="rId52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Relationship Id="rId43" Type="http://schemas.openxmlformats.org/officeDocument/2006/relationships/slide" Target="slides/slide42.xml" /><Relationship Id="rId48" Type="http://schemas.openxmlformats.org/officeDocument/2006/relationships/notesMaster" Target="notesMasters/notesMaster1.xml" /><Relationship Id="rId8" Type="http://schemas.openxmlformats.org/officeDocument/2006/relationships/slide" Target="slides/slide7.xml" /><Relationship Id="rId51" Type="http://schemas.openxmlformats.org/officeDocument/2006/relationships/viewProps" Target="viewProps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>
            <a:extLst>
              <a:ext uri="{FF2B5EF4-FFF2-40B4-BE49-F238E27FC236}">
                <a16:creationId xmlns:a16="http://schemas.microsoft.com/office/drawing/2014/main" id="{88C158B9-D0F0-503C-4B37-1018FC7F4FE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7488" cy="34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35171" name="Rectangle 3">
            <a:extLst>
              <a:ext uri="{FF2B5EF4-FFF2-40B4-BE49-F238E27FC236}">
                <a16:creationId xmlns:a16="http://schemas.microsoft.com/office/drawing/2014/main" id="{ED770A2D-6371-93D7-B4F4-8155A9B61BB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65738" y="0"/>
            <a:ext cx="4029075" cy="34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35172" name="Rectangle 4">
            <a:extLst>
              <a:ext uri="{FF2B5EF4-FFF2-40B4-BE49-F238E27FC236}">
                <a16:creationId xmlns:a16="http://schemas.microsoft.com/office/drawing/2014/main" id="{DA70FFB7-DE01-C069-CFC4-0051DA07D9C6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659563"/>
            <a:ext cx="4027488" cy="34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35173" name="Rectangle 5">
            <a:extLst>
              <a:ext uri="{FF2B5EF4-FFF2-40B4-BE49-F238E27FC236}">
                <a16:creationId xmlns:a16="http://schemas.microsoft.com/office/drawing/2014/main" id="{60F79896-53A5-CA2C-A036-D80C242FDDC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65738" y="6659563"/>
            <a:ext cx="4029075" cy="34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DFFE6F13-114A-48AE-B35E-FC4C69B7229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A15BA251-F20E-1244-842B-83A25676D6C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7488" cy="34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1" tIns="46586" rIns="93171" bIns="46586" numCol="1" anchor="t" anchorCtr="0" compatLnSpc="1">
            <a:prstTxWarp prst="textNoShape">
              <a:avLst/>
            </a:prstTxWarp>
          </a:bodyPr>
          <a:lstStyle>
            <a:lvl1pPr defTabSz="931670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A10245DD-3336-4FA6-8CC6-2EB4F501B7F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265738" y="0"/>
            <a:ext cx="4029075" cy="34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1" tIns="46586" rIns="93171" bIns="46586" numCol="1" anchor="t" anchorCtr="0" compatLnSpc="1">
            <a:prstTxWarp prst="textNoShape">
              <a:avLst/>
            </a:prstTxWarp>
          </a:bodyPr>
          <a:lstStyle>
            <a:lvl1pPr algn="r" defTabSz="931670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250C0A27-DD72-BE10-8332-4FC35DAA984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95600" y="527050"/>
            <a:ext cx="3505200" cy="26289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0661" name="Rectangle 5">
            <a:extLst>
              <a:ext uri="{FF2B5EF4-FFF2-40B4-BE49-F238E27FC236}">
                <a16:creationId xmlns:a16="http://schemas.microsoft.com/office/drawing/2014/main" id="{88BB3348-0540-A1B7-EFEF-CB6E9847FC2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0275" y="3330575"/>
            <a:ext cx="7435850" cy="3152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1" tIns="46586" rIns="93171" bIns="465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70662" name="Rectangle 6">
            <a:extLst>
              <a:ext uri="{FF2B5EF4-FFF2-40B4-BE49-F238E27FC236}">
                <a16:creationId xmlns:a16="http://schemas.microsoft.com/office/drawing/2014/main" id="{09E6DE8E-BEEB-EB7E-5060-67B508B4442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659563"/>
            <a:ext cx="4027488" cy="34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1" tIns="46586" rIns="93171" bIns="46586" numCol="1" anchor="b" anchorCtr="0" compatLnSpc="1">
            <a:prstTxWarp prst="textNoShape">
              <a:avLst/>
            </a:prstTxWarp>
          </a:bodyPr>
          <a:lstStyle>
            <a:lvl1pPr defTabSz="931670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0663" name="Rectangle 7">
            <a:extLst>
              <a:ext uri="{FF2B5EF4-FFF2-40B4-BE49-F238E27FC236}">
                <a16:creationId xmlns:a16="http://schemas.microsoft.com/office/drawing/2014/main" id="{202287F1-197E-B890-102A-5DC97DB24F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65738" y="6659563"/>
            <a:ext cx="4029075" cy="34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1" tIns="46586" rIns="93171" bIns="46586" numCol="1" anchor="b" anchorCtr="0" compatLnSpc="1">
            <a:prstTxWarp prst="textNoShape">
              <a:avLst/>
            </a:prstTxWarp>
          </a:bodyPr>
          <a:lstStyle>
            <a:lvl1pPr algn="r" defTabSz="930275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09A5E3B0-12A2-419C-9705-EEA967C8DDE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D98A9DE-3320-0D02-6D5E-F00C69F0DF0C}"/>
              </a:ext>
            </a:extLst>
          </p:cNvPr>
          <p:cNvCxnSpPr/>
          <p:nvPr/>
        </p:nvCxnSpPr>
        <p:spPr>
          <a:xfrm>
            <a:off x="2395538" y="3529013"/>
            <a:ext cx="561975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/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FCA1A2C-C28E-7506-C14D-6633130A5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BB9B0D6-E5AD-1A6C-7A0D-9A6CD61E1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95538" y="328613"/>
            <a:ext cx="3087687" cy="30956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9159467-3B88-FD14-3F36-7496F5E1C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35100" y="798513"/>
            <a:ext cx="801688" cy="504825"/>
          </a:xfrm>
        </p:spPr>
        <p:txBody>
          <a:bodyPr/>
          <a:lstStyle>
            <a:lvl1pPr>
              <a:defRPr/>
            </a:lvl1pPr>
          </a:lstStyle>
          <a:p>
            <a:fld id="{2861126A-C0A3-4B50-B026-8FBD7439E61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2808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5E90327-F23A-E452-6E31-98CBB07EA95B}"/>
              </a:ext>
            </a:extLst>
          </p:cNvPr>
          <p:cNvCxnSpPr/>
          <p:nvPr/>
        </p:nvCxnSpPr>
        <p:spPr>
          <a:xfrm>
            <a:off x="1443038" y="1847850"/>
            <a:ext cx="657225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F609FFB-DFD0-868D-752D-C82B9D2A8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8B3F5F1-D88B-AAE6-9B67-5B963FB6A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17D6E2F-F868-D6D3-1173-AE34C31CB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07FB07-8B70-41A2-A6A9-D73E4DA59CB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9535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C3CA12D-09CD-1327-EEDC-9A2E1D231C00}"/>
              </a:ext>
            </a:extLst>
          </p:cNvPr>
          <p:cNvCxnSpPr/>
          <p:nvPr/>
        </p:nvCxnSpPr>
        <p:spPr>
          <a:xfrm>
            <a:off x="1443038" y="3805238"/>
            <a:ext cx="561816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DA15C2A-6C74-2D23-101B-ABA5D1E0B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FD7A921-6DB1-8499-EBE0-CDE7DD2FF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59110A6-3641-6591-A3D1-58FE23836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EA8235-3486-4E4B-8BD9-A78BABA7BCB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2642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7AB3238-1F3A-BD90-378F-82AB16B331C1}"/>
              </a:ext>
            </a:extLst>
          </p:cNvPr>
          <p:cNvCxnSpPr/>
          <p:nvPr/>
        </p:nvCxnSpPr>
        <p:spPr>
          <a:xfrm>
            <a:off x="1443038" y="1847850"/>
            <a:ext cx="657225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00A23F80-807B-53F0-5E57-0F039DE6A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710FD11B-3E43-B38D-007B-969949B02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D82614BA-8CE2-77CE-EDBF-52DC16D73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D19969-9E0D-4497-9108-2098015CDD1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1689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EC3761-B1BD-DCB1-4451-1E619A31E853}"/>
              </a:ext>
            </a:extLst>
          </p:cNvPr>
          <p:cNvCxnSpPr/>
          <p:nvPr/>
        </p:nvCxnSpPr>
        <p:spPr>
          <a:xfrm>
            <a:off x="1443038" y="1847850"/>
            <a:ext cx="657225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6">
            <a:extLst>
              <a:ext uri="{FF2B5EF4-FFF2-40B4-BE49-F238E27FC236}">
                <a16:creationId xmlns:a16="http://schemas.microsoft.com/office/drawing/2014/main" id="{7524EE58-463D-41BD-29F1-0782D7A8E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Footer Placeholder 7">
            <a:extLst>
              <a:ext uri="{FF2B5EF4-FFF2-40B4-BE49-F238E27FC236}">
                <a16:creationId xmlns:a16="http://schemas.microsoft.com/office/drawing/2014/main" id="{97BBB904-A44D-5CCC-8A89-FF5638570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3C3C8D8E-3AD9-4298-ADDB-A02FBF68A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7EF890-C5C7-41F4-89E7-8CBE4EFE9C3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8652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12CF67A-5406-4EA1-9162-E3610C232BC6}"/>
              </a:ext>
            </a:extLst>
          </p:cNvPr>
          <p:cNvCxnSpPr/>
          <p:nvPr/>
        </p:nvCxnSpPr>
        <p:spPr>
          <a:xfrm>
            <a:off x="1443038" y="1847850"/>
            <a:ext cx="657225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C7DED0B3-D6FD-A286-6D1D-E72B06B4D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5EE49DE7-E58A-B362-53BF-36B0E7E28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E6166138-7BAF-3F58-0879-67E684DB9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584296-897E-45B1-B935-0DDB98CF3CB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3518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EBA5832D-4F0D-83E8-672A-235FD05DB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A5EF671C-89BE-E0E6-A117-212D1D607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317AF6E-583E-F09B-85B6-0B8CADE93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8DC21F-650E-4E89-A708-46770C2FF5E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4631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1B8A566-7D6A-0630-63FB-2CB76D59FD5E}"/>
              </a:ext>
            </a:extLst>
          </p:cNvPr>
          <p:cNvCxnSpPr/>
          <p:nvPr/>
        </p:nvCxnSpPr>
        <p:spPr>
          <a:xfrm>
            <a:off x="1441450" y="3205163"/>
            <a:ext cx="242411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D6FE680B-8D94-6196-9BE1-582BD4259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C2D2F02E-C895-6644-E48D-C984ECC32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DF737A4A-2963-2BD1-CFF8-FFAA2EC8E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A83A1D-2E21-4EC6-AF89-A48A7BE13BB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4906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0">
            <a:extLst>
              <a:ext uri="{FF2B5EF4-FFF2-40B4-BE49-F238E27FC236}">
                <a16:creationId xmlns:a16="http://schemas.microsoft.com/office/drawing/2014/main" id="{DCCECCC2-C898-A6E0-8D1A-C0DF1BCC7B09}"/>
              </a:ext>
            </a:extLst>
          </p:cNvPr>
          <p:cNvGrpSpPr>
            <a:grpSpLocks/>
          </p:cNvGrpSpPr>
          <p:nvPr/>
        </p:nvGrpSpPr>
        <p:grpSpPr bwMode="auto">
          <a:xfrm>
            <a:off x="4995863" y="482600"/>
            <a:ext cx="3511550" cy="5148263"/>
            <a:chOff x="6852919" y="583365"/>
            <a:chExt cx="4681849" cy="518192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9A4AE4E-E427-BB8F-6142-2F2EC18A3E25}"/>
                </a:ext>
              </a:extLst>
            </p:cNvPr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E0986A3-B159-B51E-B3B1-0E3A83BCF6BC}"/>
                </a:ext>
              </a:extLst>
            </p:cNvPr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2C43E48-D580-331C-9B69-FF10D9C92956}"/>
              </a:ext>
            </a:extLst>
          </p:cNvPr>
          <p:cNvCxnSpPr/>
          <p:nvPr/>
        </p:nvCxnSpPr>
        <p:spPr>
          <a:xfrm>
            <a:off x="1441450" y="3143250"/>
            <a:ext cx="324167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rtlCol="0">
            <a:normAutofit/>
          </a:bodyPr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E16F7123-813D-AA6D-B504-A876CA1F1E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36688" y="5470525"/>
            <a:ext cx="3252787" cy="319088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D7790885-ED9B-A087-2599-B216C0D5A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38275" y="319088"/>
            <a:ext cx="3251200" cy="3206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BDE4A570-DB25-95E6-5235-86F542847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A92A0D-5928-465B-9E7E-705A99070DD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4020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54D50FF-65F2-8D93-0B2E-214E483CD8BE}"/>
              </a:ext>
            </a:extLst>
          </p:cNvPr>
          <p:cNvCxnSpPr/>
          <p:nvPr/>
        </p:nvCxnSpPr>
        <p:spPr>
          <a:xfrm>
            <a:off x="1443038" y="1847850"/>
            <a:ext cx="657225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3DB2F2A-4F94-43B6-2BF6-6212742A7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7F4B06D-D519-C7FA-FDEF-F89A58B36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2B9024-757A-27F0-D16B-ED8A15997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4327AE-E4B4-433A-9966-9142179201D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1401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A657C9F-0D4D-FA28-7C43-A7A68FBB5068}"/>
              </a:ext>
            </a:extLst>
          </p:cNvPr>
          <p:cNvCxnSpPr/>
          <p:nvPr/>
        </p:nvCxnSpPr>
        <p:spPr>
          <a:xfrm>
            <a:off x="6918325" y="798513"/>
            <a:ext cx="0" cy="466090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793BC56-25A3-A8E2-C5B3-349EB40ED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F718BE6-4E87-389D-ACED-EDAC4F2E4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4168127-A643-DD68-B216-9B0E0B236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3ED44F-E7F7-412C-9448-66A07BB1BE6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57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AAB82BC-CB80-4AEB-C436-0CDF74D7D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E8C22EA-94B6-597C-25F0-7CEB8918A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1CC232C-5BC1-DD93-AA3D-10EA31AEE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DC5DDB-0088-43FF-A028-21177E76582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0510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image" Target="../media/image2.jpeg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image" Target="../media/image1.jpeg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F785D63-3B98-371B-EAE4-B4F6B70204D1}"/>
              </a:ext>
            </a:extLst>
          </p:cNvPr>
          <p:cNvSpPr/>
          <p:nvPr/>
        </p:nvSpPr>
        <p:spPr>
          <a:xfrm>
            <a:off x="0" y="2016125"/>
            <a:ext cx="9144000" cy="4079875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27" name="Picture 11">
            <a:extLst>
              <a:ext uri="{FF2B5EF4-FFF2-40B4-BE49-F238E27FC236}">
                <a16:creationId xmlns:a16="http://schemas.microsoft.com/office/drawing/2014/main" id="{6EA71B8D-42BC-9451-1013-EE60756BD86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>
            <a:fillRect/>
          </a:stretch>
        </p:blipFill>
        <p:spPr bwMode="auto">
          <a:xfrm>
            <a:off x="0" y="6096000"/>
            <a:ext cx="9144000" cy="77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29A3465-FDAC-8B09-A1C1-66344C7A6850}"/>
              </a:ext>
            </a:extLst>
          </p:cNvPr>
          <p:cNvCxnSpPr/>
          <p:nvPr/>
        </p:nvCxnSpPr>
        <p:spPr>
          <a:xfrm>
            <a:off x="0" y="610076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376BF4-9694-7B83-5784-BA986F6D8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038" y="804863"/>
            <a:ext cx="6572250" cy="10493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30" name="Text Placeholder 2">
            <a:extLst>
              <a:ext uri="{FF2B5EF4-FFF2-40B4-BE49-F238E27FC236}">
                <a16:creationId xmlns:a16="http://schemas.microsoft.com/office/drawing/2014/main" id="{3ABB3C1D-8781-F9D4-6750-82D88C397D8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443038" y="2016125"/>
            <a:ext cx="6572250" cy="344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10A89-8FF8-3BFA-7C16-B59BFBAC94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46738" y="330200"/>
            <a:ext cx="2368550" cy="309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DD47C-ABE8-15F7-0AFE-A58A1EF34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43038" y="328613"/>
            <a:ext cx="4033837" cy="309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30B1C-E7C1-D17E-5ED0-BC58D076DC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7363" y="798513"/>
            <a:ext cx="795337" cy="5048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800">
                <a:solidFill>
                  <a:schemeClr val="accent1"/>
                </a:solidFill>
              </a:defRPr>
            </a:lvl1pPr>
          </a:lstStyle>
          <a:p>
            <a:fld id="{C981A668-2CA7-47A5-A1D6-71F360AC6C4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7" r:id="rId1"/>
    <p:sldLayoutId id="2147483918" r:id="rId2"/>
    <p:sldLayoutId id="2147483919" r:id="rId3"/>
    <p:sldLayoutId id="2147483920" r:id="rId4"/>
    <p:sldLayoutId id="2147483921" r:id="rId5"/>
    <p:sldLayoutId id="2147483922" r:id="rId6"/>
    <p:sldLayoutId id="2147483915" r:id="rId7"/>
    <p:sldLayoutId id="2147483923" r:id="rId8"/>
    <p:sldLayoutId id="2147483924" r:id="rId9"/>
    <p:sldLayoutId id="2147483925" r:id="rId10"/>
    <p:sldLayoutId id="2147483926" r:id="rId11"/>
    <p:sldLayoutId id="2147483916" r:id="rId12"/>
  </p:sldLayoutIdLst>
  <p:hf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kern="1200" cap="all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Gill Sans MT" panose="020B0502020104020203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Gill Sans MT" panose="020B0502020104020203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Gill Sans MT" panose="020B0502020104020203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Gill Sans MT" panose="020B0502020104020203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Gill Sans MT" panose="020B0502020104020203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Gill Sans MT" panose="020B0502020104020203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Gill Sans MT" panose="020B0502020104020203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Gill Sans MT" panose="020B0502020104020203" pitchFamily="34" charset="0"/>
        </a:defRPr>
      </a:lvl9pPr>
    </p:titleStyle>
    <p:bodyStyle>
      <a:lvl1pPr marL="228600" indent="-228600" algn="l" defTabSz="685800" rtl="0" eaLnBrk="0" fontAlgn="base" hangingPunct="0">
        <a:lnSpc>
          <a:spcPct val="120000"/>
        </a:lnSpc>
        <a:spcBef>
          <a:spcPts val="1000"/>
        </a:spcBef>
        <a:spcAft>
          <a:spcPct val="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685800" rtl="0" eaLnBrk="0" fontAlgn="base" hangingPunct="0">
        <a:lnSpc>
          <a:spcPct val="120000"/>
        </a:lnSpc>
        <a:spcBef>
          <a:spcPts val="500"/>
        </a:spcBef>
        <a:spcAft>
          <a:spcPct val="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685800" rtl="0" eaLnBrk="0" fontAlgn="base" hangingPunct="0">
        <a:lnSpc>
          <a:spcPct val="120000"/>
        </a:lnSpc>
        <a:spcBef>
          <a:spcPts val="500"/>
        </a:spcBef>
        <a:spcAft>
          <a:spcPct val="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685800" rtl="0" eaLnBrk="0" fontAlgn="base" hangingPunct="0">
        <a:lnSpc>
          <a:spcPct val="120000"/>
        </a:lnSpc>
        <a:spcBef>
          <a:spcPts val="500"/>
        </a:spcBef>
        <a:spcAft>
          <a:spcPct val="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685800" rtl="0" eaLnBrk="0" fontAlgn="base" hangingPunct="0">
        <a:lnSpc>
          <a:spcPct val="120000"/>
        </a:lnSpc>
        <a:spcBef>
          <a:spcPts val="500"/>
        </a:spcBef>
        <a:spcAft>
          <a:spcPct val="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 /><Relationship Id="rId2" Type="http://schemas.openxmlformats.org/officeDocument/2006/relationships/oleObject" Target="../embeddings/oleObject1.bin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4.png" 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 /><Relationship Id="rId13" Type="http://schemas.openxmlformats.org/officeDocument/2006/relationships/oleObject" Target="../embeddings/oleObject7.bin" /><Relationship Id="rId18" Type="http://schemas.openxmlformats.org/officeDocument/2006/relationships/image" Target="../media/image14.wmf" /><Relationship Id="rId3" Type="http://schemas.openxmlformats.org/officeDocument/2006/relationships/oleObject" Target="../embeddings/oleObject2.bin" /><Relationship Id="rId7" Type="http://schemas.openxmlformats.org/officeDocument/2006/relationships/oleObject" Target="../embeddings/oleObject4.bin" /><Relationship Id="rId12" Type="http://schemas.openxmlformats.org/officeDocument/2006/relationships/image" Target="../media/image11.wmf" /><Relationship Id="rId17" Type="http://schemas.openxmlformats.org/officeDocument/2006/relationships/oleObject" Target="../embeddings/oleObject9.bin" /><Relationship Id="rId2" Type="http://schemas.openxmlformats.org/officeDocument/2006/relationships/image" Target="../media/image6.png" /><Relationship Id="rId16" Type="http://schemas.openxmlformats.org/officeDocument/2006/relationships/image" Target="../media/image13.wmf" /><Relationship Id="rId1" Type="http://schemas.openxmlformats.org/officeDocument/2006/relationships/slideLayout" Target="../slideLayouts/slideLayout12.xml" /><Relationship Id="rId6" Type="http://schemas.openxmlformats.org/officeDocument/2006/relationships/image" Target="../media/image8.wmf" /><Relationship Id="rId11" Type="http://schemas.openxmlformats.org/officeDocument/2006/relationships/oleObject" Target="../embeddings/oleObject6.bin" /><Relationship Id="rId5" Type="http://schemas.openxmlformats.org/officeDocument/2006/relationships/oleObject" Target="../embeddings/oleObject3.bin" /><Relationship Id="rId15" Type="http://schemas.openxmlformats.org/officeDocument/2006/relationships/oleObject" Target="../embeddings/oleObject8.bin" /><Relationship Id="rId10" Type="http://schemas.openxmlformats.org/officeDocument/2006/relationships/image" Target="../media/image10.wmf" /><Relationship Id="rId4" Type="http://schemas.openxmlformats.org/officeDocument/2006/relationships/image" Target="../media/image7.wmf" /><Relationship Id="rId9" Type="http://schemas.openxmlformats.org/officeDocument/2006/relationships/oleObject" Target="../embeddings/oleObject5.bin" /><Relationship Id="rId14" Type="http://schemas.openxmlformats.org/officeDocument/2006/relationships/image" Target="../media/image12.wmf" 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>
            <a:extLst>
              <a:ext uri="{FF2B5EF4-FFF2-40B4-BE49-F238E27FC236}">
                <a16:creationId xmlns:a16="http://schemas.microsoft.com/office/drawing/2014/main" id="{33725910-BB47-5C58-EC5E-8B56B58FA7B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066800"/>
            <a:ext cx="7772400" cy="1470025"/>
          </a:xfrm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400" dirty="0"/>
              <a:t>    Chapter 01: Set Theory</a:t>
            </a:r>
          </a:p>
        </p:txBody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7666D3BE-82B4-E077-85A5-EEF5CD288B2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rtlCol="0">
            <a:normAutofit fontScale="92500" lnSpcReduction="20000"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en-US" sz="3200" dirty="0"/>
              <a:t>DISCRETE MATHS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en-US" sz="3200" dirty="0"/>
              <a:t>Higher Nationals in Computing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en-US" sz="3200" dirty="0">
                <a:solidFill>
                  <a:srgbClr val="0A0EB6"/>
                </a:solidFill>
              </a:rPr>
              <a:t>B</a:t>
            </a:r>
            <a:r>
              <a:rPr lang="en-US" altLang="en-US" sz="3200" dirty="0">
                <a:solidFill>
                  <a:srgbClr val="FF0000"/>
                </a:solidFill>
              </a:rPr>
              <a:t>CAS</a:t>
            </a:r>
            <a:r>
              <a:rPr lang="en-US" altLang="en-US" sz="3200" dirty="0"/>
              <a:t> Campus, Kalmunai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A87C924B-8FD3-21E0-391B-AA5B3A0D82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What is a set?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284280D8-06CE-D80B-FB4A-70A3F6B04D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1963" y="1447800"/>
            <a:ext cx="85344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A set is a group of “objects”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People in a class: { Alice, Bob, Chris 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Classes offered by a department: { CS 101, CS 202, … 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Colors of a rainbow: { red, orange, yellow, green, blue, indigo, purple 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States of matter { solid, liquid, gas, plasma 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States in the US: { Alabama, Alaska, Virginia, … 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Sets can contain non-related elements: { 3, a, red, Virginia }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Although a set can contain (almost) anything, we will most often use sets of numbers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All positive numbers less than or equal to 5: {1, 2, 3, 4, 5}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A few selected real numbers: { 2.1, </a:t>
            </a:r>
            <a:r>
              <a:rPr lang="el-GR" altLang="en-US" sz="2000"/>
              <a:t>π</a:t>
            </a:r>
            <a:r>
              <a:rPr lang="en-US" altLang="en-US" sz="2000"/>
              <a:t>, 0, -6.32, e }</a:t>
            </a:r>
            <a:endParaRPr lang="en-US" altLang="en-US" sz="2400"/>
          </a:p>
        </p:txBody>
      </p:sp>
      <p:sp>
        <p:nvSpPr>
          <p:cNvPr id="15364" name="Slide Number Placeholder 5">
            <a:extLst>
              <a:ext uri="{FF2B5EF4-FFF2-40B4-BE49-F238E27FC236}">
                <a16:creationId xmlns:a16="http://schemas.microsoft.com/office/drawing/2014/main" id="{AAA31C0F-E8B0-95B7-58E9-5BEC44039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06A25F45-FA98-439E-B3BD-69D2F5091D48}" type="slidenum">
              <a:rPr lang="en-US" altLang="en-US" sz="140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>
            <a:extLst>
              <a:ext uri="{FF2B5EF4-FFF2-40B4-BE49-F238E27FC236}">
                <a16:creationId xmlns:a16="http://schemas.microsoft.com/office/drawing/2014/main" id="{D72AC0F0-B1A3-3568-1CCB-C1A9BD73E4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Set properties 1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E86E96E7-CFA4-95FF-69A6-CDA896B705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Order does not matter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We often write them in order because it is easier for humans to understand it that way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{1, 2, 3, 4, 5} is equivalent to {3, 5, 2, 4, 1}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Sets are notated with curly brackets</a:t>
            </a:r>
          </a:p>
        </p:txBody>
      </p:sp>
      <p:sp>
        <p:nvSpPr>
          <p:cNvPr id="16388" name="Slide Number Placeholder 5">
            <a:extLst>
              <a:ext uri="{FF2B5EF4-FFF2-40B4-BE49-F238E27FC236}">
                <a16:creationId xmlns:a16="http://schemas.microsoft.com/office/drawing/2014/main" id="{62C094F7-DC65-4429-C8F6-960C48564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BA320DFD-EF1A-480D-B3F0-38F9E1A96BA7}" type="slidenum">
              <a:rPr lang="en-US" altLang="en-US" sz="140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>
            <a:extLst>
              <a:ext uri="{FF2B5EF4-FFF2-40B4-BE49-F238E27FC236}">
                <a16:creationId xmlns:a16="http://schemas.microsoft.com/office/drawing/2014/main" id="{238A4F9A-9922-2C95-F876-54D8B7AF4B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Set properties 2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A697B960-7595-11D1-B69E-A49E11F0CC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Sets do not have duplicate elements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Consider the set of vowels in the alphabet. 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/>
              <a:t>It makes no sense to list them as {a, a, a, e, i, o, o, o, o, o, u}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/>
              <a:t>What we really want is just {a, e, i, o, u}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Consider the list of students in this class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/>
              <a:t>Again, it does not make sense to list somebody twice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Note that a list is like a set, but order does matter and duplicate elements are allowed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We won’t be studying lists much in this class</a:t>
            </a:r>
          </a:p>
        </p:txBody>
      </p:sp>
      <p:sp>
        <p:nvSpPr>
          <p:cNvPr id="17412" name="Slide Number Placeholder 5">
            <a:extLst>
              <a:ext uri="{FF2B5EF4-FFF2-40B4-BE49-F238E27FC236}">
                <a16:creationId xmlns:a16="http://schemas.microsoft.com/office/drawing/2014/main" id="{F7E4AD04-31B8-920A-23E2-D0597E1D1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83749BC9-ADA3-4F34-9C34-24D82C05ED1A}" type="slidenum">
              <a:rPr lang="en-US" altLang="en-US" sz="140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>
            <a:extLst>
              <a:ext uri="{FF2B5EF4-FFF2-40B4-BE49-F238E27FC236}">
                <a16:creationId xmlns:a16="http://schemas.microsoft.com/office/drawing/2014/main" id="{2360B5AA-4A52-1E70-F48D-E543063232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Specifying a set 1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83F4AAB-BA40-ED8D-65BE-C2F2A94455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Sets are usually represented by a capital letter (A, B, S, etc.)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Elements are usually represented by an italic lower-case letter (</a:t>
            </a:r>
            <a:r>
              <a:rPr lang="en-US" altLang="en-US" i="1"/>
              <a:t>a</a:t>
            </a:r>
            <a:r>
              <a:rPr lang="en-US" altLang="en-US"/>
              <a:t>, </a:t>
            </a:r>
            <a:r>
              <a:rPr lang="en-US" altLang="en-US" i="1"/>
              <a:t>x</a:t>
            </a:r>
            <a:r>
              <a:rPr lang="en-US" altLang="en-US"/>
              <a:t>, </a:t>
            </a:r>
            <a:r>
              <a:rPr lang="en-US" altLang="en-US" i="1"/>
              <a:t>y</a:t>
            </a:r>
            <a:r>
              <a:rPr lang="en-US" altLang="en-US"/>
              <a:t>, etc.)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Easiest way to specify a set is to list all the elements: A = {1, 2, 3, 4, 5}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Not always feasible for large or infinite sets</a:t>
            </a:r>
          </a:p>
        </p:txBody>
      </p:sp>
      <p:sp>
        <p:nvSpPr>
          <p:cNvPr id="18436" name="Slide Number Placeholder 5">
            <a:extLst>
              <a:ext uri="{FF2B5EF4-FFF2-40B4-BE49-F238E27FC236}">
                <a16:creationId xmlns:a16="http://schemas.microsoft.com/office/drawing/2014/main" id="{0A5EC24D-41B0-E069-257D-106AF2631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7AD0508E-2EB6-4F00-8BDB-5C783EE1169A}" type="slidenum">
              <a:rPr lang="en-US" altLang="en-US" sz="140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>
            <a:extLst>
              <a:ext uri="{FF2B5EF4-FFF2-40B4-BE49-F238E27FC236}">
                <a16:creationId xmlns:a16="http://schemas.microsoft.com/office/drawing/2014/main" id="{93705B00-9D51-26DD-2AB0-D7846E961B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Specifying a set 2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BA6AF2FF-79A1-4CFE-814F-EF0F1EAE40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87363" y="1447800"/>
            <a:ext cx="8229600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altLang="en-US" sz="2400" dirty="0"/>
              <a:t>Can use an ellipsis (…): B = {0, 1, 2, 3, …}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endParaRPr lang="en-US" altLang="en-US" sz="2400" dirty="0"/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000" dirty="0"/>
              <a:t>Can cause confusion.  Consider the set C = {3, 5, 7, …}.  What comes next?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000" dirty="0"/>
              <a:t>If the set is all odd integers greater than 2, it is 9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000" dirty="0"/>
              <a:t>If the set is all prime numbers greater than 2, it is 11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altLang="en-US" sz="2800" dirty="0"/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en-US" sz="2400" dirty="0"/>
              <a:t>Can use set-builder notation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000" dirty="0"/>
              <a:t>D = {</a:t>
            </a:r>
            <a:r>
              <a:rPr lang="en-US" altLang="en-US" sz="2000" i="1" dirty="0"/>
              <a:t>x</a:t>
            </a:r>
            <a:r>
              <a:rPr lang="en-US" altLang="en-US" sz="2000" dirty="0"/>
              <a:t> | </a:t>
            </a:r>
            <a:r>
              <a:rPr lang="en-US" altLang="en-US" sz="2000" i="1" dirty="0"/>
              <a:t>x</a:t>
            </a:r>
            <a:r>
              <a:rPr lang="en-US" altLang="en-US" sz="2000" dirty="0"/>
              <a:t> is prime and </a:t>
            </a:r>
            <a:r>
              <a:rPr lang="en-US" altLang="en-US" sz="2000" i="1" dirty="0"/>
              <a:t>x</a:t>
            </a:r>
            <a:r>
              <a:rPr lang="en-US" altLang="en-US" sz="2000" dirty="0"/>
              <a:t> &gt; 2} = {3, 5, 7, 11, 13,…….}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000" dirty="0"/>
              <a:t>E = {</a:t>
            </a:r>
            <a:r>
              <a:rPr lang="en-US" altLang="en-US" sz="2000" i="1" dirty="0"/>
              <a:t>x</a:t>
            </a:r>
            <a:r>
              <a:rPr lang="en-US" altLang="en-US" sz="2000" dirty="0"/>
              <a:t> | </a:t>
            </a:r>
            <a:r>
              <a:rPr lang="en-US" altLang="en-US" sz="2000" i="1" dirty="0"/>
              <a:t>x</a:t>
            </a:r>
            <a:r>
              <a:rPr lang="en-US" altLang="en-US" sz="2000" dirty="0"/>
              <a:t> is odd and </a:t>
            </a:r>
            <a:r>
              <a:rPr lang="en-US" altLang="en-US" sz="2000" i="1" dirty="0"/>
              <a:t>x</a:t>
            </a:r>
            <a:r>
              <a:rPr lang="en-US" altLang="en-US" sz="2000" dirty="0"/>
              <a:t> &gt; 2} = {3, 5, 7, 9, 11,…….}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000" dirty="0"/>
              <a:t>The vertical bar means “such that”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000" dirty="0"/>
              <a:t>Thus, set D is read (in English) as: “all elements </a:t>
            </a:r>
            <a:r>
              <a:rPr lang="en-US" altLang="en-US" sz="2000" i="1" dirty="0"/>
              <a:t>x</a:t>
            </a:r>
            <a:r>
              <a:rPr lang="en-US" altLang="en-US" sz="2000" dirty="0"/>
              <a:t> such that </a:t>
            </a:r>
            <a:r>
              <a:rPr lang="en-US" altLang="en-US" sz="2000" i="1" dirty="0"/>
              <a:t>x</a:t>
            </a:r>
            <a:r>
              <a:rPr lang="en-US" altLang="en-US" sz="2000" dirty="0"/>
              <a:t> is prime and </a:t>
            </a:r>
            <a:r>
              <a:rPr lang="en-US" altLang="en-US" sz="2000" i="1" dirty="0"/>
              <a:t>x</a:t>
            </a:r>
            <a:r>
              <a:rPr lang="en-US" altLang="en-US" sz="2000" dirty="0"/>
              <a:t> is greater than 2”</a:t>
            </a:r>
          </a:p>
        </p:txBody>
      </p:sp>
      <p:sp>
        <p:nvSpPr>
          <p:cNvPr id="19460" name="Slide Number Placeholder 5">
            <a:extLst>
              <a:ext uri="{FF2B5EF4-FFF2-40B4-BE49-F238E27FC236}">
                <a16:creationId xmlns:a16="http://schemas.microsoft.com/office/drawing/2014/main" id="{DF22EC7D-B266-84F2-54B0-83492B075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BE9A1944-BFFC-4EB9-8E1F-649B4F1BE6C1}" type="slidenum">
              <a:rPr lang="en-US" altLang="en-US" sz="140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>
            <a:extLst>
              <a:ext uri="{FF2B5EF4-FFF2-40B4-BE49-F238E27FC236}">
                <a16:creationId xmlns:a16="http://schemas.microsoft.com/office/drawing/2014/main" id="{BECF0FA7-36B6-C837-9BE3-57596CDFD1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Specifying a set 3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9A692049-36D9-EF4C-94A4-CA885F09C2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A set is said to “contain” the various “members” or “elements” that make up the set</a:t>
            </a:r>
          </a:p>
          <a:p>
            <a:pPr lvl="1" eaLnBrk="1" hangingPunct="1"/>
            <a:r>
              <a:rPr lang="en-US" altLang="en-US" sz="1800"/>
              <a:t>If an element </a:t>
            </a:r>
            <a:r>
              <a:rPr lang="en-US" altLang="en-US" sz="1800" b="1" i="1"/>
              <a:t>a</a:t>
            </a:r>
            <a:r>
              <a:rPr lang="en-US" altLang="en-US" sz="1800"/>
              <a:t> is a member of (or an element of) a set </a:t>
            </a:r>
            <a:r>
              <a:rPr lang="en-US" altLang="en-US" sz="1800" b="1"/>
              <a:t>S</a:t>
            </a:r>
            <a:r>
              <a:rPr lang="en-US" altLang="en-US" sz="1800"/>
              <a:t>, we use then notation </a:t>
            </a:r>
            <a:r>
              <a:rPr lang="en-US" altLang="en-US" sz="1800" b="1" i="1"/>
              <a:t>a</a:t>
            </a:r>
            <a:r>
              <a:rPr lang="en-US" altLang="en-US" sz="1800" b="1"/>
              <a:t> </a:t>
            </a:r>
            <a:r>
              <a:rPr lang="en-US" altLang="en-US" sz="1800" b="1">
                <a:sym typeface="Symbol" panose="05050102010706020507" pitchFamily="18" charset="2"/>
              </a:rPr>
              <a:t></a:t>
            </a:r>
            <a:r>
              <a:rPr lang="en-US" altLang="en-US" sz="1800" b="1"/>
              <a:t> S</a:t>
            </a:r>
          </a:p>
          <a:p>
            <a:pPr lvl="2" eaLnBrk="1" hangingPunct="1"/>
            <a:r>
              <a:rPr lang="en-US" altLang="en-US" sz="1800"/>
              <a:t>4 </a:t>
            </a:r>
            <a:r>
              <a:rPr lang="en-US" altLang="en-US" sz="1800">
                <a:sym typeface="Symbol" panose="05050102010706020507" pitchFamily="18" charset="2"/>
              </a:rPr>
              <a:t> {1, 2, 3, 4}</a:t>
            </a:r>
          </a:p>
          <a:p>
            <a:pPr lvl="1" eaLnBrk="1" hangingPunct="1"/>
            <a:r>
              <a:rPr lang="en-US" altLang="en-US" sz="1800"/>
              <a:t>If an element is not a member of (or an element of) a set S, we use the notation </a:t>
            </a:r>
            <a:r>
              <a:rPr lang="en-US" altLang="en-US" sz="1800" b="1" i="1"/>
              <a:t>a</a:t>
            </a:r>
            <a:r>
              <a:rPr lang="en-US" altLang="en-US" sz="1800" b="1"/>
              <a:t> </a:t>
            </a:r>
            <a:r>
              <a:rPr lang="en-US" altLang="en-US" sz="1800" b="1">
                <a:sym typeface="Symbol" panose="05050102010706020507" pitchFamily="18" charset="2"/>
              </a:rPr>
              <a:t></a:t>
            </a:r>
            <a:r>
              <a:rPr lang="en-US" altLang="en-US" sz="1800" b="1"/>
              <a:t> S</a:t>
            </a:r>
          </a:p>
          <a:p>
            <a:pPr lvl="2" eaLnBrk="1" hangingPunct="1"/>
            <a:r>
              <a:rPr lang="en-US" altLang="en-US" sz="1800">
                <a:sym typeface="Symbol" panose="05050102010706020507" pitchFamily="18" charset="2"/>
              </a:rPr>
              <a:t>7  {1, 2, 3, 4}</a:t>
            </a:r>
          </a:p>
          <a:p>
            <a:pPr lvl="2" eaLnBrk="1" hangingPunct="1"/>
            <a:r>
              <a:rPr lang="en-US" altLang="en-US" sz="1800">
                <a:sym typeface="Symbol" panose="05050102010706020507" pitchFamily="18" charset="2"/>
              </a:rPr>
              <a:t>Virginia  {1, 2, 3, 4}</a:t>
            </a:r>
            <a:endParaRPr lang="en-US" altLang="en-US" sz="1800"/>
          </a:p>
        </p:txBody>
      </p:sp>
      <p:sp>
        <p:nvSpPr>
          <p:cNvPr id="20484" name="Slide Number Placeholder 5">
            <a:extLst>
              <a:ext uri="{FF2B5EF4-FFF2-40B4-BE49-F238E27FC236}">
                <a16:creationId xmlns:a16="http://schemas.microsoft.com/office/drawing/2014/main" id="{646EA070-5A32-9FA7-4D4D-E00557622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C2145A19-A441-4FD8-A38B-18B2B33FBDBE}" type="slidenum">
              <a:rPr lang="en-US" altLang="en-US" sz="140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>
            <a:extLst>
              <a:ext uri="{FF2B5EF4-FFF2-40B4-BE49-F238E27FC236}">
                <a16:creationId xmlns:a16="http://schemas.microsoft.com/office/drawing/2014/main" id="{37D53CBD-6ADC-EF86-4E3E-7DFBDA2098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Often used sets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F430711B-52B0-7FC0-E906-C2A485D329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fontScale="70000" lnSpcReduction="20000"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en-US" sz="2800" b="1"/>
              <a:t>N</a:t>
            </a:r>
            <a:r>
              <a:rPr lang="en-US" altLang="en-US" sz="2800"/>
              <a:t> = {0, 1, 2, 3, …} is the set of natural numbers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en-US" sz="2800" b="1"/>
              <a:t>Z</a:t>
            </a:r>
            <a:r>
              <a:rPr lang="en-US" altLang="en-US" sz="2800"/>
              <a:t> =  {…, -2, -1, 0, 1, 2, …} is the set of integers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en-US" sz="2800" b="1"/>
              <a:t>Z</a:t>
            </a:r>
            <a:r>
              <a:rPr lang="en-US" altLang="en-US" sz="2800" b="1" baseline="30000"/>
              <a:t>+</a:t>
            </a:r>
            <a:r>
              <a:rPr lang="en-US" altLang="en-US" sz="2800"/>
              <a:t> =  {1, 2, 3, …} is the set of positive integers (a.k.a whole numbers)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en-US" sz="2400"/>
              <a:t>Note that people disagree on the exact definitions of whole numbers and natural numbers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en-US" sz="2800" b="1"/>
              <a:t>Q</a:t>
            </a:r>
            <a:r>
              <a:rPr lang="en-US" altLang="en-US" sz="2800"/>
              <a:t> = {</a:t>
            </a:r>
            <a:r>
              <a:rPr lang="en-US" altLang="en-US" sz="2800" i="1"/>
              <a:t>p</a:t>
            </a:r>
            <a:r>
              <a:rPr lang="en-US" altLang="en-US" sz="2800"/>
              <a:t>/</a:t>
            </a:r>
            <a:r>
              <a:rPr lang="en-US" altLang="en-US" sz="2800" i="1"/>
              <a:t>q</a:t>
            </a:r>
            <a:r>
              <a:rPr lang="en-US" altLang="en-US" sz="2800"/>
              <a:t> | </a:t>
            </a:r>
            <a:r>
              <a:rPr lang="en-US" altLang="en-US" sz="2800" i="1"/>
              <a:t>p</a:t>
            </a:r>
            <a:r>
              <a:rPr lang="en-US" altLang="en-US" sz="2800"/>
              <a:t> </a:t>
            </a:r>
            <a:r>
              <a:rPr lang="en-US" altLang="en-US" sz="2800">
                <a:sym typeface="Symbol" panose="05050102010706020507" pitchFamily="18" charset="2"/>
              </a:rPr>
              <a:t></a:t>
            </a:r>
            <a:r>
              <a:rPr lang="en-US" altLang="en-US" sz="2800"/>
              <a:t> </a:t>
            </a:r>
            <a:r>
              <a:rPr lang="en-US" altLang="en-US" sz="2800" b="1"/>
              <a:t>Z</a:t>
            </a:r>
            <a:r>
              <a:rPr lang="en-US" altLang="en-US" sz="2800"/>
              <a:t>, </a:t>
            </a:r>
            <a:r>
              <a:rPr lang="en-US" altLang="en-US" sz="2800" i="1"/>
              <a:t>q</a:t>
            </a:r>
            <a:r>
              <a:rPr lang="en-US" altLang="en-US" sz="2800"/>
              <a:t> </a:t>
            </a:r>
            <a:r>
              <a:rPr lang="en-US" altLang="en-US" sz="2800">
                <a:sym typeface="Symbol" panose="05050102010706020507" pitchFamily="18" charset="2"/>
              </a:rPr>
              <a:t></a:t>
            </a:r>
            <a:r>
              <a:rPr lang="en-US" altLang="en-US" sz="2800"/>
              <a:t> </a:t>
            </a:r>
            <a:r>
              <a:rPr lang="en-US" altLang="en-US" sz="2800" b="1"/>
              <a:t>Z</a:t>
            </a:r>
            <a:r>
              <a:rPr lang="en-US" altLang="en-US" sz="2800"/>
              <a:t>, </a:t>
            </a:r>
            <a:r>
              <a:rPr lang="en-US" altLang="en-US" sz="2800" i="1"/>
              <a:t>q</a:t>
            </a:r>
            <a:r>
              <a:rPr lang="en-US" altLang="en-US" sz="2800"/>
              <a:t> ≠ 0} is the set of rational numbers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en-US" sz="2400"/>
              <a:t>Any number that can be expressed as a fraction of two integers (where the bottom one is not zero)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en-US" sz="2800" b="1"/>
              <a:t>R</a:t>
            </a:r>
            <a:r>
              <a:rPr lang="en-US" altLang="en-US" sz="2800"/>
              <a:t> is the set of real numbers</a:t>
            </a:r>
          </a:p>
        </p:txBody>
      </p:sp>
      <p:sp>
        <p:nvSpPr>
          <p:cNvPr id="21508" name="Slide Number Placeholder 5">
            <a:extLst>
              <a:ext uri="{FF2B5EF4-FFF2-40B4-BE49-F238E27FC236}">
                <a16:creationId xmlns:a16="http://schemas.microsoft.com/office/drawing/2014/main" id="{32741A18-9E30-9DC7-8E61-12295EDFD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E33A8304-6545-4767-8E07-E345B7A96079}" type="slidenum">
              <a:rPr lang="en-US" altLang="en-US" sz="140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>
            <a:extLst>
              <a:ext uri="{FF2B5EF4-FFF2-40B4-BE49-F238E27FC236}">
                <a16:creationId xmlns:a16="http://schemas.microsoft.com/office/drawing/2014/main" id="{25F610A6-B00B-9110-3569-2C45546D07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The universal set 1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F2BBD7F-ED8E-9D09-8E3B-2D77A79BC6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b="1" i="1">
                <a:solidFill>
                  <a:schemeClr val="hlink"/>
                </a:solidFill>
                <a:latin typeface="Times New Roman" panose="02020603050405020304" pitchFamily="18" charset="0"/>
              </a:rPr>
              <a:t>U</a:t>
            </a:r>
            <a:r>
              <a:rPr lang="en-US" altLang="en-US">
                <a:solidFill>
                  <a:schemeClr val="hlink"/>
                </a:solidFill>
              </a:rPr>
              <a:t> is the universal set – the set of all of elements (or the “universe”) from which given any set is drawn</a:t>
            </a:r>
          </a:p>
          <a:p>
            <a:pPr lvl="1" eaLnBrk="1" hangingPunct="1"/>
            <a:r>
              <a:rPr lang="en-US" altLang="en-US"/>
              <a:t>For the set {-2, 0.4, 2}, </a:t>
            </a:r>
            <a:r>
              <a:rPr lang="en-US" altLang="en-US" b="1" i="1">
                <a:latin typeface="Times New Roman" panose="02020603050405020304" pitchFamily="18" charset="0"/>
              </a:rPr>
              <a:t>U</a:t>
            </a:r>
            <a:r>
              <a:rPr lang="en-US" altLang="en-US"/>
              <a:t>  would be the real numbers</a:t>
            </a:r>
          </a:p>
          <a:p>
            <a:pPr lvl="1" eaLnBrk="1" hangingPunct="1"/>
            <a:r>
              <a:rPr lang="en-US" altLang="en-US"/>
              <a:t>For the set {0, 1, 2}, </a:t>
            </a:r>
            <a:r>
              <a:rPr lang="en-US" altLang="en-US" b="1" i="1">
                <a:latin typeface="Times New Roman" panose="02020603050405020304" pitchFamily="18" charset="0"/>
              </a:rPr>
              <a:t>U</a:t>
            </a:r>
            <a:r>
              <a:rPr lang="en-US" altLang="en-US"/>
              <a:t> could be the natural numbers (zero and up), the integers, the rational numbers, or the real numbers, depending on the context</a:t>
            </a:r>
          </a:p>
        </p:txBody>
      </p:sp>
      <p:sp>
        <p:nvSpPr>
          <p:cNvPr id="22532" name="Slide Number Placeholder 5">
            <a:extLst>
              <a:ext uri="{FF2B5EF4-FFF2-40B4-BE49-F238E27FC236}">
                <a16:creationId xmlns:a16="http://schemas.microsoft.com/office/drawing/2014/main" id="{34A9488B-8AEA-62AF-A138-9BFF210F9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853C8485-A6FF-4FD2-9531-9E08E2FAACE3}" type="slidenum">
              <a:rPr lang="en-US" altLang="en-US" sz="140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>
            <a:extLst>
              <a:ext uri="{FF2B5EF4-FFF2-40B4-BE49-F238E27FC236}">
                <a16:creationId xmlns:a16="http://schemas.microsoft.com/office/drawing/2014/main" id="{36FC55FF-F9E7-1F6A-6CBD-A00057E58D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The universal set 2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A9ABAD4F-537C-45DC-7007-CA4D64141F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For the set of the students in this class, </a:t>
            </a:r>
            <a:r>
              <a:rPr lang="en-US" altLang="en-US" sz="1800" b="1" i="1">
                <a:latin typeface="Times New Roman" panose="02020603050405020304" pitchFamily="18" charset="0"/>
              </a:rPr>
              <a:t>U</a:t>
            </a:r>
            <a:r>
              <a:rPr lang="en-US" altLang="en-US" sz="1800"/>
              <a:t> would be all the students in the University (or perhaps all the people in the world)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800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For the set of the vowels of the alphabet, </a:t>
            </a:r>
            <a:r>
              <a:rPr lang="en-US" altLang="en-US" sz="1800" b="1" i="1">
                <a:latin typeface="Times New Roman" panose="02020603050405020304" pitchFamily="18" charset="0"/>
              </a:rPr>
              <a:t>U</a:t>
            </a:r>
            <a:r>
              <a:rPr lang="en-US" altLang="en-US" sz="1800"/>
              <a:t> would be all the letters of the alphabet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800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To differentiate </a:t>
            </a:r>
            <a:r>
              <a:rPr lang="en-US" altLang="en-US" sz="1800" b="1" i="1">
                <a:latin typeface="Times New Roman" panose="02020603050405020304" pitchFamily="18" charset="0"/>
              </a:rPr>
              <a:t>U</a:t>
            </a:r>
            <a:r>
              <a:rPr lang="en-US" altLang="en-US" sz="1800"/>
              <a:t> from U (which is a set operation), the universal set is written in a different font (and in bold and italics)</a:t>
            </a:r>
          </a:p>
        </p:txBody>
      </p:sp>
      <p:sp>
        <p:nvSpPr>
          <p:cNvPr id="23556" name="Slide Number Placeholder 5">
            <a:extLst>
              <a:ext uri="{FF2B5EF4-FFF2-40B4-BE49-F238E27FC236}">
                <a16:creationId xmlns:a16="http://schemas.microsoft.com/office/drawing/2014/main" id="{DFEFEDEB-6D84-C6C2-BAD9-DBB757897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11AAED50-4C22-45D3-A1AC-E79F4D634AA6}" type="slidenum">
              <a:rPr lang="en-US" altLang="en-US" sz="140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>
            <a:extLst>
              <a:ext uri="{FF2B5EF4-FFF2-40B4-BE49-F238E27FC236}">
                <a16:creationId xmlns:a16="http://schemas.microsoft.com/office/drawing/2014/main" id="{4D1DCCB2-B7F8-C4A3-0886-E493A88F71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Venn diagrams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CF05790F-C1B5-10BF-18C6-5437293913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33513"/>
            <a:ext cx="8229600" cy="4419600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800" dirty="0"/>
              <a:t>Represents sets graphically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sz="2400" dirty="0"/>
              <a:t>The box represents the universal set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sz="2400" dirty="0"/>
              <a:t>Circles represent the set(s)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800" dirty="0"/>
              <a:t>Consider set S, which is </a:t>
            </a:r>
            <a:br>
              <a:rPr lang="en-US" altLang="en-US" sz="2800" dirty="0"/>
            </a:br>
            <a:r>
              <a:rPr lang="en-US" altLang="en-US" sz="2800" dirty="0"/>
              <a:t>the set of all vowels in the</a:t>
            </a:r>
            <a:br>
              <a:rPr lang="en-US" altLang="en-US" sz="2800" dirty="0"/>
            </a:br>
            <a:r>
              <a:rPr lang="en-US" altLang="en-US" sz="2800" dirty="0"/>
              <a:t>alphabet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800" dirty="0"/>
              <a:t>The individual elements </a:t>
            </a:r>
            <a:br>
              <a:rPr lang="en-US" altLang="en-US" sz="2800" dirty="0"/>
            </a:br>
            <a:r>
              <a:rPr lang="en-US" altLang="en-US" sz="2800" dirty="0"/>
              <a:t>are usually not written </a:t>
            </a:r>
            <a:br>
              <a:rPr lang="en-US" altLang="en-US" sz="2800" dirty="0"/>
            </a:br>
            <a:r>
              <a:rPr lang="en-US" altLang="en-US" sz="2800" dirty="0"/>
              <a:t>in a Venn diagram</a:t>
            </a:r>
          </a:p>
        </p:txBody>
      </p:sp>
      <p:sp>
        <p:nvSpPr>
          <p:cNvPr id="24580" name="Slide Number Placeholder 5">
            <a:extLst>
              <a:ext uri="{FF2B5EF4-FFF2-40B4-BE49-F238E27FC236}">
                <a16:creationId xmlns:a16="http://schemas.microsoft.com/office/drawing/2014/main" id="{F401AA3B-D9B5-2B93-6BED-45A33A338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14F019E3-FC78-4088-99EC-954692184E72}" type="slidenum">
              <a:rPr lang="en-US" altLang="en-US" sz="140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24581" name="Text Box 7">
            <a:extLst>
              <a:ext uri="{FF2B5EF4-FFF2-40B4-BE49-F238E27FC236}">
                <a16:creationId xmlns:a16="http://schemas.microsoft.com/office/drawing/2014/main" id="{2DC4DB40-9B6E-392A-3A20-D90C8C3223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4725" y="3389313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grpSp>
        <p:nvGrpSpPr>
          <p:cNvPr id="17447" name="Group 39">
            <a:extLst>
              <a:ext uri="{FF2B5EF4-FFF2-40B4-BE49-F238E27FC236}">
                <a16:creationId xmlns:a16="http://schemas.microsoft.com/office/drawing/2014/main" id="{682CDAF4-1DC3-E34D-77DE-5A0841330D5D}"/>
              </a:ext>
            </a:extLst>
          </p:cNvPr>
          <p:cNvGrpSpPr>
            <a:grpSpLocks/>
          </p:cNvGrpSpPr>
          <p:nvPr/>
        </p:nvGrpSpPr>
        <p:grpSpPr bwMode="auto">
          <a:xfrm>
            <a:off x="5253038" y="3276600"/>
            <a:ext cx="3057525" cy="2805113"/>
            <a:chOff x="3310" y="2064"/>
            <a:chExt cx="1926" cy="1767"/>
          </a:xfrm>
        </p:grpSpPr>
        <p:sp>
          <p:nvSpPr>
            <p:cNvPr id="24588" name="Text Box 9">
              <a:extLst>
                <a:ext uri="{FF2B5EF4-FFF2-40B4-BE49-F238E27FC236}">
                  <a16:creationId xmlns:a16="http://schemas.microsoft.com/office/drawing/2014/main" id="{4F354C7F-3027-DA2F-96B5-EE119A980F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2880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24589" name="Text Box 10">
              <a:extLst>
                <a:ext uri="{FF2B5EF4-FFF2-40B4-BE49-F238E27FC236}">
                  <a16:creationId xmlns:a16="http://schemas.microsoft.com/office/drawing/2014/main" id="{C3826466-E0A5-5DEF-AD04-DFDC1F2073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6" y="2832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e</a:t>
              </a:r>
            </a:p>
          </p:txBody>
        </p:sp>
        <p:sp>
          <p:nvSpPr>
            <p:cNvPr id="24590" name="Text Box 11">
              <a:extLst>
                <a:ext uri="{FF2B5EF4-FFF2-40B4-BE49-F238E27FC236}">
                  <a16:creationId xmlns:a16="http://schemas.microsoft.com/office/drawing/2014/main" id="{90116A5F-77B9-B67A-8127-27A076BD0F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8" y="2832"/>
              <a:ext cx="14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i</a:t>
              </a:r>
            </a:p>
          </p:txBody>
        </p:sp>
        <p:sp>
          <p:nvSpPr>
            <p:cNvPr id="24591" name="Text Box 12">
              <a:extLst>
                <a:ext uri="{FF2B5EF4-FFF2-40B4-BE49-F238E27FC236}">
                  <a16:creationId xmlns:a16="http://schemas.microsoft.com/office/drawing/2014/main" id="{21E2E0C1-0579-75C0-6FE7-D2E6CE09B1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3216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o</a:t>
              </a:r>
            </a:p>
          </p:txBody>
        </p:sp>
        <p:sp>
          <p:nvSpPr>
            <p:cNvPr id="24592" name="Text Box 13">
              <a:extLst>
                <a:ext uri="{FF2B5EF4-FFF2-40B4-BE49-F238E27FC236}">
                  <a16:creationId xmlns:a16="http://schemas.microsoft.com/office/drawing/2014/main" id="{5EC7780A-31F9-198B-6BAB-1EF8FBA5A6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4" y="3216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u</a:t>
              </a:r>
            </a:p>
          </p:txBody>
        </p:sp>
        <p:sp>
          <p:nvSpPr>
            <p:cNvPr id="24593" name="Text Box 14">
              <a:extLst>
                <a:ext uri="{FF2B5EF4-FFF2-40B4-BE49-F238E27FC236}">
                  <a16:creationId xmlns:a16="http://schemas.microsoft.com/office/drawing/2014/main" id="{C95B1B13-84AC-240E-DBFB-7C939342BF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0" y="2087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24594" name="Text Box 15">
              <a:extLst>
                <a:ext uri="{FF2B5EF4-FFF2-40B4-BE49-F238E27FC236}">
                  <a16:creationId xmlns:a16="http://schemas.microsoft.com/office/drawing/2014/main" id="{A3AAF3FD-FBD3-B953-A624-EAF515D0AA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2064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c</a:t>
              </a:r>
            </a:p>
          </p:txBody>
        </p:sp>
        <p:sp>
          <p:nvSpPr>
            <p:cNvPr id="24595" name="Text Box 16">
              <a:extLst>
                <a:ext uri="{FF2B5EF4-FFF2-40B4-BE49-F238E27FC236}">
                  <a16:creationId xmlns:a16="http://schemas.microsoft.com/office/drawing/2014/main" id="{35F50B45-F6E6-F11E-FFC4-23474A86F0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8" y="2087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d</a:t>
              </a:r>
            </a:p>
          </p:txBody>
        </p:sp>
        <p:sp>
          <p:nvSpPr>
            <p:cNvPr id="24596" name="Text Box 18">
              <a:extLst>
                <a:ext uri="{FF2B5EF4-FFF2-40B4-BE49-F238E27FC236}">
                  <a16:creationId xmlns:a16="http://schemas.microsoft.com/office/drawing/2014/main" id="{883536C4-0E3A-2073-B489-E4D43B07DD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0" y="2087"/>
              <a:ext cx="15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f</a:t>
              </a:r>
            </a:p>
          </p:txBody>
        </p:sp>
        <p:sp>
          <p:nvSpPr>
            <p:cNvPr id="24597" name="Text Box 19">
              <a:extLst>
                <a:ext uri="{FF2B5EF4-FFF2-40B4-BE49-F238E27FC236}">
                  <a16:creationId xmlns:a16="http://schemas.microsoft.com/office/drawing/2014/main" id="{B6659B87-5A93-BBBB-E632-2E8842D849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0" y="2327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g</a:t>
              </a:r>
            </a:p>
          </p:txBody>
        </p:sp>
        <p:sp>
          <p:nvSpPr>
            <p:cNvPr id="24598" name="Text Box 20">
              <a:extLst>
                <a:ext uri="{FF2B5EF4-FFF2-40B4-BE49-F238E27FC236}">
                  <a16:creationId xmlns:a16="http://schemas.microsoft.com/office/drawing/2014/main" id="{E7C40AA9-5885-FC5C-C1BD-90C51E38C3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2352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h</a:t>
              </a:r>
            </a:p>
          </p:txBody>
        </p:sp>
        <p:sp>
          <p:nvSpPr>
            <p:cNvPr id="24599" name="Text Box 21">
              <a:extLst>
                <a:ext uri="{FF2B5EF4-FFF2-40B4-BE49-F238E27FC236}">
                  <a16:creationId xmlns:a16="http://schemas.microsoft.com/office/drawing/2014/main" id="{44F33885-8407-5414-9DEF-84B57DE7A4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2352"/>
              <a:ext cx="14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j</a:t>
              </a:r>
            </a:p>
          </p:txBody>
        </p:sp>
        <p:sp>
          <p:nvSpPr>
            <p:cNvPr id="24600" name="Text Box 22">
              <a:extLst>
                <a:ext uri="{FF2B5EF4-FFF2-40B4-BE49-F238E27FC236}">
                  <a16:creationId xmlns:a16="http://schemas.microsoft.com/office/drawing/2014/main" id="{D4565909-BC18-AAA7-B4BD-3B48D14227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2592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k</a:t>
              </a:r>
            </a:p>
          </p:txBody>
        </p:sp>
        <p:sp>
          <p:nvSpPr>
            <p:cNvPr id="24601" name="Text Box 23">
              <a:extLst>
                <a:ext uri="{FF2B5EF4-FFF2-40B4-BE49-F238E27FC236}">
                  <a16:creationId xmlns:a16="http://schemas.microsoft.com/office/drawing/2014/main" id="{241CC85B-288F-0570-3859-A6196DCAD0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2592"/>
              <a:ext cx="14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l</a:t>
              </a:r>
            </a:p>
          </p:txBody>
        </p:sp>
        <p:sp>
          <p:nvSpPr>
            <p:cNvPr id="24602" name="Text Box 24">
              <a:extLst>
                <a:ext uri="{FF2B5EF4-FFF2-40B4-BE49-F238E27FC236}">
                  <a16:creationId xmlns:a16="http://schemas.microsoft.com/office/drawing/2014/main" id="{A54C7C2E-67B5-D19C-C0C9-649EE10413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8" y="2567"/>
              <a:ext cx="2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m</a:t>
              </a:r>
            </a:p>
          </p:txBody>
        </p:sp>
        <p:sp>
          <p:nvSpPr>
            <p:cNvPr id="24603" name="Text Box 25">
              <a:extLst>
                <a:ext uri="{FF2B5EF4-FFF2-40B4-BE49-F238E27FC236}">
                  <a16:creationId xmlns:a16="http://schemas.microsoft.com/office/drawing/2014/main" id="{376DF1EC-2AC3-A816-64DC-9CCA4196AB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2832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n</a:t>
              </a:r>
            </a:p>
          </p:txBody>
        </p:sp>
        <p:sp>
          <p:nvSpPr>
            <p:cNvPr id="24604" name="Text Box 26">
              <a:extLst>
                <a:ext uri="{FF2B5EF4-FFF2-40B4-BE49-F238E27FC236}">
                  <a16:creationId xmlns:a16="http://schemas.microsoft.com/office/drawing/2014/main" id="{EF74EAC2-0FBB-05BB-0F5B-C8C089B875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2832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p</a:t>
              </a:r>
            </a:p>
          </p:txBody>
        </p:sp>
        <p:sp>
          <p:nvSpPr>
            <p:cNvPr id="24605" name="Text Box 27">
              <a:extLst>
                <a:ext uri="{FF2B5EF4-FFF2-40B4-BE49-F238E27FC236}">
                  <a16:creationId xmlns:a16="http://schemas.microsoft.com/office/drawing/2014/main" id="{901DB4F5-C876-9415-A86D-65326D4DFA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832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q</a:t>
              </a:r>
            </a:p>
          </p:txBody>
        </p:sp>
        <p:sp>
          <p:nvSpPr>
            <p:cNvPr id="24606" name="Text Box 28">
              <a:extLst>
                <a:ext uri="{FF2B5EF4-FFF2-40B4-BE49-F238E27FC236}">
                  <a16:creationId xmlns:a16="http://schemas.microsoft.com/office/drawing/2014/main" id="{4D3D4C60-947F-764D-18A0-7F708C45D3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3120"/>
              <a:ext cx="16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r</a:t>
              </a:r>
            </a:p>
          </p:txBody>
        </p:sp>
        <p:sp>
          <p:nvSpPr>
            <p:cNvPr id="24607" name="Text Box 29">
              <a:extLst>
                <a:ext uri="{FF2B5EF4-FFF2-40B4-BE49-F238E27FC236}">
                  <a16:creationId xmlns:a16="http://schemas.microsoft.com/office/drawing/2014/main" id="{03328554-40F4-A2E0-9586-27E8BB8DFE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3120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s</a:t>
              </a:r>
            </a:p>
          </p:txBody>
        </p:sp>
        <p:sp>
          <p:nvSpPr>
            <p:cNvPr id="24608" name="Text Box 30">
              <a:extLst>
                <a:ext uri="{FF2B5EF4-FFF2-40B4-BE49-F238E27FC236}">
                  <a16:creationId xmlns:a16="http://schemas.microsoft.com/office/drawing/2014/main" id="{FE02B617-BE7C-434D-DA7D-A840511859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3120"/>
              <a:ext cx="15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t</a:t>
              </a:r>
            </a:p>
          </p:txBody>
        </p:sp>
        <p:sp>
          <p:nvSpPr>
            <p:cNvPr id="24609" name="Text Box 31">
              <a:extLst>
                <a:ext uri="{FF2B5EF4-FFF2-40B4-BE49-F238E27FC236}">
                  <a16:creationId xmlns:a16="http://schemas.microsoft.com/office/drawing/2014/main" id="{BF937272-8B69-13EE-C0D4-34C625C4A1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3360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v</a:t>
              </a:r>
            </a:p>
          </p:txBody>
        </p:sp>
        <p:sp>
          <p:nvSpPr>
            <p:cNvPr id="24610" name="Text Box 32">
              <a:extLst>
                <a:ext uri="{FF2B5EF4-FFF2-40B4-BE49-F238E27FC236}">
                  <a16:creationId xmlns:a16="http://schemas.microsoft.com/office/drawing/2014/main" id="{6F22A146-8B9E-A6D4-5CD9-58ADCAD8C6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3360"/>
              <a:ext cx="2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w</a:t>
              </a:r>
            </a:p>
          </p:txBody>
        </p:sp>
        <p:sp>
          <p:nvSpPr>
            <p:cNvPr id="24611" name="Text Box 33">
              <a:extLst>
                <a:ext uri="{FF2B5EF4-FFF2-40B4-BE49-F238E27FC236}">
                  <a16:creationId xmlns:a16="http://schemas.microsoft.com/office/drawing/2014/main" id="{E9827CEE-97B9-B55F-9717-EC3E629865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3360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x</a:t>
              </a:r>
            </a:p>
          </p:txBody>
        </p:sp>
        <p:sp>
          <p:nvSpPr>
            <p:cNvPr id="24612" name="Text Box 34">
              <a:extLst>
                <a:ext uri="{FF2B5EF4-FFF2-40B4-BE49-F238E27FC236}">
                  <a16:creationId xmlns:a16="http://schemas.microsoft.com/office/drawing/2014/main" id="{60428691-CD4D-5306-CA6C-2D88FB4D1A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3600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y</a:t>
              </a:r>
            </a:p>
          </p:txBody>
        </p:sp>
        <p:sp>
          <p:nvSpPr>
            <p:cNvPr id="24613" name="Text Box 35">
              <a:extLst>
                <a:ext uri="{FF2B5EF4-FFF2-40B4-BE49-F238E27FC236}">
                  <a16:creationId xmlns:a16="http://schemas.microsoft.com/office/drawing/2014/main" id="{D9227A25-9E7D-72D5-2945-C8F0F53CBE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3600"/>
              <a:ext cx="1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z</a:t>
              </a:r>
            </a:p>
          </p:txBody>
        </p:sp>
      </p:grpSp>
      <p:grpSp>
        <p:nvGrpSpPr>
          <p:cNvPr id="17448" name="Group 40">
            <a:extLst>
              <a:ext uri="{FF2B5EF4-FFF2-40B4-BE49-F238E27FC236}">
                <a16:creationId xmlns:a16="http://schemas.microsoft.com/office/drawing/2014/main" id="{36F00FEC-D9D5-66D9-6CD2-211631DFC55E}"/>
              </a:ext>
            </a:extLst>
          </p:cNvPr>
          <p:cNvGrpSpPr>
            <a:grpSpLocks/>
          </p:cNvGrpSpPr>
          <p:nvPr/>
        </p:nvGrpSpPr>
        <p:grpSpPr bwMode="auto">
          <a:xfrm>
            <a:off x="5181600" y="3276600"/>
            <a:ext cx="3657600" cy="2895600"/>
            <a:chOff x="3264" y="2064"/>
            <a:chExt cx="2304" cy="1824"/>
          </a:xfrm>
        </p:grpSpPr>
        <p:sp>
          <p:nvSpPr>
            <p:cNvPr id="24584" name="Rectangle 41">
              <a:extLst>
                <a:ext uri="{FF2B5EF4-FFF2-40B4-BE49-F238E27FC236}">
                  <a16:creationId xmlns:a16="http://schemas.microsoft.com/office/drawing/2014/main" id="{4C0133D6-9A7C-6C03-984A-8D083EDD87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2064"/>
              <a:ext cx="2304" cy="182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Garamond" panose="02020404030301010803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4585" name="Text Box 42">
              <a:extLst>
                <a:ext uri="{FF2B5EF4-FFF2-40B4-BE49-F238E27FC236}">
                  <a16:creationId xmlns:a16="http://schemas.microsoft.com/office/drawing/2014/main" id="{E0BFFADD-3CD1-0B6A-700B-80BCC7F083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0" y="2112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i="1">
                  <a:latin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24586" name="Oval 43">
              <a:extLst>
                <a:ext uri="{FF2B5EF4-FFF2-40B4-BE49-F238E27FC236}">
                  <a16:creationId xmlns:a16="http://schemas.microsoft.com/office/drawing/2014/main" id="{34DB8FDB-F65D-33AA-8635-E54201804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2304"/>
              <a:ext cx="1344" cy="134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4587" name="Text Box 44">
              <a:extLst>
                <a:ext uri="{FF2B5EF4-FFF2-40B4-BE49-F238E27FC236}">
                  <a16:creationId xmlns:a16="http://schemas.microsoft.com/office/drawing/2014/main" id="{D7B9F9EC-34C6-B309-A551-BD7504BE14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4" y="2352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Arial" panose="020B0604020202020204" pitchFamily="34" charset="0"/>
                </a:rPr>
                <a:t>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>
            <a:extLst>
              <a:ext uri="{FF2B5EF4-FFF2-40B4-BE49-F238E27FC236}">
                <a16:creationId xmlns:a16="http://schemas.microsoft.com/office/drawing/2014/main" id="{7A3C67A5-C9DA-EA24-F185-AB9A03B75E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Sets of sets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EFE8417A-D805-249A-BDE7-21F52A46ED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Sets can contain other sets</a:t>
            </a:r>
          </a:p>
          <a:p>
            <a:pPr lvl="1" eaLnBrk="1" hangingPunct="1"/>
            <a:r>
              <a:rPr lang="en-US" altLang="en-US"/>
              <a:t>S = { {1}, {2}, {3} }</a:t>
            </a:r>
          </a:p>
          <a:p>
            <a:pPr lvl="1" eaLnBrk="1" hangingPunct="1"/>
            <a:r>
              <a:rPr lang="en-US" altLang="en-US"/>
              <a:t>T = { {1}, {{2}}, {{{3}}} }</a:t>
            </a:r>
          </a:p>
          <a:p>
            <a:pPr lvl="1" eaLnBrk="1" hangingPunct="1"/>
            <a:r>
              <a:rPr lang="en-US" altLang="en-US"/>
              <a:t>V = { {{1}, {{2}}}, {{{3}}}, { {1}, {{2}}, {{{3}}} } }</a:t>
            </a:r>
          </a:p>
          <a:p>
            <a:pPr lvl="2" eaLnBrk="1" hangingPunct="1"/>
            <a:r>
              <a:rPr lang="en-US" altLang="en-US"/>
              <a:t>V has only 3 elements!</a:t>
            </a:r>
          </a:p>
          <a:p>
            <a:pPr eaLnBrk="1" hangingPunct="1"/>
            <a:r>
              <a:rPr lang="en-US" altLang="en-US"/>
              <a:t>Note that 1 ≠ {1} ≠ {{1}} ≠ {{{1}}}</a:t>
            </a:r>
          </a:p>
          <a:p>
            <a:pPr lvl="1" eaLnBrk="1" hangingPunct="1"/>
            <a:r>
              <a:rPr lang="en-US" altLang="en-US"/>
              <a:t>They are all different</a:t>
            </a:r>
          </a:p>
        </p:txBody>
      </p:sp>
      <p:sp>
        <p:nvSpPr>
          <p:cNvPr id="25604" name="Slide Number Placeholder 5">
            <a:extLst>
              <a:ext uri="{FF2B5EF4-FFF2-40B4-BE49-F238E27FC236}">
                <a16:creationId xmlns:a16="http://schemas.microsoft.com/office/drawing/2014/main" id="{51449151-1E7B-9C90-CCAF-C913CCEB6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55137458-DC08-4410-AEF5-C41A85BF036E}" type="slidenum">
              <a:rPr lang="en-US" altLang="en-US" sz="140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>
            <a:extLst>
              <a:ext uri="{FF2B5EF4-FFF2-40B4-BE49-F238E27FC236}">
                <a16:creationId xmlns:a16="http://schemas.microsoft.com/office/drawing/2014/main" id="{4114ED25-E6B2-B1E9-B2E2-2B7C153125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The empty set 1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437A0FB1-FFDA-773C-977F-355B41EE06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47800"/>
            <a:ext cx="8229600" cy="4678363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hlink"/>
                </a:solidFill>
              </a:rPr>
              <a:t>If a set has zero elements, it is called the empty (or null) set</a:t>
            </a:r>
          </a:p>
          <a:p>
            <a:pPr lvl="1" eaLnBrk="1" hangingPunct="1"/>
            <a:r>
              <a:rPr lang="en-US" altLang="en-US">
                <a:solidFill>
                  <a:schemeClr val="hlink"/>
                </a:solidFill>
              </a:rPr>
              <a:t>Written using the symbol </a:t>
            </a:r>
            <a:r>
              <a:rPr lang="en-US" altLang="en-US">
                <a:solidFill>
                  <a:schemeClr val="hlink"/>
                </a:solidFill>
                <a:sym typeface="Symbol" panose="05050102010706020507" pitchFamily="18" charset="2"/>
              </a:rPr>
              <a:t></a:t>
            </a:r>
          </a:p>
          <a:p>
            <a:pPr lvl="1" eaLnBrk="1" hangingPunct="1"/>
            <a:r>
              <a:rPr lang="en-US" altLang="en-US">
                <a:sym typeface="Symbol" panose="05050102010706020507" pitchFamily="18" charset="2"/>
              </a:rPr>
              <a:t>Thus,  = { }             </a:t>
            </a:r>
            <a:r>
              <a:rPr lang="en-US" altLang="en-US" b="1">
                <a:solidFill>
                  <a:srgbClr val="FF0000"/>
                </a:solidFill>
                <a:sym typeface="Wingdings" panose="05000000000000000000" pitchFamily="2" charset="2"/>
              </a:rPr>
              <a:t> VERY IMPORTANT</a:t>
            </a:r>
            <a:endParaRPr lang="en-US" altLang="en-US" b="1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en-US">
                <a:sym typeface="Symbol" panose="05050102010706020507" pitchFamily="18" charset="2"/>
              </a:rPr>
              <a:t>If you get confused about the empty set in a problem, try replacing  by { }</a:t>
            </a:r>
          </a:p>
          <a:p>
            <a:pPr eaLnBrk="1" hangingPunct="1"/>
            <a:r>
              <a:rPr lang="en-US" altLang="en-US">
                <a:sym typeface="Symbol" panose="05050102010706020507" pitchFamily="18" charset="2"/>
              </a:rPr>
              <a:t>As the empty set is a set, it can be an element of other sets</a:t>
            </a:r>
          </a:p>
          <a:p>
            <a:pPr lvl="1" eaLnBrk="1" hangingPunct="1"/>
            <a:r>
              <a:rPr lang="en-US" altLang="en-US">
                <a:sym typeface="Symbol" panose="05050102010706020507" pitchFamily="18" charset="2"/>
              </a:rPr>
              <a:t>{ , 1, 2, 3, x } is a valid set</a:t>
            </a:r>
          </a:p>
        </p:txBody>
      </p:sp>
      <p:sp>
        <p:nvSpPr>
          <p:cNvPr id="26628" name="Slide Number Placeholder 5">
            <a:extLst>
              <a:ext uri="{FF2B5EF4-FFF2-40B4-BE49-F238E27FC236}">
                <a16:creationId xmlns:a16="http://schemas.microsoft.com/office/drawing/2014/main" id="{0B499030-5EF3-F22E-1340-99D59DBA4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9DC3369C-1F03-42BC-BBF5-A91B4EFDEED3}" type="slidenum">
              <a:rPr lang="en-US" altLang="en-US" sz="140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>
            <a:extLst>
              <a:ext uri="{FF2B5EF4-FFF2-40B4-BE49-F238E27FC236}">
                <a16:creationId xmlns:a16="http://schemas.microsoft.com/office/drawing/2014/main" id="{27675B4B-C22F-72FF-89EE-9108AC1862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The empty set 1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D3E26688-65C7-3F38-486D-621297ECA2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47800"/>
            <a:ext cx="8229600" cy="4678363"/>
          </a:xfrm>
        </p:spPr>
        <p:txBody>
          <a:bodyPr/>
          <a:lstStyle/>
          <a:p>
            <a:pPr eaLnBrk="1" hangingPunct="1"/>
            <a:r>
              <a:rPr lang="en-US" altLang="en-US">
                <a:sym typeface="Symbol" panose="05050102010706020507" pitchFamily="18" charset="2"/>
              </a:rPr>
              <a:t>Note that  ≠ {  }</a:t>
            </a:r>
          </a:p>
          <a:p>
            <a:pPr lvl="1" eaLnBrk="1" hangingPunct="1"/>
            <a:r>
              <a:rPr lang="en-US" altLang="en-US">
                <a:sym typeface="Symbol" panose="05050102010706020507" pitchFamily="18" charset="2"/>
              </a:rPr>
              <a:t>The first is a set of zero elements</a:t>
            </a:r>
          </a:p>
          <a:p>
            <a:pPr lvl="1" eaLnBrk="1" hangingPunct="1"/>
            <a:r>
              <a:rPr lang="en-US" altLang="en-US">
                <a:sym typeface="Symbol" panose="05050102010706020507" pitchFamily="18" charset="2"/>
              </a:rPr>
              <a:t>The second is a set of 1 element (that one element being the empty set)</a:t>
            </a:r>
          </a:p>
          <a:p>
            <a:pPr eaLnBrk="1" hangingPunct="1"/>
            <a:endParaRPr lang="en-US" altLang="en-US">
              <a:sym typeface="Symbol" panose="05050102010706020507" pitchFamily="18" charset="2"/>
            </a:endParaRPr>
          </a:p>
          <a:p>
            <a:pPr eaLnBrk="1" hangingPunct="1"/>
            <a:r>
              <a:rPr lang="en-US" altLang="en-US">
                <a:sym typeface="Symbol" panose="05050102010706020507" pitchFamily="18" charset="2"/>
              </a:rPr>
              <a:t>Replace  by { }, and you get: { } ≠ { { } }</a:t>
            </a:r>
          </a:p>
          <a:p>
            <a:pPr lvl="2" eaLnBrk="1" hangingPunct="1"/>
            <a:r>
              <a:rPr lang="en-US" altLang="en-US">
                <a:sym typeface="Symbol" panose="05050102010706020507" pitchFamily="18" charset="2"/>
              </a:rPr>
              <a:t>It’s easier to see that they are not equal that way</a:t>
            </a:r>
          </a:p>
        </p:txBody>
      </p:sp>
      <p:sp>
        <p:nvSpPr>
          <p:cNvPr id="27652" name="Slide Number Placeholder 5">
            <a:extLst>
              <a:ext uri="{FF2B5EF4-FFF2-40B4-BE49-F238E27FC236}">
                <a16:creationId xmlns:a16="http://schemas.microsoft.com/office/drawing/2014/main" id="{E80D5FD8-A2C3-BB8F-7188-F09C3AC08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AAB82CC9-0EB4-4F31-91CA-9A124A0FD66E}" type="slidenum">
              <a:rPr lang="en-US" altLang="en-US" sz="140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>
            <a:extLst>
              <a:ext uri="{FF2B5EF4-FFF2-40B4-BE49-F238E27FC236}">
                <a16:creationId xmlns:a16="http://schemas.microsoft.com/office/drawing/2014/main" id="{305A7FC5-E89C-D0CE-6453-CB0CC20912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Set equality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A1E46B84-6433-4E3F-DA88-5914D59188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chemeClr val="hlink"/>
                </a:solidFill>
              </a:rPr>
              <a:t>Two sets are equal if they have the same elements</a:t>
            </a:r>
          </a:p>
          <a:p>
            <a:pPr lvl="1" eaLnBrk="1" hangingPunct="1"/>
            <a:r>
              <a:rPr lang="en-US" altLang="en-US"/>
              <a:t>{1, 2, 3, 4, 5} = {5, 4, 3, 2, 1}</a:t>
            </a:r>
          </a:p>
          <a:p>
            <a:pPr lvl="2" eaLnBrk="1" hangingPunct="1"/>
            <a:r>
              <a:rPr lang="en-US" altLang="en-US"/>
              <a:t>Remember that order does not matter!</a:t>
            </a:r>
          </a:p>
          <a:p>
            <a:pPr lvl="1" eaLnBrk="1" hangingPunct="1"/>
            <a:r>
              <a:rPr lang="en-US" altLang="en-US"/>
              <a:t>{1, 2, 3, 2, 4, 3, 2, 1} = {4, 3, 2, 1}</a:t>
            </a:r>
          </a:p>
          <a:p>
            <a:pPr lvl="2" eaLnBrk="1" hangingPunct="1"/>
            <a:r>
              <a:rPr lang="en-US" altLang="en-US"/>
              <a:t>Remember that duplicate elements do not matter!</a:t>
            </a:r>
          </a:p>
          <a:p>
            <a:pPr eaLnBrk="1" hangingPunct="1"/>
            <a:r>
              <a:rPr lang="en-US" altLang="en-US"/>
              <a:t>Two sets are not equal if they do not have the same elements</a:t>
            </a:r>
          </a:p>
          <a:p>
            <a:pPr lvl="1" eaLnBrk="1" hangingPunct="1"/>
            <a:r>
              <a:rPr lang="en-US" altLang="en-US"/>
              <a:t>{1, 2, 3, 4, 5} ≠ {1, 2, 3, 4}</a:t>
            </a:r>
          </a:p>
        </p:txBody>
      </p:sp>
      <p:sp>
        <p:nvSpPr>
          <p:cNvPr id="28676" name="Slide Number Placeholder 5">
            <a:extLst>
              <a:ext uri="{FF2B5EF4-FFF2-40B4-BE49-F238E27FC236}">
                <a16:creationId xmlns:a16="http://schemas.microsoft.com/office/drawing/2014/main" id="{AC9C862B-6414-A7A9-611E-F9E892519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7F5B3759-B70D-4CB6-9C63-803E4BDD09EA}" type="slidenum">
              <a:rPr lang="en-US" altLang="en-US" sz="140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>
            <a:extLst>
              <a:ext uri="{FF2B5EF4-FFF2-40B4-BE49-F238E27FC236}">
                <a16:creationId xmlns:a16="http://schemas.microsoft.com/office/drawing/2014/main" id="{3B31B137-6F41-25B1-0173-58B9EB7A2C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28750" y="525463"/>
            <a:ext cx="6572250" cy="1049337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Subsets 1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624CA499-54C6-BA42-5478-080BFE1E2B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9900" y="1328738"/>
            <a:ext cx="8229600" cy="4800600"/>
          </a:xfrm>
        </p:spPr>
        <p:txBody>
          <a:bodyPr/>
          <a:lstStyle/>
          <a:p>
            <a:pPr eaLnBrk="1" hangingPunct="1"/>
            <a:r>
              <a:rPr lang="en-US" altLang="en-US" sz="2800">
                <a:solidFill>
                  <a:schemeClr val="hlink"/>
                </a:solidFill>
              </a:rPr>
              <a:t>If all the elements of a set S are also elements of a set T, then S is a subset of T</a:t>
            </a:r>
          </a:p>
          <a:p>
            <a:pPr lvl="1" eaLnBrk="1" hangingPunct="1"/>
            <a:r>
              <a:rPr lang="en-US" altLang="en-US" sz="2400"/>
              <a:t>For example, if S = {2, 4, 6} and T = {1, 2, 3, 4, 5, 6, 7}, then S is a subset of T</a:t>
            </a:r>
          </a:p>
          <a:p>
            <a:pPr lvl="1" eaLnBrk="1" hangingPunct="1"/>
            <a:r>
              <a:rPr lang="en-US" altLang="en-US" sz="2400"/>
              <a:t>This is specified by S </a:t>
            </a:r>
            <a:r>
              <a:rPr lang="en-US" altLang="en-US" sz="2400">
                <a:sym typeface="Symbol" panose="05050102010706020507" pitchFamily="18" charset="2"/>
              </a:rPr>
              <a:t> T</a:t>
            </a:r>
          </a:p>
          <a:p>
            <a:pPr lvl="2" eaLnBrk="1" hangingPunct="1"/>
            <a:r>
              <a:rPr lang="en-US" altLang="en-US" sz="2000"/>
              <a:t>Or by {2, 4, 6} </a:t>
            </a:r>
            <a:r>
              <a:rPr lang="en-US" altLang="en-US" sz="2000">
                <a:sym typeface="Symbol" panose="05050102010706020507" pitchFamily="18" charset="2"/>
              </a:rPr>
              <a:t> </a:t>
            </a:r>
            <a:r>
              <a:rPr lang="en-US" altLang="en-US" sz="2000"/>
              <a:t>{1, 2, 3, 4, 5, 6, 7}</a:t>
            </a:r>
          </a:p>
          <a:p>
            <a:pPr eaLnBrk="1" hangingPunct="1"/>
            <a:r>
              <a:rPr lang="en-US" altLang="en-US" sz="2800"/>
              <a:t>If S is not a subset of T, it is written as such: </a:t>
            </a:r>
            <a:br>
              <a:rPr lang="en-US" altLang="en-US" sz="2800"/>
            </a:br>
            <a:r>
              <a:rPr lang="en-US" altLang="en-US" sz="2800"/>
              <a:t>S</a:t>
            </a:r>
            <a:r>
              <a:rPr lang="en-US" altLang="en-US" sz="2800">
                <a:sym typeface="Symbol" panose="05050102010706020507" pitchFamily="18" charset="2"/>
              </a:rPr>
              <a:t>  T</a:t>
            </a:r>
          </a:p>
          <a:p>
            <a:pPr lvl="1" eaLnBrk="1" hangingPunct="1"/>
            <a:r>
              <a:rPr lang="en-US" altLang="en-US" sz="2400">
                <a:sym typeface="Symbol" panose="05050102010706020507" pitchFamily="18" charset="2"/>
              </a:rPr>
              <a:t>For example, {1, 2, 8}  </a:t>
            </a:r>
            <a:r>
              <a:rPr lang="en-US" altLang="en-US" sz="2400"/>
              <a:t>{1, 2, 3, 4, 5, 6, 7}</a:t>
            </a:r>
          </a:p>
        </p:txBody>
      </p:sp>
      <p:sp>
        <p:nvSpPr>
          <p:cNvPr id="29700" name="Slide Number Placeholder 5">
            <a:extLst>
              <a:ext uri="{FF2B5EF4-FFF2-40B4-BE49-F238E27FC236}">
                <a16:creationId xmlns:a16="http://schemas.microsoft.com/office/drawing/2014/main" id="{818C5DC6-161C-A1CC-BFD1-14665E94D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C0E18AFA-19BF-4C78-8316-47A2C5B96725}" type="slidenum">
              <a:rPr lang="en-US" altLang="en-US" sz="140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7174" name="Line 6">
            <a:extLst>
              <a:ext uri="{FF2B5EF4-FFF2-40B4-BE49-F238E27FC236}">
                <a16:creationId xmlns:a16="http://schemas.microsoft.com/office/drawing/2014/main" id="{EB357337-A636-2221-FDA4-EEEC4476EA5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17600" y="5029200"/>
            <a:ext cx="152400" cy="3810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175" name="Line 7">
            <a:extLst>
              <a:ext uri="{FF2B5EF4-FFF2-40B4-BE49-F238E27FC236}">
                <a16:creationId xmlns:a16="http://schemas.microsoft.com/office/drawing/2014/main" id="{CEBF8E3C-3F23-5E33-06F5-501A77D904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78325" y="5562600"/>
            <a:ext cx="182563" cy="365125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>
            <a:extLst>
              <a:ext uri="{FF2B5EF4-FFF2-40B4-BE49-F238E27FC236}">
                <a16:creationId xmlns:a16="http://schemas.microsoft.com/office/drawing/2014/main" id="{35FFB8D0-39ED-2D36-D383-DE758A513B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Subsets 2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E2A5966C-2C44-1548-193F-A68A49939C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73075" y="1447800"/>
            <a:ext cx="8229600" cy="4800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Note that any set is a subset of itself!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Given set S = {2, 4, 6}, since all the elements of S are elements of S, S is a subset of itself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This is kind of like saying 5 is less than or equal to 5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Thus, for any set S, S </a:t>
            </a:r>
            <a:r>
              <a:rPr lang="en-US" altLang="en-US" sz="2400">
                <a:sym typeface="Symbol" panose="05050102010706020507" pitchFamily="18" charset="2"/>
              </a:rPr>
              <a:t> S</a:t>
            </a:r>
          </a:p>
        </p:txBody>
      </p:sp>
      <p:sp>
        <p:nvSpPr>
          <p:cNvPr id="30724" name="Slide Number Placeholder 5">
            <a:extLst>
              <a:ext uri="{FF2B5EF4-FFF2-40B4-BE49-F238E27FC236}">
                <a16:creationId xmlns:a16="http://schemas.microsoft.com/office/drawing/2014/main" id="{7DB45651-2768-AA6C-6E3D-52B56D438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FCFD8209-5535-41AC-BE7B-2A885A45EA37}" type="slidenum">
              <a:rPr lang="en-US" altLang="en-US" sz="140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>
            <a:extLst>
              <a:ext uri="{FF2B5EF4-FFF2-40B4-BE49-F238E27FC236}">
                <a16:creationId xmlns:a16="http://schemas.microsoft.com/office/drawing/2014/main" id="{745FB02F-BAF6-0B3D-A33E-E53903A5A9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Subsets 3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116F09A4-A90D-1EEC-B61C-E4534AA446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fontScale="85000" lnSpcReduction="10000"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en-US" sz="2800">
                <a:sym typeface="Symbol" panose="05050102010706020507" pitchFamily="18" charset="2"/>
              </a:rPr>
              <a:t>The empty set is a subset of </a:t>
            </a:r>
            <a:r>
              <a:rPr lang="en-US" altLang="en-US" sz="2800" i="1">
                <a:sym typeface="Symbol" panose="05050102010706020507" pitchFamily="18" charset="2"/>
              </a:rPr>
              <a:t>all</a:t>
            </a:r>
            <a:r>
              <a:rPr lang="en-US" altLang="en-US" sz="2800">
                <a:sym typeface="Symbol" panose="05050102010706020507" pitchFamily="18" charset="2"/>
              </a:rPr>
              <a:t> sets (including itself!)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en-US" sz="2400">
                <a:sym typeface="Symbol" panose="05050102010706020507" pitchFamily="18" charset="2"/>
              </a:rPr>
              <a:t>Recall that all sets are subsets of themselves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en-US" sz="2800" i="1">
                <a:sym typeface="Symbol" panose="05050102010706020507" pitchFamily="18" charset="2"/>
              </a:rPr>
              <a:t>All</a:t>
            </a:r>
            <a:r>
              <a:rPr lang="en-US" altLang="en-US" sz="2800">
                <a:sym typeface="Symbol" panose="05050102010706020507" pitchFamily="18" charset="2"/>
              </a:rPr>
              <a:t> sets are subsets of the universal set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en-US" sz="2800"/>
              <a:t>A horrible way to define a subset: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en-US" sz="2400">
                <a:sym typeface="Symbol" panose="05050102010706020507" pitchFamily="18" charset="2"/>
              </a:rPr>
              <a:t></a:t>
            </a:r>
            <a:r>
              <a:rPr lang="en-US" altLang="en-US" sz="2400" i="1">
                <a:sym typeface="Symbol" panose="05050102010706020507" pitchFamily="18" charset="2"/>
              </a:rPr>
              <a:t>x</a:t>
            </a:r>
            <a:r>
              <a:rPr lang="en-US" altLang="en-US" sz="2400">
                <a:sym typeface="Symbol" panose="05050102010706020507" pitchFamily="18" charset="2"/>
              </a:rPr>
              <a:t> ( </a:t>
            </a:r>
            <a:r>
              <a:rPr lang="en-US" altLang="en-US" sz="2400" i="1">
                <a:sym typeface="Symbol" panose="05050102010706020507" pitchFamily="18" charset="2"/>
              </a:rPr>
              <a:t>x</a:t>
            </a:r>
            <a:r>
              <a:rPr lang="en-US" altLang="en-US" sz="2400">
                <a:sym typeface="Symbol" panose="05050102010706020507" pitchFamily="18" charset="2"/>
              </a:rPr>
              <a:t>A  </a:t>
            </a:r>
            <a:r>
              <a:rPr lang="en-US" altLang="en-US" sz="2400" i="1">
                <a:sym typeface="Symbol" panose="05050102010706020507" pitchFamily="18" charset="2"/>
              </a:rPr>
              <a:t>x</a:t>
            </a:r>
            <a:r>
              <a:rPr lang="en-US" altLang="en-US" sz="2400">
                <a:sym typeface="Symbol" panose="05050102010706020507" pitchFamily="18" charset="2"/>
              </a:rPr>
              <a:t>B )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en-US" sz="2400">
                <a:sym typeface="Symbol" panose="05050102010706020507" pitchFamily="18" charset="2"/>
              </a:rPr>
              <a:t>English translation: for all possible values of x, (meaning for all possible elements of a set), if x is an element of A, then x is an element of B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en-US" sz="2400">
                <a:sym typeface="Symbol" panose="05050102010706020507" pitchFamily="18" charset="2"/>
              </a:rPr>
              <a:t>This type of notation will be gone over later</a:t>
            </a:r>
          </a:p>
        </p:txBody>
      </p:sp>
      <p:sp>
        <p:nvSpPr>
          <p:cNvPr id="31748" name="Slide Number Placeholder 5">
            <a:extLst>
              <a:ext uri="{FF2B5EF4-FFF2-40B4-BE49-F238E27FC236}">
                <a16:creationId xmlns:a16="http://schemas.microsoft.com/office/drawing/2014/main" id="{E83FE666-3033-7AD3-6EE6-7B27EE509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0667BB4B-C953-42BE-AB06-DCBACAF814FC}" type="slidenum">
              <a:rPr lang="en-US" altLang="en-US" sz="140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2">
            <a:extLst>
              <a:ext uri="{FF2B5EF4-FFF2-40B4-BE49-F238E27FC236}">
                <a16:creationId xmlns:a16="http://schemas.microsoft.com/office/drawing/2014/main" id="{FCAAE371-0668-9C6B-7AEC-A51A1F50B1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Proper Subsets 1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DB68553A-8170-FFD0-4DDE-E8BC0EDC87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4400" y="2016125"/>
            <a:ext cx="7391400" cy="39274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>
                <a:solidFill>
                  <a:schemeClr val="hlink"/>
                </a:solidFill>
              </a:rPr>
              <a:t>If S is a subset of T, and S is not equal to T, then S is a proper subset of 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Let T = {0, 1, 2, 3, 4, 5}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If S = {1, 2, 3}, S is not equal to T, and S is a subset of 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A proper subset is written as S </a:t>
            </a:r>
            <a:r>
              <a:rPr lang="en-US" altLang="en-US" sz="1800">
                <a:sym typeface="Symbol" panose="05050102010706020507" pitchFamily="18" charset="2"/>
              </a:rPr>
              <a:t> 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sym typeface="Symbol" panose="05050102010706020507" pitchFamily="18" charset="2"/>
              </a:rPr>
              <a:t>Let R = {0, 1, 2, 3, 4, 5}.  R is equal to T, and thus is a subset (but not a proper subset) of T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800">
                <a:sym typeface="Symbol" panose="05050102010706020507" pitchFamily="18" charset="2"/>
              </a:rPr>
              <a:t>Can be written as: R  T and R  T (or just R = T)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sym typeface="Symbol" panose="05050102010706020507" pitchFamily="18" charset="2"/>
              </a:rPr>
              <a:t>Let Q = {4, 5, 6}.  Q is neither a subset of T nor a proper subset of T</a:t>
            </a:r>
          </a:p>
        </p:txBody>
      </p:sp>
      <p:sp>
        <p:nvSpPr>
          <p:cNvPr id="32772" name="Slide Number Placeholder 5">
            <a:extLst>
              <a:ext uri="{FF2B5EF4-FFF2-40B4-BE49-F238E27FC236}">
                <a16:creationId xmlns:a16="http://schemas.microsoft.com/office/drawing/2014/main" id="{FFE210CC-6E85-ADB3-406E-DFAD9C15F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3931A308-8A10-497A-B9E1-3397402E5CEF}" type="slidenum">
              <a:rPr lang="en-US" altLang="en-US" sz="140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>
            <a:extLst>
              <a:ext uri="{FF2B5EF4-FFF2-40B4-BE49-F238E27FC236}">
                <a16:creationId xmlns:a16="http://schemas.microsoft.com/office/drawing/2014/main" id="{E8CB6553-F914-E2BF-D25D-4DD86864D5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Proper Subsets 2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D88C7C70-C0F1-538A-BEB2-663D8DD668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>
                <a:sym typeface="Symbol" panose="05050102010706020507" pitchFamily="18" charset="2"/>
              </a:rPr>
              <a:t>The difference between “subset” and “proper subset” is like the difference between “less than or equal to” and “less than” for numbers</a:t>
            </a:r>
          </a:p>
          <a:p>
            <a:pPr eaLnBrk="1" hangingPunct="1">
              <a:lnSpc>
                <a:spcPct val="90000"/>
              </a:lnSpc>
            </a:pPr>
            <a:endParaRPr lang="en-US" altLang="en-US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sym typeface="Symbol" panose="05050102010706020507" pitchFamily="18" charset="2"/>
              </a:rPr>
              <a:t>The empty set is a proper subset of all sets other than the empty set (as it is equal to the empty set)</a:t>
            </a:r>
          </a:p>
        </p:txBody>
      </p:sp>
      <p:sp>
        <p:nvSpPr>
          <p:cNvPr id="33796" name="Slide Number Placeholder 5">
            <a:extLst>
              <a:ext uri="{FF2B5EF4-FFF2-40B4-BE49-F238E27FC236}">
                <a16:creationId xmlns:a16="http://schemas.microsoft.com/office/drawing/2014/main" id="{B7CA8EA6-787A-5411-12A6-87BFA9DC9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3FE3CA37-C2E5-49F0-9857-2026F0478235}" type="slidenum">
              <a:rPr lang="en-US" altLang="en-US" sz="140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>
            <a:extLst>
              <a:ext uri="{FF2B5EF4-FFF2-40B4-BE49-F238E27FC236}">
                <a16:creationId xmlns:a16="http://schemas.microsoft.com/office/drawing/2014/main" id="{EBA1DBE5-0854-46F0-4338-287E4B5CA6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Proper subsets: Venn diagram</a:t>
            </a:r>
          </a:p>
        </p:txBody>
      </p:sp>
      <p:sp>
        <p:nvSpPr>
          <p:cNvPr id="34819" name="Slide Number Placeholder 5">
            <a:extLst>
              <a:ext uri="{FF2B5EF4-FFF2-40B4-BE49-F238E27FC236}">
                <a16:creationId xmlns:a16="http://schemas.microsoft.com/office/drawing/2014/main" id="{2FAF7253-2DFE-298A-1C1E-0CB90D947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B2DDB234-382E-4286-9C89-D31505F86374}" type="slidenum">
              <a:rPr lang="en-US" altLang="en-US" sz="140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grpSp>
        <p:nvGrpSpPr>
          <p:cNvPr id="18443" name="Group 11">
            <a:extLst>
              <a:ext uri="{FF2B5EF4-FFF2-40B4-BE49-F238E27FC236}">
                <a16:creationId xmlns:a16="http://schemas.microsoft.com/office/drawing/2014/main" id="{00BA22A9-D9B9-060D-B4EB-1C617C9D1979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1679575"/>
            <a:ext cx="5105400" cy="4111625"/>
            <a:chOff x="1392" y="1058"/>
            <a:chExt cx="3216" cy="2590"/>
          </a:xfrm>
        </p:grpSpPr>
        <p:sp>
          <p:nvSpPr>
            <p:cNvPr id="34821" name="Rectangle 4">
              <a:extLst>
                <a:ext uri="{FF2B5EF4-FFF2-40B4-BE49-F238E27FC236}">
                  <a16:creationId xmlns:a16="http://schemas.microsoft.com/office/drawing/2014/main" id="{A9674114-7054-E9A4-7946-8FC62359C1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1488"/>
              <a:ext cx="3216" cy="21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4822" name="Text Box 5">
              <a:extLst>
                <a:ext uri="{FF2B5EF4-FFF2-40B4-BE49-F238E27FC236}">
                  <a16:creationId xmlns:a16="http://schemas.microsoft.com/office/drawing/2014/main" id="{36F4034D-4E2C-B3C8-A808-E117167011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1536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i="1">
                  <a:latin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34823" name="Oval 6">
              <a:extLst>
                <a:ext uri="{FF2B5EF4-FFF2-40B4-BE49-F238E27FC236}">
                  <a16:creationId xmlns:a16="http://schemas.microsoft.com/office/drawing/2014/main" id="{FBD3039E-C990-C0E8-0A50-510C474952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1728"/>
              <a:ext cx="1727" cy="1727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4824" name="Oval 7">
              <a:extLst>
                <a:ext uri="{FF2B5EF4-FFF2-40B4-BE49-F238E27FC236}">
                  <a16:creationId xmlns:a16="http://schemas.microsoft.com/office/drawing/2014/main" id="{68468877-6A1B-54A3-D7D3-91E3A7340F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2112"/>
              <a:ext cx="1008" cy="1008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4825" name="Text Box 8">
              <a:extLst>
                <a:ext uri="{FF2B5EF4-FFF2-40B4-BE49-F238E27FC236}">
                  <a16:creationId xmlns:a16="http://schemas.microsoft.com/office/drawing/2014/main" id="{D041BF3E-E235-9705-2CFC-C877CD6114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2" y="2450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Arial" panose="020B0604020202020204" pitchFamily="34" charset="0"/>
                </a:rPr>
                <a:t>S</a:t>
              </a:r>
            </a:p>
          </p:txBody>
        </p:sp>
        <p:sp>
          <p:nvSpPr>
            <p:cNvPr id="34826" name="Text Box 9">
              <a:extLst>
                <a:ext uri="{FF2B5EF4-FFF2-40B4-BE49-F238E27FC236}">
                  <a16:creationId xmlns:a16="http://schemas.microsoft.com/office/drawing/2014/main" id="{CF8AAE68-DA43-F877-736B-CCAEF18B88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3" y="1730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Arial" panose="020B0604020202020204" pitchFamily="34" charset="0"/>
                </a:rPr>
                <a:t>R</a:t>
              </a:r>
            </a:p>
          </p:txBody>
        </p:sp>
        <p:sp>
          <p:nvSpPr>
            <p:cNvPr id="34827" name="Text Box 10">
              <a:extLst>
                <a:ext uri="{FF2B5EF4-FFF2-40B4-BE49-F238E27FC236}">
                  <a16:creationId xmlns:a16="http://schemas.microsoft.com/office/drawing/2014/main" id="{4C8B11C1-D5D7-3104-A825-A557F43A01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9" y="1058"/>
              <a:ext cx="881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>
                  <a:latin typeface="Arial" panose="020B0604020202020204" pitchFamily="34" charset="0"/>
                </a:rPr>
                <a:t>S </a:t>
              </a:r>
              <a:r>
                <a:rPr lang="en-US" altLang="en-US" sz="3600">
                  <a:latin typeface="Arial" panose="020B0604020202020204" pitchFamily="34" charset="0"/>
                  <a:sym typeface="Symbol" panose="05050102010706020507" pitchFamily="18" charset="2"/>
                </a:rPr>
                <a:t> R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>
            <a:extLst>
              <a:ext uri="{FF2B5EF4-FFF2-40B4-BE49-F238E27FC236}">
                <a16:creationId xmlns:a16="http://schemas.microsoft.com/office/drawing/2014/main" id="{8DF33C4B-BE41-683F-7A6F-A3FE64C50A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Set cardinality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D94A7BB0-050C-1803-0A70-7F18AA1038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90600" y="2016125"/>
            <a:ext cx="7391400" cy="3449638"/>
          </a:xfrm>
        </p:spPr>
        <p:txBody>
          <a:bodyPr/>
          <a:lstStyle/>
          <a:p>
            <a:pPr eaLnBrk="1" hangingPunct="1"/>
            <a:r>
              <a:rPr lang="en-US" altLang="en-US" sz="1800">
                <a:solidFill>
                  <a:schemeClr val="hlink"/>
                </a:solidFill>
              </a:rPr>
              <a:t>The cardinality of a set is the number of elements in a set</a:t>
            </a:r>
          </a:p>
          <a:p>
            <a:pPr lvl="1" eaLnBrk="1" hangingPunct="1"/>
            <a:r>
              <a:rPr lang="en-US" altLang="en-US"/>
              <a:t>Written as |A|</a:t>
            </a:r>
          </a:p>
          <a:p>
            <a:pPr eaLnBrk="1" hangingPunct="1"/>
            <a:r>
              <a:rPr lang="en-US" altLang="en-US" sz="1800"/>
              <a:t>Examples</a:t>
            </a:r>
          </a:p>
          <a:p>
            <a:pPr lvl="1" eaLnBrk="1" hangingPunct="1"/>
            <a:r>
              <a:rPr lang="en-US" altLang="en-US"/>
              <a:t>Let R = {1, 2, 3, 4, 5}.  Then |R| = 5</a:t>
            </a:r>
          </a:p>
          <a:p>
            <a:pPr lvl="1" eaLnBrk="1" hangingPunct="1"/>
            <a:r>
              <a:rPr lang="en-US" altLang="en-US"/>
              <a:t>|</a:t>
            </a:r>
            <a:r>
              <a:rPr lang="en-US" altLang="en-US">
                <a:sym typeface="Symbol" panose="05050102010706020507" pitchFamily="18" charset="2"/>
              </a:rPr>
              <a:t>| = 0</a:t>
            </a:r>
          </a:p>
          <a:p>
            <a:pPr lvl="1" eaLnBrk="1" hangingPunct="1"/>
            <a:r>
              <a:rPr lang="en-US" altLang="en-US">
                <a:sym typeface="Symbol" panose="05050102010706020507" pitchFamily="18" charset="2"/>
              </a:rPr>
              <a:t>Let S = {, {a}, {b}, {a, b}}.  Then |S| = 4</a:t>
            </a:r>
          </a:p>
          <a:p>
            <a:pPr eaLnBrk="1" hangingPunct="1"/>
            <a:r>
              <a:rPr lang="en-US" altLang="en-US" sz="1800"/>
              <a:t>This is the same notation used for vector length in geometry</a:t>
            </a:r>
          </a:p>
          <a:p>
            <a:pPr eaLnBrk="1" hangingPunct="1"/>
            <a:r>
              <a:rPr lang="en-US" altLang="en-US" sz="1800"/>
              <a:t>A set with one element is sometimes called a singleton set</a:t>
            </a:r>
          </a:p>
        </p:txBody>
      </p:sp>
      <p:sp>
        <p:nvSpPr>
          <p:cNvPr id="35844" name="Slide Number Placeholder 5">
            <a:extLst>
              <a:ext uri="{FF2B5EF4-FFF2-40B4-BE49-F238E27FC236}">
                <a16:creationId xmlns:a16="http://schemas.microsoft.com/office/drawing/2014/main" id="{83DB8EE6-D629-F3BB-C685-D6E618D0C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D406153B-12A0-42BA-840B-DF6D5347DFEC}" type="slidenum">
              <a:rPr lang="en-US" altLang="en-US" sz="140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>
            <a:extLst>
              <a:ext uri="{FF2B5EF4-FFF2-40B4-BE49-F238E27FC236}">
                <a16:creationId xmlns:a16="http://schemas.microsoft.com/office/drawing/2014/main" id="{F93E85E7-0BA6-8F40-1BF7-A25B8E9981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Power sets 1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3DB94B0D-FF3B-77A2-6733-73C3E80D10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en-US"/>
              <a:t>Given the set S = {0, 1}.  What are all the possible subsets of S?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>
                <a:sym typeface="Symbol" panose="05050102010706020507" pitchFamily="18" charset="2"/>
              </a:rPr>
              <a:t>They are:  (as it is a subset of all sets), {0}, {1}, and {0, 1}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>
                <a:solidFill>
                  <a:schemeClr val="hlink"/>
                </a:solidFill>
                <a:sym typeface="Symbol" panose="05050102010706020507" pitchFamily="18" charset="2"/>
              </a:rPr>
              <a:t>The power set of S (written as P(S)) is the set of all the subsets of 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>
                <a:sym typeface="Symbol" panose="05050102010706020507" pitchFamily="18" charset="2"/>
              </a:rPr>
              <a:t>P(S) = { , {0}, {1}, {0,1} }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>
                <a:sym typeface="Symbol" panose="05050102010706020507" pitchFamily="18" charset="2"/>
              </a:rPr>
              <a:t>Note that |S| = 2 and |P(S)| = 4</a:t>
            </a:r>
          </a:p>
        </p:txBody>
      </p:sp>
      <p:sp>
        <p:nvSpPr>
          <p:cNvPr id="36868" name="Slide Number Placeholder 5">
            <a:extLst>
              <a:ext uri="{FF2B5EF4-FFF2-40B4-BE49-F238E27FC236}">
                <a16:creationId xmlns:a16="http://schemas.microsoft.com/office/drawing/2014/main" id="{E7B0E26F-3888-F72A-9CC8-218D3C7DB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CEA89E02-48DC-424A-8D6C-E2C75780C79E}" type="slidenum">
              <a:rPr lang="en-US" altLang="en-US" sz="140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>
            <a:extLst>
              <a:ext uri="{FF2B5EF4-FFF2-40B4-BE49-F238E27FC236}">
                <a16:creationId xmlns:a16="http://schemas.microsoft.com/office/drawing/2014/main" id="{6734598C-0288-6E48-CF17-6057FE74A4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Power sets 2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63696515-B97A-7B75-B4D9-6683592CFF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en-US">
                <a:sym typeface="Symbol" panose="05050102010706020507" pitchFamily="18" charset="2"/>
              </a:rPr>
              <a:t>Let T = {0, 1, 2}.  The P(T) = { , {0}, {1}, {2}, {0,1}, {0,2}, {1,2}, {0,1,2} }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>
                <a:sym typeface="Symbol" panose="05050102010706020507" pitchFamily="18" charset="2"/>
              </a:rPr>
              <a:t>Note that |T| = 3 and |P(T)| = 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>
                <a:sym typeface="Symbol" panose="05050102010706020507" pitchFamily="18" charset="2"/>
              </a:rPr>
              <a:t>P() = {  }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>
                <a:sym typeface="Symbol" panose="05050102010706020507" pitchFamily="18" charset="2"/>
              </a:rPr>
              <a:t>Note that || = 0 and |P()| = 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>
                <a:sym typeface="Symbol" panose="05050102010706020507" pitchFamily="18" charset="2"/>
              </a:rPr>
              <a:t>If a set has </a:t>
            </a:r>
            <a:r>
              <a:rPr lang="en-US" altLang="en-US" i="1">
                <a:sym typeface="Symbol" panose="05050102010706020507" pitchFamily="18" charset="2"/>
              </a:rPr>
              <a:t>n</a:t>
            </a:r>
            <a:r>
              <a:rPr lang="en-US" altLang="en-US">
                <a:sym typeface="Symbol" panose="05050102010706020507" pitchFamily="18" charset="2"/>
              </a:rPr>
              <a:t> elements, then the power set will have 2</a:t>
            </a:r>
            <a:r>
              <a:rPr lang="en-US" altLang="en-US" i="1" baseline="30000">
                <a:sym typeface="Symbol" panose="05050102010706020507" pitchFamily="18" charset="2"/>
              </a:rPr>
              <a:t>n</a:t>
            </a:r>
            <a:r>
              <a:rPr lang="en-US" altLang="en-US">
                <a:sym typeface="Symbol" panose="05050102010706020507" pitchFamily="18" charset="2"/>
              </a:rPr>
              <a:t> elements</a:t>
            </a:r>
          </a:p>
        </p:txBody>
      </p:sp>
      <p:sp>
        <p:nvSpPr>
          <p:cNvPr id="37892" name="Slide Number Placeholder 5">
            <a:extLst>
              <a:ext uri="{FF2B5EF4-FFF2-40B4-BE49-F238E27FC236}">
                <a16:creationId xmlns:a16="http://schemas.microsoft.com/office/drawing/2014/main" id="{BCC4346F-B14C-158F-2EB9-1CCF0EDC0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96331B57-4840-4456-9ABA-01188589AE25}" type="slidenum">
              <a:rPr lang="en-US" altLang="en-US" sz="140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>
            <a:extLst>
              <a:ext uri="{FF2B5EF4-FFF2-40B4-BE49-F238E27FC236}">
                <a16:creationId xmlns:a16="http://schemas.microsoft.com/office/drawing/2014/main" id="{097821B4-33AD-5988-43FD-63BA493D2F6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400"/>
              <a:t>Set Operations</a:t>
            </a:r>
          </a:p>
        </p:txBody>
      </p:sp>
      <p:sp>
        <p:nvSpPr>
          <p:cNvPr id="38915" name="Slide Number Placeholder 5">
            <a:extLst>
              <a:ext uri="{FF2B5EF4-FFF2-40B4-BE49-F238E27FC236}">
                <a16:creationId xmlns:a16="http://schemas.microsoft.com/office/drawing/2014/main" id="{987211DC-29E5-1C4D-E122-324BF4AB5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8BA60091-6E4E-4890-856D-49C79B466D87}" type="slidenum">
              <a:rPr lang="en-US" altLang="en-US" sz="140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>
            <a:extLst>
              <a:ext uri="{FF2B5EF4-FFF2-40B4-BE49-F238E27FC236}">
                <a16:creationId xmlns:a16="http://schemas.microsoft.com/office/drawing/2014/main" id="{D79F51ED-A6BD-3302-FD64-AA45B3EFEA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Set operations: Union </a:t>
            </a:r>
          </a:p>
        </p:txBody>
      </p:sp>
      <p:sp>
        <p:nvSpPr>
          <p:cNvPr id="39939" name="Slide Number Placeholder 5">
            <a:extLst>
              <a:ext uri="{FF2B5EF4-FFF2-40B4-BE49-F238E27FC236}">
                <a16:creationId xmlns:a16="http://schemas.microsoft.com/office/drawing/2014/main" id="{42FF5DC7-FCFD-C261-0E8A-128DDBC0E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6E86C73F-DAC6-4630-A5C2-288E37200FCD}" type="slidenum">
              <a:rPr lang="en-US" altLang="en-US" sz="140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DA183431-9822-E81F-4511-9672FCBC1E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2133600"/>
            <a:ext cx="6934200" cy="3810000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39941" name="Text Box 4">
            <a:extLst>
              <a:ext uri="{FF2B5EF4-FFF2-40B4-BE49-F238E27FC236}">
                <a16:creationId xmlns:a16="http://schemas.microsoft.com/office/drawing/2014/main" id="{7DD20897-2248-1E75-8DC3-653C1D29CA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5413" y="2136775"/>
            <a:ext cx="4048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i="1">
                <a:latin typeface="Times New Roman" panose="02020603050405020304" pitchFamily="18" charset="0"/>
              </a:rPr>
              <a:t>U</a:t>
            </a:r>
          </a:p>
        </p:txBody>
      </p:sp>
      <p:grpSp>
        <p:nvGrpSpPr>
          <p:cNvPr id="92165" name="Group 5">
            <a:extLst>
              <a:ext uri="{FF2B5EF4-FFF2-40B4-BE49-F238E27FC236}">
                <a16:creationId xmlns:a16="http://schemas.microsoft.com/office/drawing/2014/main" id="{F2782BFA-AE14-1482-281F-87DAB4BABFC4}"/>
              </a:ext>
            </a:extLst>
          </p:cNvPr>
          <p:cNvGrpSpPr>
            <a:grpSpLocks/>
          </p:cNvGrpSpPr>
          <p:nvPr/>
        </p:nvGrpSpPr>
        <p:grpSpPr bwMode="auto">
          <a:xfrm>
            <a:off x="2286000" y="2741613"/>
            <a:ext cx="4875213" cy="2741612"/>
            <a:chOff x="1440" y="1727"/>
            <a:chExt cx="3071" cy="1727"/>
          </a:xfrm>
        </p:grpSpPr>
        <p:sp>
          <p:nvSpPr>
            <p:cNvPr id="39948" name="Oval 6">
              <a:extLst>
                <a:ext uri="{FF2B5EF4-FFF2-40B4-BE49-F238E27FC236}">
                  <a16:creationId xmlns:a16="http://schemas.microsoft.com/office/drawing/2014/main" id="{DFD22D75-485A-614D-BAF2-6BAA31C57B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1727"/>
              <a:ext cx="1727" cy="1727"/>
            </a:xfrm>
            <a:prstGeom prst="ellipse">
              <a:avLst/>
            </a:prstGeom>
            <a:solidFill>
              <a:schemeClr val="accent1"/>
            </a:solidFill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9949" name="Oval 7">
              <a:extLst>
                <a:ext uri="{FF2B5EF4-FFF2-40B4-BE49-F238E27FC236}">
                  <a16:creationId xmlns:a16="http://schemas.microsoft.com/office/drawing/2014/main" id="{666050D5-1A18-B7BD-0478-FB1B304F56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1727"/>
              <a:ext cx="1727" cy="1727"/>
            </a:xfrm>
            <a:prstGeom prst="ellipse">
              <a:avLst/>
            </a:prstGeom>
            <a:solidFill>
              <a:schemeClr val="accent1"/>
            </a:solidFill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</p:grpSp>
      <p:sp>
        <p:nvSpPr>
          <p:cNvPr id="39943" name="Oval 8">
            <a:extLst>
              <a:ext uri="{FF2B5EF4-FFF2-40B4-BE49-F238E27FC236}">
                <a16:creationId xmlns:a16="http://schemas.microsoft.com/office/drawing/2014/main" id="{92A2D703-B865-5E9F-FD98-B40DD3543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2743200"/>
            <a:ext cx="2741613" cy="2741613"/>
          </a:xfrm>
          <a:prstGeom prst="ellips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39944" name="Oval 9">
            <a:extLst>
              <a:ext uri="{FF2B5EF4-FFF2-40B4-BE49-F238E27FC236}">
                <a16:creationId xmlns:a16="http://schemas.microsoft.com/office/drawing/2014/main" id="{F853575F-B134-F416-D153-98E2F298A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2743200"/>
            <a:ext cx="2741613" cy="2741613"/>
          </a:xfrm>
          <a:prstGeom prst="ellips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39945" name="Text Box 10">
            <a:extLst>
              <a:ext uri="{FF2B5EF4-FFF2-40B4-BE49-F238E27FC236}">
                <a16:creationId xmlns:a16="http://schemas.microsoft.com/office/drawing/2014/main" id="{00BF8CC4-D534-DE9C-F84D-C3D71C729C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5029200"/>
            <a:ext cx="33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39946" name="Text Box 11">
            <a:extLst>
              <a:ext uri="{FF2B5EF4-FFF2-40B4-BE49-F238E27FC236}">
                <a16:creationId xmlns:a16="http://schemas.microsoft.com/office/drawing/2014/main" id="{E57EFE61-E19A-D4BC-7CE4-AED83312E2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5029200"/>
            <a:ext cx="33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B</a:t>
            </a:r>
          </a:p>
        </p:txBody>
      </p:sp>
      <p:sp>
        <p:nvSpPr>
          <p:cNvPr id="39947" name="Text Box 12">
            <a:extLst>
              <a:ext uri="{FF2B5EF4-FFF2-40B4-BE49-F238E27FC236}">
                <a16:creationId xmlns:a16="http://schemas.microsoft.com/office/drawing/2014/main" id="{37223C1E-9D84-37BD-4698-78D3250F1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5113" y="1409700"/>
            <a:ext cx="9794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A U 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>
            <a:extLst>
              <a:ext uri="{FF2B5EF4-FFF2-40B4-BE49-F238E27FC236}">
                <a16:creationId xmlns:a16="http://schemas.microsoft.com/office/drawing/2014/main" id="{7C712B4E-A8BB-05CF-E5EB-D228FA75D6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Set operations: Union </a:t>
            </a:r>
          </a:p>
        </p:txBody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BDEDDA3E-DDA1-F906-335B-1F6446A387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Formal definition for the union of two sets:</a:t>
            </a:r>
            <a:br>
              <a:rPr lang="en-US" altLang="en-US"/>
            </a:br>
            <a:r>
              <a:rPr lang="en-US" altLang="en-US">
                <a:solidFill>
                  <a:srgbClr val="0000FF"/>
                </a:solidFill>
              </a:rPr>
              <a:t>A U B = { </a:t>
            </a:r>
            <a:r>
              <a:rPr lang="en-US" altLang="en-US" i="1">
                <a:solidFill>
                  <a:srgbClr val="0000FF"/>
                </a:solidFill>
              </a:rPr>
              <a:t>x</a:t>
            </a:r>
            <a:r>
              <a:rPr lang="en-US" altLang="en-US">
                <a:solidFill>
                  <a:srgbClr val="0000FF"/>
                </a:solidFill>
              </a:rPr>
              <a:t> | </a:t>
            </a:r>
            <a:r>
              <a:rPr lang="en-US" altLang="en-US" i="1">
                <a:solidFill>
                  <a:srgbClr val="0000FF"/>
                </a:solidFill>
              </a:rPr>
              <a:t>x</a:t>
            </a:r>
            <a:r>
              <a:rPr lang="en-US" altLang="en-US">
                <a:solidFill>
                  <a:srgbClr val="0000FF"/>
                </a:solidFill>
              </a:rPr>
              <a:t> </a:t>
            </a:r>
            <a:r>
              <a:rPr lang="en-US" altLang="en-US">
                <a:solidFill>
                  <a:srgbClr val="0000FF"/>
                </a:solidFill>
                <a:sym typeface="Symbol" panose="05050102010706020507" pitchFamily="18" charset="2"/>
              </a:rPr>
              <a:t> A </a:t>
            </a:r>
            <a:r>
              <a:rPr lang="en-US" altLang="en-US" b="1">
                <a:solidFill>
                  <a:srgbClr val="0000FF"/>
                </a:solidFill>
                <a:sym typeface="Symbol" panose="05050102010706020507" pitchFamily="18" charset="2"/>
              </a:rPr>
              <a:t>or</a:t>
            </a:r>
            <a:r>
              <a:rPr lang="en-US" altLang="en-US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en-US" i="1">
                <a:solidFill>
                  <a:srgbClr val="0000FF"/>
                </a:solidFill>
              </a:rPr>
              <a:t>x</a:t>
            </a:r>
            <a:r>
              <a:rPr lang="en-US" altLang="en-US">
                <a:solidFill>
                  <a:srgbClr val="0000FF"/>
                </a:solidFill>
              </a:rPr>
              <a:t> </a:t>
            </a:r>
            <a:r>
              <a:rPr lang="en-US" altLang="en-US">
                <a:solidFill>
                  <a:srgbClr val="0000FF"/>
                </a:solidFill>
                <a:sym typeface="Symbol" panose="05050102010706020507" pitchFamily="18" charset="2"/>
              </a:rPr>
              <a:t> B }</a:t>
            </a:r>
          </a:p>
          <a:p>
            <a:pPr eaLnBrk="1" hangingPunct="1"/>
            <a:r>
              <a:rPr lang="en-US" altLang="en-US">
                <a:sym typeface="Symbol" panose="05050102010706020507" pitchFamily="18" charset="2"/>
              </a:rPr>
              <a:t>Further examples</a:t>
            </a:r>
          </a:p>
          <a:p>
            <a:pPr lvl="1" eaLnBrk="1" hangingPunct="1"/>
            <a:r>
              <a:rPr lang="en-US" altLang="en-US">
                <a:sym typeface="Symbol" panose="05050102010706020507" pitchFamily="18" charset="2"/>
              </a:rPr>
              <a:t>{1, 2, 3} U {3, 4, 5} = {1, 2, 3, 4, 5}</a:t>
            </a:r>
          </a:p>
          <a:p>
            <a:pPr lvl="1" eaLnBrk="1" hangingPunct="1"/>
            <a:r>
              <a:rPr lang="en-US" altLang="en-US">
                <a:sym typeface="Symbol" panose="05050102010706020507" pitchFamily="18" charset="2"/>
              </a:rPr>
              <a:t>{New York, Washington} U {3, 4} = {New York, Washington, 3, 4}</a:t>
            </a:r>
          </a:p>
          <a:p>
            <a:pPr lvl="1" eaLnBrk="1" hangingPunct="1"/>
            <a:r>
              <a:rPr lang="en-US" altLang="en-US">
                <a:sym typeface="Symbol" panose="05050102010706020507" pitchFamily="18" charset="2"/>
              </a:rPr>
              <a:t>{1, 2} U  = {1, 2}</a:t>
            </a:r>
          </a:p>
        </p:txBody>
      </p:sp>
      <p:sp>
        <p:nvSpPr>
          <p:cNvPr id="40964" name="Slide Number Placeholder 5">
            <a:extLst>
              <a:ext uri="{FF2B5EF4-FFF2-40B4-BE49-F238E27FC236}">
                <a16:creationId xmlns:a16="http://schemas.microsoft.com/office/drawing/2014/main" id="{361B51C0-2C8E-459B-07ED-CEECBCF90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DD419D89-6F4C-4327-A294-3B3CF0671161}" type="slidenum">
              <a:rPr lang="en-US" altLang="en-US" sz="140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>
            <a:extLst>
              <a:ext uri="{FF2B5EF4-FFF2-40B4-BE49-F238E27FC236}">
                <a16:creationId xmlns:a16="http://schemas.microsoft.com/office/drawing/2014/main" id="{2D3B86BC-5392-CEA4-C612-34636615D5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Set operations: Union </a:t>
            </a:r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D77F8F39-0067-D263-326E-4EA93663F9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87363" y="1447800"/>
            <a:ext cx="8458200" cy="4525963"/>
          </a:xfrm>
        </p:spPr>
        <p:txBody>
          <a:bodyPr/>
          <a:lstStyle/>
          <a:p>
            <a:pPr eaLnBrk="1" hangingPunct="1"/>
            <a:r>
              <a:rPr lang="en-US" altLang="en-US"/>
              <a:t>Properties of the union operation</a:t>
            </a:r>
          </a:p>
          <a:p>
            <a:pPr lvl="1" eaLnBrk="1" hangingPunct="1"/>
            <a:r>
              <a:rPr lang="en-US" altLang="en-US">
                <a:sym typeface="Symbol" panose="05050102010706020507" pitchFamily="18" charset="2"/>
              </a:rPr>
              <a:t>A U  = A				Identity law</a:t>
            </a:r>
          </a:p>
          <a:p>
            <a:pPr lvl="1" eaLnBrk="1" hangingPunct="1"/>
            <a:r>
              <a:rPr lang="en-US" altLang="en-US">
                <a:sym typeface="Symbol" panose="05050102010706020507" pitchFamily="18" charset="2"/>
              </a:rPr>
              <a:t>A U </a:t>
            </a:r>
            <a:r>
              <a:rPr lang="en-US" altLang="en-US" b="1" i="1">
                <a:latin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en-US" altLang="en-US">
                <a:sym typeface="Symbol" panose="05050102010706020507" pitchFamily="18" charset="2"/>
              </a:rPr>
              <a:t> = </a:t>
            </a:r>
            <a:r>
              <a:rPr lang="en-US" altLang="en-US" b="1" i="1">
                <a:latin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en-US" altLang="en-US">
                <a:sym typeface="Symbol" panose="05050102010706020507" pitchFamily="18" charset="2"/>
              </a:rPr>
              <a:t>				Domination law</a:t>
            </a:r>
            <a:endParaRPr lang="en-US" altLang="en-US" b="1" i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en-US">
                <a:sym typeface="Symbol" panose="05050102010706020507" pitchFamily="18" charset="2"/>
              </a:rPr>
              <a:t>A U A = A				Idempotent law</a:t>
            </a:r>
          </a:p>
          <a:p>
            <a:pPr lvl="1" eaLnBrk="1" hangingPunct="1"/>
            <a:r>
              <a:rPr lang="en-US" altLang="en-US">
                <a:sym typeface="Symbol" panose="05050102010706020507" pitchFamily="18" charset="2"/>
              </a:rPr>
              <a:t>A U B = B U A			            Commutative law</a:t>
            </a:r>
          </a:p>
          <a:p>
            <a:pPr lvl="1" eaLnBrk="1" hangingPunct="1"/>
            <a:r>
              <a:rPr lang="en-US" altLang="en-US">
                <a:sym typeface="Symbol" panose="05050102010706020507" pitchFamily="18" charset="2"/>
              </a:rPr>
              <a:t>A U (B U C) = (A U B) U C	            Associative law</a:t>
            </a:r>
          </a:p>
        </p:txBody>
      </p:sp>
      <p:sp>
        <p:nvSpPr>
          <p:cNvPr id="41988" name="Slide Number Placeholder 5">
            <a:extLst>
              <a:ext uri="{FF2B5EF4-FFF2-40B4-BE49-F238E27FC236}">
                <a16:creationId xmlns:a16="http://schemas.microsoft.com/office/drawing/2014/main" id="{F751B869-D20E-7096-5B33-1637D874D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78DD6056-CFF9-4F15-8BD4-7B7CE7A7CE7F}" type="slidenum">
              <a:rPr lang="en-US" altLang="en-US" sz="140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>
            <a:extLst>
              <a:ext uri="{FF2B5EF4-FFF2-40B4-BE49-F238E27FC236}">
                <a16:creationId xmlns:a16="http://schemas.microsoft.com/office/drawing/2014/main" id="{B3FEE1F8-F472-4308-5BF6-832197885D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Set operations: Intersection </a:t>
            </a:r>
          </a:p>
        </p:txBody>
      </p:sp>
      <p:sp>
        <p:nvSpPr>
          <p:cNvPr id="43011" name="Slide Number Placeholder 5">
            <a:extLst>
              <a:ext uri="{FF2B5EF4-FFF2-40B4-BE49-F238E27FC236}">
                <a16:creationId xmlns:a16="http://schemas.microsoft.com/office/drawing/2014/main" id="{8A0907C1-E445-6031-512E-5B353B617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7EC567F6-EF2D-4CE2-B6F6-738842490101}" type="slidenum">
              <a:rPr lang="en-US" altLang="en-US" sz="140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43012" name="Text Box 3">
            <a:extLst>
              <a:ext uri="{FF2B5EF4-FFF2-40B4-BE49-F238E27FC236}">
                <a16:creationId xmlns:a16="http://schemas.microsoft.com/office/drawing/2014/main" id="{AE4E88F9-F9E0-B0E2-18AB-600597653D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5413" y="2136775"/>
            <a:ext cx="4048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i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96260" name="Oval 4">
            <a:extLst>
              <a:ext uri="{FF2B5EF4-FFF2-40B4-BE49-F238E27FC236}">
                <a16:creationId xmlns:a16="http://schemas.microsoft.com/office/drawing/2014/main" id="{DC13C580-6A7C-876F-D585-C03E36A00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2741613"/>
            <a:ext cx="2741613" cy="2741612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3014" name="Oval 5">
            <a:extLst>
              <a:ext uri="{FF2B5EF4-FFF2-40B4-BE49-F238E27FC236}">
                <a16:creationId xmlns:a16="http://schemas.microsoft.com/office/drawing/2014/main" id="{089102F4-FF90-C6BB-8B7E-87F30192A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2743200"/>
            <a:ext cx="2741613" cy="2741613"/>
          </a:xfrm>
          <a:prstGeom prst="ellips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3015" name="Text Box 6">
            <a:extLst>
              <a:ext uri="{FF2B5EF4-FFF2-40B4-BE49-F238E27FC236}">
                <a16:creationId xmlns:a16="http://schemas.microsoft.com/office/drawing/2014/main" id="{E947F64D-9397-96B6-3CF7-09639617A8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5029200"/>
            <a:ext cx="33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B</a:t>
            </a:r>
          </a:p>
        </p:txBody>
      </p:sp>
      <p:sp>
        <p:nvSpPr>
          <p:cNvPr id="43016" name="AutoShape 7">
            <a:extLst>
              <a:ext uri="{FF2B5EF4-FFF2-40B4-BE49-F238E27FC236}">
                <a16:creationId xmlns:a16="http://schemas.microsoft.com/office/drawing/2014/main" id="{8443CE7F-8D70-FC7A-40C7-2179899456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68363" y="2819400"/>
            <a:ext cx="6324601" cy="2590800"/>
          </a:xfrm>
          <a:prstGeom prst="flowChartOnlineStorage">
            <a:avLst/>
          </a:prstGeom>
          <a:solidFill>
            <a:schemeClr val="bg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3017" name="Oval 8">
            <a:extLst>
              <a:ext uri="{FF2B5EF4-FFF2-40B4-BE49-F238E27FC236}">
                <a16:creationId xmlns:a16="http://schemas.microsoft.com/office/drawing/2014/main" id="{7CAAF608-C182-930B-FEB0-276450E679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2743200"/>
            <a:ext cx="2741613" cy="2741613"/>
          </a:xfrm>
          <a:prstGeom prst="ellips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3018" name="Rectangle 9">
            <a:extLst>
              <a:ext uri="{FF2B5EF4-FFF2-40B4-BE49-F238E27FC236}">
                <a16:creationId xmlns:a16="http://schemas.microsoft.com/office/drawing/2014/main" id="{E798192C-DB4F-37CE-10C1-CB89EDB47E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514600"/>
            <a:ext cx="1524000" cy="3429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3019" name="Rectangle 10">
            <a:extLst>
              <a:ext uri="{FF2B5EF4-FFF2-40B4-BE49-F238E27FC236}">
                <a16:creationId xmlns:a16="http://schemas.microsoft.com/office/drawing/2014/main" id="{E80CE4BE-9258-7385-270B-32E339D449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2133600"/>
            <a:ext cx="6934200" cy="3810000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3020" name="Oval 11">
            <a:extLst>
              <a:ext uri="{FF2B5EF4-FFF2-40B4-BE49-F238E27FC236}">
                <a16:creationId xmlns:a16="http://schemas.microsoft.com/office/drawing/2014/main" id="{42610A18-2110-5661-23DC-2B8CC515BB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2743200"/>
            <a:ext cx="2741613" cy="2741613"/>
          </a:xfrm>
          <a:prstGeom prst="ellips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3021" name="Text Box 12">
            <a:extLst>
              <a:ext uri="{FF2B5EF4-FFF2-40B4-BE49-F238E27FC236}">
                <a16:creationId xmlns:a16="http://schemas.microsoft.com/office/drawing/2014/main" id="{20D7D521-DD74-11A5-F2DB-BFE3272339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5029200"/>
            <a:ext cx="33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43022" name="Text Box 13">
            <a:extLst>
              <a:ext uri="{FF2B5EF4-FFF2-40B4-BE49-F238E27FC236}">
                <a16:creationId xmlns:a16="http://schemas.microsoft.com/office/drawing/2014/main" id="{6F7E91EE-0768-E8E6-9915-62115E0F8E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7350" y="1473200"/>
            <a:ext cx="977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A ∩ 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6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6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>
            <a:extLst>
              <a:ext uri="{FF2B5EF4-FFF2-40B4-BE49-F238E27FC236}">
                <a16:creationId xmlns:a16="http://schemas.microsoft.com/office/drawing/2014/main" id="{E33EE8D6-7C18-24EE-2EE9-D8A793DA7F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Set operations: Intersection </a:t>
            </a:r>
          </a:p>
        </p:txBody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5F609E80-998E-CDB2-51FB-A7C32013CD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Formal definition for the intersection of two sets:              </a:t>
            </a:r>
            <a:r>
              <a:rPr lang="en-US" altLang="en-US">
                <a:solidFill>
                  <a:srgbClr val="0000FF"/>
                </a:solidFill>
              </a:rPr>
              <a:t>A ∩ B = { </a:t>
            </a:r>
            <a:r>
              <a:rPr lang="en-US" altLang="en-US" i="1">
                <a:solidFill>
                  <a:srgbClr val="0000FF"/>
                </a:solidFill>
              </a:rPr>
              <a:t>x</a:t>
            </a:r>
            <a:r>
              <a:rPr lang="en-US" altLang="en-US">
                <a:solidFill>
                  <a:srgbClr val="0000FF"/>
                </a:solidFill>
              </a:rPr>
              <a:t> | </a:t>
            </a:r>
            <a:r>
              <a:rPr lang="en-US" altLang="en-US" i="1">
                <a:solidFill>
                  <a:srgbClr val="0000FF"/>
                </a:solidFill>
              </a:rPr>
              <a:t>x</a:t>
            </a:r>
            <a:r>
              <a:rPr lang="en-US" altLang="en-US">
                <a:solidFill>
                  <a:srgbClr val="0000FF"/>
                </a:solidFill>
              </a:rPr>
              <a:t> </a:t>
            </a:r>
            <a:r>
              <a:rPr lang="en-US" altLang="en-US">
                <a:solidFill>
                  <a:srgbClr val="0000FF"/>
                </a:solidFill>
                <a:sym typeface="Symbol" panose="05050102010706020507" pitchFamily="18" charset="2"/>
              </a:rPr>
              <a:t> A </a:t>
            </a:r>
            <a:r>
              <a:rPr lang="en-US" altLang="en-US" b="1">
                <a:solidFill>
                  <a:srgbClr val="0000FF"/>
                </a:solidFill>
                <a:sym typeface="Symbol" panose="05050102010706020507" pitchFamily="18" charset="2"/>
              </a:rPr>
              <a:t>and</a:t>
            </a:r>
            <a:r>
              <a:rPr lang="en-US" altLang="en-US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en-US" i="1">
                <a:solidFill>
                  <a:srgbClr val="0000FF"/>
                </a:solidFill>
              </a:rPr>
              <a:t>x</a:t>
            </a:r>
            <a:r>
              <a:rPr lang="en-US" altLang="en-US">
                <a:solidFill>
                  <a:srgbClr val="0000FF"/>
                </a:solidFill>
              </a:rPr>
              <a:t> </a:t>
            </a:r>
            <a:r>
              <a:rPr lang="en-US" altLang="en-US">
                <a:solidFill>
                  <a:srgbClr val="0000FF"/>
                </a:solidFill>
                <a:sym typeface="Symbol" panose="05050102010706020507" pitchFamily="18" charset="2"/>
              </a:rPr>
              <a:t> B }</a:t>
            </a:r>
          </a:p>
          <a:p>
            <a:pPr eaLnBrk="1" hangingPunct="1"/>
            <a:r>
              <a:rPr lang="en-US" altLang="en-US">
                <a:sym typeface="Symbol" panose="05050102010706020507" pitchFamily="18" charset="2"/>
              </a:rPr>
              <a:t>Further examples</a:t>
            </a:r>
          </a:p>
          <a:p>
            <a:pPr lvl="1" eaLnBrk="1" hangingPunct="1"/>
            <a:r>
              <a:rPr lang="en-US" altLang="en-US">
                <a:sym typeface="Symbol" panose="05050102010706020507" pitchFamily="18" charset="2"/>
              </a:rPr>
              <a:t>{1, 2, 3} </a:t>
            </a:r>
            <a:r>
              <a:rPr lang="en-US" altLang="en-US"/>
              <a:t>∩</a:t>
            </a:r>
            <a:r>
              <a:rPr lang="en-US" altLang="en-US">
                <a:sym typeface="Symbol" panose="05050102010706020507" pitchFamily="18" charset="2"/>
              </a:rPr>
              <a:t> {3, 4, 5} = {3}</a:t>
            </a:r>
          </a:p>
          <a:p>
            <a:pPr lvl="1" eaLnBrk="1" hangingPunct="1"/>
            <a:r>
              <a:rPr lang="en-US" altLang="en-US">
                <a:sym typeface="Symbol" panose="05050102010706020507" pitchFamily="18" charset="2"/>
              </a:rPr>
              <a:t>{New York, Washington} </a:t>
            </a:r>
            <a:r>
              <a:rPr lang="en-US" altLang="en-US"/>
              <a:t>∩</a:t>
            </a:r>
            <a:r>
              <a:rPr lang="en-US" altLang="en-US">
                <a:sym typeface="Symbol" panose="05050102010706020507" pitchFamily="18" charset="2"/>
              </a:rPr>
              <a:t> {3, 4} = </a:t>
            </a:r>
          </a:p>
          <a:p>
            <a:pPr lvl="2" eaLnBrk="1" hangingPunct="1"/>
            <a:r>
              <a:rPr lang="en-US" altLang="en-US">
                <a:sym typeface="Symbol" panose="05050102010706020507" pitchFamily="18" charset="2"/>
              </a:rPr>
              <a:t>No elements in common</a:t>
            </a:r>
          </a:p>
          <a:p>
            <a:pPr lvl="1" eaLnBrk="1" hangingPunct="1"/>
            <a:r>
              <a:rPr lang="en-US" altLang="en-US">
                <a:sym typeface="Symbol" panose="05050102010706020507" pitchFamily="18" charset="2"/>
              </a:rPr>
              <a:t>{1, 2} </a:t>
            </a:r>
            <a:r>
              <a:rPr lang="en-US" altLang="en-US"/>
              <a:t>∩</a:t>
            </a:r>
            <a:r>
              <a:rPr lang="en-US" altLang="en-US">
                <a:sym typeface="Symbol" panose="05050102010706020507" pitchFamily="18" charset="2"/>
              </a:rPr>
              <a:t>  = </a:t>
            </a:r>
          </a:p>
          <a:p>
            <a:pPr lvl="2" eaLnBrk="1" hangingPunct="1"/>
            <a:r>
              <a:rPr lang="en-US" altLang="en-US">
                <a:sym typeface="Symbol" panose="05050102010706020507" pitchFamily="18" charset="2"/>
              </a:rPr>
              <a:t>Any set intersection with the empty set yields the empty set</a:t>
            </a:r>
          </a:p>
          <a:p>
            <a:pPr lvl="1" eaLnBrk="1" hangingPunct="1"/>
            <a:endParaRPr lang="en-US" altLang="en-US">
              <a:sym typeface="Symbol" panose="05050102010706020507" pitchFamily="18" charset="2"/>
            </a:endParaRPr>
          </a:p>
        </p:txBody>
      </p:sp>
      <p:sp>
        <p:nvSpPr>
          <p:cNvPr id="44036" name="Slide Number Placeholder 5">
            <a:extLst>
              <a:ext uri="{FF2B5EF4-FFF2-40B4-BE49-F238E27FC236}">
                <a16:creationId xmlns:a16="http://schemas.microsoft.com/office/drawing/2014/main" id="{F3A764EB-2D49-2C24-4FEB-731EF638D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3F6FB35F-E71B-4D5C-B700-1B7DBD99D714}" type="slidenum">
              <a:rPr lang="en-US" altLang="en-US" sz="140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>
            <a:extLst>
              <a:ext uri="{FF2B5EF4-FFF2-40B4-BE49-F238E27FC236}">
                <a16:creationId xmlns:a16="http://schemas.microsoft.com/office/drawing/2014/main" id="{DDBA4D26-1235-4855-ED16-7AD9A4A29B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Set operations: Intersection </a:t>
            </a:r>
          </a:p>
        </p:txBody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F8F26D2A-9811-863B-EE82-DC33624FD8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87363" y="1447800"/>
            <a:ext cx="8458200" cy="4525963"/>
          </a:xfrm>
        </p:spPr>
        <p:txBody>
          <a:bodyPr/>
          <a:lstStyle/>
          <a:p>
            <a:pPr eaLnBrk="1" hangingPunct="1"/>
            <a:r>
              <a:rPr lang="en-US" altLang="en-US"/>
              <a:t>Properties of the intersection operation</a:t>
            </a:r>
          </a:p>
          <a:p>
            <a:pPr lvl="1" eaLnBrk="1" hangingPunct="1"/>
            <a:r>
              <a:rPr lang="en-US" altLang="en-US">
                <a:sym typeface="Symbol" panose="05050102010706020507" pitchFamily="18" charset="2"/>
              </a:rPr>
              <a:t>A </a:t>
            </a:r>
            <a:r>
              <a:rPr lang="en-US" altLang="en-US"/>
              <a:t>∩</a:t>
            </a:r>
            <a:r>
              <a:rPr lang="en-US" altLang="en-US">
                <a:sym typeface="Symbol" panose="05050102010706020507" pitchFamily="18" charset="2"/>
              </a:rPr>
              <a:t> </a:t>
            </a:r>
            <a:r>
              <a:rPr lang="en-US" altLang="en-US" b="1" i="1">
                <a:latin typeface="Times New Roman" panose="02020603050405020304" pitchFamily="18" charset="0"/>
                <a:sym typeface="Symbol" panose="05050102010706020507" pitchFamily="18" charset="2"/>
              </a:rPr>
              <a:t>U </a:t>
            </a:r>
            <a:r>
              <a:rPr lang="en-US" altLang="en-US">
                <a:sym typeface="Symbol" panose="05050102010706020507" pitchFamily="18" charset="2"/>
              </a:rPr>
              <a:t>= A				Identity law</a:t>
            </a:r>
          </a:p>
          <a:p>
            <a:pPr lvl="1" eaLnBrk="1" hangingPunct="1"/>
            <a:r>
              <a:rPr lang="en-US" altLang="en-US">
                <a:sym typeface="Symbol" panose="05050102010706020507" pitchFamily="18" charset="2"/>
              </a:rPr>
              <a:t>A </a:t>
            </a:r>
            <a:r>
              <a:rPr lang="en-US" altLang="en-US"/>
              <a:t>∩</a:t>
            </a:r>
            <a:r>
              <a:rPr lang="en-US" altLang="en-US">
                <a:sym typeface="Symbol" panose="05050102010706020507" pitchFamily="18" charset="2"/>
              </a:rPr>
              <a:t>  =  				Domination law</a:t>
            </a:r>
            <a:endParaRPr lang="en-US" altLang="en-US" b="1" i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en-US">
                <a:sym typeface="Symbol" panose="05050102010706020507" pitchFamily="18" charset="2"/>
              </a:rPr>
              <a:t>A </a:t>
            </a:r>
            <a:r>
              <a:rPr lang="en-US" altLang="en-US"/>
              <a:t>∩</a:t>
            </a:r>
            <a:r>
              <a:rPr lang="en-US" altLang="en-US">
                <a:sym typeface="Symbol" panose="05050102010706020507" pitchFamily="18" charset="2"/>
              </a:rPr>
              <a:t> A = A				Idempotent law</a:t>
            </a:r>
          </a:p>
          <a:p>
            <a:pPr lvl="1" eaLnBrk="1" hangingPunct="1"/>
            <a:r>
              <a:rPr lang="en-US" altLang="en-US">
                <a:sym typeface="Symbol" panose="05050102010706020507" pitchFamily="18" charset="2"/>
              </a:rPr>
              <a:t>A </a:t>
            </a:r>
            <a:r>
              <a:rPr lang="en-US" altLang="en-US"/>
              <a:t>∩</a:t>
            </a:r>
            <a:r>
              <a:rPr lang="en-US" altLang="en-US">
                <a:sym typeface="Symbol" panose="05050102010706020507" pitchFamily="18" charset="2"/>
              </a:rPr>
              <a:t> B = B </a:t>
            </a:r>
            <a:r>
              <a:rPr lang="en-US" altLang="en-US"/>
              <a:t>∩</a:t>
            </a:r>
            <a:r>
              <a:rPr lang="en-US" altLang="en-US">
                <a:sym typeface="Symbol" panose="05050102010706020507" pitchFamily="18" charset="2"/>
              </a:rPr>
              <a:t> A			            Commutative law</a:t>
            </a:r>
          </a:p>
          <a:p>
            <a:pPr lvl="1" eaLnBrk="1" hangingPunct="1"/>
            <a:r>
              <a:rPr lang="en-US" altLang="en-US">
                <a:sym typeface="Symbol" panose="05050102010706020507" pitchFamily="18" charset="2"/>
              </a:rPr>
              <a:t>A </a:t>
            </a:r>
            <a:r>
              <a:rPr lang="en-US" altLang="en-US"/>
              <a:t>∩</a:t>
            </a:r>
            <a:r>
              <a:rPr lang="en-US" altLang="en-US">
                <a:sym typeface="Symbol" panose="05050102010706020507" pitchFamily="18" charset="2"/>
              </a:rPr>
              <a:t> (B </a:t>
            </a:r>
            <a:r>
              <a:rPr lang="en-US" altLang="en-US"/>
              <a:t>∩</a:t>
            </a:r>
            <a:r>
              <a:rPr lang="en-US" altLang="en-US">
                <a:sym typeface="Symbol" panose="05050102010706020507" pitchFamily="18" charset="2"/>
              </a:rPr>
              <a:t> C) = (A </a:t>
            </a:r>
            <a:r>
              <a:rPr lang="en-US" altLang="en-US"/>
              <a:t>∩</a:t>
            </a:r>
            <a:r>
              <a:rPr lang="en-US" altLang="en-US">
                <a:sym typeface="Symbol" panose="05050102010706020507" pitchFamily="18" charset="2"/>
              </a:rPr>
              <a:t> B) </a:t>
            </a:r>
            <a:r>
              <a:rPr lang="en-US" altLang="en-US"/>
              <a:t>∩</a:t>
            </a:r>
            <a:r>
              <a:rPr lang="en-US" altLang="en-US">
                <a:sym typeface="Symbol" panose="05050102010706020507" pitchFamily="18" charset="2"/>
              </a:rPr>
              <a:t> C	            Associative law</a:t>
            </a:r>
          </a:p>
        </p:txBody>
      </p:sp>
      <p:sp>
        <p:nvSpPr>
          <p:cNvPr id="45060" name="Slide Number Placeholder 5">
            <a:extLst>
              <a:ext uri="{FF2B5EF4-FFF2-40B4-BE49-F238E27FC236}">
                <a16:creationId xmlns:a16="http://schemas.microsoft.com/office/drawing/2014/main" id="{A3E4AA07-268A-BBA0-AE13-E51180A78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9543474A-2A55-42FD-A4E5-E76992571E7C}" type="slidenum">
              <a:rPr lang="en-US" altLang="en-US" sz="140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>
            <a:extLst>
              <a:ext uri="{FF2B5EF4-FFF2-40B4-BE49-F238E27FC236}">
                <a16:creationId xmlns:a16="http://schemas.microsoft.com/office/drawing/2014/main" id="{48802F4E-02BE-97D6-2C16-FB31850D9F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Disjoint sets </a:t>
            </a:r>
          </a:p>
        </p:txBody>
      </p:sp>
      <p:sp>
        <p:nvSpPr>
          <p:cNvPr id="46083" name="Slide Number Placeholder 5">
            <a:extLst>
              <a:ext uri="{FF2B5EF4-FFF2-40B4-BE49-F238E27FC236}">
                <a16:creationId xmlns:a16="http://schemas.microsoft.com/office/drawing/2014/main" id="{AF51AC2A-2090-B458-B649-6BAE60E0C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102AE047-E32B-4FE0-A166-B1294662F222}" type="slidenum">
              <a:rPr lang="en-US" altLang="en-US" sz="140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F8972AB2-FA10-8F0B-2D30-EE8E43AD5D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2133600"/>
            <a:ext cx="6934200" cy="3810000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6085" name="Text Box 4">
            <a:extLst>
              <a:ext uri="{FF2B5EF4-FFF2-40B4-BE49-F238E27FC236}">
                <a16:creationId xmlns:a16="http://schemas.microsoft.com/office/drawing/2014/main" id="{39AD23C1-EDAA-3301-2039-3BF19AE7CB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5413" y="2136775"/>
            <a:ext cx="4048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i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46086" name="Oval 5">
            <a:extLst>
              <a:ext uri="{FF2B5EF4-FFF2-40B4-BE49-F238E27FC236}">
                <a16:creationId xmlns:a16="http://schemas.microsoft.com/office/drawing/2014/main" id="{C850EB34-DE2B-3128-E12B-1173CF4315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2743200"/>
            <a:ext cx="2741613" cy="2741613"/>
          </a:xfrm>
          <a:prstGeom prst="ellips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6087" name="Oval 6">
            <a:extLst>
              <a:ext uri="{FF2B5EF4-FFF2-40B4-BE49-F238E27FC236}">
                <a16:creationId xmlns:a16="http://schemas.microsoft.com/office/drawing/2014/main" id="{5111E18D-00C0-9CAA-AB11-EAC52E3F73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743200"/>
            <a:ext cx="2741613" cy="2741613"/>
          </a:xfrm>
          <a:prstGeom prst="ellips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6088" name="Text Box 7">
            <a:extLst>
              <a:ext uri="{FF2B5EF4-FFF2-40B4-BE49-F238E27FC236}">
                <a16:creationId xmlns:a16="http://schemas.microsoft.com/office/drawing/2014/main" id="{D54A5E34-B139-EB0A-8AA8-3CF8EEC962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5029200"/>
            <a:ext cx="33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46089" name="Text Box 8">
            <a:extLst>
              <a:ext uri="{FF2B5EF4-FFF2-40B4-BE49-F238E27FC236}">
                <a16:creationId xmlns:a16="http://schemas.microsoft.com/office/drawing/2014/main" id="{0AE2F06E-7E80-1B00-429F-1D1F4876FC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5029200"/>
            <a:ext cx="33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B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>
            <a:extLst>
              <a:ext uri="{FF2B5EF4-FFF2-40B4-BE49-F238E27FC236}">
                <a16:creationId xmlns:a16="http://schemas.microsoft.com/office/drawing/2014/main" id="{BBF932C7-AC44-1A18-FACF-9A1D88197D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Disjoint sets </a:t>
            </a:r>
          </a:p>
        </p:txBody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20541AD7-D92F-B7E2-3520-A2FC196CBB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9900" y="1524000"/>
            <a:ext cx="8229600" cy="5029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Formal definition for disjoint sets: two sets are disjoint if their intersection is the empty set</a:t>
            </a:r>
            <a:endParaRPr lang="en-US" altLang="en-US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sym typeface="Symbol" panose="05050102010706020507" pitchFamily="18" charset="2"/>
              </a:rPr>
              <a:t>Further examples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sym typeface="Symbol" panose="05050102010706020507" pitchFamily="18" charset="2"/>
              </a:rPr>
              <a:t>{1, 2, 3} and {3, 4, 5} are not disjoint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sym typeface="Symbol" panose="05050102010706020507" pitchFamily="18" charset="2"/>
              </a:rPr>
              <a:t>{New York, Washington} and {3, 4} are disjoint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sym typeface="Symbol" panose="05050102010706020507" pitchFamily="18" charset="2"/>
              </a:rPr>
              <a:t>{1, 2} and  are disjoint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>
                <a:sym typeface="Symbol" panose="05050102010706020507" pitchFamily="18" charset="2"/>
              </a:rPr>
              <a:t>Their intersection is the empty set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sym typeface="Symbol" panose="05050102010706020507" pitchFamily="18" charset="2"/>
              </a:rPr>
              <a:t> and  are disjoint!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>
                <a:sym typeface="Symbol" panose="05050102010706020507" pitchFamily="18" charset="2"/>
              </a:rPr>
              <a:t>Their intersection is the empty set</a:t>
            </a:r>
          </a:p>
        </p:txBody>
      </p:sp>
      <p:sp>
        <p:nvSpPr>
          <p:cNvPr id="47108" name="Slide Number Placeholder 5">
            <a:extLst>
              <a:ext uri="{FF2B5EF4-FFF2-40B4-BE49-F238E27FC236}">
                <a16:creationId xmlns:a16="http://schemas.microsoft.com/office/drawing/2014/main" id="{3D2A623D-BA3D-EE48-CD50-B018499C7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43C159F2-A274-4D09-8068-CF201896D29F}" type="slidenum">
              <a:rPr lang="en-US" altLang="en-US" sz="140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>
            <a:extLst>
              <a:ext uri="{FF2B5EF4-FFF2-40B4-BE49-F238E27FC236}">
                <a16:creationId xmlns:a16="http://schemas.microsoft.com/office/drawing/2014/main" id="{1F5A6D51-77CB-ABB9-34CA-28802146A4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Set operations: Difference </a:t>
            </a:r>
          </a:p>
        </p:txBody>
      </p:sp>
      <p:sp>
        <p:nvSpPr>
          <p:cNvPr id="48131" name="Slide Number Placeholder 5">
            <a:extLst>
              <a:ext uri="{FF2B5EF4-FFF2-40B4-BE49-F238E27FC236}">
                <a16:creationId xmlns:a16="http://schemas.microsoft.com/office/drawing/2014/main" id="{33E7B3FE-AEB6-B02D-A152-3F8C261AA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E18C655B-3E1F-43B6-876F-6E43CDDEAED6}" type="slidenum">
              <a:rPr lang="en-US" altLang="en-US" sz="140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988364CB-85DB-CC07-7DE3-D7F5012D14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2133600"/>
            <a:ext cx="6934200" cy="3810000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8133" name="Text Box 4">
            <a:extLst>
              <a:ext uri="{FF2B5EF4-FFF2-40B4-BE49-F238E27FC236}">
                <a16:creationId xmlns:a16="http://schemas.microsoft.com/office/drawing/2014/main" id="{D40914C2-73D2-961A-8443-FBFAC71632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5413" y="2136775"/>
            <a:ext cx="4048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i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103429" name="Oval 5">
            <a:extLst>
              <a:ext uri="{FF2B5EF4-FFF2-40B4-BE49-F238E27FC236}">
                <a16:creationId xmlns:a16="http://schemas.microsoft.com/office/drawing/2014/main" id="{72B94A6F-D5EF-8AB8-E0E4-343C97D3C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2743200"/>
            <a:ext cx="2741613" cy="2741613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8135" name="Oval 6">
            <a:extLst>
              <a:ext uri="{FF2B5EF4-FFF2-40B4-BE49-F238E27FC236}">
                <a16:creationId xmlns:a16="http://schemas.microsoft.com/office/drawing/2014/main" id="{07F37E58-1890-E203-51BB-9E890EA054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2743200"/>
            <a:ext cx="2741613" cy="2741613"/>
          </a:xfrm>
          <a:prstGeom prst="ellipse">
            <a:avLst/>
          </a:prstGeom>
          <a:solidFill>
            <a:schemeClr val="bg1"/>
          </a:solidFill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grpSp>
        <p:nvGrpSpPr>
          <p:cNvPr id="103431" name="Group 7">
            <a:extLst>
              <a:ext uri="{FF2B5EF4-FFF2-40B4-BE49-F238E27FC236}">
                <a16:creationId xmlns:a16="http://schemas.microsoft.com/office/drawing/2014/main" id="{7685F15B-8114-DA2A-1CC8-3DFA5C2836B4}"/>
              </a:ext>
            </a:extLst>
          </p:cNvPr>
          <p:cNvGrpSpPr>
            <a:grpSpLocks/>
          </p:cNvGrpSpPr>
          <p:nvPr/>
        </p:nvGrpSpPr>
        <p:grpSpPr bwMode="auto">
          <a:xfrm>
            <a:off x="2286000" y="2743200"/>
            <a:ext cx="4875213" cy="2741613"/>
            <a:chOff x="1440" y="1344"/>
            <a:chExt cx="3071" cy="1727"/>
          </a:xfrm>
        </p:grpSpPr>
        <p:sp>
          <p:nvSpPr>
            <p:cNvPr id="48142" name="Oval 8">
              <a:extLst>
                <a:ext uri="{FF2B5EF4-FFF2-40B4-BE49-F238E27FC236}">
                  <a16:creationId xmlns:a16="http://schemas.microsoft.com/office/drawing/2014/main" id="{4DCCD198-F302-580E-6EEE-D4134509C7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1344"/>
              <a:ext cx="1727" cy="1727"/>
            </a:xfrm>
            <a:prstGeom prst="ellipse">
              <a:avLst/>
            </a:prstGeom>
            <a:solidFill>
              <a:schemeClr val="accent1"/>
            </a:solidFill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48143" name="Oval 9">
              <a:extLst>
                <a:ext uri="{FF2B5EF4-FFF2-40B4-BE49-F238E27FC236}">
                  <a16:creationId xmlns:a16="http://schemas.microsoft.com/office/drawing/2014/main" id="{B556B03E-A826-7832-9F89-39307FCB04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1344"/>
              <a:ext cx="1727" cy="1727"/>
            </a:xfrm>
            <a:prstGeom prst="ellipse">
              <a:avLst/>
            </a:prstGeom>
            <a:solidFill>
              <a:schemeClr val="bg1"/>
            </a:solidFill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</p:grpSp>
      <p:sp>
        <p:nvSpPr>
          <p:cNvPr id="48137" name="Oval 10">
            <a:extLst>
              <a:ext uri="{FF2B5EF4-FFF2-40B4-BE49-F238E27FC236}">
                <a16:creationId xmlns:a16="http://schemas.microsoft.com/office/drawing/2014/main" id="{D7084566-BEE7-9866-3C60-B73AA4927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2743200"/>
            <a:ext cx="2741613" cy="2741613"/>
          </a:xfrm>
          <a:prstGeom prst="ellips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8138" name="Oval 11">
            <a:extLst>
              <a:ext uri="{FF2B5EF4-FFF2-40B4-BE49-F238E27FC236}">
                <a16:creationId xmlns:a16="http://schemas.microsoft.com/office/drawing/2014/main" id="{6F3F828C-ED4F-3EB4-3020-4F0F1C53C4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2743200"/>
            <a:ext cx="2741613" cy="2741613"/>
          </a:xfrm>
          <a:prstGeom prst="ellips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48139" name="Text Box 12">
            <a:extLst>
              <a:ext uri="{FF2B5EF4-FFF2-40B4-BE49-F238E27FC236}">
                <a16:creationId xmlns:a16="http://schemas.microsoft.com/office/drawing/2014/main" id="{F6B813E9-A2B4-3558-7A94-086CC8612C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5029200"/>
            <a:ext cx="33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48140" name="Text Box 13">
            <a:extLst>
              <a:ext uri="{FF2B5EF4-FFF2-40B4-BE49-F238E27FC236}">
                <a16:creationId xmlns:a16="http://schemas.microsoft.com/office/drawing/2014/main" id="{216240A3-B948-5EED-0A95-F9C02A4001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5029200"/>
            <a:ext cx="33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B</a:t>
            </a:r>
          </a:p>
        </p:txBody>
      </p:sp>
      <p:sp>
        <p:nvSpPr>
          <p:cNvPr id="103438" name="Text Box 14">
            <a:extLst>
              <a:ext uri="{FF2B5EF4-FFF2-40B4-BE49-F238E27FC236}">
                <a16:creationId xmlns:a16="http://schemas.microsoft.com/office/drawing/2014/main" id="{19B8B3F6-87FA-9215-099D-CE236418D4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0850" y="1443038"/>
            <a:ext cx="85090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A - 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3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3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3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Rectangle 3">
            <a:extLst>
              <a:ext uri="{FF2B5EF4-FFF2-40B4-BE49-F238E27FC236}">
                <a16:creationId xmlns:a16="http://schemas.microsoft.com/office/drawing/2014/main" id="{213B1798-55A5-A33E-AA97-F7542174DD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Set operations: Difference </a:t>
            </a:r>
          </a:p>
        </p:txBody>
      </p:sp>
      <p:sp>
        <p:nvSpPr>
          <p:cNvPr id="104450" name="Rectangle 2">
            <a:extLst>
              <a:ext uri="{FF2B5EF4-FFF2-40B4-BE49-F238E27FC236}">
                <a16:creationId xmlns:a16="http://schemas.microsoft.com/office/drawing/2014/main" id="{88AC835D-EB0C-A514-757A-41A54CF0BC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87363" y="1524000"/>
            <a:ext cx="8229600" cy="5029200"/>
          </a:xfrm>
        </p:spPr>
        <p:txBody>
          <a:bodyPr rtlCol="0">
            <a:normAutofit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en-US" dirty="0"/>
              <a:t>Formal definition for the difference of two sets:</a:t>
            </a:r>
            <a:br>
              <a:rPr lang="en-US" altLang="en-US" dirty="0"/>
            </a:br>
            <a:endParaRPr lang="en-US" altLang="en-US" dirty="0"/>
          </a:p>
          <a:p>
            <a:pPr marL="0" indent="0" eaLnBrk="1" fontAlgn="auto" hangingPunct="1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en-US" dirty="0">
                <a:solidFill>
                  <a:srgbClr val="0000FF"/>
                </a:solidFill>
              </a:rPr>
              <a:t>    A - B = { </a:t>
            </a:r>
            <a:r>
              <a:rPr lang="en-US" altLang="en-US" i="1" dirty="0">
                <a:solidFill>
                  <a:srgbClr val="0000FF"/>
                </a:solidFill>
              </a:rPr>
              <a:t>x</a:t>
            </a:r>
            <a:r>
              <a:rPr lang="en-US" altLang="en-US" dirty="0">
                <a:solidFill>
                  <a:srgbClr val="0000FF"/>
                </a:solidFill>
              </a:rPr>
              <a:t> | </a:t>
            </a:r>
            <a:r>
              <a:rPr lang="en-US" altLang="en-US" i="1" dirty="0">
                <a:solidFill>
                  <a:srgbClr val="0000FF"/>
                </a:solidFill>
              </a:rPr>
              <a:t>x</a:t>
            </a:r>
            <a:r>
              <a:rPr lang="en-US" altLang="en-US" dirty="0">
                <a:solidFill>
                  <a:srgbClr val="0000FF"/>
                </a:solidFill>
              </a:rPr>
              <a:t> </a:t>
            </a:r>
            <a:r>
              <a:rPr lang="en-US" altLang="en-US" dirty="0">
                <a:solidFill>
                  <a:srgbClr val="0000FF"/>
                </a:solidFill>
                <a:sym typeface="Symbol" panose="05050102010706020507" pitchFamily="18" charset="2"/>
              </a:rPr>
              <a:t> A </a:t>
            </a:r>
            <a:r>
              <a:rPr lang="en-US" altLang="en-US" b="1" dirty="0">
                <a:solidFill>
                  <a:srgbClr val="0000FF"/>
                </a:solidFill>
                <a:sym typeface="Symbol" panose="05050102010706020507" pitchFamily="18" charset="2"/>
              </a:rPr>
              <a:t>and</a:t>
            </a:r>
            <a:r>
              <a:rPr lang="en-US" altLang="en-US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en-US" i="1" dirty="0">
                <a:solidFill>
                  <a:srgbClr val="0000FF"/>
                </a:solidFill>
              </a:rPr>
              <a:t>x</a:t>
            </a:r>
            <a:r>
              <a:rPr lang="en-US" altLang="en-US" dirty="0">
                <a:solidFill>
                  <a:srgbClr val="0000FF"/>
                </a:solidFill>
              </a:rPr>
              <a:t> </a:t>
            </a:r>
            <a:r>
              <a:rPr lang="en-US" altLang="en-US" dirty="0">
                <a:solidFill>
                  <a:srgbClr val="0000FF"/>
                </a:solidFill>
                <a:sym typeface="Symbol" panose="05050102010706020507" pitchFamily="18" charset="2"/>
              </a:rPr>
              <a:t> B }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altLang="en-US" dirty="0">
                <a:sym typeface="Symbol" panose="05050102010706020507" pitchFamily="18" charset="2"/>
              </a:rPr>
              <a:t>	</a:t>
            </a:r>
            <a:r>
              <a:rPr lang="en-US" altLang="en-US" dirty="0">
                <a:solidFill>
                  <a:srgbClr val="0000FF"/>
                </a:solidFill>
                <a:sym typeface="Symbol" panose="05050102010706020507" pitchFamily="18" charset="2"/>
              </a:rPr>
              <a:t>A - B = A </a:t>
            </a:r>
            <a:r>
              <a:rPr lang="en-US" altLang="en-US" dirty="0">
                <a:solidFill>
                  <a:srgbClr val="0000FF"/>
                </a:solidFill>
                <a:cs typeface="Arial" panose="020B0604020202020204" pitchFamily="34" charset="0"/>
              </a:rPr>
              <a:t>∩ B</a:t>
            </a:r>
            <a:r>
              <a:rPr lang="en-US" altLang="en-US" dirty="0">
                <a:cs typeface="Arial" panose="020B0604020202020204" pitchFamily="34" charset="0"/>
              </a:rPr>
              <a:t>    </a:t>
            </a:r>
            <a:r>
              <a:rPr lang="en-US" altLang="en-US" dirty="0">
                <a:solidFill>
                  <a:srgbClr val="FF0000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 Important!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endParaRPr lang="en-US" altLang="en-US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en-US" dirty="0">
                <a:sym typeface="Symbol" panose="05050102010706020507" pitchFamily="18" charset="2"/>
              </a:rPr>
              <a:t>Further examples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en-US" dirty="0">
                <a:sym typeface="Symbol" panose="05050102010706020507" pitchFamily="18" charset="2"/>
              </a:rPr>
              <a:t>{1, 2, 3} - {3, 4, 5} = {1, 2}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en-US" dirty="0">
                <a:sym typeface="Symbol" panose="05050102010706020507" pitchFamily="18" charset="2"/>
              </a:rPr>
              <a:t>{New York, Washington} - {3, 4} = {New York, Washington}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en-US" dirty="0">
                <a:sym typeface="Symbol" panose="05050102010706020507" pitchFamily="18" charset="2"/>
              </a:rPr>
              <a:t>{1, 2} -  = {1, 2}</a:t>
            </a:r>
          </a:p>
          <a:p>
            <a:pPr lvl="2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en-US" dirty="0">
                <a:sym typeface="Symbol" panose="05050102010706020507" pitchFamily="18" charset="2"/>
              </a:rPr>
              <a:t>The difference of any set S with the empty set will  be the set S</a:t>
            </a:r>
          </a:p>
        </p:txBody>
      </p:sp>
      <p:sp>
        <p:nvSpPr>
          <p:cNvPr id="49156" name="Slide Number Placeholder 5">
            <a:extLst>
              <a:ext uri="{FF2B5EF4-FFF2-40B4-BE49-F238E27FC236}">
                <a16:creationId xmlns:a16="http://schemas.microsoft.com/office/drawing/2014/main" id="{7E290DA0-3978-1170-C9E5-F33F05AD6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443DC557-9C18-499E-B02F-D08C1D850933}" type="slidenum">
              <a:rPr lang="en-US" altLang="en-US" sz="140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104452" name="Rectangle 4">
            <a:extLst>
              <a:ext uri="{FF2B5EF4-FFF2-40B4-BE49-F238E27FC236}">
                <a16:creationId xmlns:a16="http://schemas.microsoft.com/office/drawing/2014/main" id="{B731DC51-FC8E-AD5F-8F88-CBE3889891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133600"/>
            <a:ext cx="381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just" eaLnBrk="1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en-US" sz="3000">
                <a:solidFill>
                  <a:srgbClr val="0000FF"/>
                </a:solidFill>
                <a:latin typeface="Arial" panose="020B0604020202020204" pitchFamily="34" charset="0"/>
              </a:rPr>
              <a:t>_</a:t>
            </a:r>
            <a:endParaRPr lang="en-US" altLang="en-US" sz="300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Rectangle 3">
            <a:extLst>
              <a:ext uri="{FF2B5EF4-FFF2-40B4-BE49-F238E27FC236}">
                <a16:creationId xmlns:a16="http://schemas.microsoft.com/office/drawing/2014/main" id="{84A4E7F9-2E94-CECD-6153-32A11EFE86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17625" y="274638"/>
            <a:ext cx="6570663" cy="1049337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000" dirty="0"/>
              <a:t>Set operations: Symmetric Difference </a:t>
            </a:r>
          </a:p>
        </p:txBody>
      </p:sp>
      <p:sp>
        <p:nvSpPr>
          <p:cNvPr id="106498" name="Rectangle 2">
            <a:extLst>
              <a:ext uri="{FF2B5EF4-FFF2-40B4-BE49-F238E27FC236}">
                <a16:creationId xmlns:a16="http://schemas.microsoft.com/office/drawing/2014/main" id="{94AD5A09-4969-E10E-E7DD-51F263E3A5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4025" y="1290638"/>
            <a:ext cx="8461375" cy="5033962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600" dirty="0"/>
              <a:t>Formal definition for the symmetric difference of two sets: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altLang="en-US" sz="2600" dirty="0">
                <a:solidFill>
                  <a:srgbClr val="0000FF"/>
                </a:solidFill>
              </a:rPr>
              <a:t>	A </a:t>
            </a:r>
            <a:r>
              <a:rPr lang="en-US" altLang="en-US" sz="2600" dirty="0">
                <a:solidFill>
                  <a:srgbClr val="0000FF"/>
                </a:solidFill>
                <a:sym typeface="Symbol" panose="05050102010706020507" pitchFamily="18" charset="2"/>
              </a:rPr>
              <a:t></a:t>
            </a:r>
            <a:r>
              <a:rPr lang="en-US" altLang="en-US" sz="2600" dirty="0">
                <a:solidFill>
                  <a:srgbClr val="0000FF"/>
                </a:solidFill>
              </a:rPr>
              <a:t> B = { </a:t>
            </a:r>
            <a:r>
              <a:rPr lang="en-US" altLang="en-US" sz="2600" i="1" dirty="0">
                <a:solidFill>
                  <a:srgbClr val="0000FF"/>
                </a:solidFill>
              </a:rPr>
              <a:t>x</a:t>
            </a:r>
            <a:r>
              <a:rPr lang="en-US" altLang="en-US" sz="2600" dirty="0">
                <a:solidFill>
                  <a:srgbClr val="0000FF"/>
                </a:solidFill>
              </a:rPr>
              <a:t> | (</a:t>
            </a:r>
            <a:r>
              <a:rPr lang="en-US" altLang="en-US" sz="2600" i="1" dirty="0">
                <a:solidFill>
                  <a:srgbClr val="0000FF"/>
                </a:solidFill>
              </a:rPr>
              <a:t>x</a:t>
            </a:r>
            <a:r>
              <a:rPr lang="en-US" altLang="en-US" sz="2600" dirty="0">
                <a:solidFill>
                  <a:srgbClr val="0000FF"/>
                </a:solidFill>
              </a:rPr>
              <a:t> </a:t>
            </a:r>
            <a:r>
              <a:rPr lang="en-US" altLang="en-US" sz="2600" dirty="0">
                <a:solidFill>
                  <a:srgbClr val="0000FF"/>
                </a:solidFill>
                <a:sym typeface="Symbol" panose="05050102010706020507" pitchFamily="18" charset="2"/>
              </a:rPr>
              <a:t> A or </a:t>
            </a:r>
            <a:r>
              <a:rPr lang="en-US" altLang="en-US" sz="2600" i="1" dirty="0">
                <a:solidFill>
                  <a:srgbClr val="0000FF"/>
                </a:solidFill>
              </a:rPr>
              <a:t>x</a:t>
            </a:r>
            <a:r>
              <a:rPr lang="en-US" altLang="en-US" sz="2600" dirty="0">
                <a:solidFill>
                  <a:srgbClr val="0000FF"/>
                </a:solidFill>
              </a:rPr>
              <a:t> </a:t>
            </a:r>
            <a:r>
              <a:rPr lang="en-US" altLang="en-US" sz="2600" dirty="0">
                <a:solidFill>
                  <a:srgbClr val="0000FF"/>
                </a:solidFill>
                <a:sym typeface="Symbol" panose="05050102010706020507" pitchFamily="18" charset="2"/>
              </a:rPr>
              <a:t> B) and x  </a:t>
            </a:r>
            <a:r>
              <a:rPr lang="en-US" altLang="en-US" sz="2600" dirty="0">
                <a:solidFill>
                  <a:srgbClr val="0000FF"/>
                </a:solidFill>
                <a:cs typeface="Arial" panose="020B0604020202020204" pitchFamily="34" charset="0"/>
              </a:rPr>
              <a:t>A ∩ B</a:t>
            </a:r>
            <a:r>
              <a:rPr lang="en-US" altLang="en-US" sz="2600" dirty="0">
                <a:solidFill>
                  <a:srgbClr val="0000FF"/>
                </a:solidFill>
                <a:sym typeface="Symbol" panose="05050102010706020507" pitchFamily="18" charset="2"/>
              </a:rPr>
              <a:t>}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altLang="en-US" sz="2600" dirty="0">
                <a:sym typeface="Symbol" panose="05050102010706020507" pitchFamily="18" charset="2"/>
              </a:rPr>
              <a:t>	</a:t>
            </a:r>
            <a:r>
              <a:rPr lang="en-US" altLang="en-US" sz="2600" dirty="0">
                <a:solidFill>
                  <a:srgbClr val="0000FF"/>
                </a:solidFill>
                <a:sym typeface="Symbol" panose="05050102010706020507" pitchFamily="18" charset="2"/>
              </a:rPr>
              <a:t>A  B = (A U</a:t>
            </a:r>
            <a:r>
              <a:rPr lang="en-US" altLang="en-US" sz="2600" dirty="0">
                <a:solidFill>
                  <a:srgbClr val="0000FF"/>
                </a:solidFill>
                <a:cs typeface="Arial" panose="020B0604020202020204" pitchFamily="34" charset="0"/>
              </a:rPr>
              <a:t> B) – (A ∩ B)   </a:t>
            </a:r>
            <a:r>
              <a:rPr lang="en-US" altLang="en-US" sz="2600" dirty="0">
                <a:cs typeface="Arial" panose="020B0604020202020204" pitchFamily="34" charset="0"/>
              </a:rPr>
              <a:t> </a:t>
            </a:r>
            <a:r>
              <a:rPr lang="en-US" altLang="en-US" sz="2600" dirty="0">
                <a:solidFill>
                  <a:srgbClr val="FF0000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 Important!</a:t>
            </a:r>
            <a:endParaRPr lang="en-US" altLang="en-US" sz="2600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600" dirty="0">
                <a:sym typeface="Symbol" panose="05050102010706020507" pitchFamily="18" charset="2"/>
              </a:rPr>
              <a:t>Further examples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sz="2400" dirty="0">
                <a:sym typeface="Symbol" panose="05050102010706020507" pitchFamily="18" charset="2"/>
              </a:rPr>
              <a:t>{1, 2, 3}  {3, 4, 5} = {1, 2, 4, 5}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sz="2400" dirty="0">
                <a:sym typeface="Symbol" panose="05050102010706020507" pitchFamily="18" charset="2"/>
              </a:rPr>
              <a:t>{New York, Washington}  {3, 4} = {New York, Washington, 3, 4}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sz="2400" dirty="0">
                <a:sym typeface="Symbol" panose="05050102010706020507" pitchFamily="18" charset="2"/>
              </a:rPr>
              <a:t>{1, 2}   = {1, 2}</a:t>
            </a:r>
          </a:p>
          <a:p>
            <a:pPr lvl="2" eaLnBrk="1" fontAlgn="auto" hangingPunct="1">
              <a:spcAft>
                <a:spcPts val="0"/>
              </a:spcAft>
              <a:defRPr/>
            </a:pPr>
            <a:r>
              <a:rPr lang="en-US" altLang="en-US" sz="2000" dirty="0">
                <a:sym typeface="Symbol" panose="05050102010706020507" pitchFamily="18" charset="2"/>
              </a:rPr>
              <a:t>The symmetric difference of any set S with the empty set will  be the set S</a:t>
            </a:r>
          </a:p>
        </p:txBody>
      </p:sp>
      <p:sp>
        <p:nvSpPr>
          <p:cNvPr id="50180" name="Slide Number Placeholder 5">
            <a:extLst>
              <a:ext uri="{FF2B5EF4-FFF2-40B4-BE49-F238E27FC236}">
                <a16:creationId xmlns:a16="http://schemas.microsoft.com/office/drawing/2014/main" id="{4540402F-7EBC-B4C4-D562-26291F5E8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3ED8F555-106A-4945-8FE1-EBEDABDE8B5D}" type="slidenum">
              <a:rPr lang="en-US" altLang="en-US" sz="140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5" name="Rectangle 4">
            <a:extLst>
              <a:ext uri="{FF2B5EF4-FFF2-40B4-BE49-F238E27FC236}">
                <a16:creationId xmlns:a16="http://schemas.microsoft.com/office/drawing/2014/main" id="{6A2C4A4E-C30E-4C62-C93E-F00CACA089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00175" y="525463"/>
            <a:ext cx="6572250" cy="1049337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Complement sets </a:t>
            </a:r>
          </a:p>
        </p:txBody>
      </p:sp>
      <p:sp>
        <p:nvSpPr>
          <p:cNvPr id="51203" name="Slide Number Placeholder 5">
            <a:extLst>
              <a:ext uri="{FF2B5EF4-FFF2-40B4-BE49-F238E27FC236}">
                <a16:creationId xmlns:a16="http://schemas.microsoft.com/office/drawing/2014/main" id="{A574DB58-7CDC-B9E7-0967-5DBB775FB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5FC44212-C68B-4CB0-8B24-9A5EE4D1015E}" type="slidenum">
              <a:rPr lang="en-US" altLang="en-US" sz="140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C580244B-62ED-2C84-088A-14901C096B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2133600"/>
            <a:ext cx="6934200" cy="3810000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8238A322-97CF-F4A9-C8E5-568120AAD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2133600"/>
            <a:ext cx="6934200" cy="3810000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1206" name="Text Box 5">
            <a:extLst>
              <a:ext uri="{FF2B5EF4-FFF2-40B4-BE49-F238E27FC236}">
                <a16:creationId xmlns:a16="http://schemas.microsoft.com/office/drawing/2014/main" id="{70273180-9006-D160-02F7-10D95130B4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5413" y="2136775"/>
            <a:ext cx="4048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i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108550" name="Oval 6">
            <a:extLst>
              <a:ext uri="{FF2B5EF4-FFF2-40B4-BE49-F238E27FC236}">
                <a16:creationId xmlns:a16="http://schemas.microsoft.com/office/drawing/2014/main" id="{A1FE8DF3-725E-B375-F6D1-07DE6FAA9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2743200"/>
            <a:ext cx="2741613" cy="2741613"/>
          </a:xfrm>
          <a:prstGeom prst="ellipse">
            <a:avLst/>
          </a:prstGeom>
          <a:solidFill>
            <a:schemeClr val="bg1"/>
          </a:solidFill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8551" name="Oval 7">
            <a:extLst>
              <a:ext uri="{FF2B5EF4-FFF2-40B4-BE49-F238E27FC236}">
                <a16:creationId xmlns:a16="http://schemas.microsoft.com/office/drawing/2014/main" id="{7BFD228E-AF12-6499-A222-2F8D741CE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2743200"/>
            <a:ext cx="2741613" cy="2741613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1209" name="Text Box 8">
            <a:extLst>
              <a:ext uri="{FF2B5EF4-FFF2-40B4-BE49-F238E27FC236}">
                <a16:creationId xmlns:a16="http://schemas.microsoft.com/office/drawing/2014/main" id="{C2875D85-4560-65D5-0D85-F48B3645DF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5029200"/>
            <a:ext cx="33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108553" name="Text Box 9">
            <a:extLst>
              <a:ext uri="{FF2B5EF4-FFF2-40B4-BE49-F238E27FC236}">
                <a16:creationId xmlns:a16="http://schemas.microsoft.com/office/drawing/2014/main" id="{15F85D40-9CF0-7570-0F9D-9F2FC89606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1303338"/>
            <a:ext cx="7699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B</a:t>
            </a:r>
          </a:p>
        </p:txBody>
      </p:sp>
      <p:sp>
        <p:nvSpPr>
          <p:cNvPr id="108554" name="Oval 10">
            <a:extLst>
              <a:ext uri="{FF2B5EF4-FFF2-40B4-BE49-F238E27FC236}">
                <a16:creationId xmlns:a16="http://schemas.microsoft.com/office/drawing/2014/main" id="{B2354A45-993F-BB05-EB66-BD615F4B1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2743200"/>
            <a:ext cx="2741613" cy="2741613"/>
          </a:xfrm>
          <a:prstGeom prst="ellipse">
            <a:avLst/>
          </a:prstGeom>
          <a:solidFill>
            <a:schemeClr val="bg1"/>
          </a:solidFill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1212" name="Oval 11">
            <a:extLst>
              <a:ext uri="{FF2B5EF4-FFF2-40B4-BE49-F238E27FC236}">
                <a16:creationId xmlns:a16="http://schemas.microsoft.com/office/drawing/2014/main" id="{0630F694-C5C9-7CF1-29DE-CF255AF37E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2743200"/>
            <a:ext cx="2741613" cy="2741613"/>
          </a:xfrm>
          <a:prstGeom prst="ellips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1213" name="Text Box 12">
            <a:extLst>
              <a:ext uri="{FF2B5EF4-FFF2-40B4-BE49-F238E27FC236}">
                <a16:creationId xmlns:a16="http://schemas.microsoft.com/office/drawing/2014/main" id="{81CCBCA6-C30F-592D-3949-8B5CD1087B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5029200"/>
            <a:ext cx="33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B</a:t>
            </a:r>
          </a:p>
        </p:txBody>
      </p:sp>
      <p:sp>
        <p:nvSpPr>
          <p:cNvPr id="51214" name="Oval 13">
            <a:extLst>
              <a:ext uri="{FF2B5EF4-FFF2-40B4-BE49-F238E27FC236}">
                <a16:creationId xmlns:a16="http://schemas.microsoft.com/office/drawing/2014/main" id="{D9805693-0ADE-4D72-589F-35D937D045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2743200"/>
            <a:ext cx="2741613" cy="2741613"/>
          </a:xfrm>
          <a:prstGeom prst="ellips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8559" name="Rectangle 15">
            <a:extLst>
              <a:ext uri="{FF2B5EF4-FFF2-40B4-BE49-F238E27FC236}">
                <a16:creationId xmlns:a16="http://schemas.microsoft.com/office/drawing/2014/main" id="{577F59B1-F7CE-B2ED-F2BF-3F8F6941B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6263" y="846138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just" eaLnBrk="1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en-US" sz="3200">
                <a:latin typeface="Arial" panose="020B0604020202020204" pitchFamily="34" charset="0"/>
              </a:rPr>
              <a:t>_</a:t>
            </a:r>
            <a:endParaRPr lang="en-US" alt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8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50" grpId="0" animBg="1"/>
      <p:bldP spid="108553" grpId="0"/>
      <p:bldP spid="108553" grpId="1"/>
      <p:bldP spid="108554" grpId="0" animBg="1"/>
      <p:bldP spid="108554" grpId="1" animBg="1"/>
      <p:bldP spid="10855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>
            <a:extLst>
              <a:ext uri="{FF2B5EF4-FFF2-40B4-BE49-F238E27FC236}">
                <a16:creationId xmlns:a16="http://schemas.microsoft.com/office/drawing/2014/main" id="{B23A4755-D243-9C18-9082-D6B8D41627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Complement sets </a:t>
            </a:r>
          </a:p>
        </p:txBody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8404A279-5C35-B9EE-0123-FFB4658B72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87363" y="1447800"/>
            <a:ext cx="8229600" cy="50292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Formal definition for the complement of a set: </a:t>
            </a: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en-US" dirty="0">
                <a:solidFill>
                  <a:srgbClr val="0000FF"/>
                </a:solidFill>
              </a:rPr>
              <a:t>                 A = { </a:t>
            </a:r>
            <a:r>
              <a:rPr lang="en-US" altLang="en-US" i="1" dirty="0">
                <a:solidFill>
                  <a:srgbClr val="0000FF"/>
                </a:solidFill>
              </a:rPr>
              <a:t>x</a:t>
            </a:r>
            <a:r>
              <a:rPr lang="en-US" altLang="en-US" dirty="0">
                <a:solidFill>
                  <a:srgbClr val="0000FF"/>
                </a:solidFill>
              </a:rPr>
              <a:t> | </a:t>
            </a:r>
            <a:r>
              <a:rPr lang="en-US" altLang="en-US" i="1" dirty="0">
                <a:solidFill>
                  <a:srgbClr val="0000FF"/>
                </a:solidFill>
              </a:rPr>
              <a:t>x</a:t>
            </a:r>
            <a:r>
              <a:rPr lang="en-US" altLang="en-US" dirty="0">
                <a:solidFill>
                  <a:srgbClr val="0000FF"/>
                </a:solidFill>
              </a:rPr>
              <a:t> </a:t>
            </a:r>
            <a:r>
              <a:rPr lang="en-US" altLang="en-US" dirty="0">
                <a:solidFill>
                  <a:srgbClr val="0000FF"/>
                </a:solidFill>
                <a:sym typeface="Symbol" panose="05050102010706020507" pitchFamily="18" charset="2"/>
              </a:rPr>
              <a:t> A }   =  A’</a:t>
            </a:r>
            <a:endParaRPr lang="en-US" altLang="en-US" dirty="0">
              <a:sym typeface="Symbol" panose="05050102010706020507" pitchFamily="18" charset="2"/>
            </a:endParaRP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dirty="0">
                <a:sym typeface="Symbol" panose="05050102010706020507" pitchFamily="18" charset="2"/>
              </a:rPr>
              <a:t>Or </a:t>
            </a:r>
            <a:r>
              <a:rPr lang="en-US" altLang="en-US" b="1" i="1" dirty="0">
                <a:latin typeface="Times New Roman" panose="02020603050405020304" pitchFamily="18" charset="0"/>
              </a:rPr>
              <a:t>U</a:t>
            </a:r>
            <a:r>
              <a:rPr lang="en-US" altLang="en-US" dirty="0"/>
              <a:t> – A, where </a:t>
            </a:r>
            <a:r>
              <a:rPr lang="en-US" altLang="en-US" b="1" i="1" dirty="0">
                <a:latin typeface="Times New Roman" panose="02020603050405020304" pitchFamily="18" charset="0"/>
              </a:rPr>
              <a:t>U</a:t>
            </a:r>
            <a:r>
              <a:rPr lang="en-US" altLang="en-US" dirty="0"/>
              <a:t> is the universal set</a:t>
            </a:r>
            <a:endParaRPr lang="en-US" altLang="en-US" dirty="0">
              <a:sym typeface="Symbol" panose="05050102010706020507" pitchFamily="18" charset="2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>
                <a:sym typeface="Symbol" panose="05050102010706020507" pitchFamily="18" charset="2"/>
              </a:rPr>
              <a:t>Further examples (assuming </a:t>
            </a:r>
            <a:r>
              <a:rPr lang="en-US" altLang="en-US" b="1" i="1" dirty="0">
                <a:latin typeface="Times New Roman" panose="02020603050405020304" pitchFamily="18" charset="0"/>
              </a:rPr>
              <a:t>U</a:t>
            </a:r>
            <a:r>
              <a:rPr lang="en-US" altLang="en-US" dirty="0">
                <a:sym typeface="Symbol" panose="05050102010706020507" pitchFamily="18" charset="2"/>
              </a:rPr>
              <a:t> = </a:t>
            </a:r>
            <a:r>
              <a:rPr lang="en-US" altLang="en-US" b="1" dirty="0">
                <a:sym typeface="Symbol" panose="05050102010706020507" pitchFamily="18" charset="2"/>
              </a:rPr>
              <a:t>Z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dirty="0">
                <a:sym typeface="Symbol" panose="05050102010706020507" pitchFamily="18" charset="2"/>
              </a:rPr>
              <a:t>{1, 2, 3} = { …, -2, -1, 0, 4, 5, 6, … }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altLang="en-US" dirty="0">
              <a:sym typeface="Symbol" panose="05050102010706020507" pitchFamily="18" charset="2"/>
            </a:endParaRPr>
          </a:p>
        </p:txBody>
      </p:sp>
      <p:sp>
        <p:nvSpPr>
          <p:cNvPr id="52228" name="Slide Number Placeholder 5">
            <a:extLst>
              <a:ext uri="{FF2B5EF4-FFF2-40B4-BE49-F238E27FC236}">
                <a16:creationId xmlns:a16="http://schemas.microsoft.com/office/drawing/2014/main" id="{934AA167-AFFE-7C1F-744F-B2D836BBC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10E6789A-6CB7-4EF6-9D18-CC79502811ED}" type="slidenum">
              <a:rPr lang="en-US" altLang="en-US" sz="140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109572" name="Line 4">
            <a:extLst>
              <a:ext uri="{FF2B5EF4-FFF2-40B4-BE49-F238E27FC236}">
                <a16:creationId xmlns:a16="http://schemas.microsoft.com/office/drawing/2014/main" id="{8DA18336-40FF-6B67-FF75-B1D2792DB847}"/>
              </a:ext>
            </a:extLst>
          </p:cNvPr>
          <p:cNvSpPr>
            <a:spLocks noChangeShapeType="1"/>
          </p:cNvSpPr>
          <p:nvPr/>
        </p:nvSpPr>
        <p:spPr bwMode="auto">
          <a:xfrm>
            <a:off x="1720850" y="1981200"/>
            <a:ext cx="3048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573" name="Line 5">
            <a:extLst>
              <a:ext uri="{FF2B5EF4-FFF2-40B4-BE49-F238E27FC236}">
                <a16:creationId xmlns:a16="http://schemas.microsoft.com/office/drawing/2014/main" id="{38B86C12-0085-4211-1C1B-5AAC3454582A}"/>
              </a:ext>
            </a:extLst>
          </p:cNvPr>
          <p:cNvSpPr>
            <a:spLocks noChangeShapeType="1"/>
          </p:cNvSpPr>
          <p:nvPr/>
        </p:nvSpPr>
        <p:spPr bwMode="auto">
          <a:xfrm>
            <a:off x="1263650" y="3276600"/>
            <a:ext cx="609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Rectangle 3">
            <a:extLst>
              <a:ext uri="{FF2B5EF4-FFF2-40B4-BE49-F238E27FC236}">
                <a16:creationId xmlns:a16="http://schemas.microsoft.com/office/drawing/2014/main" id="{2B371D16-59BF-30BB-94EC-472709D19A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Complement sets </a:t>
            </a:r>
          </a:p>
        </p:txBody>
      </p:sp>
      <p:sp>
        <p:nvSpPr>
          <p:cNvPr id="110594" name="Rectangle 2">
            <a:extLst>
              <a:ext uri="{FF2B5EF4-FFF2-40B4-BE49-F238E27FC236}">
                <a16:creationId xmlns:a16="http://schemas.microsoft.com/office/drawing/2014/main" id="{DEC08A4A-739E-F894-DAFE-494DF6C0C5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87363" y="1379538"/>
            <a:ext cx="8458200" cy="4527550"/>
          </a:xfrm>
        </p:spPr>
        <p:txBody>
          <a:bodyPr/>
          <a:lstStyle/>
          <a:p>
            <a:pPr eaLnBrk="1" hangingPunct="1"/>
            <a:r>
              <a:rPr lang="en-US" altLang="en-US"/>
              <a:t>Properties of complement sets</a:t>
            </a:r>
          </a:p>
          <a:p>
            <a:pPr eaLnBrk="1" hangingPunct="1"/>
            <a:endParaRPr lang="en-US" altLang="en-US"/>
          </a:p>
          <a:p>
            <a:pPr marL="457200" lvl="1" indent="0" eaLnBrk="1" hangingPunct="1">
              <a:buFont typeface="Arial" panose="020B0604020202020204" pitchFamily="34" charset="0"/>
              <a:buNone/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  A</a:t>
            </a:r>
            <a:r>
              <a:rPr lang="en-US" altLang="en-US">
                <a:sym typeface="Symbol" panose="05050102010706020507" pitchFamily="18" charset="2"/>
              </a:rPr>
              <a:t> = A				Complementation law</a:t>
            </a:r>
          </a:p>
          <a:p>
            <a:pPr marL="457200" lvl="1" indent="0" eaLnBrk="1" hangingPunct="1">
              <a:buFont typeface="Arial" panose="020B0604020202020204" pitchFamily="34" charset="0"/>
              <a:buNone/>
            </a:pPr>
            <a:r>
              <a:rPr lang="en-US" altLang="en-US">
                <a:sym typeface="Symbol" panose="05050102010706020507" pitchFamily="18" charset="2"/>
              </a:rPr>
              <a:t>   A </a:t>
            </a:r>
            <a:r>
              <a:rPr lang="en-US" altLang="en-US"/>
              <a:t>U A</a:t>
            </a:r>
            <a:r>
              <a:rPr lang="en-US" altLang="en-US">
                <a:sym typeface="Symbol" panose="05050102010706020507" pitchFamily="18" charset="2"/>
              </a:rPr>
              <a:t> = </a:t>
            </a:r>
            <a:r>
              <a:rPr lang="en-US" altLang="en-US" b="1" i="1">
                <a:latin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en-US" altLang="en-US">
                <a:sym typeface="Symbol" panose="05050102010706020507" pitchFamily="18" charset="2"/>
              </a:rPr>
              <a:t> 			Complement law</a:t>
            </a:r>
            <a:endParaRPr lang="en-US" altLang="en-US" b="1" i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457200" lvl="1" indent="0" eaLnBrk="1" hangingPunct="1">
              <a:buFont typeface="Arial" panose="020B0604020202020204" pitchFamily="34" charset="0"/>
              <a:buNone/>
            </a:pPr>
            <a:r>
              <a:rPr lang="en-US" altLang="en-US">
                <a:sym typeface="Symbol" panose="05050102010706020507" pitchFamily="18" charset="2"/>
              </a:rPr>
              <a:t>   A </a:t>
            </a:r>
            <a:r>
              <a:rPr lang="en-US" altLang="en-US"/>
              <a:t>∩</a:t>
            </a:r>
            <a:r>
              <a:rPr lang="en-US" altLang="en-US">
                <a:sym typeface="Symbol" panose="05050102010706020507" pitchFamily="18" charset="2"/>
              </a:rPr>
              <a:t> A = 			Complement law</a:t>
            </a:r>
          </a:p>
        </p:txBody>
      </p:sp>
      <p:sp>
        <p:nvSpPr>
          <p:cNvPr id="53252" name="Slide Number Placeholder 5">
            <a:extLst>
              <a:ext uri="{FF2B5EF4-FFF2-40B4-BE49-F238E27FC236}">
                <a16:creationId xmlns:a16="http://schemas.microsoft.com/office/drawing/2014/main" id="{83EDA74F-4E18-585B-DAA6-D040E3BB6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DE375392-C358-4D08-AD24-C61CF788A721}" type="slidenum">
              <a:rPr lang="en-US" altLang="en-US" sz="140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110596" name="Text Box 4">
            <a:extLst>
              <a:ext uri="{FF2B5EF4-FFF2-40B4-BE49-F238E27FC236}">
                <a16:creationId xmlns:a16="http://schemas.microsoft.com/office/drawing/2014/main" id="{705A048F-17B5-43AB-525A-5204AA9FC4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4313" y="3019425"/>
            <a:ext cx="387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  <a:sym typeface="Symbol" panose="05050102010706020507" pitchFamily="18" charset="2"/>
              </a:rPr>
              <a:t>¯</a:t>
            </a:r>
          </a:p>
        </p:txBody>
      </p:sp>
      <p:sp>
        <p:nvSpPr>
          <p:cNvPr id="53254" name="Text Box 5">
            <a:extLst>
              <a:ext uri="{FF2B5EF4-FFF2-40B4-BE49-F238E27FC236}">
                <a16:creationId xmlns:a16="http://schemas.microsoft.com/office/drawing/2014/main" id="{A5A648C1-01C2-E2F9-FA96-C719762FE9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688" y="2303463"/>
            <a:ext cx="387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  <a:sym typeface="Symbol" panose="05050102010706020507" pitchFamily="18" charset="2"/>
              </a:rPr>
              <a:t>¯</a:t>
            </a:r>
          </a:p>
        </p:txBody>
      </p:sp>
      <p:sp>
        <p:nvSpPr>
          <p:cNvPr id="110598" name="Text Box 6">
            <a:extLst>
              <a:ext uri="{FF2B5EF4-FFF2-40B4-BE49-F238E27FC236}">
                <a16:creationId xmlns:a16="http://schemas.microsoft.com/office/drawing/2014/main" id="{7E666678-EC77-A403-FF79-38693E5063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2250" y="2665413"/>
            <a:ext cx="387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  <a:sym typeface="Symbol" panose="05050102010706020507" pitchFamily="18" charset="2"/>
              </a:rPr>
              <a:t>¯</a:t>
            </a:r>
          </a:p>
        </p:txBody>
      </p:sp>
      <p:sp>
        <p:nvSpPr>
          <p:cNvPr id="53256" name="Text Box 7">
            <a:extLst>
              <a:ext uri="{FF2B5EF4-FFF2-40B4-BE49-F238E27FC236}">
                <a16:creationId xmlns:a16="http://schemas.microsoft.com/office/drawing/2014/main" id="{D765E28A-DDB3-A3AD-F6AB-6DE975AA8C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1563" y="2247900"/>
            <a:ext cx="3714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  <a:sym typeface="Symbol" panose="05050102010706020507" pitchFamily="18" charset="2"/>
              </a:rPr>
              <a:t>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6" grpId="0"/>
      <p:bldP spid="11059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>
            <a:extLst>
              <a:ext uri="{FF2B5EF4-FFF2-40B4-BE49-F238E27FC236}">
                <a16:creationId xmlns:a16="http://schemas.microsoft.com/office/drawing/2014/main" id="{89083C97-9DC2-76C4-9744-88C881074A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Set identities</a:t>
            </a:r>
          </a:p>
        </p:txBody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7D2B84E4-9F9E-910E-FEEF-9FF97A193B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Set identities are basic laws on how set operations work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Many have already been introduced on previous slides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Just like logical equivalences!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Replace U with </a:t>
            </a:r>
            <a:r>
              <a:rPr lang="en-US" altLang="en-US">
                <a:sym typeface="Symbol" panose="05050102010706020507" pitchFamily="18" charset="2"/>
              </a:rPr>
              <a:t>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sym typeface="Symbol" panose="05050102010706020507" pitchFamily="18" charset="2"/>
              </a:rPr>
              <a:t>Replace 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∩ with </a:t>
            </a:r>
            <a:r>
              <a:rPr lang="en-US" altLang="en-US">
                <a:sym typeface="Symbol" panose="05050102010706020507" pitchFamily="18" charset="2"/>
              </a:rPr>
              <a:t>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Replace </a:t>
            </a:r>
            <a:r>
              <a:rPr lang="en-US" altLang="en-US">
                <a:sym typeface="Symbol" panose="05050102010706020507" pitchFamily="18" charset="2"/>
              </a:rPr>
              <a:t> with F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Replace </a:t>
            </a:r>
            <a:r>
              <a:rPr lang="en-US" altLang="en-US" b="1" i="1">
                <a:latin typeface="Times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U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with T</a:t>
            </a:r>
          </a:p>
        </p:txBody>
      </p:sp>
      <p:sp>
        <p:nvSpPr>
          <p:cNvPr id="54276" name="Slide Number Placeholder 5">
            <a:extLst>
              <a:ext uri="{FF2B5EF4-FFF2-40B4-BE49-F238E27FC236}">
                <a16:creationId xmlns:a16="http://schemas.microsoft.com/office/drawing/2014/main" id="{B3AF65A2-9FFF-C38C-EE75-6CE8618D1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FCD0D49F-5599-4DF2-BA0E-4F8489224CF9}" type="slidenum">
              <a:rPr lang="en-US" altLang="en-US" sz="140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>
            <a:extLst>
              <a:ext uri="{FF2B5EF4-FFF2-40B4-BE49-F238E27FC236}">
                <a16:creationId xmlns:a16="http://schemas.microsoft.com/office/drawing/2014/main" id="{361083FC-B6DB-7006-E779-307227585F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Set identities: DE Morgan's LAWS</a:t>
            </a:r>
          </a:p>
        </p:txBody>
      </p:sp>
      <p:sp>
        <p:nvSpPr>
          <p:cNvPr id="55299" name="Rectangle 4">
            <a:extLst>
              <a:ext uri="{FF2B5EF4-FFF2-40B4-BE49-F238E27FC236}">
                <a16:creationId xmlns:a16="http://schemas.microsoft.com/office/drawing/2014/main" id="{C22D2B1E-AE9D-D7B4-D5B2-9C74A46022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These should look</a:t>
            </a:r>
            <a:br>
              <a:rPr lang="en-US" altLang="en-US"/>
            </a:br>
            <a:r>
              <a:rPr lang="en-US" altLang="en-US"/>
              <a:t>very familiar…</a:t>
            </a:r>
          </a:p>
        </p:txBody>
      </p:sp>
      <p:sp>
        <p:nvSpPr>
          <p:cNvPr id="55300" name="Slide Number Placeholder 5">
            <a:extLst>
              <a:ext uri="{FF2B5EF4-FFF2-40B4-BE49-F238E27FC236}">
                <a16:creationId xmlns:a16="http://schemas.microsoft.com/office/drawing/2014/main" id="{6F24699A-04F8-C8DC-B6A5-A40AAC3D9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AC2E72D5-5C73-4C58-A1E4-72EC95485563}" type="slidenum">
              <a:rPr lang="en-US" altLang="en-US" sz="140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graphicFrame>
        <p:nvGraphicFramePr>
          <p:cNvPr id="55301" name="Object 3">
            <a:extLst>
              <a:ext uri="{FF2B5EF4-FFF2-40B4-BE49-F238E27FC236}">
                <a16:creationId xmlns:a16="http://schemas.microsoft.com/office/drawing/2014/main" id="{43A77F5F-D6E6-7BE0-0600-93E3AEAD0E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0600" y="3200400"/>
          <a:ext cx="2971800" cy="159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01440" imgH="482400" progId="Equation.3">
                  <p:embed/>
                </p:oleObj>
              </mc:Choice>
              <mc:Fallback>
                <p:oleObj name="Equation" r:id="rId2" imgW="901440" imgH="482400" progId="Equation.3">
                  <p:embed/>
                  <p:pic>
                    <p:nvPicPr>
                      <p:cNvPr id="55301" name="Object 3">
                        <a:extLst>
                          <a:ext uri="{FF2B5EF4-FFF2-40B4-BE49-F238E27FC236}">
                            <a16:creationId xmlns:a16="http://schemas.microsoft.com/office/drawing/2014/main" id="{43A77F5F-D6E6-7BE0-0600-93E3AEAD0E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3200400"/>
                        <a:ext cx="2971800" cy="159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5302" name="Picture 5">
            <a:extLst>
              <a:ext uri="{FF2B5EF4-FFF2-40B4-BE49-F238E27FC236}">
                <a16:creationId xmlns:a16="http://schemas.microsoft.com/office/drawing/2014/main" id="{D7D26DB9-2F99-8AF3-85A3-F0D932CADD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676400"/>
            <a:ext cx="2552700" cy="3105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C8E73-9479-32F4-6BC2-DBBF2F87B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Set identities: Definition of Difference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628C9-1547-7E0E-9E08-6D00C3AE7B39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blipFill rotWithShape="0">
            <a:blip r:embed="rId2"/>
            <a:stretch>
              <a:fillRect l="-835" t="-353"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3A041A-89AF-36F4-5DD8-4E69350E6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fld id="{3CE640A5-7995-4297-816A-206F718222CB}" type="slidenum">
              <a:rPr lang="en-US" altLang="en-US" sz="1400"/>
              <a:pPr/>
              <a:t>42</a:t>
            </a:fld>
            <a:endParaRPr lang="en-US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>
            <a:extLst>
              <a:ext uri="{FF2B5EF4-FFF2-40B4-BE49-F238E27FC236}">
                <a16:creationId xmlns:a16="http://schemas.microsoft.com/office/drawing/2014/main" id="{7000C5DF-90E6-6070-F026-CADDD39A8D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/>
              <a:t>How to prove a set identity</a:t>
            </a:r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27AA654D-93AA-2292-ACB7-FD3B4C9898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Arial" panose="020B0604020202020204" pitchFamily="34" charset="0"/>
              </a:rPr>
              <a:t>For example: A∩B=B-(B-A)</a:t>
            </a:r>
            <a:endParaRPr lang="en-US" altLang="en-US"/>
          </a:p>
          <a:p>
            <a:pPr eaLnBrk="1" hangingPunct="1"/>
            <a:r>
              <a:rPr lang="en-US" altLang="en-US"/>
              <a:t>Four methods:</a:t>
            </a:r>
          </a:p>
          <a:p>
            <a:pPr lvl="1" eaLnBrk="1" hangingPunct="1"/>
            <a:r>
              <a:rPr lang="en-US" altLang="en-US"/>
              <a:t>Use the basic set identities</a:t>
            </a:r>
          </a:p>
          <a:p>
            <a:pPr lvl="1" eaLnBrk="1" hangingPunct="1"/>
            <a:r>
              <a:rPr lang="en-US" altLang="en-US"/>
              <a:t>Use Venn diagrams</a:t>
            </a:r>
          </a:p>
          <a:p>
            <a:pPr lvl="1" eaLnBrk="1" hangingPunct="1"/>
            <a:r>
              <a:rPr lang="en-US" altLang="en-US"/>
              <a:t>Prove each set is a subset of each other</a:t>
            </a:r>
          </a:p>
          <a:p>
            <a:pPr lvl="2" eaLnBrk="1" hangingPunct="1"/>
            <a:r>
              <a:rPr lang="en-US" altLang="en-US"/>
              <a:t>This is like proving that two numbers are equal by showing that each is less than or equal to the other</a:t>
            </a:r>
          </a:p>
          <a:p>
            <a:pPr lvl="1" eaLnBrk="1" hangingPunct="1"/>
            <a:r>
              <a:rPr lang="en-US" altLang="en-US"/>
              <a:t>Use set builder notation and logical equivalences</a:t>
            </a:r>
          </a:p>
        </p:txBody>
      </p:sp>
      <p:sp>
        <p:nvSpPr>
          <p:cNvPr id="57348" name="Slide Number Placeholder 5">
            <a:extLst>
              <a:ext uri="{FF2B5EF4-FFF2-40B4-BE49-F238E27FC236}">
                <a16:creationId xmlns:a16="http://schemas.microsoft.com/office/drawing/2014/main" id="{24F968EA-AC43-31C1-99C2-8313DA200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552F2988-41BA-4772-8967-0A2EF4905449}" type="slidenum">
              <a:rPr lang="en-US" altLang="en-US" sz="140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43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10" name="Rectangle 9">
            <a:extLst>
              <a:ext uri="{FF2B5EF4-FFF2-40B4-BE49-F238E27FC236}">
                <a16:creationId xmlns:a16="http://schemas.microsoft.com/office/drawing/2014/main" id="{FA209549-B77A-BA9E-9DDF-0F0C703C21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600" y="446088"/>
            <a:ext cx="6570663" cy="1049337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What we are going to prove…</a:t>
            </a:r>
          </a:p>
        </p:txBody>
      </p:sp>
      <p:sp>
        <p:nvSpPr>
          <p:cNvPr id="58371" name="Rectangle 10">
            <a:extLst>
              <a:ext uri="{FF2B5EF4-FFF2-40B4-BE49-F238E27FC236}">
                <a16:creationId xmlns:a16="http://schemas.microsoft.com/office/drawing/2014/main" id="{6D1218B7-8FD0-A4F5-7007-84977CE703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87363" y="1433513"/>
            <a:ext cx="8229600" cy="609600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 altLang="en-US">
                <a:cs typeface="Arial" panose="020B0604020202020204" pitchFamily="34" charset="0"/>
              </a:rPr>
              <a:t>A∩B=B-(B-A)</a:t>
            </a:r>
            <a:endParaRPr lang="en-US" altLang="en-US"/>
          </a:p>
        </p:txBody>
      </p:sp>
      <p:sp>
        <p:nvSpPr>
          <p:cNvPr id="58372" name="Slide Number Placeholder 5">
            <a:extLst>
              <a:ext uri="{FF2B5EF4-FFF2-40B4-BE49-F238E27FC236}">
                <a16:creationId xmlns:a16="http://schemas.microsoft.com/office/drawing/2014/main" id="{DB271E3D-217B-E95D-DD9F-5C7178C0D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34938" y="493713"/>
            <a:ext cx="793750" cy="504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A4841B13-C6FB-4784-BC91-7AD0A3263384}" type="slidenum">
              <a:rPr lang="en-US" altLang="en-US" sz="140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44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grpSp>
        <p:nvGrpSpPr>
          <p:cNvPr id="58373" name="Group 2">
            <a:extLst>
              <a:ext uri="{FF2B5EF4-FFF2-40B4-BE49-F238E27FC236}">
                <a16:creationId xmlns:a16="http://schemas.microsoft.com/office/drawing/2014/main" id="{CFFD3DFE-55D2-6E46-8CF6-F758E258AFBA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2133600" y="2895600"/>
            <a:ext cx="4418013" cy="2741613"/>
            <a:chOff x="1344" y="1824"/>
            <a:chExt cx="2783" cy="1727"/>
          </a:xfrm>
        </p:grpSpPr>
        <p:sp>
          <p:nvSpPr>
            <p:cNvPr id="58388" name="Oval 3">
              <a:extLst>
                <a:ext uri="{FF2B5EF4-FFF2-40B4-BE49-F238E27FC236}">
                  <a16:creationId xmlns:a16="http://schemas.microsoft.com/office/drawing/2014/main" id="{2218B6CE-FE96-0041-C436-430FD3D1E3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1824"/>
              <a:ext cx="1727" cy="17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58389" name="Oval 4">
              <a:extLst>
                <a:ext uri="{FF2B5EF4-FFF2-40B4-BE49-F238E27FC236}">
                  <a16:creationId xmlns:a16="http://schemas.microsoft.com/office/drawing/2014/main" id="{61DC2DF1-17EB-197A-732C-D797714820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824"/>
              <a:ext cx="1727" cy="17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</p:grpSp>
      <p:sp>
        <p:nvSpPr>
          <p:cNvPr id="58374" name="Rectangle 5">
            <a:extLst>
              <a:ext uri="{FF2B5EF4-FFF2-40B4-BE49-F238E27FC236}">
                <a16:creationId xmlns:a16="http://schemas.microsoft.com/office/drawing/2014/main" id="{EFBC10F0-0358-61C8-20DB-720551D45F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514600"/>
            <a:ext cx="5486400" cy="3429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grpSp>
        <p:nvGrpSpPr>
          <p:cNvPr id="115718" name="Group 6">
            <a:extLst>
              <a:ext uri="{FF2B5EF4-FFF2-40B4-BE49-F238E27FC236}">
                <a16:creationId xmlns:a16="http://schemas.microsoft.com/office/drawing/2014/main" id="{50B18B70-61D4-6215-4FEE-5078FE472971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2895600"/>
            <a:ext cx="4418013" cy="2741613"/>
            <a:chOff x="1344" y="1824"/>
            <a:chExt cx="2783" cy="1727"/>
          </a:xfrm>
        </p:grpSpPr>
        <p:sp>
          <p:nvSpPr>
            <p:cNvPr id="58386" name="Oval 7">
              <a:extLst>
                <a:ext uri="{FF2B5EF4-FFF2-40B4-BE49-F238E27FC236}">
                  <a16:creationId xmlns:a16="http://schemas.microsoft.com/office/drawing/2014/main" id="{AF8598D0-6014-2F46-99A6-8EFF3578EA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1824"/>
              <a:ext cx="1727" cy="17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58387" name="Oval 8">
              <a:extLst>
                <a:ext uri="{FF2B5EF4-FFF2-40B4-BE49-F238E27FC236}">
                  <a16:creationId xmlns:a16="http://schemas.microsoft.com/office/drawing/2014/main" id="{C7F16B84-DADA-7A8E-BDCE-9A1C98D9C0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824"/>
              <a:ext cx="1727" cy="17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</p:grpSp>
      <p:grpSp>
        <p:nvGrpSpPr>
          <p:cNvPr id="115723" name="Group 11">
            <a:extLst>
              <a:ext uri="{FF2B5EF4-FFF2-40B4-BE49-F238E27FC236}">
                <a16:creationId xmlns:a16="http://schemas.microsoft.com/office/drawing/2014/main" id="{2CADFEE6-C752-531A-2B9F-FF92002021CF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2362200"/>
            <a:ext cx="4038600" cy="3810000"/>
            <a:chOff x="1824" y="1488"/>
            <a:chExt cx="2544" cy="2400"/>
          </a:xfrm>
        </p:grpSpPr>
        <p:sp>
          <p:nvSpPr>
            <p:cNvPr id="58384" name="Oval 12">
              <a:extLst>
                <a:ext uri="{FF2B5EF4-FFF2-40B4-BE49-F238E27FC236}">
                  <a16:creationId xmlns:a16="http://schemas.microsoft.com/office/drawing/2014/main" id="{AC26686B-F289-CB1E-2F21-C87C794963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1824"/>
              <a:ext cx="1727" cy="17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58385" name="AutoShape 13">
              <a:extLst>
                <a:ext uri="{FF2B5EF4-FFF2-40B4-BE49-F238E27FC236}">
                  <a16:creationId xmlns:a16="http://schemas.microsoft.com/office/drawing/2014/main" id="{DEDD1218-6720-C9C0-F3BF-AC78EE7338F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824" y="1488"/>
              <a:ext cx="2544" cy="2400"/>
            </a:xfrm>
            <a:prstGeom prst="moon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ts val="10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600"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400"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ts val="500"/>
                </a:spcBef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45720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Char char="•"/>
                <a:defRPr sz="1200"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</p:grpSp>
      <p:sp>
        <p:nvSpPr>
          <p:cNvPr id="58377" name="Oval 14">
            <a:extLst>
              <a:ext uri="{FF2B5EF4-FFF2-40B4-BE49-F238E27FC236}">
                <a16:creationId xmlns:a16="http://schemas.microsoft.com/office/drawing/2014/main" id="{CB17D4DF-828B-9387-AF7C-43224F926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2895600"/>
            <a:ext cx="2741613" cy="2741613"/>
          </a:xfrm>
          <a:prstGeom prst="ellips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8378" name="Oval 15">
            <a:extLst>
              <a:ext uri="{FF2B5EF4-FFF2-40B4-BE49-F238E27FC236}">
                <a16:creationId xmlns:a16="http://schemas.microsoft.com/office/drawing/2014/main" id="{3A59E621-F4F0-2D7D-8FD2-48177968D6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895600"/>
            <a:ext cx="2741613" cy="2741613"/>
          </a:xfrm>
          <a:prstGeom prst="ellips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58379" name="Text Box 16">
            <a:extLst>
              <a:ext uri="{FF2B5EF4-FFF2-40B4-BE49-F238E27FC236}">
                <a16:creationId xmlns:a16="http://schemas.microsoft.com/office/drawing/2014/main" id="{8A4E0CED-5743-4D18-B0FA-9775D4207F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2971800"/>
            <a:ext cx="33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58380" name="Text Box 17">
            <a:extLst>
              <a:ext uri="{FF2B5EF4-FFF2-40B4-BE49-F238E27FC236}">
                <a16:creationId xmlns:a16="http://schemas.microsoft.com/office/drawing/2014/main" id="{E0259DCC-AB04-3346-1370-D599A70E6A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2971800"/>
            <a:ext cx="33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B</a:t>
            </a:r>
          </a:p>
        </p:txBody>
      </p:sp>
      <p:sp>
        <p:nvSpPr>
          <p:cNvPr id="58381" name="Rectangle 18">
            <a:extLst>
              <a:ext uri="{FF2B5EF4-FFF2-40B4-BE49-F238E27FC236}">
                <a16:creationId xmlns:a16="http://schemas.microsoft.com/office/drawing/2014/main" id="{1E6F08BA-6BFC-9380-2035-834273218F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2209800"/>
            <a:ext cx="6553200" cy="4114800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15732" name="Text Box 20">
            <a:extLst>
              <a:ext uri="{FF2B5EF4-FFF2-40B4-BE49-F238E27FC236}">
                <a16:creationId xmlns:a16="http://schemas.microsoft.com/office/drawing/2014/main" id="{9BFC6E38-0597-DDFD-AB41-CE5293490F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8450" y="4038600"/>
            <a:ext cx="565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B-A</a:t>
            </a:r>
          </a:p>
        </p:txBody>
      </p:sp>
      <p:sp>
        <p:nvSpPr>
          <p:cNvPr id="58383" name="Rectangle 1">
            <a:extLst>
              <a:ext uri="{FF2B5EF4-FFF2-40B4-BE49-F238E27FC236}">
                <a16:creationId xmlns:a16="http://schemas.microsoft.com/office/drawing/2014/main" id="{C481BC57-7998-0024-C543-89681DDF3B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0488" y="4005263"/>
            <a:ext cx="9540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B-(B-A)</a:t>
            </a:r>
            <a:endParaRPr lang="en-US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32" grpId="0"/>
      <p:bldP spid="115732" grpId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Rectangle 3">
            <a:extLst>
              <a:ext uri="{FF2B5EF4-FFF2-40B4-BE49-F238E27FC236}">
                <a16:creationId xmlns:a16="http://schemas.microsoft.com/office/drawing/2014/main" id="{7F961432-A44A-3328-F9C7-FF9D27E87F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0" y="271463"/>
            <a:ext cx="8229600" cy="11430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000" dirty="0"/>
              <a:t>Proof by using basic set identities</a:t>
            </a:r>
          </a:p>
        </p:txBody>
      </p:sp>
      <p:sp>
        <p:nvSpPr>
          <p:cNvPr id="58371" name="Rectangle 4">
            <a:extLst>
              <a:ext uri="{FF2B5EF4-FFF2-40B4-BE49-F238E27FC236}">
                <a16:creationId xmlns:a16="http://schemas.microsoft.com/office/drawing/2014/main" id="{97EC4CF1-41CB-0C1F-183B-1E3EEE5FC7BB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type="body" sz="half" idx="1"/>
          </p:nvPr>
        </p:nvSpPr>
        <p:spPr>
          <a:xfrm>
            <a:off x="381000" y="1371600"/>
            <a:ext cx="7620000" cy="762000"/>
          </a:xfrm>
          <a:blipFill rotWithShape="0">
            <a:blip r:embed="rId2"/>
            <a:stretch>
              <a:fillRect l="-1440" t="-3200"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59396" name="Slide Number Placeholder 6">
            <a:extLst>
              <a:ext uri="{FF2B5EF4-FFF2-40B4-BE49-F238E27FC236}">
                <a16:creationId xmlns:a16="http://schemas.microsoft.com/office/drawing/2014/main" id="{E69BEBEE-04EE-9747-5B64-B10716A54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28575" y="469900"/>
            <a:ext cx="795338" cy="504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ADF01C4A-B99F-4B8E-A400-3B199F682E4B}" type="slidenum">
              <a:rPr lang="en-US" altLang="en-US" sz="1400"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45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116738" name="Rectangle 2">
            <a:extLst>
              <a:ext uri="{FF2B5EF4-FFF2-40B4-BE49-F238E27FC236}">
                <a16:creationId xmlns:a16="http://schemas.microsoft.com/office/drawing/2014/main" id="{359F180E-FB84-BDF8-23BC-64D0503800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1905000"/>
            <a:ext cx="4191000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Definition of difference</a:t>
            </a:r>
          </a:p>
          <a:p>
            <a:pPr algn="just" eaLnBrk="1" hangingPunct="1"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Definition of difference</a:t>
            </a:r>
          </a:p>
          <a:p>
            <a:pPr algn="just" eaLnBrk="1" hangingPunct="1"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DeMorgan’s law</a:t>
            </a:r>
          </a:p>
          <a:p>
            <a:pPr algn="just" eaLnBrk="1" hangingPunct="1"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Complementation law</a:t>
            </a:r>
          </a:p>
          <a:p>
            <a:pPr algn="just" eaLnBrk="1" hangingPunct="1"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Distributive law</a:t>
            </a:r>
          </a:p>
          <a:p>
            <a:pPr algn="just" eaLnBrk="1" hangingPunct="1"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Complement law</a:t>
            </a:r>
          </a:p>
          <a:p>
            <a:pPr algn="just" eaLnBrk="1" hangingPunct="1"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Identity law</a:t>
            </a:r>
          </a:p>
          <a:p>
            <a:pPr algn="just" eaLnBrk="1" hangingPunct="1"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Commutative law</a:t>
            </a:r>
          </a:p>
        </p:txBody>
      </p:sp>
      <p:graphicFrame>
        <p:nvGraphicFramePr>
          <p:cNvPr id="116741" name="Object 5">
            <a:extLst>
              <a:ext uri="{FF2B5EF4-FFF2-40B4-BE49-F238E27FC236}">
                <a16:creationId xmlns:a16="http://schemas.microsoft.com/office/drawing/2014/main" id="{8ACE8CD8-1013-7916-E977-55ACD48B86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" y="1981200"/>
          <a:ext cx="264795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55700" imgH="228600" progId="Equation.3">
                  <p:embed/>
                </p:oleObj>
              </mc:Choice>
              <mc:Fallback>
                <p:oleObj name="Equation" r:id="rId3" imgW="1155700" imgH="228600" progId="Equation.3">
                  <p:embed/>
                  <p:pic>
                    <p:nvPicPr>
                      <p:cNvPr id="116741" name="Object 5">
                        <a:extLst>
                          <a:ext uri="{FF2B5EF4-FFF2-40B4-BE49-F238E27FC236}">
                            <a16:creationId xmlns:a16="http://schemas.microsoft.com/office/drawing/2014/main" id="{8ACE8CD8-1013-7916-E977-55ACD48B86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981200"/>
                        <a:ext cx="2647950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42" name="Object 6">
            <a:extLst>
              <a:ext uri="{FF2B5EF4-FFF2-40B4-BE49-F238E27FC236}">
                <a16:creationId xmlns:a16="http://schemas.microsoft.com/office/drawing/2014/main" id="{C875F2C0-A1F6-E693-CD05-97F4FC8CBC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2590800"/>
          <a:ext cx="1978025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63225" imgH="253890" progId="Equation.3">
                  <p:embed/>
                </p:oleObj>
              </mc:Choice>
              <mc:Fallback>
                <p:oleObj name="Equation" r:id="rId5" imgW="863225" imgH="253890" progId="Equation.3">
                  <p:embed/>
                  <p:pic>
                    <p:nvPicPr>
                      <p:cNvPr id="116742" name="Object 6">
                        <a:extLst>
                          <a:ext uri="{FF2B5EF4-FFF2-40B4-BE49-F238E27FC236}">
                            <a16:creationId xmlns:a16="http://schemas.microsoft.com/office/drawing/2014/main" id="{C875F2C0-A1F6-E693-CD05-97F4FC8CBC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590800"/>
                        <a:ext cx="1978025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43" name="Object 7">
            <a:extLst>
              <a:ext uri="{FF2B5EF4-FFF2-40B4-BE49-F238E27FC236}">
                <a16:creationId xmlns:a16="http://schemas.microsoft.com/office/drawing/2014/main" id="{DD977365-E07F-3A9D-8522-63D87D0E8A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3200400"/>
          <a:ext cx="2036763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88614" imgH="253890" progId="Equation.3">
                  <p:embed/>
                </p:oleObj>
              </mc:Choice>
              <mc:Fallback>
                <p:oleObj name="Equation" r:id="rId7" imgW="888614" imgH="253890" progId="Equation.3">
                  <p:embed/>
                  <p:pic>
                    <p:nvPicPr>
                      <p:cNvPr id="116743" name="Object 7">
                        <a:extLst>
                          <a:ext uri="{FF2B5EF4-FFF2-40B4-BE49-F238E27FC236}">
                            <a16:creationId xmlns:a16="http://schemas.microsoft.com/office/drawing/2014/main" id="{DD977365-E07F-3A9D-8522-63D87D0E8A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200400"/>
                        <a:ext cx="2036763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44" name="Object 8">
            <a:extLst>
              <a:ext uri="{FF2B5EF4-FFF2-40B4-BE49-F238E27FC236}">
                <a16:creationId xmlns:a16="http://schemas.microsoft.com/office/drawing/2014/main" id="{76FF8A3D-AA18-706A-5507-81EFFF99A6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3810000"/>
          <a:ext cx="197802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63225" imgH="228501" progId="Equation.3">
                  <p:embed/>
                </p:oleObj>
              </mc:Choice>
              <mc:Fallback>
                <p:oleObj name="Equation" r:id="rId9" imgW="863225" imgH="228501" progId="Equation.3">
                  <p:embed/>
                  <p:pic>
                    <p:nvPicPr>
                      <p:cNvPr id="116744" name="Object 8">
                        <a:extLst>
                          <a:ext uri="{FF2B5EF4-FFF2-40B4-BE49-F238E27FC236}">
                            <a16:creationId xmlns:a16="http://schemas.microsoft.com/office/drawing/2014/main" id="{76FF8A3D-AA18-706A-5507-81EFFF99A6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810000"/>
                        <a:ext cx="1978025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45" name="Object 9">
            <a:extLst>
              <a:ext uri="{FF2B5EF4-FFF2-40B4-BE49-F238E27FC236}">
                <a16:creationId xmlns:a16="http://schemas.microsoft.com/office/drawing/2014/main" id="{0BB66564-4D26-26CE-CA59-DF51905692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4419600"/>
          <a:ext cx="273367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193800" imgH="228600" progId="Equation.3">
                  <p:embed/>
                </p:oleObj>
              </mc:Choice>
              <mc:Fallback>
                <p:oleObj name="Equation" r:id="rId11" imgW="1193800" imgH="228600" progId="Equation.3">
                  <p:embed/>
                  <p:pic>
                    <p:nvPicPr>
                      <p:cNvPr id="116745" name="Object 9">
                        <a:extLst>
                          <a:ext uri="{FF2B5EF4-FFF2-40B4-BE49-F238E27FC236}">
                            <a16:creationId xmlns:a16="http://schemas.microsoft.com/office/drawing/2014/main" id="{0BB66564-4D26-26CE-CA59-DF51905692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4419600"/>
                        <a:ext cx="2733675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46" name="Object 10">
            <a:extLst>
              <a:ext uri="{FF2B5EF4-FFF2-40B4-BE49-F238E27FC236}">
                <a16:creationId xmlns:a16="http://schemas.microsoft.com/office/drawing/2014/main" id="{06A73B83-4620-593F-DD61-94E461C068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5029200"/>
          <a:ext cx="2008188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876300" imgH="203200" progId="Equation.3">
                  <p:embed/>
                </p:oleObj>
              </mc:Choice>
              <mc:Fallback>
                <p:oleObj name="Equation" r:id="rId13" imgW="876300" imgH="203200" progId="Equation.3">
                  <p:embed/>
                  <p:pic>
                    <p:nvPicPr>
                      <p:cNvPr id="116746" name="Object 10">
                        <a:extLst>
                          <a:ext uri="{FF2B5EF4-FFF2-40B4-BE49-F238E27FC236}">
                            <a16:creationId xmlns:a16="http://schemas.microsoft.com/office/drawing/2014/main" id="{06A73B83-4620-593F-DD61-94E461C068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5029200"/>
                        <a:ext cx="2008188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47" name="Object 11">
            <a:extLst>
              <a:ext uri="{FF2B5EF4-FFF2-40B4-BE49-F238E27FC236}">
                <a16:creationId xmlns:a16="http://schemas.microsoft.com/office/drawing/2014/main" id="{C8BBA7E6-FB54-EFC5-B3EB-0D06C2CDE9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5562600"/>
          <a:ext cx="1368425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596641" imgH="203112" progId="Equation.3">
                  <p:embed/>
                </p:oleObj>
              </mc:Choice>
              <mc:Fallback>
                <p:oleObj name="Equation" r:id="rId15" imgW="596641" imgH="203112" progId="Equation.3">
                  <p:embed/>
                  <p:pic>
                    <p:nvPicPr>
                      <p:cNvPr id="116747" name="Object 11">
                        <a:extLst>
                          <a:ext uri="{FF2B5EF4-FFF2-40B4-BE49-F238E27FC236}">
                            <a16:creationId xmlns:a16="http://schemas.microsoft.com/office/drawing/2014/main" id="{C8BBA7E6-FB54-EFC5-B3EB-0D06C2CDE9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5562600"/>
                        <a:ext cx="1368425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48" name="Object 12">
            <a:extLst>
              <a:ext uri="{FF2B5EF4-FFF2-40B4-BE49-F238E27FC236}">
                <a16:creationId xmlns:a16="http://schemas.microsoft.com/office/drawing/2014/main" id="{A7B772E2-B8E7-DE15-D090-87901D5C5F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6096000"/>
          <a:ext cx="1192213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520474" imgH="190417" progId="Equation.3">
                  <p:embed/>
                </p:oleObj>
              </mc:Choice>
              <mc:Fallback>
                <p:oleObj name="Equation" r:id="rId17" imgW="520474" imgH="190417" progId="Equation.3">
                  <p:embed/>
                  <p:pic>
                    <p:nvPicPr>
                      <p:cNvPr id="116748" name="Object 12">
                        <a:extLst>
                          <a:ext uri="{FF2B5EF4-FFF2-40B4-BE49-F238E27FC236}">
                            <a16:creationId xmlns:a16="http://schemas.microsoft.com/office/drawing/2014/main" id="{A7B772E2-B8E7-DE15-D090-87901D5C5F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6096000"/>
                        <a:ext cx="1192213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385C1-FE6B-9850-56F4-3394EBF715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55838" y="381000"/>
            <a:ext cx="5618162" cy="25415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Thank you!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64402A-23BB-27CC-23BE-FCFE6CE784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5538" y="3530600"/>
            <a:ext cx="5619750" cy="977900"/>
          </a:xfrm>
        </p:spPr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By:- Eng. A.l. Jubailah begum</a:t>
            </a:r>
          </a:p>
        </p:txBody>
      </p:sp>
      <p:sp>
        <p:nvSpPr>
          <p:cNvPr id="60420" name="Slide Number Placeholder 3">
            <a:extLst>
              <a:ext uri="{FF2B5EF4-FFF2-40B4-BE49-F238E27FC236}">
                <a16:creationId xmlns:a16="http://schemas.microsoft.com/office/drawing/2014/main" id="{69E0954E-1061-C38A-6FC4-FEE69084F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304800" y="381000"/>
            <a:ext cx="801688" cy="504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5D17884A-CB4A-432B-A58B-607E8096AE7D}" type="slidenum">
              <a:rPr lang="en-US" altLang="en-US" sz="1800">
                <a:solidFill>
                  <a:schemeClr val="accent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46</a:t>
            </a:fld>
            <a:endParaRPr lang="en-US" altLang="en-US" sz="18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1566</TotalTime>
  <Words>2737</Words>
  <Application>Microsoft Office PowerPoint</Application>
  <PresentationFormat>On-screen Show (4:3)</PresentationFormat>
  <Paragraphs>380</Paragraphs>
  <Slides>46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Gallery</vt:lpstr>
      <vt:lpstr>    Chapter 01: Set Theory</vt:lpstr>
      <vt:lpstr>What is a set?</vt:lpstr>
      <vt:lpstr>Set properties 1</vt:lpstr>
      <vt:lpstr>Set properties 2</vt:lpstr>
      <vt:lpstr>Specifying a set 1</vt:lpstr>
      <vt:lpstr>Specifying a set 2</vt:lpstr>
      <vt:lpstr>Specifying a set 3</vt:lpstr>
      <vt:lpstr>Often used sets</vt:lpstr>
      <vt:lpstr>The universal set 1</vt:lpstr>
      <vt:lpstr>The universal set 2</vt:lpstr>
      <vt:lpstr>Venn diagrams</vt:lpstr>
      <vt:lpstr>Sets of sets</vt:lpstr>
      <vt:lpstr>The empty set 1</vt:lpstr>
      <vt:lpstr>The empty set 1</vt:lpstr>
      <vt:lpstr>Set equality</vt:lpstr>
      <vt:lpstr>Subsets 1</vt:lpstr>
      <vt:lpstr>Subsets 2</vt:lpstr>
      <vt:lpstr>Subsets 3</vt:lpstr>
      <vt:lpstr>Proper Subsets 1</vt:lpstr>
      <vt:lpstr>Proper Subsets 2</vt:lpstr>
      <vt:lpstr>Proper subsets: Venn diagram</vt:lpstr>
      <vt:lpstr>Set cardinality</vt:lpstr>
      <vt:lpstr>Power sets 1</vt:lpstr>
      <vt:lpstr>Power sets 2</vt:lpstr>
      <vt:lpstr>Set Operations</vt:lpstr>
      <vt:lpstr>Set operations: Union </vt:lpstr>
      <vt:lpstr>Set operations: Union </vt:lpstr>
      <vt:lpstr>Set operations: Union </vt:lpstr>
      <vt:lpstr>Set operations: Intersection </vt:lpstr>
      <vt:lpstr>Set operations: Intersection </vt:lpstr>
      <vt:lpstr>Set operations: Intersection </vt:lpstr>
      <vt:lpstr>Disjoint sets </vt:lpstr>
      <vt:lpstr>Disjoint sets </vt:lpstr>
      <vt:lpstr>Set operations: Difference </vt:lpstr>
      <vt:lpstr>Set operations: Difference </vt:lpstr>
      <vt:lpstr>Set operations: Symmetric Difference </vt:lpstr>
      <vt:lpstr>Complement sets </vt:lpstr>
      <vt:lpstr>Complement sets </vt:lpstr>
      <vt:lpstr>Complement sets </vt:lpstr>
      <vt:lpstr>Set identities</vt:lpstr>
      <vt:lpstr>Set identities: DE Morgan's LAWS</vt:lpstr>
      <vt:lpstr>Set identities: Definition of Difference</vt:lpstr>
      <vt:lpstr>How to prove a set identity</vt:lpstr>
      <vt:lpstr>What we are going to prove…</vt:lpstr>
      <vt:lpstr>Proof by using basic set identities</vt:lpstr>
      <vt:lpstr>Thank you!</vt:lpstr>
    </vt:vector>
  </TitlesOfParts>
  <Company>University of Virginia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Sets</dc:title>
  <dc:creator>laptop</dc:creator>
  <cp:lastModifiedBy>Mohammed Naseer Sihanas</cp:lastModifiedBy>
  <cp:revision>107</cp:revision>
  <cp:lastPrinted>2018-07-25T05:17:01Z</cp:lastPrinted>
  <dcterms:created xsi:type="dcterms:W3CDTF">2004-08-07T17:26:26Z</dcterms:created>
  <dcterms:modified xsi:type="dcterms:W3CDTF">2025-01-26T16:12:30Z</dcterms:modified>
</cp:coreProperties>
</file>