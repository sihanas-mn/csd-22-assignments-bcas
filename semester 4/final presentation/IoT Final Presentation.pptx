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79" r:id="rId2"/>
    <p:sldId id="280" r:id="rId3"/>
    <p:sldId id="257" r:id="rId4"/>
    <p:sldId id="258" r:id="rId5"/>
    <p:sldId id="259" r:id="rId6"/>
    <p:sldId id="260" r:id="rId7"/>
    <p:sldId id="261" r:id="rId8"/>
    <p:sldId id="284" r:id="rId9"/>
    <p:sldId id="263" r:id="rId10"/>
    <p:sldId id="264" r:id="rId11"/>
    <p:sldId id="265" r:id="rId12"/>
    <p:sldId id="266" r:id="rId13"/>
    <p:sldId id="267" r:id="rId14"/>
    <p:sldId id="271" r:id="rId15"/>
    <p:sldId id="269" r:id="rId16"/>
    <p:sldId id="270" r:id="rId17"/>
    <p:sldId id="289" r:id="rId18"/>
    <p:sldId id="293" r:id="rId19"/>
    <p:sldId id="294" r:id="rId20"/>
    <p:sldId id="292" r:id="rId21"/>
    <p:sldId id="287" r:id="rId22"/>
    <p:sldId id="272" r:id="rId23"/>
    <p:sldId id="273" r:id="rId24"/>
    <p:sldId id="274" r:id="rId25"/>
    <p:sldId id="281" r:id="rId26"/>
    <p:sldId id="282" r:id="rId27"/>
    <p:sldId id="277" r:id="rId28"/>
    <p:sldId id="278" r:id="rId29"/>
    <p:sldId id="285" r:id="rId30"/>
    <p:sldId id="28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68"/>
    <p:restoredTop sz="90327" autoAdjust="0"/>
  </p:normalViewPr>
  <p:slideViewPr>
    <p:cSldViewPr snapToGrid="0">
      <p:cViewPr>
        <p:scale>
          <a:sx n="100" d="100"/>
          <a:sy n="100" d="100"/>
        </p:scale>
        <p:origin x="-365"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E375E9-8CE9-408B-BB56-B0749D90D182}" type="datetimeFigureOut">
              <a:rPr lang="en-GB" smtClean="0"/>
              <a:t>17/09/2025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231C2-0792-4252-ACD3-93C478EAD241}" type="slidenum">
              <a:rPr lang="en-GB" smtClean="0"/>
              <a:t>‹#›</a:t>
            </a:fld>
            <a:endParaRPr lang="en-GB"/>
          </a:p>
        </p:txBody>
      </p:sp>
    </p:spTree>
    <p:extLst>
      <p:ext uri="{BB962C8B-B14F-4D97-AF65-F5344CB8AC3E}">
        <p14:creationId xmlns:p14="http://schemas.microsoft.com/office/powerpoint/2010/main" val="3926782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main problems this project addresses are undetected gas leaks and fire hazards that can cause serious damage. Traditional systems often provide only local alarms and lack real-time alerts, which delays response. Without IoT integration, remote monitoring is limited, making safety measures less effective in critical situations.</a:t>
            </a:r>
            <a:endParaRPr lang="en-US" dirty="0"/>
          </a:p>
        </p:txBody>
      </p:sp>
      <p:sp>
        <p:nvSpPr>
          <p:cNvPr id="4" name="Slide Number Placeholder 3"/>
          <p:cNvSpPr>
            <a:spLocks noGrp="1"/>
          </p:cNvSpPr>
          <p:nvPr>
            <p:ph type="sldNum" sz="quarter" idx="5"/>
          </p:nvPr>
        </p:nvSpPr>
        <p:spPr/>
        <p:txBody>
          <a:bodyPr/>
          <a:lstStyle/>
          <a:p>
            <a:fld id="{E3C231C2-0792-4252-ACD3-93C478EAD241}" type="slidenum">
              <a:rPr lang="en-GB" smtClean="0"/>
              <a:t>6</a:t>
            </a:fld>
            <a:endParaRPr lang="en-GB"/>
          </a:p>
        </p:txBody>
      </p:sp>
    </p:spTree>
    <p:extLst>
      <p:ext uri="{BB962C8B-B14F-4D97-AF65-F5344CB8AC3E}">
        <p14:creationId xmlns:p14="http://schemas.microsoft.com/office/powerpoint/2010/main" val="2800124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objectives are to detect gas leaks and fire hazards automatically, provide local alerts through a buzzer and LEDs, and enable remote monitoring using the Blynk app. Altogether, the system is designed to improve safety by allowing quick detection and response.</a:t>
            </a:r>
            <a:endParaRPr lang="en-US" dirty="0"/>
          </a:p>
        </p:txBody>
      </p:sp>
      <p:sp>
        <p:nvSpPr>
          <p:cNvPr id="4" name="Slide Number Placeholder 3"/>
          <p:cNvSpPr>
            <a:spLocks noGrp="1"/>
          </p:cNvSpPr>
          <p:nvPr>
            <p:ph type="sldNum" sz="quarter" idx="5"/>
          </p:nvPr>
        </p:nvSpPr>
        <p:spPr/>
        <p:txBody>
          <a:bodyPr/>
          <a:lstStyle/>
          <a:p>
            <a:fld id="{E3C231C2-0792-4252-ACD3-93C478EAD241}" type="slidenum">
              <a:rPr lang="en-GB" smtClean="0"/>
              <a:t>8</a:t>
            </a:fld>
            <a:endParaRPr lang="en-GB"/>
          </a:p>
        </p:txBody>
      </p:sp>
    </p:spTree>
    <p:extLst>
      <p:ext uri="{BB962C8B-B14F-4D97-AF65-F5344CB8AC3E}">
        <p14:creationId xmlns:p14="http://schemas.microsoft.com/office/powerpoint/2010/main" val="4138261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proposed solution is an IoT-based gas and flame detection system that combines ESP32, MQ2, and flame sensors. It gives local alerts through a buzzer and LEDs, while also sending real-time notifications to the Blynk app. This setup ensures early detection, improves safety, and provides a scalable and cost-effective approach to hazard prevention.</a:t>
            </a:r>
            <a:endParaRPr lang="en-US" dirty="0"/>
          </a:p>
        </p:txBody>
      </p:sp>
      <p:sp>
        <p:nvSpPr>
          <p:cNvPr id="4" name="Slide Number Placeholder 3"/>
          <p:cNvSpPr>
            <a:spLocks noGrp="1"/>
          </p:cNvSpPr>
          <p:nvPr>
            <p:ph type="sldNum" sz="quarter" idx="5"/>
          </p:nvPr>
        </p:nvSpPr>
        <p:spPr/>
        <p:txBody>
          <a:bodyPr/>
          <a:lstStyle/>
          <a:p>
            <a:fld id="{E3C231C2-0792-4252-ACD3-93C478EAD241}" type="slidenum">
              <a:rPr lang="en-GB" smtClean="0"/>
              <a:t>10</a:t>
            </a:fld>
            <a:endParaRPr lang="en-GB"/>
          </a:p>
        </p:txBody>
      </p:sp>
    </p:spTree>
    <p:extLst>
      <p:ext uri="{BB962C8B-B14F-4D97-AF65-F5344CB8AC3E}">
        <p14:creationId xmlns:p14="http://schemas.microsoft.com/office/powerpoint/2010/main" val="2199921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system follows a typical IoT architecture. In the perception layer, MQ2 and flame sensors collect data while the buzzer and LEDs provide local alerts. The transport layer uses Wi-Fi on ESP32 to send data to the cloud. In the processing layer, ESP32 interprets the sensor inputs and triggers alerts. The application layer is the Blynk app, which gives real-time notifications to users. Finally, the business layer ensures that the system improves safety and offers a scalable solution for hazard detection.</a:t>
            </a:r>
            <a:endParaRPr lang="en-US" dirty="0"/>
          </a:p>
        </p:txBody>
      </p:sp>
      <p:sp>
        <p:nvSpPr>
          <p:cNvPr id="4" name="Slide Number Placeholder 3"/>
          <p:cNvSpPr>
            <a:spLocks noGrp="1"/>
          </p:cNvSpPr>
          <p:nvPr>
            <p:ph type="sldNum" sz="quarter" idx="5"/>
          </p:nvPr>
        </p:nvSpPr>
        <p:spPr/>
        <p:txBody>
          <a:bodyPr/>
          <a:lstStyle/>
          <a:p>
            <a:fld id="{E3C231C2-0792-4252-ACD3-93C478EAD241}" type="slidenum">
              <a:rPr lang="en-GB" smtClean="0"/>
              <a:t>12</a:t>
            </a:fld>
            <a:endParaRPr lang="en-GB"/>
          </a:p>
        </p:txBody>
      </p:sp>
    </p:spTree>
    <p:extLst>
      <p:ext uri="{BB962C8B-B14F-4D97-AF65-F5344CB8AC3E}">
        <p14:creationId xmlns:p14="http://schemas.microsoft.com/office/powerpoint/2010/main" val="425519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the software side, we used Arduino IDE to implement and upload the code to the ESP32. The Blynk app was used for remote monitoring and alerts. We also integrated the Blynk library and ESP32 library, which made communication and hardware support possible.</a:t>
            </a:r>
            <a:endParaRPr lang="en-US" dirty="0"/>
          </a:p>
        </p:txBody>
      </p:sp>
      <p:sp>
        <p:nvSpPr>
          <p:cNvPr id="4" name="Slide Number Placeholder 3"/>
          <p:cNvSpPr>
            <a:spLocks noGrp="1"/>
          </p:cNvSpPr>
          <p:nvPr>
            <p:ph type="sldNum" sz="quarter" idx="5"/>
          </p:nvPr>
        </p:nvSpPr>
        <p:spPr/>
        <p:txBody>
          <a:bodyPr/>
          <a:lstStyle/>
          <a:p>
            <a:fld id="{E3C231C2-0792-4252-ACD3-93C478EAD241}" type="slidenum">
              <a:rPr lang="en-GB" smtClean="0"/>
              <a:t>14</a:t>
            </a:fld>
            <a:endParaRPr lang="en-GB"/>
          </a:p>
        </p:txBody>
      </p:sp>
    </p:spTree>
    <p:extLst>
      <p:ext uri="{BB962C8B-B14F-4D97-AF65-F5344CB8AC3E}">
        <p14:creationId xmlns:p14="http://schemas.microsoft.com/office/powerpoint/2010/main" val="3429416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the hardware, we used ESP32 as the core controller, with MQ2 and flame sensors for detection. LEDs with resistors were added for visual alerts, and a buzzer for sound alarms. A breadboard and jumper wires helped us assemble the circuit neatly.</a:t>
            </a:r>
            <a:endParaRPr lang="en-US" dirty="0"/>
          </a:p>
        </p:txBody>
      </p:sp>
      <p:sp>
        <p:nvSpPr>
          <p:cNvPr id="4" name="Slide Number Placeholder 3"/>
          <p:cNvSpPr>
            <a:spLocks noGrp="1"/>
          </p:cNvSpPr>
          <p:nvPr>
            <p:ph type="sldNum" sz="quarter" idx="5"/>
          </p:nvPr>
        </p:nvSpPr>
        <p:spPr/>
        <p:txBody>
          <a:bodyPr/>
          <a:lstStyle/>
          <a:p>
            <a:fld id="{E3C231C2-0792-4252-ACD3-93C478EAD241}" type="slidenum">
              <a:rPr lang="en-GB" smtClean="0"/>
              <a:t>15</a:t>
            </a:fld>
            <a:endParaRPr lang="en-GB"/>
          </a:p>
        </p:txBody>
      </p:sp>
    </p:spTree>
    <p:extLst>
      <p:ext uri="{BB962C8B-B14F-4D97-AF65-F5344CB8AC3E}">
        <p14:creationId xmlns:p14="http://schemas.microsoft.com/office/powerpoint/2010/main" val="2283141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 me explain how the system works in real use. Once the ESP32 is powered on, the sensors start monitoring the environment. If the gas sensor detects harmful gases, the gas LED will light up, the buzzer will sound, and an alert is sent to the Blynk app. Similarly, if the flame sensor detects fire, the flame LED turns on, the buzzer sounds, and the app notifies the user. If nothing is detected, the system stays in standby mode. This ensures real-time detection and quick alerts for safety.</a:t>
            </a:r>
            <a:endParaRPr lang="en-US" dirty="0"/>
          </a:p>
        </p:txBody>
      </p:sp>
      <p:sp>
        <p:nvSpPr>
          <p:cNvPr id="4" name="Slide Number Placeholder 3"/>
          <p:cNvSpPr>
            <a:spLocks noGrp="1"/>
          </p:cNvSpPr>
          <p:nvPr>
            <p:ph type="sldNum" sz="quarter" idx="5"/>
          </p:nvPr>
        </p:nvSpPr>
        <p:spPr/>
        <p:txBody>
          <a:bodyPr/>
          <a:lstStyle/>
          <a:p>
            <a:fld id="{E3C231C2-0792-4252-ACD3-93C478EAD241}" type="slidenum">
              <a:rPr lang="en-GB" smtClean="0"/>
              <a:t>20</a:t>
            </a:fld>
            <a:endParaRPr lang="en-GB"/>
          </a:p>
        </p:txBody>
      </p:sp>
    </p:spTree>
    <p:extLst>
      <p:ext uri="{BB962C8B-B14F-4D97-AF65-F5344CB8AC3E}">
        <p14:creationId xmlns:p14="http://schemas.microsoft.com/office/powerpoint/2010/main" val="3196622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first assembled the ESP32, sensors, LEDs, and buzzer as per the circuit diagram. Then, we wrote the code in Arduino IDE and configured the Blynk app for real-time alerts. We tested the sensors and alarms, adjusted sensitivity, and refined the system to ensure reliable detection of gas leaks and flames.</a:t>
            </a:r>
            <a:endParaRPr lang="en-US" dirty="0"/>
          </a:p>
        </p:txBody>
      </p:sp>
      <p:sp>
        <p:nvSpPr>
          <p:cNvPr id="4" name="Slide Number Placeholder 3"/>
          <p:cNvSpPr>
            <a:spLocks noGrp="1"/>
          </p:cNvSpPr>
          <p:nvPr>
            <p:ph type="sldNum" sz="quarter" idx="5"/>
          </p:nvPr>
        </p:nvSpPr>
        <p:spPr/>
        <p:txBody>
          <a:bodyPr/>
          <a:lstStyle/>
          <a:p>
            <a:fld id="{E3C231C2-0792-4252-ACD3-93C478EAD241}" type="slidenum">
              <a:rPr lang="en-GB" smtClean="0"/>
              <a:t>22</a:t>
            </a:fld>
            <a:endParaRPr lang="en-GB"/>
          </a:p>
        </p:txBody>
      </p:sp>
    </p:spTree>
    <p:extLst>
      <p:ext uri="{BB962C8B-B14F-4D97-AF65-F5344CB8AC3E}">
        <p14:creationId xmlns:p14="http://schemas.microsoft.com/office/powerpoint/2010/main" val="1346038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system improves safety by providing instant alerts for gas leaks and flames. Users can monitor conditions remotely via the Blynk app. Early detection helps reduce damage, while preventing accidents saves costs. The system is also scalable for future IoT integrations</a:t>
            </a:r>
            <a:endParaRPr lang="en-US" dirty="0"/>
          </a:p>
        </p:txBody>
      </p:sp>
      <p:sp>
        <p:nvSpPr>
          <p:cNvPr id="4" name="Slide Number Placeholder 3"/>
          <p:cNvSpPr>
            <a:spLocks noGrp="1"/>
          </p:cNvSpPr>
          <p:nvPr>
            <p:ph type="sldNum" sz="quarter" idx="5"/>
          </p:nvPr>
        </p:nvSpPr>
        <p:spPr/>
        <p:txBody>
          <a:bodyPr/>
          <a:lstStyle/>
          <a:p>
            <a:fld id="{E3C231C2-0792-4252-ACD3-93C478EAD241}" type="slidenum">
              <a:rPr lang="en-GB" smtClean="0"/>
              <a:t>24</a:t>
            </a:fld>
            <a:endParaRPr lang="en-GB"/>
          </a:p>
        </p:txBody>
      </p:sp>
    </p:spTree>
    <p:extLst>
      <p:ext uri="{BB962C8B-B14F-4D97-AF65-F5344CB8AC3E}">
        <p14:creationId xmlns:p14="http://schemas.microsoft.com/office/powerpoint/2010/main" val="584725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summary, our system ensures real-time safety monitoring, making homes and workplaces safer from fire and gas hazards. It provides peace of mind for users and reduces potential losses. In the future, it can be integrated with more IoT devices and include features like automated emergency responses and cloud analytics.</a:t>
            </a:r>
            <a:endParaRPr lang="en-US" dirty="0"/>
          </a:p>
        </p:txBody>
      </p:sp>
      <p:sp>
        <p:nvSpPr>
          <p:cNvPr id="4" name="Slide Number Placeholder 3"/>
          <p:cNvSpPr>
            <a:spLocks noGrp="1"/>
          </p:cNvSpPr>
          <p:nvPr>
            <p:ph type="sldNum" sz="quarter" idx="5"/>
          </p:nvPr>
        </p:nvSpPr>
        <p:spPr/>
        <p:txBody>
          <a:bodyPr/>
          <a:lstStyle/>
          <a:p>
            <a:fld id="{E3C231C2-0792-4252-ACD3-93C478EAD241}" type="slidenum">
              <a:rPr lang="en-GB" smtClean="0"/>
              <a:t>28</a:t>
            </a:fld>
            <a:endParaRPr lang="en-GB"/>
          </a:p>
        </p:txBody>
      </p:sp>
    </p:spTree>
    <p:extLst>
      <p:ext uri="{BB962C8B-B14F-4D97-AF65-F5344CB8AC3E}">
        <p14:creationId xmlns:p14="http://schemas.microsoft.com/office/powerpoint/2010/main" val="1808060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C5B75-7555-2A51-A162-65202DD392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6E02DD5-E2E4-8717-859C-98E01B6B01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BFC2A57-FF91-1CE7-75A4-D65294042EEA}"/>
              </a:ext>
            </a:extLst>
          </p:cNvPr>
          <p:cNvSpPr>
            <a:spLocks noGrp="1"/>
          </p:cNvSpPr>
          <p:nvPr>
            <p:ph type="dt" sz="half" idx="10"/>
          </p:nvPr>
        </p:nvSpPr>
        <p:spPr/>
        <p:txBody>
          <a:bodyPr/>
          <a:lstStyle/>
          <a:p>
            <a:fld id="{98E4D632-757A-4584-83C1-75D501801B97}" type="datetime1">
              <a:rPr lang="en-GB" smtClean="0"/>
              <a:t>17/09/2025</a:t>
            </a:fld>
            <a:endParaRPr lang="en-GB"/>
          </a:p>
        </p:txBody>
      </p:sp>
      <p:sp>
        <p:nvSpPr>
          <p:cNvPr id="5" name="Footer Placeholder 4">
            <a:extLst>
              <a:ext uri="{FF2B5EF4-FFF2-40B4-BE49-F238E27FC236}">
                <a16:creationId xmlns:a16="http://schemas.microsoft.com/office/drawing/2014/main" id="{FA13A605-ABBC-EFF2-FB6D-12A74665CF2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A69D61A-A343-EFD9-AE83-DE9985C5C5E3}"/>
              </a:ext>
            </a:extLst>
          </p:cNvPr>
          <p:cNvSpPr>
            <a:spLocks noGrp="1"/>
          </p:cNvSpPr>
          <p:nvPr>
            <p:ph type="sldNum" sz="quarter" idx="12"/>
          </p:nvPr>
        </p:nvSpPr>
        <p:spPr/>
        <p:txBody>
          <a:bodyPr/>
          <a:lstStyle/>
          <a:p>
            <a:fld id="{69D26C72-FEAF-4822-88A6-747C9CAACBDB}" type="slidenum">
              <a:rPr lang="en-GB" smtClean="0"/>
              <a:t>‹#›</a:t>
            </a:fld>
            <a:endParaRPr lang="en-GB"/>
          </a:p>
        </p:txBody>
      </p:sp>
    </p:spTree>
    <p:extLst>
      <p:ext uri="{BB962C8B-B14F-4D97-AF65-F5344CB8AC3E}">
        <p14:creationId xmlns:p14="http://schemas.microsoft.com/office/powerpoint/2010/main" val="1116291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F7D88-3532-A651-A948-E064EF9FFDD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86B351F-05BF-EA88-8808-F6C213754A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FFD19-85E2-CDBA-54C9-DC30255E5B5A}"/>
              </a:ext>
            </a:extLst>
          </p:cNvPr>
          <p:cNvSpPr>
            <a:spLocks noGrp="1"/>
          </p:cNvSpPr>
          <p:nvPr>
            <p:ph type="dt" sz="half" idx="10"/>
          </p:nvPr>
        </p:nvSpPr>
        <p:spPr/>
        <p:txBody>
          <a:bodyPr/>
          <a:lstStyle/>
          <a:p>
            <a:fld id="{706EB1D8-2C6F-476B-87B6-F958BE5E9EBF}" type="datetime1">
              <a:rPr lang="en-GB" smtClean="0"/>
              <a:t>17/09/2025</a:t>
            </a:fld>
            <a:endParaRPr lang="en-GB"/>
          </a:p>
        </p:txBody>
      </p:sp>
      <p:sp>
        <p:nvSpPr>
          <p:cNvPr id="5" name="Footer Placeholder 4">
            <a:extLst>
              <a:ext uri="{FF2B5EF4-FFF2-40B4-BE49-F238E27FC236}">
                <a16:creationId xmlns:a16="http://schemas.microsoft.com/office/drawing/2014/main" id="{D652D70B-E751-9AE5-3646-EE8778A92D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0B7AC89-3BCF-558E-5D7C-992AF9C370F1}"/>
              </a:ext>
            </a:extLst>
          </p:cNvPr>
          <p:cNvSpPr>
            <a:spLocks noGrp="1"/>
          </p:cNvSpPr>
          <p:nvPr>
            <p:ph type="sldNum" sz="quarter" idx="12"/>
          </p:nvPr>
        </p:nvSpPr>
        <p:spPr/>
        <p:txBody>
          <a:bodyPr/>
          <a:lstStyle/>
          <a:p>
            <a:fld id="{69D26C72-FEAF-4822-88A6-747C9CAACBDB}" type="slidenum">
              <a:rPr lang="en-GB" smtClean="0"/>
              <a:t>‹#›</a:t>
            </a:fld>
            <a:endParaRPr lang="en-GB"/>
          </a:p>
        </p:txBody>
      </p:sp>
    </p:spTree>
    <p:extLst>
      <p:ext uri="{BB962C8B-B14F-4D97-AF65-F5344CB8AC3E}">
        <p14:creationId xmlns:p14="http://schemas.microsoft.com/office/powerpoint/2010/main" val="380231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D74E5-468A-736F-4C68-87926668F7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DAE2AB4-64AE-1156-57CC-32AAE6A55D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43A673-79E4-3149-F9B8-8B6291F63864}"/>
              </a:ext>
            </a:extLst>
          </p:cNvPr>
          <p:cNvSpPr>
            <a:spLocks noGrp="1"/>
          </p:cNvSpPr>
          <p:nvPr>
            <p:ph type="dt" sz="half" idx="10"/>
          </p:nvPr>
        </p:nvSpPr>
        <p:spPr/>
        <p:txBody>
          <a:bodyPr/>
          <a:lstStyle/>
          <a:p>
            <a:fld id="{BFE68681-70EA-488F-B4D8-F120D49086DF}" type="datetime1">
              <a:rPr lang="en-GB" smtClean="0"/>
              <a:t>17/09/2025</a:t>
            </a:fld>
            <a:endParaRPr lang="en-GB"/>
          </a:p>
        </p:txBody>
      </p:sp>
      <p:sp>
        <p:nvSpPr>
          <p:cNvPr id="5" name="Footer Placeholder 4">
            <a:extLst>
              <a:ext uri="{FF2B5EF4-FFF2-40B4-BE49-F238E27FC236}">
                <a16:creationId xmlns:a16="http://schemas.microsoft.com/office/drawing/2014/main" id="{F89D7714-227F-0516-8F98-0646A58FBDD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FF47D1-0BC7-8A54-3B9D-77EF3D510246}"/>
              </a:ext>
            </a:extLst>
          </p:cNvPr>
          <p:cNvSpPr>
            <a:spLocks noGrp="1"/>
          </p:cNvSpPr>
          <p:nvPr>
            <p:ph type="sldNum" sz="quarter" idx="12"/>
          </p:nvPr>
        </p:nvSpPr>
        <p:spPr/>
        <p:txBody>
          <a:bodyPr/>
          <a:lstStyle/>
          <a:p>
            <a:fld id="{69D26C72-FEAF-4822-88A6-747C9CAACBDB}" type="slidenum">
              <a:rPr lang="en-GB" smtClean="0"/>
              <a:t>‹#›</a:t>
            </a:fld>
            <a:endParaRPr lang="en-GB"/>
          </a:p>
        </p:txBody>
      </p:sp>
    </p:spTree>
    <p:extLst>
      <p:ext uri="{BB962C8B-B14F-4D97-AF65-F5344CB8AC3E}">
        <p14:creationId xmlns:p14="http://schemas.microsoft.com/office/powerpoint/2010/main" val="856347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C0F0B-8D23-E553-471E-DB1CE7B0A0A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29DE2A7-CB54-A895-29AC-45DA6670F3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94B6AA7-0ADD-1875-CAF3-ED5AF04B1A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AFEE188-10A4-DCFC-5602-6D72A962F19F}"/>
              </a:ext>
            </a:extLst>
          </p:cNvPr>
          <p:cNvSpPr>
            <a:spLocks noGrp="1"/>
          </p:cNvSpPr>
          <p:nvPr>
            <p:ph type="dt" sz="half" idx="10"/>
          </p:nvPr>
        </p:nvSpPr>
        <p:spPr/>
        <p:txBody>
          <a:bodyPr/>
          <a:lstStyle/>
          <a:p>
            <a:fld id="{28D3B709-32F7-4D53-BB40-5DCCDC12682C}" type="datetime1">
              <a:rPr lang="en-GB" smtClean="0"/>
              <a:t>17/09/2025</a:t>
            </a:fld>
            <a:endParaRPr lang="en-GB"/>
          </a:p>
        </p:txBody>
      </p:sp>
      <p:sp>
        <p:nvSpPr>
          <p:cNvPr id="6" name="Footer Placeholder 5">
            <a:extLst>
              <a:ext uri="{FF2B5EF4-FFF2-40B4-BE49-F238E27FC236}">
                <a16:creationId xmlns:a16="http://schemas.microsoft.com/office/drawing/2014/main" id="{6C1961A5-2BF3-8D6A-AF6C-C4CC5C3099C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F13409E-5EA0-367A-00D4-178A2897407F}"/>
              </a:ext>
            </a:extLst>
          </p:cNvPr>
          <p:cNvSpPr>
            <a:spLocks noGrp="1"/>
          </p:cNvSpPr>
          <p:nvPr>
            <p:ph type="sldNum" sz="quarter" idx="12"/>
          </p:nvPr>
        </p:nvSpPr>
        <p:spPr/>
        <p:txBody>
          <a:bodyPr/>
          <a:lstStyle/>
          <a:p>
            <a:fld id="{69D26C72-FEAF-4822-88A6-747C9CAACBDB}" type="slidenum">
              <a:rPr lang="en-GB" smtClean="0"/>
              <a:t>‹#›</a:t>
            </a:fld>
            <a:endParaRPr lang="en-GB"/>
          </a:p>
        </p:txBody>
      </p:sp>
    </p:spTree>
    <p:extLst>
      <p:ext uri="{BB962C8B-B14F-4D97-AF65-F5344CB8AC3E}">
        <p14:creationId xmlns:p14="http://schemas.microsoft.com/office/powerpoint/2010/main" val="2799932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C8A49-1578-00D5-21D2-CEE8F801006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07BED17-37DB-F247-7593-C9F60A4075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16F00E-0332-6CE6-3A8F-5EBC519CE0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6B89D37-2A3B-CC2F-1086-B29813F6A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A6290B-3C96-46BA-9718-73CB32F7DF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EE144F0-759F-45E2-EE8E-B99ADAEB644A}"/>
              </a:ext>
            </a:extLst>
          </p:cNvPr>
          <p:cNvSpPr>
            <a:spLocks noGrp="1"/>
          </p:cNvSpPr>
          <p:nvPr>
            <p:ph type="dt" sz="half" idx="10"/>
          </p:nvPr>
        </p:nvSpPr>
        <p:spPr/>
        <p:txBody>
          <a:bodyPr/>
          <a:lstStyle/>
          <a:p>
            <a:fld id="{64F09E05-5186-4FF8-9858-A759DF0F3C48}" type="datetime1">
              <a:rPr lang="en-GB" smtClean="0"/>
              <a:t>17/09/2025</a:t>
            </a:fld>
            <a:endParaRPr lang="en-GB"/>
          </a:p>
        </p:txBody>
      </p:sp>
      <p:sp>
        <p:nvSpPr>
          <p:cNvPr id="8" name="Footer Placeholder 7">
            <a:extLst>
              <a:ext uri="{FF2B5EF4-FFF2-40B4-BE49-F238E27FC236}">
                <a16:creationId xmlns:a16="http://schemas.microsoft.com/office/drawing/2014/main" id="{7C88CA9C-D49C-604A-371A-F88A0DA0EFD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DCDA076-17E6-94CB-E31D-88773BF20EBE}"/>
              </a:ext>
            </a:extLst>
          </p:cNvPr>
          <p:cNvSpPr>
            <a:spLocks noGrp="1"/>
          </p:cNvSpPr>
          <p:nvPr>
            <p:ph type="sldNum" sz="quarter" idx="12"/>
          </p:nvPr>
        </p:nvSpPr>
        <p:spPr/>
        <p:txBody>
          <a:bodyPr/>
          <a:lstStyle/>
          <a:p>
            <a:fld id="{69D26C72-FEAF-4822-88A6-747C9CAACBDB}" type="slidenum">
              <a:rPr lang="en-GB" smtClean="0"/>
              <a:t>‹#›</a:t>
            </a:fld>
            <a:endParaRPr lang="en-GB"/>
          </a:p>
        </p:txBody>
      </p:sp>
    </p:spTree>
    <p:extLst>
      <p:ext uri="{BB962C8B-B14F-4D97-AF65-F5344CB8AC3E}">
        <p14:creationId xmlns:p14="http://schemas.microsoft.com/office/powerpoint/2010/main" val="188230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96C5E-2341-4C9C-1BE4-2F937BF87D8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264F389-2F7C-5F63-89F3-68911F59C92F}"/>
              </a:ext>
            </a:extLst>
          </p:cNvPr>
          <p:cNvSpPr>
            <a:spLocks noGrp="1"/>
          </p:cNvSpPr>
          <p:nvPr>
            <p:ph type="dt" sz="half" idx="10"/>
          </p:nvPr>
        </p:nvSpPr>
        <p:spPr/>
        <p:txBody>
          <a:bodyPr/>
          <a:lstStyle/>
          <a:p>
            <a:fld id="{540B6B68-28FD-4AB3-9948-F5A3CB4E11EC}" type="datetime1">
              <a:rPr lang="en-GB" smtClean="0"/>
              <a:t>17/09/2025</a:t>
            </a:fld>
            <a:endParaRPr lang="en-GB"/>
          </a:p>
        </p:txBody>
      </p:sp>
      <p:sp>
        <p:nvSpPr>
          <p:cNvPr id="4" name="Footer Placeholder 3">
            <a:extLst>
              <a:ext uri="{FF2B5EF4-FFF2-40B4-BE49-F238E27FC236}">
                <a16:creationId xmlns:a16="http://schemas.microsoft.com/office/drawing/2014/main" id="{93ED170C-C99A-9A04-3AEA-BF04CA5A580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08A71FC-BA35-56F3-D2A3-02DD36E5F780}"/>
              </a:ext>
            </a:extLst>
          </p:cNvPr>
          <p:cNvSpPr>
            <a:spLocks noGrp="1"/>
          </p:cNvSpPr>
          <p:nvPr>
            <p:ph type="sldNum" sz="quarter" idx="12"/>
          </p:nvPr>
        </p:nvSpPr>
        <p:spPr/>
        <p:txBody>
          <a:bodyPr/>
          <a:lstStyle/>
          <a:p>
            <a:fld id="{69D26C72-FEAF-4822-88A6-747C9CAACBDB}" type="slidenum">
              <a:rPr lang="en-GB" smtClean="0"/>
              <a:t>‹#›</a:t>
            </a:fld>
            <a:endParaRPr lang="en-GB"/>
          </a:p>
        </p:txBody>
      </p:sp>
    </p:spTree>
    <p:extLst>
      <p:ext uri="{BB962C8B-B14F-4D97-AF65-F5344CB8AC3E}">
        <p14:creationId xmlns:p14="http://schemas.microsoft.com/office/powerpoint/2010/main" val="3852005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554978-C164-32B5-F8E7-C74929A4DA1E}"/>
              </a:ext>
            </a:extLst>
          </p:cNvPr>
          <p:cNvSpPr>
            <a:spLocks noGrp="1"/>
          </p:cNvSpPr>
          <p:nvPr>
            <p:ph type="dt" sz="half" idx="10"/>
          </p:nvPr>
        </p:nvSpPr>
        <p:spPr/>
        <p:txBody>
          <a:bodyPr/>
          <a:lstStyle/>
          <a:p>
            <a:fld id="{FF84A82F-2C19-4C61-B04F-07246861AE6F}" type="datetime1">
              <a:rPr lang="en-GB" smtClean="0"/>
              <a:t>17/09/2025</a:t>
            </a:fld>
            <a:endParaRPr lang="en-GB"/>
          </a:p>
        </p:txBody>
      </p:sp>
      <p:sp>
        <p:nvSpPr>
          <p:cNvPr id="3" name="Footer Placeholder 2">
            <a:extLst>
              <a:ext uri="{FF2B5EF4-FFF2-40B4-BE49-F238E27FC236}">
                <a16:creationId xmlns:a16="http://schemas.microsoft.com/office/drawing/2014/main" id="{71D676A6-788B-85DA-412C-3B0E71C4CBD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9F2BBF4-DB31-541E-ECF7-080D5B60FAD3}"/>
              </a:ext>
            </a:extLst>
          </p:cNvPr>
          <p:cNvSpPr>
            <a:spLocks noGrp="1"/>
          </p:cNvSpPr>
          <p:nvPr>
            <p:ph type="sldNum" sz="quarter" idx="12"/>
          </p:nvPr>
        </p:nvSpPr>
        <p:spPr/>
        <p:txBody>
          <a:bodyPr/>
          <a:lstStyle/>
          <a:p>
            <a:fld id="{69D26C72-FEAF-4822-88A6-747C9CAACBDB}" type="slidenum">
              <a:rPr lang="en-GB" smtClean="0"/>
              <a:t>‹#›</a:t>
            </a:fld>
            <a:endParaRPr lang="en-GB"/>
          </a:p>
        </p:txBody>
      </p:sp>
    </p:spTree>
    <p:extLst>
      <p:ext uri="{BB962C8B-B14F-4D97-AF65-F5344CB8AC3E}">
        <p14:creationId xmlns:p14="http://schemas.microsoft.com/office/powerpoint/2010/main" val="3114781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5BD14-6303-9B8F-664D-10F308036E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422E6D6-509D-A656-30FE-4E780D32A0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A561EC2-55B3-1EC4-13FD-DCFB47AB7B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9836F0-4583-66AE-BDD2-8CCB6FA380C7}"/>
              </a:ext>
            </a:extLst>
          </p:cNvPr>
          <p:cNvSpPr>
            <a:spLocks noGrp="1"/>
          </p:cNvSpPr>
          <p:nvPr>
            <p:ph type="dt" sz="half" idx="10"/>
          </p:nvPr>
        </p:nvSpPr>
        <p:spPr/>
        <p:txBody>
          <a:bodyPr/>
          <a:lstStyle/>
          <a:p>
            <a:fld id="{1E68C83C-4912-4244-946C-411361253168}" type="datetime1">
              <a:rPr lang="en-GB" smtClean="0"/>
              <a:t>17/09/2025</a:t>
            </a:fld>
            <a:endParaRPr lang="en-GB"/>
          </a:p>
        </p:txBody>
      </p:sp>
      <p:sp>
        <p:nvSpPr>
          <p:cNvPr id="6" name="Footer Placeholder 5">
            <a:extLst>
              <a:ext uri="{FF2B5EF4-FFF2-40B4-BE49-F238E27FC236}">
                <a16:creationId xmlns:a16="http://schemas.microsoft.com/office/drawing/2014/main" id="{10E73B78-0922-9CD3-C252-94120B43B73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DD8D94A-F88C-10A1-8C94-32E56FD91437}"/>
              </a:ext>
            </a:extLst>
          </p:cNvPr>
          <p:cNvSpPr>
            <a:spLocks noGrp="1"/>
          </p:cNvSpPr>
          <p:nvPr>
            <p:ph type="sldNum" sz="quarter" idx="12"/>
          </p:nvPr>
        </p:nvSpPr>
        <p:spPr/>
        <p:txBody>
          <a:bodyPr/>
          <a:lstStyle/>
          <a:p>
            <a:fld id="{69D26C72-FEAF-4822-88A6-747C9CAACBDB}" type="slidenum">
              <a:rPr lang="en-GB" smtClean="0"/>
              <a:t>‹#›</a:t>
            </a:fld>
            <a:endParaRPr lang="en-GB"/>
          </a:p>
        </p:txBody>
      </p:sp>
    </p:spTree>
    <p:extLst>
      <p:ext uri="{BB962C8B-B14F-4D97-AF65-F5344CB8AC3E}">
        <p14:creationId xmlns:p14="http://schemas.microsoft.com/office/powerpoint/2010/main" val="247100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1D697-3CB7-1EF6-354C-F14C697BA7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05875B0-E5D0-9899-9501-1F9073B2AD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F44D9D6-C3FC-B310-9929-8A25C85848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4EEFB6-1A17-3147-9950-1B3AEB3A2032}"/>
              </a:ext>
            </a:extLst>
          </p:cNvPr>
          <p:cNvSpPr>
            <a:spLocks noGrp="1"/>
          </p:cNvSpPr>
          <p:nvPr>
            <p:ph type="dt" sz="half" idx="10"/>
          </p:nvPr>
        </p:nvSpPr>
        <p:spPr/>
        <p:txBody>
          <a:bodyPr/>
          <a:lstStyle/>
          <a:p>
            <a:fld id="{515B4CD2-84E4-4FEC-90DA-A443E7D71158}" type="datetime1">
              <a:rPr lang="en-GB" smtClean="0"/>
              <a:t>17/09/2025</a:t>
            </a:fld>
            <a:endParaRPr lang="en-GB"/>
          </a:p>
        </p:txBody>
      </p:sp>
      <p:sp>
        <p:nvSpPr>
          <p:cNvPr id="6" name="Footer Placeholder 5">
            <a:extLst>
              <a:ext uri="{FF2B5EF4-FFF2-40B4-BE49-F238E27FC236}">
                <a16:creationId xmlns:a16="http://schemas.microsoft.com/office/drawing/2014/main" id="{CB42C8A2-55FD-7A46-CC15-8E654498DD0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B69EC28-3DD2-3996-8FBA-BCC921DD8F85}"/>
              </a:ext>
            </a:extLst>
          </p:cNvPr>
          <p:cNvSpPr>
            <a:spLocks noGrp="1"/>
          </p:cNvSpPr>
          <p:nvPr>
            <p:ph type="sldNum" sz="quarter" idx="12"/>
          </p:nvPr>
        </p:nvSpPr>
        <p:spPr/>
        <p:txBody>
          <a:bodyPr/>
          <a:lstStyle/>
          <a:p>
            <a:fld id="{69D26C72-FEAF-4822-88A6-747C9CAACBDB}" type="slidenum">
              <a:rPr lang="en-GB" smtClean="0"/>
              <a:t>‹#›</a:t>
            </a:fld>
            <a:endParaRPr lang="en-GB"/>
          </a:p>
        </p:txBody>
      </p:sp>
    </p:spTree>
    <p:extLst>
      <p:ext uri="{BB962C8B-B14F-4D97-AF65-F5344CB8AC3E}">
        <p14:creationId xmlns:p14="http://schemas.microsoft.com/office/powerpoint/2010/main" val="3083709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1D1C6-B32E-422B-EC5C-156B0690258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75CB2DE-8B6F-E965-7FEF-2E6DCAC8BB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F1A4F7D-69C1-EE78-0F12-B34985390E5A}"/>
              </a:ext>
            </a:extLst>
          </p:cNvPr>
          <p:cNvSpPr>
            <a:spLocks noGrp="1"/>
          </p:cNvSpPr>
          <p:nvPr>
            <p:ph type="dt" sz="half" idx="10"/>
          </p:nvPr>
        </p:nvSpPr>
        <p:spPr/>
        <p:txBody>
          <a:bodyPr/>
          <a:lstStyle/>
          <a:p>
            <a:fld id="{F07504BE-AD29-41E1-B053-6DA848CCFCF3}" type="datetime1">
              <a:rPr lang="en-GB" smtClean="0"/>
              <a:t>17/09/2025</a:t>
            </a:fld>
            <a:endParaRPr lang="en-GB"/>
          </a:p>
        </p:txBody>
      </p:sp>
      <p:sp>
        <p:nvSpPr>
          <p:cNvPr id="5" name="Footer Placeholder 4">
            <a:extLst>
              <a:ext uri="{FF2B5EF4-FFF2-40B4-BE49-F238E27FC236}">
                <a16:creationId xmlns:a16="http://schemas.microsoft.com/office/drawing/2014/main" id="{F4D974F0-9269-2F45-AC29-04E301F6BAA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D6B6C4-451D-FD95-28C1-69D52573D6F0}"/>
              </a:ext>
            </a:extLst>
          </p:cNvPr>
          <p:cNvSpPr>
            <a:spLocks noGrp="1"/>
          </p:cNvSpPr>
          <p:nvPr>
            <p:ph type="sldNum" sz="quarter" idx="12"/>
          </p:nvPr>
        </p:nvSpPr>
        <p:spPr/>
        <p:txBody>
          <a:bodyPr/>
          <a:lstStyle/>
          <a:p>
            <a:fld id="{69D26C72-FEAF-4822-88A6-747C9CAACBDB}" type="slidenum">
              <a:rPr lang="en-GB" smtClean="0"/>
              <a:t>‹#›</a:t>
            </a:fld>
            <a:endParaRPr lang="en-GB"/>
          </a:p>
        </p:txBody>
      </p:sp>
    </p:spTree>
    <p:extLst>
      <p:ext uri="{BB962C8B-B14F-4D97-AF65-F5344CB8AC3E}">
        <p14:creationId xmlns:p14="http://schemas.microsoft.com/office/powerpoint/2010/main" val="1776383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66B977-7227-7100-8B1A-B51D0614E2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3EE7A81-2C90-2ADC-AFA8-4E7B84C703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40FD96F-1628-3A1F-E164-F087141004AF}"/>
              </a:ext>
            </a:extLst>
          </p:cNvPr>
          <p:cNvSpPr>
            <a:spLocks noGrp="1"/>
          </p:cNvSpPr>
          <p:nvPr>
            <p:ph type="dt" sz="half" idx="10"/>
          </p:nvPr>
        </p:nvSpPr>
        <p:spPr/>
        <p:txBody>
          <a:bodyPr/>
          <a:lstStyle/>
          <a:p>
            <a:fld id="{CABEC0E1-136B-40E6-AE3E-90E18A57557D}" type="datetime1">
              <a:rPr lang="en-GB" smtClean="0"/>
              <a:t>17/09/2025</a:t>
            </a:fld>
            <a:endParaRPr lang="en-GB"/>
          </a:p>
        </p:txBody>
      </p:sp>
      <p:sp>
        <p:nvSpPr>
          <p:cNvPr id="5" name="Footer Placeholder 4">
            <a:extLst>
              <a:ext uri="{FF2B5EF4-FFF2-40B4-BE49-F238E27FC236}">
                <a16:creationId xmlns:a16="http://schemas.microsoft.com/office/drawing/2014/main" id="{98438079-230F-16B7-5AB4-F223EF9F98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8A5A25-5605-3762-8C85-6A981C68D4B5}"/>
              </a:ext>
            </a:extLst>
          </p:cNvPr>
          <p:cNvSpPr>
            <a:spLocks noGrp="1"/>
          </p:cNvSpPr>
          <p:nvPr>
            <p:ph type="sldNum" sz="quarter" idx="12"/>
          </p:nvPr>
        </p:nvSpPr>
        <p:spPr/>
        <p:txBody>
          <a:bodyPr/>
          <a:lstStyle/>
          <a:p>
            <a:fld id="{69D26C72-FEAF-4822-88A6-747C9CAACBDB}" type="slidenum">
              <a:rPr lang="en-GB" smtClean="0"/>
              <a:t>‹#›</a:t>
            </a:fld>
            <a:endParaRPr lang="en-GB"/>
          </a:p>
        </p:txBody>
      </p:sp>
    </p:spTree>
    <p:extLst>
      <p:ext uri="{BB962C8B-B14F-4D97-AF65-F5344CB8AC3E}">
        <p14:creationId xmlns:p14="http://schemas.microsoft.com/office/powerpoint/2010/main" val="945946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A013BC-A32B-237C-CA1B-F295062F5B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20DBB7-7F93-3ADC-EF2F-F2DD46E679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09680D1-5F4B-3F0C-BB9F-C5947376C6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499521-B3FA-45F1-818F-765D28EEB628}" type="datetime1">
              <a:rPr lang="en-GB" smtClean="0"/>
              <a:t>17/09/2025</a:t>
            </a:fld>
            <a:endParaRPr lang="en-GB"/>
          </a:p>
        </p:txBody>
      </p:sp>
      <p:sp>
        <p:nvSpPr>
          <p:cNvPr id="5" name="Footer Placeholder 4">
            <a:extLst>
              <a:ext uri="{FF2B5EF4-FFF2-40B4-BE49-F238E27FC236}">
                <a16:creationId xmlns:a16="http://schemas.microsoft.com/office/drawing/2014/main" id="{698783E5-7AFC-796B-FF1B-A629E27AC9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C770B4D-7CCE-AB1A-E351-6FF1F6C218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D26C72-FEAF-4822-88A6-747C9CAACBDB}" type="slidenum">
              <a:rPr lang="en-GB" smtClean="0"/>
              <a:t>‹#›</a:t>
            </a:fld>
            <a:endParaRPr lang="en-GB"/>
          </a:p>
        </p:txBody>
      </p:sp>
    </p:spTree>
    <p:extLst>
      <p:ext uri="{BB962C8B-B14F-4D97-AF65-F5344CB8AC3E}">
        <p14:creationId xmlns:p14="http://schemas.microsoft.com/office/powerpoint/2010/main" val="2956606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D6E9D-F3D3-5E6F-BF0F-45ADF4B1CE91}"/>
              </a:ext>
            </a:extLst>
          </p:cNvPr>
          <p:cNvSpPr>
            <a:spLocks noGrp="1"/>
          </p:cNvSpPr>
          <p:nvPr>
            <p:ph type="ctrTitle"/>
          </p:nvPr>
        </p:nvSpPr>
        <p:spPr>
          <a:xfrm>
            <a:off x="1524000" y="678936"/>
            <a:ext cx="9144000" cy="1842528"/>
          </a:xfrm>
        </p:spPr>
        <p:txBody>
          <a:bodyPr/>
          <a:lstStyle/>
          <a:p>
            <a:r>
              <a:rPr lang="en-US" b="1" dirty="0">
                <a:latin typeface="Poppins" panose="00000500000000000000" pitchFamily="2" charset="0"/>
                <a:cs typeface="Poppins" panose="00000500000000000000" pitchFamily="2" charset="0"/>
              </a:rPr>
              <a:t>IoT Based Flame &amp; Gas Detection System</a:t>
            </a:r>
            <a:endParaRPr lang="en-GB" b="1" dirty="0">
              <a:latin typeface="Poppins" panose="00000500000000000000" pitchFamily="2" charset="0"/>
              <a:cs typeface="Poppins" panose="00000500000000000000" pitchFamily="2" charset="0"/>
            </a:endParaRPr>
          </a:p>
        </p:txBody>
      </p:sp>
      <p:sp>
        <p:nvSpPr>
          <p:cNvPr id="3" name="Subtitle 2">
            <a:extLst>
              <a:ext uri="{FF2B5EF4-FFF2-40B4-BE49-F238E27FC236}">
                <a16:creationId xmlns:a16="http://schemas.microsoft.com/office/drawing/2014/main" id="{FF6D578C-B0D8-046C-AB01-6D267954DBC9}"/>
              </a:ext>
            </a:extLst>
          </p:cNvPr>
          <p:cNvSpPr>
            <a:spLocks noGrp="1"/>
          </p:cNvSpPr>
          <p:nvPr>
            <p:ph type="subTitle" idx="1"/>
          </p:nvPr>
        </p:nvSpPr>
        <p:spPr>
          <a:xfrm>
            <a:off x="603827" y="4912239"/>
            <a:ext cx="9144000" cy="1266825"/>
          </a:xfrm>
        </p:spPr>
        <p:txBody>
          <a:bodyPr>
            <a:normAutofit/>
          </a:bodyPr>
          <a:lstStyle/>
          <a:p>
            <a:pPr algn="l"/>
            <a:r>
              <a:rPr lang="en-US" sz="2000" b="1" dirty="0">
                <a:latin typeface="Poppins" panose="00000500000000000000" pitchFamily="2" charset="0"/>
                <a:cs typeface="Poppins" panose="00000500000000000000" pitchFamily="2" charset="0"/>
              </a:rPr>
              <a:t>Presenters: MN. Sihanas &amp; AJ. Nishak Mohamed </a:t>
            </a:r>
          </a:p>
          <a:p>
            <a:pPr algn="l"/>
            <a:r>
              <a:rPr lang="en-US" sz="2000" b="1" dirty="0">
                <a:latin typeface="Poppins" panose="00000500000000000000" pitchFamily="2" charset="0"/>
                <a:cs typeface="Poppins" panose="00000500000000000000" pitchFamily="2" charset="0"/>
              </a:rPr>
              <a:t>CSD 22</a:t>
            </a:r>
          </a:p>
          <a:p>
            <a:pPr algn="l"/>
            <a:r>
              <a:rPr lang="en-US" sz="2000" b="1" dirty="0">
                <a:latin typeface="Poppins" panose="00000500000000000000" pitchFamily="2" charset="0"/>
                <a:cs typeface="Poppins" panose="00000500000000000000" pitchFamily="2" charset="0"/>
              </a:rPr>
              <a:t>Assessor: Eng. Sajith</a:t>
            </a:r>
            <a:endParaRPr lang="en-GB" sz="2000" b="1" dirty="0">
              <a:latin typeface="Poppins" panose="00000500000000000000" pitchFamily="2" charset="0"/>
              <a:cs typeface="Poppins" panose="00000500000000000000" pitchFamily="2" charset="0"/>
            </a:endParaRPr>
          </a:p>
        </p:txBody>
      </p:sp>
      <p:pic>
        <p:nvPicPr>
          <p:cNvPr id="4" name="Picture 2" descr="British College of Applied Studies – Building Careers Transforming Live">
            <a:extLst>
              <a:ext uri="{FF2B5EF4-FFF2-40B4-BE49-F238E27FC236}">
                <a16:creationId xmlns:a16="http://schemas.microsoft.com/office/drawing/2014/main" id="{2A05E463-14BF-D39F-7C31-B6B3DF2801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2843" y="4912238"/>
            <a:ext cx="2314575" cy="12668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7372545-59A7-6217-7AA8-4A28A22B2BC0}"/>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8" name="Slide Number Placeholder 7">
            <a:extLst>
              <a:ext uri="{FF2B5EF4-FFF2-40B4-BE49-F238E27FC236}">
                <a16:creationId xmlns:a16="http://schemas.microsoft.com/office/drawing/2014/main" id="{C0F404D1-6BF8-B7EC-9187-6E0CFE300A9A}"/>
              </a:ext>
            </a:extLst>
          </p:cNvPr>
          <p:cNvSpPr>
            <a:spLocks noGrp="1"/>
          </p:cNvSpPr>
          <p:nvPr>
            <p:ph type="sldNum" sz="quarter" idx="12"/>
          </p:nvPr>
        </p:nvSpPr>
        <p:spPr/>
        <p:txBody>
          <a:bodyPr/>
          <a:lstStyle/>
          <a:p>
            <a:fld id="{69D26C72-FEAF-4822-88A6-747C9CAACBDB}" type="slidenum">
              <a:rPr lang="en-GB" b="1" smtClean="0">
                <a:solidFill>
                  <a:schemeClr val="tx1"/>
                </a:solidFill>
                <a:latin typeface="Poppins" panose="00000500000000000000" pitchFamily="2" charset="0"/>
                <a:cs typeface="Poppins" panose="00000500000000000000" pitchFamily="2" charset="0"/>
              </a:rPr>
              <a:t>1</a:t>
            </a:fld>
            <a:endParaRPr lang="en-GB" b="1">
              <a:solidFill>
                <a:schemeClr val="tx1"/>
              </a:solidFill>
              <a:latin typeface="Poppins" panose="00000500000000000000" pitchFamily="2" charset="0"/>
              <a:cs typeface="Poppins" panose="00000500000000000000" pitchFamily="2" charset="0"/>
            </a:endParaRPr>
          </a:p>
        </p:txBody>
      </p:sp>
      <p:pic>
        <p:nvPicPr>
          <p:cNvPr id="9" name="Picture 8">
            <a:extLst>
              <a:ext uri="{FF2B5EF4-FFF2-40B4-BE49-F238E27FC236}">
                <a16:creationId xmlns:a16="http://schemas.microsoft.com/office/drawing/2014/main" id="{26A2F827-1D5C-6BEC-100D-299C3DECEC2B}"/>
              </a:ext>
            </a:extLst>
          </p:cNvPr>
          <p:cNvPicPr>
            <a:picLocks noChangeAspect="1"/>
          </p:cNvPicPr>
          <p:nvPr/>
        </p:nvPicPr>
        <p:blipFill>
          <a:blip r:embed="rId3"/>
          <a:stretch>
            <a:fillRect/>
          </a:stretch>
        </p:blipFill>
        <p:spPr>
          <a:xfrm>
            <a:off x="4810065" y="3540412"/>
            <a:ext cx="734673" cy="734673"/>
          </a:xfrm>
          <a:prstGeom prst="rect">
            <a:avLst/>
          </a:prstGeom>
        </p:spPr>
      </p:pic>
      <p:pic>
        <p:nvPicPr>
          <p:cNvPr id="10" name="Picture 9">
            <a:extLst>
              <a:ext uri="{FF2B5EF4-FFF2-40B4-BE49-F238E27FC236}">
                <a16:creationId xmlns:a16="http://schemas.microsoft.com/office/drawing/2014/main" id="{208E2F12-A5E3-24C7-70FA-EFC377FFF77C}"/>
              </a:ext>
            </a:extLst>
          </p:cNvPr>
          <p:cNvPicPr>
            <a:picLocks noChangeAspect="1"/>
          </p:cNvPicPr>
          <p:nvPr/>
        </p:nvPicPr>
        <p:blipFill>
          <a:blip r:embed="rId4"/>
          <a:stretch>
            <a:fillRect/>
          </a:stretch>
        </p:blipFill>
        <p:spPr>
          <a:xfrm>
            <a:off x="4065360" y="2801281"/>
            <a:ext cx="962403" cy="962403"/>
          </a:xfrm>
          <a:prstGeom prst="rect">
            <a:avLst/>
          </a:prstGeom>
        </p:spPr>
      </p:pic>
      <p:pic>
        <p:nvPicPr>
          <p:cNvPr id="11" name="Picture 10">
            <a:extLst>
              <a:ext uri="{FF2B5EF4-FFF2-40B4-BE49-F238E27FC236}">
                <a16:creationId xmlns:a16="http://schemas.microsoft.com/office/drawing/2014/main" id="{DA888306-A156-17A2-28D0-ACA62D405DF5}"/>
              </a:ext>
            </a:extLst>
          </p:cNvPr>
          <p:cNvPicPr>
            <a:picLocks noChangeAspect="1"/>
          </p:cNvPicPr>
          <p:nvPr/>
        </p:nvPicPr>
        <p:blipFill>
          <a:blip r:embed="rId5"/>
          <a:stretch>
            <a:fillRect/>
          </a:stretch>
        </p:blipFill>
        <p:spPr>
          <a:xfrm>
            <a:off x="6766099" y="2961024"/>
            <a:ext cx="1130710" cy="1128502"/>
          </a:xfrm>
          <a:prstGeom prst="rect">
            <a:avLst/>
          </a:prstGeom>
        </p:spPr>
      </p:pic>
      <p:pic>
        <p:nvPicPr>
          <p:cNvPr id="13" name="Picture 12">
            <a:extLst>
              <a:ext uri="{FF2B5EF4-FFF2-40B4-BE49-F238E27FC236}">
                <a16:creationId xmlns:a16="http://schemas.microsoft.com/office/drawing/2014/main" id="{9B993EEE-9422-D77C-BB44-7E209ED45773}"/>
              </a:ext>
            </a:extLst>
          </p:cNvPr>
          <p:cNvPicPr>
            <a:picLocks noChangeAspect="1"/>
          </p:cNvPicPr>
          <p:nvPr/>
        </p:nvPicPr>
        <p:blipFill>
          <a:blip r:embed="rId6"/>
          <a:stretch>
            <a:fillRect/>
          </a:stretch>
        </p:blipFill>
        <p:spPr>
          <a:xfrm rot="5400000">
            <a:off x="5652237" y="3141424"/>
            <a:ext cx="729546" cy="729546"/>
          </a:xfrm>
          <a:prstGeom prst="rect">
            <a:avLst/>
          </a:prstGeom>
        </p:spPr>
      </p:pic>
    </p:spTree>
    <p:extLst>
      <p:ext uri="{BB962C8B-B14F-4D97-AF65-F5344CB8AC3E}">
        <p14:creationId xmlns:p14="http://schemas.microsoft.com/office/powerpoint/2010/main" val="699846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E8B8A-F886-1B2E-D026-8AB28AB5353C}"/>
              </a:ext>
            </a:extLst>
          </p:cNvPr>
          <p:cNvSpPr>
            <a:spLocks noGrp="1"/>
          </p:cNvSpPr>
          <p:nvPr>
            <p:ph type="title"/>
          </p:nvPr>
        </p:nvSpPr>
        <p:spPr/>
        <p:txBody>
          <a:bodyPr>
            <a:normAutofit/>
          </a:bodyPr>
          <a:lstStyle/>
          <a:p>
            <a:r>
              <a:rPr lang="en-US" sz="4000" b="1" dirty="0">
                <a:latin typeface="Poppins" panose="00000500000000000000" pitchFamily="2" charset="0"/>
                <a:cs typeface="Poppins" panose="00000500000000000000" pitchFamily="2" charset="0"/>
              </a:rPr>
              <a:t>Table Of Contents </a:t>
            </a:r>
            <a:endParaRPr lang="en-GB" sz="4000" b="1" dirty="0">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30A403FC-4DCA-1CA2-9861-E435E2DEE7C1}"/>
              </a:ext>
            </a:extLst>
          </p:cNvPr>
          <p:cNvSpPr>
            <a:spLocks noGrp="1"/>
          </p:cNvSpPr>
          <p:nvPr>
            <p:ph idx="1"/>
          </p:nvPr>
        </p:nvSpPr>
        <p:spPr>
          <a:xfrm>
            <a:off x="838200" y="1327355"/>
            <a:ext cx="10515600" cy="4849608"/>
          </a:xfrm>
        </p:spPr>
        <p:txBody>
          <a:bodyPr>
            <a:normAutofit fontScale="92500" lnSpcReduction="10000"/>
          </a:bodyPr>
          <a:lstStyle/>
          <a:p>
            <a:pPr marL="0" indent="0">
              <a:buNone/>
            </a:pPr>
            <a:endParaRPr lang="en-US" sz="2000" b="1" dirty="0">
              <a:latin typeface="Poppins" panose="00000500000000000000" pitchFamily="2" charset="0"/>
              <a:cs typeface="Poppins" panose="00000500000000000000" pitchFamily="2" charset="0"/>
            </a:endParaRPr>
          </a:p>
          <a:p>
            <a:pPr marL="457200" indent="-457200">
              <a:buAutoNum type="arabicPeriod"/>
            </a:pPr>
            <a:r>
              <a:rPr lang="en-GB" sz="2000" b="1" dirty="0">
                <a:latin typeface="Poppins" panose="00000500000000000000" pitchFamily="2" charset="0"/>
                <a:cs typeface="Poppins" panose="00000500000000000000" pitchFamily="2" charset="0"/>
              </a:rPr>
              <a:t>Introduction</a:t>
            </a:r>
          </a:p>
          <a:p>
            <a:pPr marL="457200" indent="-457200">
              <a:buAutoNum type="arabicPeriod"/>
            </a:pPr>
            <a:r>
              <a:rPr lang="en-GB" sz="2000" b="1" dirty="0">
                <a:latin typeface="Poppins" panose="00000500000000000000" pitchFamily="2" charset="0"/>
                <a:cs typeface="Poppins" panose="00000500000000000000" pitchFamily="2" charset="0"/>
              </a:rPr>
              <a:t>Problem Statement </a:t>
            </a:r>
          </a:p>
          <a:p>
            <a:pPr marL="457200" indent="-457200">
              <a:buAutoNum type="arabicPeriod"/>
            </a:pPr>
            <a:r>
              <a:rPr lang="en-GB" sz="2000" b="1" dirty="0">
                <a:latin typeface="Poppins" panose="00000500000000000000" pitchFamily="2" charset="0"/>
                <a:cs typeface="Poppins" panose="00000500000000000000" pitchFamily="2" charset="0"/>
              </a:rPr>
              <a:t>Objectives </a:t>
            </a:r>
          </a:p>
          <a:p>
            <a:pPr marL="457200" indent="-457200">
              <a:buAutoNum type="arabicPeriod"/>
            </a:pPr>
            <a:r>
              <a:rPr lang="en-GB" sz="2000" b="1" dirty="0">
                <a:latin typeface="Poppins" panose="00000500000000000000" pitchFamily="2" charset="0"/>
                <a:cs typeface="Poppins" panose="00000500000000000000" pitchFamily="2" charset="0"/>
              </a:rPr>
              <a:t>Proposed Solution </a:t>
            </a:r>
          </a:p>
          <a:p>
            <a:pPr marL="457200" indent="-457200">
              <a:buAutoNum type="arabicPeriod"/>
            </a:pPr>
            <a:r>
              <a:rPr lang="en-GB" sz="2000" b="1" dirty="0">
                <a:latin typeface="Poppins" panose="00000500000000000000" pitchFamily="2" charset="0"/>
                <a:cs typeface="Poppins" panose="00000500000000000000" pitchFamily="2" charset="0"/>
              </a:rPr>
              <a:t>System Architecture</a:t>
            </a:r>
          </a:p>
          <a:p>
            <a:pPr marL="457200" indent="-457200">
              <a:buFont typeface="Arial" panose="020B0604020202020204" pitchFamily="34" charset="0"/>
              <a:buAutoNum type="arabicPeriod"/>
            </a:pPr>
            <a:r>
              <a:rPr lang="en-GB" sz="2000" b="1" dirty="0">
                <a:latin typeface="Poppins" panose="00000500000000000000" pitchFamily="2" charset="0"/>
                <a:cs typeface="Poppins" panose="00000500000000000000" pitchFamily="2" charset="0"/>
              </a:rPr>
              <a:t>System Tools and Framework</a:t>
            </a:r>
          </a:p>
          <a:p>
            <a:pPr marL="457200" indent="-457200">
              <a:buAutoNum type="arabicPeriod"/>
            </a:pPr>
            <a:r>
              <a:rPr lang="en-GB" sz="2000" b="1" dirty="0">
                <a:latin typeface="Poppins" panose="00000500000000000000" pitchFamily="2" charset="0"/>
                <a:cs typeface="Poppins" panose="00000500000000000000" pitchFamily="2" charset="0"/>
              </a:rPr>
              <a:t>Circuit Diagram </a:t>
            </a:r>
          </a:p>
          <a:p>
            <a:pPr marL="457200" indent="-457200">
              <a:buAutoNum type="arabicPeriod"/>
            </a:pPr>
            <a:r>
              <a:rPr lang="en-GB" sz="2000" b="1" dirty="0">
                <a:latin typeface="Poppins" panose="00000500000000000000" pitchFamily="2" charset="0"/>
                <a:cs typeface="Poppins" panose="00000500000000000000" pitchFamily="2" charset="0"/>
              </a:rPr>
              <a:t>Outcome</a:t>
            </a:r>
          </a:p>
          <a:p>
            <a:pPr marL="457200" indent="-457200">
              <a:buAutoNum type="arabicPeriod"/>
            </a:pPr>
            <a:r>
              <a:rPr lang="en-GB" sz="2000" b="1" dirty="0">
                <a:latin typeface="Poppins" panose="00000500000000000000" pitchFamily="2" charset="0"/>
                <a:cs typeface="Poppins" panose="00000500000000000000" pitchFamily="2" charset="0"/>
              </a:rPr>
              <a:t>Methodology </a:t>
            </a:r>
          </a:p>
          <a:p>
            <a:pPr marL="457200" indent="-457200">
              <a:buAutoNum type="arabicPeriod"/>
            </a:pPr>
            <a:r>
              <a:rPr lang="en-GB" sz="2000" b="1" dirty="0">
                <a:latin typeface="Poppins" panose="00000500000000000000" pitchFamily="2" charset="0"/>
                <a:cs typeface="Poppins" panose="00000500000000000000" pitchFamily="2" charset="0"/>
              </a:rPr>
              <a:t>Benefits of the Solution </a:t>
            </a:r>
          </a:p>
          <a:p>
            <a:pPr marL="457200" indent="-457200">
              <a:buAutoNum type="arabicPeriod"/>
            </a:pPr>
            <a:r>
              <a:rPr lang="en-GB" sz="2000" b="1" dirty="0">
                <a:latin typeface="Poppins" panose="00000500000000000000" pitchFamily="2" charset="0"/>
                <a:cs typeface="Poppins" panose="00000500000000000000" pitchFamily="2" charset="0"/>
              </a:rPr>
              <a:t>Cost</a:t>
            </a:r>
          </a:p>
          <a:p>
            <a:pPr marL="457200" indent="-457200">
              <a:buAutoNum type="arabicPeriod"/>
            </a:pPr>
            <a:r>
              <a:rPr lang="en-GB" sz="2000" b="1" dirty="0">
                <a:latin typeface="Poppins" panose="00000500000000000000" pitchFamily="2" charset="0"/>
                <a:cs typeface="Poppins" panose="00000500000000000000" pitchFamily="2" charset="0"/>
              </a:rPr>
              <a:t>Conclusion </a:t>
            </a:r>
          </a:p>
        </p:txBody>
      </p:sp>
      <p:sp>
        <p:nvSpPr>
          <p:cNvPr id="6" name="TextBox 5">
            <a:extLst>
              <a:ext uri="{FF2B5EF4-FFF2-40B4-BE49-F238E27FC236}">
                <a16:creationId xmlns:a16="http://schemas.microsoft.com/office/drawing/2014/main" id="{E14DACED-595D-DAB0-D7A2-1F93CFEB95CF}"/>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8" name="Slide Number Placeholder 7">
            <a:extLst>
              <a:ext uri="{FF2B5EF4-FFF2-40B4-BE49-F238E27FC236}">
                <a16:creationId xmlns:a16="http://schemas.microsoft.com/office/drawing/2014/main" id="{0381668D-6FFC-D7D1-883F-0E8AF0F0EEED}"/>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2</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592514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5501-E4FC-7A38-3FAA-BAE8244784E1}"/>
              </a:ext>
            </a:extLst>
          </p:cNvPr>
          <p:cNvSpPr>
            <a:spLocks noGrp="1"/>
          </p:cNvSpPr>
          <p:nvPr>
            <p:ph type="ctrTitle"/>
          </p:nvPr>
        </p:nvSpPr>
        <p:spPr>
          <a:xfrm>
            <a:off x="1524000" y="2942524"/>
            <a:ext cx="9144000" cy="972951"/>
          </a:xfrm>
        </p:spPr>
        <p:txBody>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Introduction</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17267584-D00F-1DF3-A3A2-0A07AD9F8D52}"/>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6" name="Slide Number Placeholder 5">
            <a:extLst>
              <a:ext uri="{FF2B5EF4-FFF2-40B4-BE49-F238E27FC236}">
                <a16:creationId xmlns:a16="http://schemas.microsoft.com/office/drawing/2014/main" id="{B87CAFE2-9705-8574-9AB9-15E488E33BC6}"/>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3</a:t>
            </a:fld>
            <a:endParaRPr lang="en-GB" b="1" dirty="0">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995782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AF038-B63A-B010-826D-C0463E09180F}"/>
              </a:ext>
            </a:extLst>
          </p:cNvPr>
          <p:cNvSpPr>
            <a:spLocks noGrp="1"/>
          </p:cNvSpPr>
          <p:nvPr>
            <p:ph idx="1"/>
          </p:nvPr>
        </p:nvSpPr>
        <p:spPr>
          <a:xfrm>
            <a:off x="838200" y="2631989"/>
            <a:ext cx="10515600" cy="1594021"/>
          </a:xfrm>
        </p:spPr>
        <p:txBody>
          <a:bodyPr>
            <a:normAutofit/>
          </a:bodyPr>
          <a:lstStyle/>
          <a:p>
            <a:pPr marL="0" indent="0" algn="just">
              <a:lnSpc>
                <a:spcPct val="150000"/>
              </a:lnSpc>
              <a:buNone/>
            </a:pPr>
            <a:r>
              <a:rPr lang="en-GB" sz="2000" b="1" dirty="0">
                <a:latin typeface="Poppins" panose="00000500000000000000" pitchFamily="2" charset="0"/>
                <a:cs typeface="Poppins" panose="00000500000000000000" pitchFamily="2" charset="0"/>
              </a:rPr>
              <a:t>This project focuses on safety by developing an IoT-based gas and flame detection system. It uses sensors with real-time alerts via buzzer, LEDs, and the Blynk app to ensure early hazard detection and quick response.</a:t>
            </a:r>
            <a:endParaRPr lang="en-US" sz="2000" b="1" dirty="0">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2012E109-4901-1E58-DD5D-623C023E70F8}"/>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6" name="Slide Number Placeholder 5">
            <a:extLst>
              <a:ext uri="{FF2B5EF4-FFF2-40B4-BE49-F238E27FC236}">
                <a16:creationId xmlns:a16="http://schemas.microsoft.com/office/drawing/2014/main" id="{8035731D-5C59-85D9-6551-2FA4D87458CA}"/>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4</a:t>
            </a:fld>
            <a:endParaRPr lang="en-GB" b="1" dirty="0">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520897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5501-E4FC-7A38-3FAA-BAE8244784E1}"/>
              </a:ext>
            </a:extLst>
          </p:cNvPr>
          <p:cNvSpPr>
            <a:spLocks noGrp="1"/>
          </p:cNvSpPr>
          <p:nvPr>
            <p:ph type="ctrTitle"/>
          </p:nvPr>
        </p:nvSpPr>
        <p:spPr>
          <a:xfrm>
            <a:off x="1524000" y="2942524"/>
            <a:ext cx="9144000" cy="972951"/>
          </a:xfrm>
        </p:spPr>
        <p:txBody>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Problem Statement</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5" name="TextBox 4">
            <a:extLst>
              <a:ext uri="{FF2B5EF4-FFF2-40B4-BE49-F238E27FC236}">
                <a16:creationId xmlns:a16="http://schemas.microsoft.com/office/drawing/2014/main" id="{03BA35DC-4717-9811-4CE2-7749BF0262C4}"/>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6" name="Slide Number Placeholder 5">
            <a:extLst>
              <a:ext uri="{FF2B5EF4-FFF2-40B4-BE49-F238E27FC236}">
                <a16:creationId xmlns:a16="http://schemas.microsoft.com/office/drawing/2014/main" id="{6BC05F42-72AC-BAC6-BACF-1521BFAAF895}"/>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5</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991124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AF038-B63A-B010-826D-C0463E09180F}"/>
              </a:ext>
            </a:extLst>
          </p:cNvPr>
          <p:cNvSpPr>
            <a:spLocks noGrp="1"/>
          </p:cNvSpPr>
          <p:nvPr>
            <p:ph idx="1"/>
          </p:nvPr>
        </p:nvSpPr>
        <p:spPr>
          <a:xfrm>
            <a:off x="838200" y="1280786"/>
            <a:ext cx="10515600" cy="4296427"/>
          </a:xfrm>
        </p:spPr>
        <p:txBody>
          <a:bodyPr>
            <a:normAutofit/>
          </a:bodyPr>
          <a:lstStyle/>
          <a:p>
            <a:pPr marL="457200" indent="-457200" algn="just">
              <a:lnSpc>
                <a:spcPct val="150000"/>
              </a:lnSpc>
              <a:buFont typeface="+mj-lt"/>
              <a:buAutoNum type="arabicPeriod"/>
            </a:pPr>
            <a:r>
              <a:rPr lang="en-GB" sz="2000" b="1" dirty="0">
                <a:latin typeface="Poppins" pitchFamily="2" charset="77"/>
                <a:cs typeface="Poppins" pitchFamily="2" charset="77"/>
              </a:rPr>
              <a:t>Undetected Hazards:</a:t>
            </a:r>
            <a:r>
              <a:rPr lang="en-GB" sz="2000" dirty="0">
                <a:latin typeface="Poppins" pitchFamily="2" charset="77"/>
                <a:cs typeface="Poppins" pitchFamily="2" charset="77"/>
              </a:rPr>
              <a:t> Gas leaks and fire outbreaks often go unnoticed in their early stages, increasing risk to life and property.</a:t>
            </a:r>
          </a:p>
          <a:p>
            <a:pPr marL="457200" indent="-457200" algn="just">
              <a:lnSpc>
                <a:spcPct val="150000"/>
              </a:lnSpc>
              <a:buFont typeface="+mj-lt"/>
              <a:buAutoNum type="arabicPeriod"/>
            </a:pPr>
            <a:r>
              <a:rPr lang="en-GB" sz="2000" b="1" dirty="0">
                <a:latin typeface="Poppins" pitchFamily="2" charset="77"/>
                <a:cs typeface="Poppins" pitchFamily="2" charset="77"/>
              </a:rPr>
              <a:t>Delayed Response:</a:t>
            </a:r>
            <a:r>
              <a:rPr lang="en-GB" sz="2000" dirty="0">
                <a:latin typeface="Poppins" pitchFamily="2" charset="77"/>
                <a:cs typeface="Poppins" pitchFamily="2" charset="77"/>
              </a:rPr>
              <a:t> Lack of real-time alerts leads to slower emergency actions.</a:t>
            </a:r>
          </a:p>
          <a:p>
            <a:pPr marL="457200" indent="-457200" algn="just">
              <a:lnSpc>
                <a:spcPct val="150000"/>
              </a:lnSpc>
              <a:buFont typeface="+mj-lt"/>
              <a:buAutoNum type="arabicPeriod"/>
            </a:pPr>
            <a:r>
              <a:rPr lang="en-GB" sz="2000" b="1" dirty="0">
                <a:latin typeface="Poppins" pitchFamily="2" charset="77"/>
                <a:cs typeface="Poppins" pitchFamily="2" charset="77"/>
              </a:rPr>
              <a:t>Limited Traditional Systems:</a:t>
            </a:r>
            <a:r>
              <a:rPr lang="en-GB" sz="2000" dirty="0">
                <a:latin typeface="Poppins" pitchFamily="2" charset="77"/>
                <a:cs typeface="Poppins" pitchFamily="2" charset="77"/>
              </a:rPr>
              <a:t> Conventional alarms are not connected to IoT, restricting remote monitoring.</a:t>
            </a:r>
          </a:p>
          <a:p>
            <a:pPr marL="457200" indent="-457200" algn="just">
              <a:lnSpc>
                <a:spcPct val="150000"/>
              </a:lnSpc>
              <a:buFont typeface="+mj-lt"/>
              <a:buAutoNum type="arabicPeriod"/>
            </a:pPr>
            <a:r>
              <a:rPr lang="en-GB" sz="2000" b="1" dirty="0">
                <a:latin typeface="Poppins" pitchFamily="2" charset="77"/>
                <a:cs typeface="Poppins" pitchFamily="2" charset="77"/>
              </a:rPr>
              <a:t>Safety Concerns:</a:t>
            </a:r>
            <a:r>
              <a:rPr lang="en-GB" sz="2000" dirty="0">
                <a:latin typeface="Poppins" pitchFamily="2" charset="77"/>
                <a:cs typeface="Poppins" pitchFamily="2" charset="77"/>
              </a:rPr>
              <a:t> Absence of efficient detection systems compromises overall safety in homes and workplaces.</a:t>
            </a:r>
            <a:endParaRPr lang="en-US" sz="2000" dirty="0">
              <a:latin typeface="Poppins" pitchFamily="2" charset="77"/>
              <a:cs typeface="Poppins" pitchFamily="2" charset="77"/>
            </a:endParaRPr>
          </a:p>
        </p:txBody>
      </p:sp>
      <p:sp>
        <p:nvSpPr>
          <p:cNvPr id="4" name="TextBox 3">
            <a:extLst>
              <a:ext uri="{FF2B5EF4-FFF2-40B4-BE49-F238E27FC236}">
                <a16:creationId xmlns:a16="http://schemas.microsoft.com/office/drawing/2014/main" id="{FB6F55F7-4328-DAD1-770E-DD571E87868D}"/>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60CC4185-975F-7130-98F1-6A5D54E03593}"/>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6</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857334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5501-E4FC-7A38-3FAA-BAE8244784E1}"/>
              </a:ext>
            </a:extLst>
          </p:cNvPr>
          <p:cNvSpPr>
            <a:spLocks noGrp="1"/>
          </p:cNvSpPr>
          <p:nvPr>
            <p:ph type="ctrTitle"/>
          </p:nvPr>
        </p:nvSpPr>
        <p:spPr>
          <a:xfrm>
            <a:off x="1524000" y="2942524"/>
            <a:ext cx="9144000" cy="972951"/>
          </a:xfrm>
        </p:spPr>
        <p:txBody>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Objectives</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F786506D-3ECB-8D28-186A-61DDB4D839E0}"/>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87F24DC5-C8A3-FADE-43E6-1AA95164B858}"/>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7</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805796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AF038-B63A-B010-826D-C0463E09180F}"/>
              </a:ext>
            </a:extLst>
          </p:cNvPr>
          <p:cNvSpPr>
            <a:spLocks noGrp="1"/>
          </p:cNvSpPr>
          <p:nvPr>
            <p:ph idx="1"/>
          </p:nvPr>
        </p:nvSpPr>
        <p:spPr>
          <a:xfrm>
            <a:off x="838200" y="1531307"/>
            <a:ext cx="10515600" cy="3795386"/>
          </a:xfrm>
        </p:spPr>
        <p:txBody>
          <a:bodyPr>
            <a:normAutofit/>
          </a:bodyPr>
          <a:lstStyle/>
          <a:p>
            <a:pPr algn="just">
              <a:lnSpc>
                <a:spcPct val="150000"/>
              </a:lnSpc>
              <a:buFont typeface="Arial" panose="020B0604020202020204" pitchFamily="34" charset="0"/>
              <a:buChar char="•"/>
            </a:pPr>
            <a:r>
              <a:rPr lang="en-GB" sz="2000" b="1" dirty="0">
                <a:latin typeface="Poppins" pitchFamily="2" charset="77"/>
                <a:cs typeface="Poppins" pitchFamily="2" charset="77"/>
              </a:rPr>
              <a:t>Detect Hazards Automatically:</a:t>
            </a:r>
            <a:r>
              <a:rPr lang="en-GB" sz="2000" dirty="0">
                <a:latin typeface="Poppins" pitchFamily="2" charset="77"/>
                <a:cs typeface="Poppins" pitchFamily="2" charset="77"/>
              </a:rPr>
              <a:t> Use MQ2 and flame sensors to identify gas leaks and fire in real time.</a:t>
            </a:r>
          </a:p>
          <a:p>
            <a:pPr algn="just">
              <a:lnSpc>
                <a:spcPct val="150000"/>
              </a:lnSpc>
              <a:buFont typeface="Arial" panose="020B0604020202020204" pitchFamily="34" charset="0"/>
              <a:buChar char="•"/>
            </a:pPr>
            <a:r>
              <a:rPr lang="en-GB" sz="2000" b="1" dirty="0">
                <a:latin typeface="Poppins" pitchFamily="2" charset="77"/>
                <a:cs typeface="Poppins" pitchFamily="2" charset="77"/>
              </a:rPr>
              <a:t>Provide Local Alerts: </a:t>
            </a:r>
            <a:r>
              <a:rPr lang="en-GB" sz="2000" dirty="0">
                <a:latin typeface="Poppins" pitchFamily="2" charset="77"/>
                <a:cs typeface="Poppins" pitchFamily="2" charset="77"/>
              </a:rPr>
              <a:t>Trigger buzzer and LEDs instantly to warn nearby users.</a:t>
            </a:r>
          </a:p>
          <a:p>
            <a:pPr algn="just">
              <a:lnSpc>
                <a:spcPct val="150000"/>
              </a:lnSpc>
              <a:buFont typeface="Arial" panose="020B0604020202020204" pitchFamily="34" charset="0"/>
              <a:buChar char="•"/>
            </a:pPr>
            <a:r>
              <a:rPr lang="en-GB" sz="2000" b="1" dirty="0">
                <a:latin typeface="Poppins" pitchFamily="2" charset="77"/>
                <a:cs typeface="Poppins" pitchFamily="2" charset="77"/>
              </a:rPr>
              <a:t>Enable Remote Monitoring: </a:t>
            </a:r>
            <a:r>
              <a:rPr lang="en-GB" sz="2000" dirty="0">
                <a:latin typeface="Poppins" pitchFamily="2" charset="77"/>
                <a:cs typeface="Poppins" pitchFamily="2" charset="77"/>
              </a:rPr>
              <a:t>Send notifications to the Blynk app for quick action even when away.</a:t>
            </a:r>
          </a:p>
          <a:p>
            <a:pPr algn="just">
              <a:lnSpc>
                <a:spcPct val="150000"/>
              </a:lnSpc>
              <a:buFont typeface="Arial" panose="020B0604020202020204" pitchFamily="34" charset="0"/>
              <a:buChar char="•"/>
            </a:pPr>
            <a:r>
              <a:rPr lang="en-GB" sz="2000" b="1" dirty="0">
                <a:latin typeface="Poppins" pitchFamily="2" charset="77"/>
                <a:cs typeface="Poppins" pitchFamily="2" charset="77"/>
              </a:rPr>
              <a:t>Enhance Safety: </a:t>
            </a:r>
            <a:r>
              <a:rPr lang="en-GB" sz="2000" dirty="0">
                <a:latin typeface="Poppins" pitchFamily="2" charset="77"/>
                <a:cs typeface="Poppins" pitchFamily="2" charset="77"/>
              </a:rPr>
              <a:t>Reduce risks by ensuring timely detection and response.</a:t>
            </a:r>
            <a:endParaRPr lang="en-US" sz="2000" dirty="0">
              <a:latin typeface="Poppins" pitchFamily="2" charset="77"/>
              <a:cs typeface="Poppins" pitchFamily="2" charset="77"/>
            </a:endParaRPr>
          </a:p>
        </p:txBody>
      </p:sp>
      <p:sp>
        <p:nvSpPr>
          <p:cNvPr id="4" name="TextBox 3">
            <a:extLst>
              <a:ext uri="{FF2B5EF4-FFF2-40B4-BE49-F238E27FC236}">
                <a16:creationId xmlns:a16="http://schemas.microsoft.com/office/drawing/2014/main" id="{53ACB1C5-88FF-C585-2336-7D124663423F}"/>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4071665E-931D-B837-64B7-388998955BD1}"/>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8</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938920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5501-E4FC-7A38-3FAA-BAE8244784E1}"/>
              </a:ext>
            </a:extLst>
          </p:cNvPr>
          <p:cNvSpPr>
            <a:spLocks noGrp="1"/>
          </p:cNvSpPr>
          <p:nvPr>
            <p:ph type="ctrTitle"/>
          </p:nvPr>
        </p:nvSpPr>
        <p:spPr>
          <a:xfrm>
            <a:off x="1524000" y="2942524"/>
            <a:ext cx="9144000" cy="972951"/>
          </a:xfrm>
        </p:spPr>
        <p:txBody>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Proposed Solution</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01031364-FB5E-448D-ACC7-595753374EC3}"/>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201FB63B-11B4-CB12-9B1F-A3647551D259}"/>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9</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474797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AF038-B63A-B010-826D-C0463E09180F}"/>
              </a:ext>
            </a:extLst>
          </p:cNvPr>
          <p:cNvSpPr>
            <a:spLocks noGrp="1"/>
          </p:cNvSpPr>
          <p:nvPr>
            <p:ph idx="1"/>
          </p:nvPr>
        </p:nvSpPr>
        <p:spPr>
          <a:xfrm>
            <a:off x="838200" y="710852"/>
            <a:ext cx="10515600" cy="5436296"/>
          </a:xfrm>
        </p:spPr>
        <p:txBody>
          <a:bodyPr>
            <a:normAutofit fontScale="92500" lnSpcReduction="20000"/>
          </a:bodyPr>
          <a:lstStyle/>
          <a:p>
            <a:pPr marL="0" indent="0">
              <a:lnSpc>
                <a:spcPct val="150000"/>
              </a:lnSpc>
              <a:buNone/>
            </a:pPr>
            <a:r>
              <a:rPr lang="en-GB" sz="2000" b="1" dirty="0">
                <a:latin typeface="Poppins" pitchFamily="2" charset="77"/>
                <a:cs typeface="Poppins" pitchFamily="2" charset="77"/>
              </a:rPr>
              <a:t>Proposed Solution Overview:</a:t>
            </a:r>
          </a:p>
          <a:p>
            <a:pPr marL="0" indent="0">
              <a:lnSpc>
                <a:spcPct val="150000"/>
              </a:lnSpc>
              <a:buNone/>
            </a:pPr>
            <a:r>
              <a:rPr lang="en-GB" sz="2000" dirty="0">
                <a:latin typeface="Poppins" pitchFamily="2" charset="77"/>
                <a:cs typeface="Poppins" pitchFamily="2" charset="77"/>
              </a:rPr>
              <a:t>IoT-enabled system for detecting gas leaks and flames using ESP32, MQ2, and IR flame sensor with real-time alerts.</a:t>
            </a:r>
          </a:p>
          <a:p>
            <a:pPr marL="0" indent="0">
              <a:lnSpc>
                <a:spcPct val="150000"/>
              </a:lnSpc>
              <a:buNone/>
            </a:pPr>
            <a:r>
              <a:rPr lang="en-GB" sz="2000" b="1" dirty="0">
                <a:latin typeface="Poppins" pitchFamily="2" charset="77"/>
                <a:cs typeface="Poppins" pitchFamily="2" charset="77"/>
              </a:rPr>
              <a:t>Key Features:</a:t>
            </a:r>
          </a:p>
          <a:p>
            <a:pPr>
              <a:lnSpc>
                <a:spcPct val="150000"/>
              </a:lnSpc>
            </a:pPr>
            <a:r>
              <a:rPr lang="en-GB" sz="2000" dirty="0">
                <a:latin typeface="Poppins" pitchFamily="2" charset="77"/>
                <a:cs typeface="Poppins" pitchFamily="2" charset="77"/>
              </a:rPr>
              <a:t>Local alerts via buzzer and LEDs.</a:t>
            </a:r>
          </a:p>
          <a:p>
            <a:pPr>
              <a:lnSpc>
                <a:spcPct val="150000"/>
              </a:lnSpc>
            </a:pPr>
            <a:r>
              <a:rPr lang="en-GB" sz="2000" dirty="0">
                <a:latin typeface="Poppins" pitchFamily="2" charset="77"/>
                <a:cs typeface="Poppins" pitchFamily="2" charset="77"/>
              </a:rPr>
              <a:t>Remote notifications through the Blynk app.</a:t>
            </a:r>
          </a:p>
          <a:p>
            <a:pPr>
              <a:lnSpc>
                <a:spcPct val="150000"/>
              </a:lnSpc>
            </a:pPr>
            <a:r>
              <a:rPr lang="en-GB" sz="2000" dirty="0">
                <a:latin typeface="Poppins" pitchFamily="2" charset="77"/>
                <a:cs typeface="Poppins" pitchFamily="2" charset="77"/>
              </a:rPr>
              <a:t>Continuous monitoring for early hazard detection.</a:t>
            </a:r>
          </a:p>
          <a:p>
            <a:pPr marL="0" indent="0">
              <a:lnSpc>
                <a:spcPct val="150000"/>
              </a:lnSpc>
              <a:buNone/>
            </a:pPr>
            <a:r>
              <a:rPr lang="en-GB" sz="2000" b="1" dirty="0">
                <a:latin typeface="Poppins" pitchFamily="2" charset="77"/>
                <a:cs typeface="Poppins" pitchFamily="2" charset="77"/>
              </a:rPr>
              <a:t>Advantages:</a:t>
            </a:r>
          </a:p>
          <a:p>
            <a:pPr>
              <a:lnSpc>
                <a:spcPct val="150000"/>
              </a:lnSpc>
            </a:pPr>
            <a:r>
              <a:rPr lang="en-GB" sz="2000" dirty="0">
                <a:latin typeface="Poppins" pitchFamily="2" charset="77"/>
                <a:cs typeface="Poppins" pitchFamily="2" charset="77"/>
              </a:rPr>
              <a:t>Ensures timely response to emergencies.</a:t>
            </a:r>
          </a:p>
          <a:p>
            <a:pPr>
              <a:lnSpc>
                <a:spcPct val="150000"/>
              </a:lnSpc>
            </a:pPr>
            <a:r>
              <a:rPr lang="en-GB" sz="2000" dirty="0">
                <a:latin typeface="Poppins" pitchFamily="2" charset="77"/>
                <a:cs typeface="Poppins" pitchFamily="2" charset="77"/>
              </a:rPr>
              <a:t>Improves safety in homes and workplaces.</a:t>
            </a:r>
          </a:p>
          <a:p>
            <a:pPr>
              <a:lnSpc>
                <a:spcPct val="150000"/>
              </a:lnSpc>
            </a:pPr>
            <a:r>
              <a:rPr lang="en-GB" sz="2000" dirty="0">
                <a:latin typeface="Poppins" pitchFamily="2" charset="77"/>
                <a:cs typeface="Poppins" pitchFamily="2" charset="77"/>
              </a:rPr>
              <a:t>Scalable and cost-effective IoT-based safety solution.</a:t>
            </a:r>
            <a:endParaRPr lang="en-US" sz="2000" dirty="0">
              <a:latin typeface="Poppins" pitchFamily="2" charset="77"/>
              <a:cs typeface="Poppins" pitchFamily="2" charset="77"/>
            </a:endParaRPr>
          </a:p>
        </p:txBody>
      </p:sp>
      <p:sp>
        <p:nvSpPr>
          <p:cNvPr id="4" name="TextBox 3">
            <a:extLst>
              <a:ext uri="{FF2B5EF4-FFF2-40B4-BE49-F238E27FC236}">
                <a16:creationId xmlns:a16="http://schemas.microsoft.com/office/drawing/2014/main" id="{B9E30151-7EE1-5B89-FE5E-9A01244A869E}"/>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97E2CC8E-0C1C-BB8D-D592-B4DE34A51AD9}"/>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10</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480858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5501-E4FC-7A38-3FAA-BAE8244784E1}"/>
              </a:ext>
            </a:extLst>
          </p:cNvPr>
          <p:cNvSpPr>
            <a:spLocks noGrp="1"/>
          </p:cNvSpPr>
          <p:nvPr>
            <p:ph type="ctrTitle"/>
          </p:nvPr>
        </p:nvSpPr>
        <p:spPr>
          <a:xfrm>
            <a:off x="1524000" y="2942524"/>
            <a:ext cx="9144000" cy="972951"/>
          </a:xfrm>
        </p:spPr>
        <p:txBody>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System Architecture </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0B38D602-ABE9-DFB7-4F6F-D1B06938EEA5}"/>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AA38D325-D865-2FE7-6461-78BBFF3A0A9C}"/>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11</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955930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AF038-B63A-B010-826D-C0463E09180F}"/>
              </a:ext>
            </a:extLst>
          </p:cNvPr>
          <p:cNvSpPr>
            <a:spLocks noGrp="1"/>
          </p:cNvSpPr>
          <p:nvPr>
            <p:ph idx="1"/>
          </p:nvPr>
        </p:nvSpPr>
        <p:spPr>
          <a:xfrm>
            <a:off x="838200" y="757517"/>
            <a:ext cx="10515600" cy="5706036"/>
          </a:xfrm>
        </p:spPr>
        <p:txBody>
          <a:bodyPr>
            <a:normAutofit/>
          </a:bodyPr>
          <a:lstStyle/>
          <a:p>
            <a:pPr marL="0" indent="0" algn="just">
              <a:lnSpc>
                <a:spcPct val="150000"/>
              </a:lnSpc>
              <a:buNone/>
            </a:pPr>
            <a:r>
              <a:rPr lang="en-US" sz="2000" b="1" dirty="0">
                <a:latin typeface="Poppins" pitchFamily="2" charset="77"/>
                <a:cs typeface="Poppins" pitchFamily="2" charset="77"/>
              </a:rPr>
              <a:t>IoT Architecture Layers</a:t>
            </a:r>
            <a:r>
              <a:rPr lang="en-US" sz="2000" dirty="0">
                <a:latin typeface="Poppins" pitchFamily="2" charset="77"/>
                <a:cs typeface="Poppins" pitchFamily="2" charset="77"/>
              </a:rPr>
              <a:t>:</a:t>
            </a:r>
          </a:p>
          <a:p>
            <a:pPr lvl="1" algn="just">
              <a:lnSpc>
                <a:spcPct val="150000"/>
              </a:lnSpc>
              <a:buFont typeface="+mj-lt"/>
              <a:buAutoNum type="arabicPeriod"/>
            </a:pPr>
            <a:r>
              <a:rPr lang="en-US" sz="2000" b="1" dirty="0">
                <a:latin typeface="Poppins" pitchFamily="2" charset="77"/>
                <a:cs typeface="Poppins" pitchFamily="2" charset="77"/>
              </a:rPr>
              <a:t>Perception Layer:</a:t>
            </a:r>
            <a:r>
              <a:rPr lang="en-US" sz="2000" dirty="0">
                <a:latin typeface="Poppins" pitchFamily="2" charset="77"/>
                <a:cs typeface="Poppins" pitchFamily="2" charset="77"/>
              </a:rPr>
              <a:t> </a:t>
            </a:r>
            <a:r>
              <a:rPr lang="en-GB" sz="2000" dirty="0">
                <a:latin typeface="Poppins" pitchFamily="2" charset="77"/>
                <a:cs typeface="Poppins" pitchFamily="2" charset="77"/>
              </a:rPr>
              <a:t>MQ2 gas sensor and flame sensor detect hazards; buzzer and LEDs act as actuators for local alerts.</a:t>
            </a:r>
            <a:endParaRPr lang="en-US" sz="2000" dirty="0">
              <a:latin typeface="Poppins" pitchFamily="2" charset="77"/>
              <a:cs typeface="Poppins" pitchFamily="2" charset="77"/>
            </a:endParaRPr>
          </a:p>
          <a:p>
            <a:pPr lvl="1" algn="just">
              <a:lnSpc>
                <a:spcPct val="150000"/>
              </a:lnSpc>
              <a:buFont typeface="+mj-lt"/>
              <a:buAutoNum type="arabicPeriod"/>
            </a:pPr>
            <a:r>
              <a:rPr lang="en-US" sz="2000" b="1" dirty="0">
                <a:latin typeface="Poppins" pitchFamily="2" charset="77"/>
                <a:cs typeface="Poppins" pitchFamily="2" charset="77"/>
              </a:rPr>
              <a:t>Transport Layer:</a:t>
            </a:r>
            <a:r>
              <a:rPr lang="en-US" sz="2000" dirty="0">
                <a:latin typeface="Poppins" pitchFamily="2" charset="77"/>
                <a:cs typeface="Poppins" pitchFamily="2" charset="77"/>
              </a:rPr>
              <a:t> </a:t>
            </a:r>
            <a:r>
              <a:rPr lang="en-GB" sz="2000" dirty="0">
                <a:latin typeface="Poppins" pitchFamily="2" charset="77"/>
                <a:cs typeface="Poppins" pitchFamily="2" charset="77"/>
              </a:rPr>
              <a:t>Wi-Fi on ESP32 enables communication between the system and the Blynk cloud.</a:t>
            </a:r>
            <a:endParaRPr lang="en-US" sz="2000" dirty="0">
              <a:latin typeface="Poppins" pitchFamily="2" charset="77"/>
              <a:cs typeface="Poppins" pitchFamily="2" charset="77"/>
            </a:endParaRPr>
          </a:p>
          <a:p>
            <a:pPr lvl="1" algn="just">
              <a:lnSpc>
                <a:spcPct val="150000"/>
              </a:lnSpc>
              <a:buFont typeface="+mj-lt"/>
              <a:buAutoNum type="arabicPeriod"/>
            </a:pPr>
            <a:r>
              <a:rPr lang="en-US" sz="2000" b="1" dirty="0">
                <a:latin typeface="Poppins" pitchFamily="2" charset="77"/>
                <a:cs typeface="Poppins" pitchFamily="2" charset="77"/>
              </a:rPr>
              <a:t>Processing Layer:</a:t>
            </a:r>
            <a:r>
              <a:rPr lang="en-US" sz="2000" dirty="0">
                <a:latin typeface="Poppins" pitchFamily="2" charset="77"/>
                <a:cs typeface="Poppins" pitchFamily="2" charset="77"/>
              </a:rPr>
              <a:t> </a:t>
            </a:r>
            <a:r>
              <a:rPr lang="en-GB" sz="2000" dirty="0">
                <a:latin typeface="Poppins" pitchFamily="2" charset="77"/>
                <a:cs typeface="Poppins" pitchFamily="2" charset="77"/>
              </a:rPr>
              <a:t>ESP32 processes sensor data and triggers alerts locally and remotely.</a:t>
            </a:r>
            <a:endParaRPr lang="en-US" sz="2000" dirty="0">
              <a:latin typeface="Poppins" pitchFamily="2" charset="77"/>
              <a:cs typeface="Poppins" pitchFamily="2" charset="77"/>
            </a:endParaRPr>
          </a:p>
          <a:p>
            <a:pPr lvl="1" algn="just">
              <a:lnSpc>
                <a:spcPct val="150000"/>
              </a:lnSpc>
              <a:buFont typeface="+mj-lt"/>
              <a:buAutoNum type="arabicPeriod"/>
            </a:pPr>
            <a:r>
              <a:rPr lang="en-US" sz="2000" b="1" dirty="0">
                <a:latin typeface="Poppins" pitchFamily="2" charset="77"/>
                <a:cs typeface="Poppins" pitchFamily="2" charset="77"/>
              </a:rPr>
              <a:t>Application Layer: </a:t>
            </a:r>
            <a:r>
              <a:rPr lang="en-GB" sz="2000" dirty="0">
                <a:latin typeface="Poppins" pitchFamily="2" charset="77"/>
                <a:cs typeface="Poppins" pitchFamily="2" charset="77"/>
              </a:rPr>
              <a:t>Blynk app provides real-time notifications and monitoring for users.</a:t>
            </a:r>
            <a:endParaRPr lang="en-US" sz="2000" dirty="0">
              <a:latin typeface="Poppins" pitchFamily="2" charset="77"/>
              <a:cs typeface="Poppins" pitchFamily="2" charset="77"/>
            </a:endParaRPr>
          </a:p>
          <a:p>
            <a:pPr lvl="1" algn="just">
              <a:lnSpc>
                <a:spcPct val="150000"/>
              </a:lnSpc>
              <a:buFont typeface="+mj-lt"/>
              <a:buAutoNum type="arabicPeriod"/>
            </a:pPr>
            <a:r>
              <a:rPr lang="en-US" sz="2000" b="1" dirty="0">
                <a:latin typeface="Poppins" pitchFamily="2" charset="77"/>
                <a:cs typeface="Poppins" pitchFamily="2" charset="77"/>
              </a:rPr>
              <a:t>Business Layer</a:t>
            </a:r>
            <a:r>
              <a:rPr lang="en-US" sz="2000" dirty="0">
                <a:latin typeface="Poppins" pitchFamily="2" charset="77"/>
                <a:cs typeface="Poppins" pitchFamily="2" charset="77"/>
              </a:rPr>
              <a:t>: </a:t>
            </a:r>
            <a:r>
              <a:rPr lang="en-GB" sz="2000" dirty="0">
                <a:latin typeface="Poppins" pitchFamily="2" charset="77"/>
                <a:cs typeface="Poppins" pitchFamily="2" charset="77"/>
              </a:rPr>
              <a:t>Focuses on enhancing safety, reducing risks, and offering a scalable IoT-based hazard detection solution.</a:t>
            </a:r>
            <a:endParaRPr lang="en-US" sz="2000" dirty="0">
              <a:latin typeface="Poppins" pitchFamily="2" charset="77"/>
              <a:cs typeface="Poppins" pitchFamily="2" charset="77"/>
            </a:endParaRPr>
          </a:p>
        </p:txBody>
      </p:sp>
      <p:sp>
        <p:nvSpPr>
          <p:cNvPr id="4" name="TextBox 3">
            <a:extLst>
              <a:ext uri="{FF2B5EF4-FFF2-40B4-BE49-F238E27FC236}">
                <a16:creationId xmlns:a16="http://schemas.microsoft.com/office/drawing/2014/main" id="{80809191-8326-4EF2-2F21-FF74F71FC7E8}"/>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CC82DD6A-2FC5-1060-097C-6520C765ACA6}"/>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12</a:t>
            </a:fld>
            <a:endParaRPr lang="en-GB" b="1" dirty="0">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988476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5501-E4FC-7A38-3FAA-BAE8244784E1}"/>
              </a:ext>
            </a:extLst>
          </p:cNvPr>
          <p:cNvSpPr>
            <a:spLocks noGrp="1"/>
          </p:cNvSpPr>
          <p:nvPr>
            <p:ph type="ctrTitle"/>
          </p:nvPr>
        </p:nvSpPr>
        <p:spPr>
          <a:xfrm>
            <a:off x="1524000" y="2618745"/>
            <a:ext cx="9144000" cy="1620510"/>
          </a:xfrm>
        </p:spPr>
        <p:txBody>
          <a:bodyPr>
            <a:normAutofit fontScale="90000"/>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System Tools and Frameworks</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583F9C02-4908-0FB1-D913-D1E31C8CD4D9}"/>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B9DF2491-AADA-FC94-A3B2-62352BAA95E4}"/>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13</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075746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AF038-B63A-B010-826D-C0463E09180F}"/>
              </a:ext>
            </a:extLst>
          </p:cNvPr>
          <p:cNvSpPr>
            <a:spLocks noGrp="1"/>
          </p:cNvSpPr>
          <p:nvPr>
            <p:ph idx="1"/>
          </p:nvPr>
        </p:nvSpPr>
        <p:spPr>
          <a:xfrm>
            <a:off x="838200" y="825910"/>
            <a:ext cx="10515600" cy="4427739"/>
          </a:xfrm>
        </p:spPr>
        <p:txBody>
          <a:bodyPr>
            <a:normAutofit/>
          </a:bodyPr>
          <a:lstStyle/>
          <a:p>
            <a:pPr marL="0" indent="0" algn="just">
              <a:lnSpc>
                <a:spcPct val="200000"/>
              </a:lnSpc>
              <a:buNone/>
            </a:pPr>
            <a:r>
              <a:rPr lang="en-US" sz="2000" b="1" dirty="0">
                <a:latin typeface="Poppins" pitchFamily="2" charset="77"/>
                <a:cs typeface="Poppins" pitchFamily="2" charset="77"/>
              </a:rPr>
              <a:t>Tools, Software &amp; Frameworks: </a:t>
            </a:r>
          </a:p>
          <a:p>
            <a:pPr marL="457200" indent="-457200" algn="just">
              <a:lnSpc>
                <a:spcPct val="200000"/>
              </a:lnSpc>
              <a:buFont typeface="+mj-lt"/>
              <a:buAutoNum type="arabicPeriod"/>
            </a:pPr>
            <a:r>
              <a:rPr lang="en-US" sz="2000" b="1" dirty="0">
                <a:latin typeface="Poppins" pitchFamily="2" charset="77"/>
                <a:cs typeface="Poppins" pitchFamily="2" charset="77"/>
              </a:rPr>
              <a:t>Arduino IDE:</a:t>
            </a:r>
            <a:r>
              <a:rPr lang="en-US" sz="2000" dirty="0">
                <a:latin typeface="Poppins" pitchFamily="2" charset="77"/>
                <a:cs typeface="Poppins" pitchFamily="2" charset="77"/>
              </a:rPr>
              <a:t> </a:t>
            </a:r>
            <a:r>
              <a:rPr lang="en-GB" sz="2000" dirty="0">
                <a:latin typeface="Poppins" pitchFamily="2" charset="77"/>
                <a:cs typeface="Poppins" pitchFamily="2" charset="77"/>
              </a:rPr>
              <a:t>Used for coding and uploading programs to ESP32.</a:t>
            </a:r>
            <a:endParaRPr lang="en-US" sz="2000" dirty="0">
              <a:latin typeface="Poppins" pitchFamily="2" charset="77"/>
              <a:cs typeface="Poppins" pitchFamily="2" charset="77"/>
            </a:endParaRPr>
          </a:p>
          <a:p>
            <a:pPr marL="457200" indent="-457200" algn="just">
              <a:lnSpc>
                <a:spcPct val="200000"/>
              </a:lnSpc>
              <a:buFont typeface="+mj-lt"/>
              <a:buAutoNum type="arabicPeriod"/>
            </a:pPr>
            <a:r>
              <a:rPr lang="en-US" sz="2000" b="1" dirty="0">
                <a:latin typeface="Poppins" pitchFamily="2" charset="77"/>
                <a:cs typeface="Poppins" pitchFamily="2" charset="77"/>
              </a:rPr>
              <a:t>Blynk App:</a:t>
            </a:r>
            <a:r>
              <a:rPr lang="en-US" sz="2000" dirty="0">
                <a:latin typeface="Poppins" pitchFamily="2" charset="77"/>
                <a:cs typeface="Poppins" pitchFamily="2" charset="77"/>
              </a:rPr>
              <a:t> </a:t>
            </a:r>
            <a:r>
              <a:rPr lang="en-GB" sz="2000" dirty="0">
                <a:latin typeface="Poppins" pitchFamily="2" charset="77"/>
                <a:cs typeface="Poppins" pitchFamily="2" charset="77"/>
              </a:rPr>
              <a:t>Provides real-time alerts and remote monitoring.</a:t>
            </a:r>
            <a:endParaRPr lang="en-US" sz="2000" dirty="0">
              <a:latin typeface="Poppins" pitchFamily="2" charset="77"/>
              <a:cs typeface="Poppins" pitchFamily="2" charset="77"/>
            </a:endParaRPr>
          </a:p>
          <a:p>
            <a:pPr marL="457200" indent="-457200" algn="just">
              <a:lnSpc>
                <a:spcPct val="200000"/>
              </a:lnSpc>
              <a:buFont typeface="+mj-lt"/>
              <a:buAutoNum type="arabicPeriod"/>
            </a:pPr>
            <a:r>
              <a:rPr lang="en-US" sz="2000" b="1" dirty="0">
                <a:latin typeface="Poppins" pitchFamily="2" charset="77"/>
                <a:cs typeface="Poppins" pitchFamily="2" charset="77"/>
              </a:rPr>
              <a:t>Blynk Library: </a:t>
            </a:r>
            <a:r>
              <a:rPr lang="en-GB" sz="2000" dirty="0">
                <a:latin typeface="Poppins" pitchFamily="2" charset="77"/>
                <a:cs typeface="Poppins" pitchFamily="2" charset="77"/>
              </a:rPr>
              <a:t>Enables communication between ESP32 and the Blynk cloud.</a:t>
            </a:r>
          </a:p>
          <a:p>
            <a:pPr marL="457200" indent="-457200" algn="just">
              <a:lnSpc>
                <a:spcPct val="200000"/>
              </a:lnSpc>
              <a:buFont typeface="+mj-lt"/>
              <a:buAutoNum type="arabicPeriod"/>
            </a:pPr>
            <a:r>
              <a:rPr lang="en-GB" sz="2000" b="1" dirty="0">
                <a:latin typeface="Poppins" pitchFamily="2" charset="77"/>
                <a:cs typeface="Poppins" pitchFamily="2" charset="77"/>
              </a:rPr>
              <a:t>ESP32 Library:</a:t>
            </a:r>
            <a:r>
              <a:rPr lang="en-GB" sz="2000" dirty="0">
                <a:latin typeface="Poppins" pitchFamily="2" charset="77"/>
                <a:cs typeface="Poppins" pitchFamily="2" charset="77"/>
              </a:rPr>
              <a:t> Provides support for ESP32 board in Arduino IDE.</a:t>
            </a:r>
            <a:endParaRPr lang="en-US" sz="2000" dirty="0">
              <a:latin typeface="Poppins" pitchFamily="2" charset="77"/>
              <a:cs typeface="Poppins" pitchFamily="2" charset="77"/>
            </a:endParaRPr>
          </a:p>
        </p:txBody>
      </p:sp>
      <p:sp>
        <p:nvSpPr>
          <p:cNvPr id="4" name="TextBox 3">
            <a:extLst>
              <a:ext uri="{FF2B5EF4-FFF2-40B4-BE49-F238E27FC236}">
                <a16:creationId xmlns:a16="http://schemas.microsoft.com/office/drawing/2014/main" id="{96C4BE46-95C2-E749-2CE5-F0197E77EA99}"/>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DE4A408F-1DA6-8E1D-7FDD-D79153E6978F}"/>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14</a:t>
            </a:fld>
            <a:endParaRPr lang="en-GB" b="1">
              <a:solidFill>
                <a:schemeClr val="tx1"/>
              </a:solidFill>
              <a:latin typeface="Poppins" panose="00000500000000000000" pitchFamily="2" charset="0"/>
              <a:cs typeface="Poppins" panose="00000500000000000000" pitchFamily="2" charset="0"/>
            </a:endParaRPr>
          </a:p>
        </p:txBody>
      </p:sp>
      <p:pic>
        <p:nvPicPr>
          <p:cNvPr id="2" name="Picture 1">
            <a:extLst>
              <a:ext uri="{FF2B5EF4-FFF2-40B4-BE49-F238E27FC236}">
                <a16:creationId xmlns:a16="http://schemas.microsoft.com/office/drawing/2014/main" id="{5EA9F9B9-78F7-34AF-7651-A8F5BC294607}"/>
              </a:ext>
            </a:extLst>
          </p:cNvPr>
          <p:cNvPicPr>
            <a:picLocks noChangeAspect="1"/>
          </p:cNvPicPr>
          <p:nvPr/>
        </p:nvPicPr>
        <p:blipFill>
          <a:blip r:embed="rId3"/>
          <a:stretch>
            <a:fillRect/>
          </a:stretch>
        </p:blipFill>
        <p:spPr>
          <a:xfrm>
            <a:off x="9650581" y="1702674"/>
            <a:ext cx="677890" cy="460423"/>
          </a:xfrm>
          <a:prstGeom prst="rect">
            <a:avLst/>
          </a:prstGeom>
        </p:spPr>
      </p:pic>
      <p:pic>
        <p:nvPicPr>
          <p:cNvPr id="7" name="Picture 6">
            <a:extLst>
              <a:ext uri="{FF2B5EF4-FFF2-40B4-BE49-F238E27FC236}">
                <a16:creationId xmlns:a16="http://schemas.microsoft.com/office/drawing/2014/main" id="{722D37DB-F2F4-088B-FF1D-003814BA43E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620" b="89933" l="298" r="97765">
                        <a14:foregroundMark x1="10283" y1="33333" x2="6259" y2="50336"/>
                        <a14:foregroundMark x1="6259" y1="50336" x2="11475" y2="68009"/>
                        <a14:foregroundMark x1="745" y1="58166" x2="745" y2="58166"/>
                        <a14:foregroundMark x1="12370" y1="47204" x2="12370" y2="47204"/>
                        <a14:foregroundMark x1="13264" y1="59508" x2="13264" y2="59508"/>
                        <a14:foregroundMark x1="12668" y1="52796" x2="12668" y2="52796"/>
                        <a14:foregroundMark x1="12668" y1="45861" x2="13264" y2="57718"/>
                        <a14:foregroundMark x1="8197" y1="40940" x2="21908" y2="38702"/>
                        <a14:foregroundMark x1="21908" y1="38702" x2="26379" y2="54139"/>
                        <a14:foregroundMark x1="26379" y1="54139" x2="18778" y2="68456"/>
                        <a14:foregroundMark x1="18778" y1="68456" x2="7750" y2="56152"/>
                        <a14:foregroundMark x1="7750" y1="56152" x2="7601" y2="42282"/>
                        <a14:foregroundMark x1="12966" y1="53244" x2="25931" y2="47204"/>
                        <a14:foregroundMark x1="25931" y1="47204" x2="10581" y2="50112"/>
                        <a14:foregroundMark x1="10581" y1="50112" x2="19672" y2="60403"/>
                        <a14:foregroundMark x1="19672" y1="60403" x2="22206" y2="60403"/>
                        <a14:foregroundMark x1="45455" y1="51454" x2="45455" y2="51454"/>
                        <a14:foregroundMark x1="59613" y1="53244" x2="59613" y2="53244"/>
                        <a14:foregroundMark x1="66468" y1="53244" x2="66468" y2="53244"/>
                        <a14:foregroundMark x1="83159" y1="48098" x2="83159" y2="48098"/>
                        <a14:foregroundMark x1="92996" y1="53691" x2="92996" y2="53691"/>
                        <a14:foregroundMark x1="95082" y1="49441" x2="95082" y2="49441"/>
                        <a14:foregroundMark x1="97765" y1="46756" x2="97765" y2="46756"/>
                      </a14:backgroundRemoval>
                    </a14:imgEffect>
                  </a14:imgLayer>
                </a14:imgProps>
              </a:ext>
            </a:extLst>
          </a:blip>
          <a:stretch>
            <a:fillRect/>
          </a:stretch>
        </p:blipFill>
        <p:spPr>
          <a:xfrm>
            <a:off x="9362245" y="2440190"/>
            <a:ext cx="966226" cy="643189"/>
          </a:xfrm>
          <a:prstGeom prst="rect">
            <a:avLst/>
          </a:prstGeom>
        </p:spPr>
      </p:pic>
    </p:spTree>
    <p:extLst>
      <p:ext uri="{BB962C8B-B14F-4D97-AF65-F5344CB8AC3E}">
        <p14:creationId xmlns:p14="http://schemas.microsoft.com/office/powerpoint/2010/main" val="3901077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AF038-B63A-B010-826D-C0463E09180F}"/>
              </a:ext>
            </a:extLst>
          </p:cNvPr>
          <p:cNvSpPr>
            <a:spLocks noGrp="1"/>
          </p:cNvSpPr>
          <p:nvPr>
            <p:ph idx="1"/>
          </p:nvPr>
        </p:nvSpPr>
        <p:spPr>
          <a:xfrm>
            <a:off x="838200" y="707923"/>
            <a:ext cx="10515600" cy="5161935"/>
          </a:xfrm>
        </p:spPr>
        <p:txBody>
          <a:bodyPr>
            <a:normAutofit/>
          </a:bodyPr>
          <a:lstStyle/>
          <a:p>
            <a:pPr marL="0" indent="0" algn="just">
              <a:lnSpc>
                <a:spcPct val="200000"/>
              </a:lnSpc>
              <a:buNone/>
            </a:pPr>
            <a:r>
              <a:rPr lang="en-US" sz="2000" b="1" dirty="0">
                <a:latin typeface="Poppins" pitchFamily="2" charset="77"/>
                <a:cs typeface="Poppins" pitchFamily="2" charset="77"/>
              </a:rPr>
              <a:t>Hardware Components: </a:t>
            </a:r>
          </a:p>
          <a:p>
            <a:pPr marL="457200" indent="-457200" algn="just">
              <a:lnSpc>
                <a:spcPct val="200000"/>
              </a:lnSpc>
              <a:buFont typeface="+mj-lt"/>
              <a:buAutoNum type="arabicPeriod"/>
            </a:pPr>
            <a:r>
              <a:rPr lang="en-US" sz="2000" b="1" dirty="0">
                <a:latin typeface="Poppins" pitchFamily="2" charset="77"/>
                <a:cs typeface="Poppins" pitchFamily="2" charset="77"/>
              </a:rPr>
              <a:t>ESP32 (NodeMCU Devkit V1): </a:t>
            </a:r>
            <a:r>
              <a:rPr lang="en-US" sz="2000" dirty="0">
                <a:latin typeface="Poppins" pitchFamily="2" charset="77"/>
                <a:cs typeface="Poppins" pitchFamily="2" charset="77"/>
              </a:rPr>
              <a:t>Main microcontroller board with Wi-Fi capability.</a:t>
            </a:r>
          </a:p>
          <a:p>
            <a:pPr marL="457200" indent="-457200" algn="just">
              <a:lnSpc>
                <a:spcPct val="200000"/>
              </a:lnSpc>
              <a:buFont typeface="+mj-lt"/>
              <a:buAutoNum type="arabicPeriod"/>
            </a:pPr>
            <a:r>
              <a:rPr lang="en-GB" sz="2000" b="1" dirty="0">
                <a:latin typeface="Poppins" pitchFamily="2" charset="77"/>
                <a:cs typeface="Poppins" pitchFamily="2" charset="77"/>
              </a:rPr>
              <a:t>MQ2 Gas Sensor: </a:t>
            </a:r>
            <a:r>
              <a:rPr lang="en-GB" sz="2000" dirty="0">
                <a:latin typeface="Poppins" pitchFamily="2" charset="77"/>
                <a:cs typeface="Poppins" pitchFamily="2" charset="77"/>
              </a:rPr>
              <a:t>Detects the presence of harmful gases.</a:t>
            </a:r>
            <a:endParaRPr lang="en-US" sz="2000" dirty="0">
              <a:latin typeface="Poppins" pitchFamily="2" charset="77"/>
              <a:cs typeface="Poppins" pitchFamily="2" charset="77"/>
            </a:endParaRPr>
          </a:p>
          <a:p>
            <a:pPr marL="457200" indent="-457200" algn="just">
              <a:lnSpc>
                <a:spcPct val="200000"/>
              </a:lnSpc>
              <a:buFont typeface="+mj-lt"/>
              <a:buAutoNum type="arabicPeriod"/>
            </a:pPr>
            <a:r>
              <a:rPr lang="en-GB" sz="2000" b="1" dirty="0">
                <a:latin typeface="Poppins" pitchFamily="2" charset="77"/>
                <a:cs typeface="Poppins" pitchFamily="2" charset="77"/>
              </a:rPr>
              <a:t>IR Flame Sensor: </a:t>
            </a:r>
            <a:r>
              <a:rPr lang="en-GB" sz="2000" dirty="0">
                <a:latin typeface="Poppins" pitchFamily="2" charset="77"/>
                <a:cs typeface="Poppins" pitchFamily="2" charset="77"/>
              </a:rPr>
              <a:t>Detects fire or flame sources.</a:t>
            </a:r>
            <a:endParaRPr lang="en-US" sz="2000" dirty="0">
              <a:latin typeface="Poppins" pitchFamily="2" charset="77"/>
              <a:cs typeface="Poppins" pitchFamily="2" charset="77"/>
            </a:endParaRPr>
          </a:p>
          <a:p>
            <a:pPr marL="457200" indent="-457200" algn="just">
              <a:lnSpc>
                <a:spcPct val="200000"/>
              </a:lnSpc>
              <a:buFont typeface="+mj-lt"/>
              <a:buAutoNum type="arabicPeriod"/>
            </a:pPr>
            <a:r>
              <a:rPr lang="en-GB" sz="2000" b="1" dirty="0">
                <a:latin typeface="Poppins" pitchFamily="2" charset="77"/>
                <a:cs typeface="Poppins" pitchFamily="2" charset="77"/>
              </a:rPr>
              <a:t>LEDs &amp; Resistors: </a:t>
            </a:r>
            <a:r>
              <a:rPr lang="en-GB" sz="2000" dirty="0">
                <a:latin typeface="Poppins" pitchFamily="2" charset="77"/>
                <a:cs typeface="Poppins" pitchFamily="2" charset="77"/>
              </a:rPr>
              <a:t>Indicate gas or flame detection with visual alerts.</a:t>
            </a:r>
            <a:endParaRPr lang="en-US" sz="2000" dirty="0">
              <a:latin typeface="Poppins" pitchFamily="2" charset="77"/>
              <a:cs typeface="Poppins" pitchFamily="2" charset="77"/>
            </a:endParaRPr>
          </a:p>
          <a:p>
            <a:pPr marL="457200" indent="-457200" algn="just">
              <a:lnSpc>
                <a:spcPct val="200000"/>
              </a:lnSpc>
              <a:buFont typeface="+mj-lt"/>
              <a:buAutoNum type="arabicPeriod"/>
            </a:pPr>
            <a:r>
              <a:rPr lang="en-GB" sz="2000" b="1" dirty="0">
                <a:latin typeface="Poppins" pitchFamily="2" charset="77"/>
                <a:cs typeface="Poppins" pitchFamily="2" charset="77"/>
              </a:rPr>
              <a:t>Buzzer: </a:t>
            </a:r>
            <a:r>
              <a:rPr lang="en-GB" sz="2000" dirty="0">
                <a:latin typeface="Poppins" pitchFamily="2" charset="77"/>
                <a:cs typeface="Poppins" pitchFamily="2" charset="77"/>
              </a:rPr>
              <a:t>Provides audible alarm during hazard detection.</a:t>
            </a:r>
          </a:p>
          <a:p>
            <a:pPr marL="457200" indent="-457200" algn="just">
              <a:lnSpc>
                <a:spcPct val="200000"/>
              </a:lnSpc>
              <a:buFont typeface="+mj-lt"/>
              <a:buAutoNum type="arabicPeriod"/>
            </a:pPr>
            <a:r>
              <a:rPr lang="en-GB" sz="2000" b="1" dirty="0">
                <a:latin typeface="Poppins" pitchFamily="2" charset="77"/>
                <a:cs typeface="Poppins" pitchFamily="2" charset="77"/>
              </a:rPr>
              <a:t>Breadboard &amp; Jumper Wires: </a:t>
            </a:r>
            <a:r>
              <a:rPr lang="en-GB" sz="2000" dirty="0">
                <a:latin typeface="Poppins" pitchFamily="2" charset="77"/>
                <a:cs typeface="Poppins" pitchFamily="2" charset="77"/>
              </a:rPr>
              <a:t>For circuit prototyping and connections.</a:t>
            </a:r>
            <a:endParaRPr lang="en-US" sz="2000" dirty="0">
              <a:latin typeface="Poppins" pitchFamily="2" charset="77"/>
              <a:cs typeface="Poppins" pitchFamily="2" charset="77"/>
            </a:endParaRPr>
          </a:p>
        </p:txBody>
      </p:sp>
      <p:sp>
        <p:nvSpPr>
          <p:cNvPr id="4" name="TextBox 3">
            <a:extLst>
              <a:ext uri="{FF2B5EF4-FFF2-40B4-BE49-F238E27FC236}">
                <a16:creationId xmlns:a16="http://schemas.microsoft.com/office/drawing/2014/main" id="{70D1603D-21F7-BB6D-C8CE-1071AF22FE81}"/>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6778980E-CF37-F8D0-8772-DD9B9C2F698C}"/>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15</a:t>
            </a:fld>
            <a:endParaRPr lang="en-GB" b="1">
              <a:solidFill>
                <a:schemeClr val="tx1"/>
              </a:solidFill>
              <a:latin typeface="Poppins" panose="00000500000000000000" pitchFamily="2" charset="0"/>
              <a:cs typeface="Poppins" panose="00000500000000000000" pitchFamily="2" charset="0"/>
            </a:endParaRPr>
          </a:p>
        </p:txBody>
      </p:sp>
      <p:pic>
        <p:nvPicPr>
          <p:cNvPr id="7" name="Picture 6">
            <a:extLst>
              <a:ext uri="{FF2B5EF4-FFF2-40B4-BE49-F238E27FC236}">
                <a16:creationId xmlns:a16="http://schemas.microsoft.com/office/drawing/2014/main" id="{CC4F5CAC-584B-1133-6C43-EB4BD652D58C}"/>
              </a:ext>
            </a:extLst>
          </p:cNvPr>
          <p:cNvPicPr>
            <a:picLocks noChangeAspect="1"/>
          </p:cNvPicPr>
          <p:nvPr/>
        </p:nvPicPr>
        <p:blipFill>
          <a:blip r:embed="rId3"/>
          <a:stretch>
            <a:fillRect/>
          </a:stretch>
        </p:blipFill>
        <p:spPr>
          <a:xfrm>
            <a:off x="9982200" y="594329"/>
            <a:ext cx="1093224" cy="1093224"/>
          </a:xfrm>
          <a:prstGeom prst="rect">
            <a:avLst/>
          </a:prstGeom>
        </p:spPr>
      </p:pic>
      <p:pic>
        <p:nvPicPr>
          <p:cNvPr id="11" name="Picture 10">
            <a:extLst>
              <a:ext uri="{FF2B5EF4-FFF2-40B4-BE49-F238E27FC236}">
                <a16:creationId xmlns:a16="http://schemas.microsoft.com/office/drawing/2014/main" id="{D63A2A8A-54A3-58E4-D694-5FC92DFE9891}"/>
              </a:ext>
            </a:extLst>
          </p:cNvPr>
          <p:cNvPicPr>
            <a:picLocks noChangeAspect="1"/>
          </p:cNvPicPr>
          <p:nvPr/>
        </p:nvPicPr>
        <p:blipFill>
          <a:blip r:embed="rId4"/>
          <a:stretch>
            <a:fillRect/>
          </a:stretch>
        </p:blipFill>
        <p:spPr>
          <a:xfrm>
            <a:off x="8610600" y="1995334"/>
            <a:ext cx="1219814" cy="1219814"/>
          </a:xfrm>
          <a:prstGeom prst="rect">
            <a:avLst/>
          </a:prstGeom>
        </p:spPr>
      </p:pic>
      <p:pic>
        <p:nvPicPr>
          <p:cNvPr id="12" name="Picture 11">
            <a:extLst>
              <a:ext uri="{FF2B5EF4-FFF2-40B4-BE49-F238E27FC236}">
                <a16:creationId xmlns:a16="http://schemas.microsoft.com/office/drawing/2014/main" id="{F04733BC-76EB-7F54-DA33-054D70FD7560}"/>
              </a:ext>
            </a:extLst>
          </p:cNvPr>
          <p:cNvPicPr>
            <a:picLocks noChangeAspect="1"/>
          </p:cNvPicPr>
          <p:nvPr/>
        </p:nvPicPr>
        <p:blipFill>
          <a:blip r:embed="rId5"/>
          <a:stretch>
            <a:fillRect/>
          </a:stretch>
        </p:blipFill>
        <p:spPr>
          <a:xfrm>
            <a:off x="7537808" y="2836452"/>
            <a:ext cx="904875" cy="904875"/>
          </a:xfrm>
          <a:prstGeom prst="rect">
            <a:avLst/>
          </a:prstGeom>
        </p:spPr>
      </p:pic>
      <p:pic>
        <p:nvPicPr>
          <p:cNvPr id="14" name="Picture 13">
            <a:extLst>
              <a:ext uri="{FF2B5EF4-FFF2-40B4-BE49-F238E27FC236}">
                <a16:creationId xmlns:a16="http://schemas.microsoft.com/office/drawing/2014/main" id="{9DA4DEC0-5CF1-4B71-3A94-EE0673E2E47C}"/>
              </a:ext>
            </a:extLst>
          </p:cNvPr>
          <p:cNvPicPr>
            <a:picLocks noChangeAspect="1"/>
          </p:cNvPicPr>
          <p:nvPr/>
        </p:nvPicPr>
        <p:blipFill>
          <a:blip r:embed="rId6"/>
          <a:stretch>
            <a:fillRect/>
          </a:stretch>
        </p:blipFill>
        <p:spPr>
          <a:xfrm rot="19556245">
            <a:off x="10062001" y="3604349"/>
            <a:ext cx="616179" cy="1607232"/>
          </a:xfrm>
          <a:prstGeom prst="rect">
            <a:avLst/>
          </a:prstGeom>
        </p:spPr>
      </p:pic>
      <p:pic>
        <p:nvPicPr>
          <p:cNvPr id="16" name="Picture 15">
            <a:extLst>
              <a:ext uri="{FF2B5EF4-FFF2-40B4-BE49-F238E27FC236}">
                <a16:creationId xmlns:a16="http://schemas.microsoft.com/office/drawing/2014/main" id="{FF217E11-9EBE-8961-AB2E-9E03ECC6F299}"/>
              </a:ext>
            </a:extLst>
          </p:cNvPr>
          <p:cNvPicPr>
            <a:picLocks noChangeAspect="1"/>
          </p:cNvPicPr>
          <p:nvPr/>
        </p:nvPicPr>
        <p:blipFill>
          <a:blip r:embed="rId7"/>
          <a:srcRect l="18911" b="13385"/>
          <a:stretch>
            <a:fillRect/>
          </a:stretch>
        </p:blipFill>
        <p:spPr>
          <a:xfrm rot="783216">
            <a:off x="10723475" y="3667940"/>
            <a:ext cx="982278" cy="979630"/>
          </a:xfrm>
          <a:prstGeom prst="rect">
            <a:avLst/>
          </a:prstGeom>
        </p:spPr>
      </p:pic>
      <p:pic>
        <p:nvPicPr>
          <p:cNvPr id="18" name="Picture 17">
            <a:extLst>
              <a:ext uri="{FF2B5EF4-FFF2-40B4-BE49-F238E27FC236}">
                <a16:creationId xmlns:a16="http://schemas.microsoft.com/office/drawing/2014/main" id="{D78D7A52-562E-1C7F-6A12-0A8B42D31362}"/>
              </a:ext>
            </a:extLst>
          </p:cNvPr>
          <p:cNvPicPr>
            <a:picLocks noChangeAspect="1"/>
          </p:cNvPicPr>
          <p:nvPr/>
        </p:nvPicPr>
        <p:blipFill>
          <a:blip r:embed="rId8"/>
          <a:stretch>
            <a:fillRect/>
          </a:stretch>
        </p:blipFill>
        <p:spPr>
          <a:xfrm>
            <a:off x="10581944" y="5184296"/>
            <a:ext cx="986960" cy="1040082"/>
          </a:xfrm>
          <a:prstGeom prst="rect">
            <a:avLst/>
          </a:prstGeom>
        </p:spPr>
      </p:pic>
    </p:spTree>
    <p:extLst>
      <p:ext uri="{BB962C8B-B14F-4D97-AF65-F5344CB8AC3E}">
        <p14:creationId xmlns:p14="http://schemas.microsoft.com/office/powerpoint/2010/main" val="1729765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5501-E4FC-7A38-3FAA-BAE8244784E1}"/>
              </a:ext>
            </a:extLst>
          </p:cNvPr>
          <p:cNvSpPr>
            <a:spLocks noGrp="1"/>
          </p:cNvSpPr>
          <p:nvPr>
            <p:ph type="ctrTitle"/>
          </p:nvPr>
        </p:nvSpPr>
        <p:spPr>
          <a:xfrm>
            <a:off x="1524000" y="2942524"/>
            <a:ext cx="9144000" cy="972951"/>
          </a:xfrm>
        </p:spPr>
        <p:txBody>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Circuit Diagram</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B95B539D-F0A1-609B-24DD-11C261258367}"/>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25B0A8E4-3FDE-9874-97E9-8DC16EBEB312}"/>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16</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227535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A3EBFA-F8E8-28F4-7BE8-AA20D3B85213}"/>
              </a:ext>
            </a:extLst>
          </p:cNvPr>
          <p:cNvSpPr>
            <a:spLocks noGrp="1"/>
          </p:cNvSpPr>
          <p:nvPr>
            <p:ph type="sldNum" sz="quarter" idx="12"/>
          </p:nvPr>
        </p:nvSpPr>
        <p:spPr/>
        <p:txBody>
          <a:bodyPr/>
          <a:lstStyle/>
          <a:p>
            <a:fld id="{69D26C72-FEAF-4822-88A6-747C9CAACBDB}" type="slidenum">
              <a:rPr lang="en-GB" smtClean="0"/>
              <a:t>17</a:t>
            </a:fld>
            <a:endParaRPr lang="en-GB"/>
          </a:p>
        </p:txBody>
      </p:sp>
      <p:sp>
        <p:nvSpPr>
          <p:cNvPr id="4" name="TextBox 3">
            <a:extLst>
              <a:ext uri="{FF2B5EF4-FFF2-40B4-BE49-F238E27FC236}">
                <a16:creationId xmlns:a16="http://schemas.microsoft.com/office/drawing/2014/main" id="{BFD51720-EE12-61DF-D41F-62D855A1DC2B}"/>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B8A1B57C-EB2F-8D5A-DD6B-DF86B7393B6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D26C72-FEAF-4822-88A6-747C9CAACBDB}" type="slidenum">
              <a:rPr lang="en-GB" b="1" smtClean="0">
                <a:solidFill>
                  <a:schemeClr val="tx1"/>
                </a:solidFill>
                <a:latin typeface="Poppins" panose="00000500000000000000" pitchFamily="2" charset="0"/>
                <a:cs typeface="Poppins" panose="00000500000000000000" pitchFamily="2" charset="0"/>
              </a:rPr>
              <a:pPr/>
              <a:t>17</a:t>
            </a:fld>
            <a:endParaRPr lang="en-GB" b="1">
              <a:solidFill>
                <a:schemeClr val="tx1"/>
              </a:solidFill>
              <a:latin typeface="Poppins" panose="00000500000000000000" pitchFamily="2" charset="0"/>
              <a:cs typeface="Poppins" panose="00000500000000000000" pitchFamily="2" charset="0"/>
            </a:endParaRPr>
          </a:p>
        </p:txBody>
      </p:sp>
      <p:pic>
        <p:nvPicPr>
          <p:cNvPr id="8" name="Picture 7">
            <a:extLst>
              <a:ext uri="{FF2B5EF4-FFF2-40B4-BE49-F238E27FC236}">
                <a16:creationId xmlns:a16="http://schemas.microsoft.com/office/drawing/2014/main" id="{2BC626A9-59FF-F3D5-790B-4027046D195C}"/>
              </a:ext>
            </a:extLst>
          </p:cNvPr>
          <p:cNvPicPr>
            <a:picLocks noChangeAspect="1"/>
          </p:cNvPicPr>
          <p:nvPr/>
        </p:nvPicPr>
        <p:blipFill>
          <a:blip r:embed="rId2"/>
          <a:stretch>
            <a:fillRect/>
          </a:stretch>
        </p:blipFill>
        <p:spPr>
          <a:xfrm>
            <a:off x="2375968" y="759218"/>
            <a:ext cx="7440063" cy="5163271"/>
          </a:xfrm>
          <a:prstGeom prst="rect">
            <a:avLst/>
          </a:prstGeom>
        </p:spPr>
      </p:pic>
    </p:spTree>
    <p:extLst>
      <p:ext uri="{BB962C8B-B14F-4D97-AF65-F5344CB8AC3E}">
        <p14:creationId xmlns:p14="http://schemas.microsoft.com/office/powerpoint/2010/main" val="1956580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4488A-01AB-A150-D0BF-56559B1ABF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31F1C-115C-24D1-0BBE-F79AD6CFF23D}"/>
              </a:ext>
            </a:extLst>
          </p:cNvPr>
          <p:cNvSpPr>
            <a:spLocks noGrp="1"/>
          </p:cNvSpPr>
          <p:nvPr>
            <p:ph type="ctrTitle"/>
          </p:nvPr>
        </p:nvSpPr>
        <p:spPr>
          <a:xfrm>
            <a:off x="1524000" y="2942524"/>
            <a:ext cx="9144000" cy="972951"/>
          </a:xfrm>
        </p:spPr>
        <p:txBody>
          <a:bodyPr/>
          <a:lstStyle/>
          <a:p>
            <a:r>
              <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Final Outcome</a:t>
            </a:r>
          </a:p>
        </p:txBody>
      </p:sp>
      <p:sp>
        <p:nvSpPr>
          <p:cNvPr id="4" name="TextBox 3">
            <a:extLst>
              <a:ext uri="{FF2B5EF4-FFF2-40B4-BE49-F238E27FC236}">
                <a16:creationId xmlns:a16="http://schemas.microsoft.com/office/drawing/2014/main" id="{C61C68F2-094F-56C6-944F-E9821B3E8256}"/>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54F6BDDA-2154-38D4-28AF-E182F2C5816D}"/>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18</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125913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D734C-93B8-F671-96BD-979E8E378D7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E0FD2D-5DA7-85A9-9F65-228216A4EFD9}"/>
              </a:ext>
            </a:extLst>
          </p:cNvPr>
          <p:cNvSpPr>
            <a:spLocks noGrp="1"/>
          </p:cNvSpPr>
          <p:nvPr>
            <p:ph type="sldNum" sz="quarter" idx="12"/>
          </p:nvPr>
        </p:nvSpPr>
        <p:spPr/>
        <p:txBody>
          <a:bodyPr/>
          <a:lstStyle/>
          <a:p>
            <a:fld id="{69D26C72-FEAF-4822-88A6-747C9CAACBDB}" type="slidenum">
              <a:rPr lang="en-GB" smtClean="0"/>
              <a:t>19</a:t>
            </a:fld>
            <a:endParaRPr lang="en-GB"/>
          </a:p>
        </p:txBody>
      </p:sp>
      <p:sp>
        <p:nvSpPr>
          <p:cNvPr id="4" name="TextBox 3">
            <a:extLst>
              <a:ext uri="{FF2B5EF4-FFF2-40B4-BE49-F238E27FC236}">
                <a16:creationId xmlns:a16="http://schemas.microsoft.com/office/drawing/2014/main" id="{CC923682-282F-BB95-C829-1408BA1D82A0}"/>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46804B6B-D411-0158-7125-1C0FC12C5A28}"/>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D26C72-FEAF-4822-88A6-747C9CAACBDB}" type="slidenum">
              <a:rPr lang="en-GB" b="1" smtClean="0">
                <a:solidFill>
                  <a:schemeClr val="tx1"/>
                </a:solidFill>
                <a:latin typeface="Poppins" panose="00000500000000000000" pitchFamily="2" charset="0"/>
                <a:cs typeface="Poppins" panose="00000500000000000000" pitchFamily="2" charset="0"/>
              </a:rPr>
              <a:pPr/>
              <a:t>19</a:t>
            </a:fld>
            <a:endParaRPr lang="en-GB" b="1">
              <a:solidFill>
                <a:schemeClr val="tx1"/>
              </a:solidFill>
              <a:latin typeface="Poppins" panose="00000500000000000000" pitchFamily="2" charset="0"/>
              <a:cs typeface="Poppins" panose="00000500000000000000" pitchFamily="2" charset="0"/>
            </a:endParaRPr>
          </a:p>
        </p:txBody>
      </p:sp>
      <p:pic>
        <p:nvPicPr>
          <p:cNvPr id="3" name="Picture 2">
            <a:extLst>
              <a:ext uri="{FF2B5EF4-FFF2-40B4-BE49-F238E27FC236}">
                <a16:creationId xmlns:a16="http://schemas.microsoft.com/office/drawing/2014/main" id="{D4CC5391-070B-34D4-232A-C96660567E38}"/>
              </a:ext>
            </a:extLst>
          </p:cNvPr>
          <p:cNvPicPr>
            <a:picLocks noChangeAspect="1"/>
          </p:cNvPicPr>
          <p:nvPr/>
        </p:nvPicPr>
        <p:blipFill>
          <a:blip r:embed="rId2"/>
          <a:stretch>
            <a:fillRect/>
          </a:stretch>
        </p:blipFill>
        <p:spPr>
          <a:xfrm>
            <a:off x="959223" y="584068"/>
            <a:ext cx="5216793" cy="5123054"/>
          </a:xfrm>
          <a:prstGeom prst="rect">
            <a:avLst/>
          </a:prstGeom>
        </p:spPr>
      </p:pic>
      <p:sp>
        <p:nvSpPr>
          <p:cNvPr id="6" name="AutoShape 2">
            <a:extLst>
              <a:ext uri="{FF2B5EF4-FFF2-40B4-BE49-F238E27FC236}">
                <a16:creationId xmlns:a16="http://schemas.microsoft.com/office/drawing/2014/main" id="{FACAC5F4-CCB1-9B0F-8EB1-ADD64D7D78D2}"/>
              </a:ext>
            </a:extLst>
          </p:cNvPr>
          <p:cNvSpPr>
            <a:spLocks noChangeAspect="1" noChangeArrowheads="1"/>
          </p:cNvSpPr>
          <p:nvPr/>
        </p:nvSpPr>
        <p:spPr bwMode="auto">
          <a:xfrm>
            <a:off x="6513871"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A821E921-4922-FCFD-1227-5689D5F6E5B1}"/>
              </a:ext>
            </a:extLst>
          </p:cNvPr>
          <p:cNvPicPr>
            <a:picLocks noChangeAspect="1"/>
          </p:cNvPicPr>
          <p:nvPr/>
        </p:nvPicPr>
        <p:blipFill>
          <a:blip r:embed="rId3"/>
          <a:stretch>
            <a:fillRect/>
          </a:stretch>
        </p:blipFill>
        <p:spPr>
          <a:xfrm>
            <a:off x="6420472" y="584068"/>
            <a:ext cx="4650659" cy="5123054"/>
          </a:xfrm>
          <a:prstGeom prst="rect">
            <a:avLst/>
          </a:prstGeom>
        </p:spPr>
      </p:pic>
    </p:spTree>
    <p:extLst>
      <p:ext uri="{BB962C8B-B14F-4D97-AF65-F5344CB8AC3E}">
        <p14:creationId xmlns:p14="http://schemas.microsoft.com/office/powerpoint/2010/main" val="978813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79C89-802F-A18B-0D5F-D0267F63F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0B277-296D-1BFE-FE16-A5DB14F730B9}"/>
              </a:ext>
            </a:extLst>
          </p:cNvPr>
          <p:cNvSpPr>
            <a:spLocks noGrp="1"/>
          </p:cNvSpPr>
          <p:nvPr>
            <p:ph type="ctrTitle"/>
          </p:nvPr>
        </p:nvSpPr>
        <p:spPr>
          <a:xfrm>
            <a:off x="1524000" y="2942524"/>
            <a:ext cx="9144000" cy="972951"/>
          </a:xfrm>
        </p:spPr>
        <p:txBody>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Demonstration</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7DF4B412-75CF-0656-A399-54D496C5D7B4}"/>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3A163504-569F-F2A8-2994-07FA952C2E15}"/>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20</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245977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00651-A204-998B-3BC3-400DFE373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C4420-4551-3A1B-0161-AEF9CF84D26A}"/>
              </a:ext>
            </a:extLst>
          </p:cNvPr>
          <p:cNvSpPr>
            <a:spLocks noGrp="1"/>
          </p:cNvSpPr>
          <p:nvPr>
            <p:ph type="ctrTitle"/>
          </p:nvPr>
        </p:nvSpPr>
        <p:spPr>
          <a:xfrm>
            <a:off x="1524000" y="2942524"/>
            <a:ext cx="9144000" cy="972951"/>
          </a:xfrm>
        </p:spPr>
        <p:txBody>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Methodology</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1419CB10-DF21-6101-5D9B-C53CDB26C245}"/>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02C3D787-DA3D-85C8-CDD8-EB9749BBAA2C}"/>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21</a:t>
            </a:fld>
            <a:endParaRPr lang="en-GB" b="1">
              <a:solidFill>
                <a:schemeClr val="tx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21E88D06-FC34-6EF3-F4BD-22D70137EB1D}"/>
              </a:ext>
            </a:extLst>
          </p:cNvPr>
          <p:cNvSpPr txBox="1"/>
          <p:nvPr/>
        </p:nvSpPr>
        <p:spPr>
          <a:xfrm>
            <a:off x="5175827" y="6364940"/>
            <a:ext cx="1840345"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Final Presentation</a:t>
            </a:r>
            <a:endParaRPr lang="en-GB" sz="1400" b="1"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977990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AF038-B63A-B010-826D-C0463E09180F}"/>
              </a:ext>
            </a:extLst>
          </p:cNvPr>
          <p:cNvSpPr>
            <a:spLocks noGrp="1"/>
          </p:cNvSpPr>
          <p:nvPr>
            <p:ph idx="1"/>
          </p:nvPr>
        </p:nvSpPr>
        <p:spPr>
          <a:xfrm>
            <a:off x="838200" y="185283"/>
            <a:ext cx="10515600" cy="6068033"/>
          </a:xfrm>
        </p:spPr>
        <p:txBody>
          <a:bodyPr>
            <a:normAutofit fontScale="85000" lnSpcReduction="20000"/>
          </a:bodyPr>
          <a:lstStyle/>
          <a:p>
            <a:pPr marL="342900" indent="-342900">
              <a:lnSpc>
                <a:spcPct val="150000"/>
              </a:lnSpc>
              <a:buFont typeface="+mj-lt"/>
              <a:buAutoNum type="arabicPeriod"/>
            </a:pPr>
            <a:r>
              <a:rPr lang="en-US" sz="2000" b="1" dirty="0">
                <a:latin typeface="Poppins" pitchFamily="2" charset="77"/>
                <a:cs typeface="Poppins" pitchFamily="2" charset="77"/>
              </a:rPr>
              <a:t>Hardware Setup</a:t>
            </a:r>
            <a:r>
              <a:rPr lang="en-US" sz="2000" dirty="0">
                <a:latin typeface="Poppins" pitchFamily="2" charset="77"/>
                <a:cs typeface="Poppins" pitchFamily="2" charset="77"/>
              </a:rPr>
              <a:t>:</a:t>
            </a:r>
          </a:p>
          <a:p>
            <a:pPr lvl="1">
              <a:lnSpc>
                <a:spcPct val="150000"/>
              </a:lnSpc>
            </a:pPr>
            <a:r>
              <a:rPr lang="en-US" sz="2000" dirty="0">
                <a:latin typeface="Poppins" pitchFamily="2" charset="77"/>
                <a:cs typeface="Poppins" pitchFamily="2" charset="77"/>
              </a:rPr>
              <a:t>Assemble components: NodeMCU ESP32, MQ2 Gas Sensor, IR Flame Sensor, LEDs, Buzzer, Resistors.</a:t>
            </a:r>
          </a:p>
          <a:p>
            <a:pPr lvl="1">
              <a:lnSpc>
                <a:spcPct val="150000"/>
              </a:lnSpc>
            </a:pPr>
            <a:r>
              <a:rPr lang="en-US" sz="2000" dirty="0">
                <a:latin typeface="Poppins" pitchFamily="2" charset="77"/>
                <a:cs typeface="Poppins" pitchFamily="2" charset="77"/>
              </a:rPr>
              <a:t>Connect components according to the designed circuit diagram.</a:t>
            </a:r>
          </a:p>
          <a:p>
            <a:pPr marL="342900" indent="-342900">
              <a:lnSpc>
                <a:spcPct val="150000"/>
              </a:lnSpc>
              <a:buFont typeface="+mj-lt"/>
              <a:buAutoNum type="arabicPeriod"/>
            </a:pPr>
            <a:r>
              <a:rPr lang="en-US" sz="2000" b="1" dirty="0">
                <a:latin typeface="Poppins" pitchFamily="2" charset="77"/>
                <a:cs typeface="Poppins" pitchFamily="2" charset="77"/>
              </a:rPr>
              <a:t>Software Development</a:t>
            </a:r>
            <a:r>
              <a:rPr lang="en-US" sz="2000" dirty="0">
                <a:latin typeface="Poppins" pitchFamily="2" charset="77"/>
                <a:cs typeface="Poppins" pitchFamily="2" charset="77"/>
              </a:rPr>
              <a:t>:</a:t>
            </a:r>
          </a:p>
          <a:p>
            <a:pPr lvl="1">
              <a:lnSpc>
                <a:spcPct val="150000"/>
              </a:lnSpc>
            </a:pPr>
            <a:r>
              <a:rPr lang="en-US" sz="2000" dirty="0">
                <a:latin typeface="Poppins" pitchFamily="2" charset="77"/>
                <a:cs typeface="Poppins" pitchFamily="2" charset="77"/>
              </a:rPr>
              <a:t>Write and upload code using Arduino IDE.</a:t>
            </a:r>
          </a:p>
          <a:p>
            <a:pPr lvl="1">
              <a:lnSpc>
                <a:spcPct val="150000"/>
              </a:lnSpc>
            </a:pPr>
            <a:r>
              <a:rPr lang="en-GB" sz="2000" dirty="0">
                <a:latin typeface="Poppins" pitchFamily="2" charset="77"/>
                <a:cs typeface="Poppins" pitchFamily="2" charset="77"/>
              </a:rPr>
              <a:t>Configure Blynk app for real-time monitoring and alerts.</a:t>
            </a:r>
            <a:endParaRPr lang="en-US" sz="2000" dirty="0">
              <a:latin typeface="Poppins" pitchFamily="2" charset="77"/>
              <a:cs typeface="Poppins" pitchFamily="2" charset="77"/>
            </a:endParaRPr>
          </a:p>
          <a:p>
            <a:pPr marL="342900" indent="-342900">
              <a:lnSpc>
                <a:spcPct val="150000"/>
              </a:lnSpc>
              <a:buFont typeface="+mj-lt"/>
              <a:buAutoNum type="arabicPeriod"/>
            </a:pPr>
            <a:r>
              <a:rPr lang="en-US" sz="2000" b="1" dirty="0">
                <a:latin typeface="Poppins" pitchFamily="2" charset="77"/>
                <a:cs typeface="Poppins" pitchFamily="2" charset="77"/>
              </a:rPr>
              <a:t>Testing</a:t>
            </a:r>
            <a:r>
              <a:rPr lang="en-US" sz="2000" dirty="0">
                <a:latin typeface="Poppins" pitchFamily="2" charset="77"/>
                <a:cs typeface="Poppins" pitchFamily="2" charset="77"/>
              </a:rPr>
              <a:t>:</a:t>
            </a:r>
          </a:p>
          <a:p>
            <a:pPr lvl="1">
              <a:lnSpc>
                <a:spcPct val="150000"/>
              </a:lnSpc>
            </a:pPr>
            <a:r>
              <a:rPr lang="en-GB" sz="2000" dirty="0">
                <a:latin typeface="Poppins" pitchFamily="2" charset="77"/>
                <a:cs typeface="Poppins" pitchFamily="2" charset="77"/>
              </a:rPr>
              <a:t>Test individual sensors to ensure correct detection of gas leaks and flames.</a:t>
            </a:r>
          </a:p>
          <a:p>
            <a:pPr lvl="1">
              <a:lnSpc>
                <a:spcPct val="150000"/>
              </a:lnSpc>
            </a:pPr>
            <a:r>
              <a:rPr lang="en-GB" sz="2000" dirty="0">
                <a:latin typeface="Poppins" pitchFamily="2" charset="77"/>
                <a:cs typeface="Poppins" pitchFamily="2" charset="77"/>
              </a:rPr>
              <a:t>Verify LED and buzzer alerts, and remote notifications via the Blynk app.</a:t>
            </a:r>
          </a:p>
          <a:p>
            <a:pPr lvl="1">
              <a:lnSpc>
                <a:spcPct val="150000"/>
              </a:lnSpc>
            </a:pPr>
            <a:r>
              <a:rPr lang="en-GB" sz="2000" dirty="0">
                <a:latin typeface="Poppins" pitchFamily="2" charset="77"/>
                <a:cs typeface="Poppins" pitchFamily="2" charset="77"/>
              </a:rPr>
              <a:t>Adjust sensor sensitivity and detection thresholds as needed.</a:t>
            </a:r>
            <a:endParaRPr lang="en-US" sz="2000" dirty="0">
              <a:latin typeface="Poppins" pitchFamily="2" charset="77"/>
              <a:cs typeface="Poppins" pitchFamily="2" charset="77"/>
            </a:endParaRPr>
          </a:p>
          <a:p>
            <a:pPr marL="342900" indent="-342900">
              <a:lnSpc>
                <a:spcPct val="150000"/>
              </a:lnSpc>
              <a:buFont typeface="+mj-lt"/>
              <a:buAutoNum type="arabicPeriod"/>
            </a:pPr>
            <a:r>
              <a:rPr lang="en-US" sz="2000" b="1" dirty="0">
                <a:latin typeface="Poppins" pitchFamily="2" charset="77"/>
                <a:cs typeface="Poppins" pitchFamily="2" charset="77"/>
              </a:rPr>
              <a:t>User Feedback and Iteration</a:t>
            </a:r>
            <a:r>
              <a:rPr lang="en-US" sz="2000" dirty="0">
                <a:latin typeface="Poppins" pitchFamily="2" charset="77"/>
                <a:cs typeface="Poppins" pitchFamily="2" charset="77"/>
              </a:rPr>
              <a:t>:</a:t>
            </a:r>
          </a:p>
          <a:p>
            <a:pPr lvl="1">
              <a:lnSpc>
                <a:spcPct val="150000"/>
              </a:lnSpc>
            </a:pPr>
            <a:r>
              <a:rPr lang="en-GB" sz="2000" dirty="0">
                <a:latin typeface="Poppins" pitchFamily="2" charset="77"/>
                <a:cs typeface="Poppins" pitchFamily="2" charset="77"/>
              </a:rPr>
              <a:t>Collect observations during testing to identify false triggers or delays.</a:t>
            </a:r>
          </a:p>
          <a:p>
            <a:pPr lvl="1">
              <a:lnSpc>
                <a:spcPct val="150000"/>
              </a:lnSpc>
            </a:pPr>
            <a:r>
              <a:rPr lang="en-GB" sz="2000" dirty="0">
                <a:latin typeface="Poppins" pitchFamily="2" charset="77"/>
                <a:cs typeface="Poppins" pitchFamily="2" charset="77"/>
              </a:rPr>
              <a:t>Refine code, improve alert timing, and optimize overall system reliability.</a:t>
            </a:r>
            <a:endParaRPr lang="en-US" sz="2000" dirty="0">
              <a:latin typeface="Poppins" pitchFamily="2" charset="77"/>
              <a:cs typeface="Poppins" pitchFamily="2" charset="77"/>
            </a:endParaRPr>
          </a:p>
        </p:txBody>
      </p:sp>
      <p:sp>
        <p:nvSpPr>
          <p:cNvPr id="4" name="TextBox 3">
            <a:extLst>
              <a:ext uri="{FF2B5EF4-FFF2-40B4-BE49-F238E27FC236}">
                <a16:creationId xmlns:a16="http://schemas.microsoft.com/office/drawing/2014/main" id="{8EAE52B7-6A05-40E0-F913-C7987F8AA8AF}"/>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22FB280B-32D7-36D5-4280-318E18907B26}"/>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22</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782121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5501-E4FC-7A38-3FAA-BAE8244784E1}"/>
              </a:ext>
            </a:extLst>
          </p:cNvPr>
          <p:cNvSpPr>
            <a:spLocks noGrp="1"/>
          </p:cNvSpPr>
          <p:nvPr>
            <p:ph type="ctrTitle"/>
          </p:nvPr>
        </p:nvSpPr>
        <p:spPr>
          <a:xfrm>
            <a:off x="1524000" y="2942524"/>
            <a:ext cx="9144000" cy="972951"/>
          </a:xfrm>
        </p:spPr>
        <p:txBody>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Benefits of the Solution </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5E194890-88F6-4D3D-06E2-1BD4B872F043}"/>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A84F90F2-B156-A6C4-A2E8-F6530F9EE219}"/>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23</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585985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AF038-B63A-B010-826D-C0463E09180F}"/>
              </a:ext>
            </a:extLst>
          </p:cNvPr>
          <p:cNvSpPr>
            <a:spLocks noGrp="1"/>
          </p:cNvSpPr>
          <p:nvPr>
            <p:ph idx="1"/>
          </p:nvPr>
        </p:nvSpPr>
        <p:spPr>
          <a:xfrm>
            <a:off x="838200" y="1278194"/>
            <a:ext cx="10515600" cy="4218038"/>
          </a:xfrm>
        </p:spPr>
        <p:txBody>
          <a:bodyPr>
            <a:normAutofit/>
          </a:bodyPr>
          <a:lstStyle/>
          <a:p>
            <a:pPr marL="457200" indent="-457200" algn="just">
              <a:lnSpc>
                <a:spcPct val="150000"/>
              </a:lnSpc>
              <a:buFont typeface="+mj-lt"/>
              <a:buAutoNum type="arabicPeriod"/>
            </a:pPr>
            <a:r>
              <a:rPr lang="en-GB" sz="2000" b="1" dirty="0">
                <a:latin typeface="Poppins" pitchFamily="2" charset="77"/>
                <a:cs typeface="Poppins" pitchFamily="2" charset="77"/>
              </a:rPr>
              <a:t>Safety Enhancement: </a:t>
            </a:r>
            <a:r>
              <a:rPr lang="en-GB" sz="2000" dirty="0">
                <a:latin typeface="Poppins" pitchFamily="2" charset="77"/>
                <a:cs typeface="Poppins" pitchFamily="2" charset="77"/>
              </a:rPr>
              <a:t>Provides real-time alerts for gas leaks and flames, preventing accidents.</a:t>
            </a:r>
          </a:p>
          <a:p>
            <a:pPr marL="457200" indent="-457200" algn="just">
              <a:lnSpc>
                <a:spcPct val="150000"/>
              </a:lnSpc>
              <a:buFont typeface="+mj-lt"/>
              <a:buAutoNum type="arabicPeriod"/>
            </a:pPr>
            <a:r>
              <a:rPr lang="en-GB" sz="2000" b="1" dirty="0">
                <a:latin typeface="Poppins" pitchFamily="2" charset="77"/>
                <a:cs typeface="Poppins" pitchFamily="2" charset="77"/>
              </a:rPr>
              <a:t>User Convenience: </a:t>
            </a:r>
            <a:r>
              <a:rPr lang="en-GB" sz="2000" dirty="0">
                <a:latin typeface="Poppins" pitchFamily="2" charset="77"/>
                <a:cs typeface="Poppins" pitchFamily="2" charset="77"/>
              </a:rPr>
              <a:t>Remote monitoring and notifications through the Blynk app.</a:t>
            </a:r>
          </a:p>
          <a:p>
            <a:pPr marL="457200" indent="-457200" algn="just">
              <a:lnSpc>
                <a:spcPct val="150000"/>
              </a:lnSpc>
              <a:buFont typeface="+mj-lt"/>
              <a:buAutoNum type="arabicPeriod"/>
            </a:pPr>
            <a:r>
              <a:rPr lang="en-GB" sz="2000" b="1" dirty="0">
                <a:latin typeface="Poppins" pitchFamily="2" charset="77"/>
                <a:cs typeface="Poppins" pitchFamily="2" charset="77"/>
              </a:rPr>
              <a:t>Early Detection: </a:t>
            </a:r>
            <a:r>
              <a:rPr lang="en-GB" sz="2000" dirty="0">
                <a:latin typeface="Poppins" pitchFamily="2" charset="77"/>
                <a:cs typeface="Poppins" pitchFamily="2" charset="77"/>
              </a:rPr>
              <a:t>Detects hazards promptly to reduce damage and risk.</a:t>
            </a:r>
          </a:p>
          <a:p>
            <a:pPr marL="457200" indent="-457200" algn="just">
              <a:lnSpc>
                <a:spcPct val="150000"/>
              </a:lnSpc>
              <a:buFont typeface="+mj-lt"/>
              <a:buAutoNum type="arabicPeriod"/>
            </a:pPr>
            <a:r>
              <a:rPr lang="en-GB" sz="2000" b="1" dirty="0">
                <a:latin typeface="Poppins" pitchFamily="2" charset="77"/>
                <a:cs typeface="Poppins" pitchFamily="2" charset="77"/>
              </a:rPr>
              <a:t>Cost Savings: </a:t>
            </a:r>
            <a:r>
              <a:rPr lang="en-GB" sz="2000" dirty="0">
                <a:latin typeface="Poppins" pitchFamily="2" charset="77"/>
                <a:cs typeface="Poppins" pitchFamily="2" charset="77"/>
              </a:rPr>
              <a:t>Minimizes potential losses from fire or gas-related incidents.</a:t>
            </a:r>
          </a:p>
          <a:p>
            <a:pPr marL="457200" indent="-457200" algn="just">
              <a:lnSpc>
                <a:spcPct val="150000"/>
              </a:lnSpc>
              <a:buFont typeface="+mj-lt"/>
              <a:buAutoNum type="arabicPeriod"/>
            </a:pPr>
            <a:r>
              <a:rPr lang="en-GB" sz="2000" b="1" dirty="0">
                <a:latin typeface="Poppins" pitchFamily="2" charset="77"/>
                <a:cs typeface="Poppins" pitchFamily="2" charset="77"/>
              </a:rPr>
              <a:t>Scalability:</a:t>
            </a:r>
            <a:r>
              <a:rPr lang="en-GB" sz="2000" dirty="0">
                <a:latin typeface="Poppins" pitchFamily="2" charset="77"/>
                <a:cs typeface="Poppins" pitchFamily="2" charset="77"/>
              </a:rPr>
              <a:t> Can integrate with additional IoT sensors or smart home systems.</a:t>
            </a:r>
            <a:endParaRPr lang="en-US" sz="2000" dirty="0">
              <a:latin typeface="Poppins" pitchFamily="2" charset="77"/>
              <a:cs typeface="Poppins" pitchFamily="2" charset="77"/>
            </a:endParaRPr>
          </a:p>
        </p:txBody>
      </p:sp>
      <p:sp>
        <p:nvSpPr>
          <p:cNvPr id="5" name="TextBox 4">
            <a:extLst>
              <a:ext uri="{FF2B5EF4-FFF2-40B4-BE49-F238E27FC236}">
                <a16:creationId xmlns:a16="http://schemas.microsoft.com/office/drawing/2014/main" id="{1DFE1844-3213-6E51-0241-B9AC2F921DA5}"/>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6" name="Slide Number Placeholder 5">
            <a:extLst>
              <a:ext uri="{FF2B5EF4-FFF2-40B4-BE49-F238E27FC236}">
                <a16:creationId xmlns:a16="http://schemas.microsoft.com/office/drawing/2014/main" id="{37370369-54AD-8264-9469-D64A69AEA662}"/>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24</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421754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5501-E4FC-7A38-3FAA-BAE8244784E1}"/>
              </a:ext>
            </a:extLst>
          </p:cNvPr>
          <p:cNvSpPr>
            <a:spLocks noGrp="1"/>
          </p:cNvSpPr>
          <p:nvPr>
            <p:ph type="ctrTitle"/>
          </p:nvPr>
        </p:nvSpPr>
        <p:spPr>
          <a:xfrm>
            <a:off x="1524000" y="2943190"/>
            <a:ext cx="9144000" cy="971620"/>
          </a:xfrm>
        </p:spPr>
        <p:txBody>
          <a:bodyPr>
            <a:normAutofit/>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Cost</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3EE4C16F-0F6F-CD6E-8809-1595C255BDBC}"/>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C8D0D908-6930-DE84-2AA0-F9167FE9B0E8}"/>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25</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7291213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6D7B5E1-DDB2-DC9F-542C-DE0AEF9895A7}"/>
              </a:ext>
            </a:extLst>
          </p:cNvPr>
          <p:cNvGraphicFramePr>
            <a:graphicFrameLocks noGrp="1"/>
          </p:cNvGraphicFramePr>
          <p:nvPr>
            <p:extLst>
              <p:ext uri="{D42A27DB-BD31-4B8C-83A1-F6EECF244321}">
                <p14:modId xmlns:p14="http://schemas.microsoft.com/office/powerpoint/2010/main" val="482853281"/>
              </p:ext>
            </p:extLst>
          </p:nvPr>
        </p:nvGraphicFramePr>
        <p:xfrm>
          <a:off x="1311834" y="1806676"/>
          <a:ext cx="9568329" cy="3244648"/>
        </p:xfrm>
        <a:graphic>
          <a:graphicData uri="http://schemas.openxmlformats.org/drawingml/2006/table">
            <a:tbl>
              <a:tblPr firstRow="1" bandRow="1">
                <a:tableStyleId>{5C22544A-7EE6-4342-B048-85BDC9FD1C3A}</a:tableStyleId>
              </a:tblPr>
              <a:tblGrid>
                <a:gridCol w="3189443">
                  <a:extLst>
                    <a:ext uri="{9D8B030D-6E8A-4147-A177-3AD203B41FA5}">
                      <a16:colId xmlns:a16="http://schemas.microsoft.com/office/drawing/2014/main" val="1836851549"/>
                    </a:ext>
                  </a:extLst>
                </a:gridCol>
                <a:gridCol w="3189443">
                  <a:extLst>
                    <a:ext uri="{9D8B030D-6E8A-4147-A177-3AD203B41FA5}">
                      <a16:colId xmlns:a16="http://schemas.microsoft.com/office/drawing/2014/main" val="1659020894"/>
                    </a:ext>
                  </a:extLst>
                </a:gridCol>
                <a:gridCol w="3189443">
                  <a:extLst>
                    <a:ext uri="{9D8B030D-6E8A-4147-A177-3AD203B41FA5}">
                      <a16:colId xmlns:a16="http://schemas.microsoft.com/office/drawing/2014/main" val="67768304"/>
                    </a:ext>
                  </a:extLst>
                </a:gridCol>
              </a:tblGrid>
              <a:tr h="428022">
                <a:tc>
                  <a:txBody>
                    <a:bodyPr/>
                    <a:lstStyle/>
                    <a:p>
                      <a:pPr algn="ctr"/>
                      <a:r>
                        <a:rPr lang="en-GB" dirty="0"/>
                        <a:t>Component/Category</a:t>
                      </a:r>
                    </a:p>
                  </a:txBody>
                  <a:tcPr/>
                </a:tc>
                <a:tc>
                  <a:txBody>
                    <a:bodyPr/>
                    <a:lstStyle/>
                    <a:p>
                      <a:pPr algn="ctr"/>
                      <a:r>
                        <a:rPr lang="en-GB" dirty="0"/>
                        <a:t>Units/Description</a:t>
                      </a:r>
                    </a:p>
                  </a:txBody>
                  <a:tcPr/>
                </a:tc>
                <a:tc>
                  <a:txBody>
                    <a:bodyPr/>
                    <a:lstStyle/>
                    <a:p>
                      <a:pPr algn="ctr"/>
                      <a:r>
                        <a:rPr lang="en-GB" dirty="0"/>
                        <a:t>Approximate Cost (LKR)</a:t>
                      </a:r>
                    </a:p>
                  </a:txBody>
                  <a:tcPr/>
                </a:tc>
                <a:extLst>
                  <a:ext uri="{0D108BD9-81ED-4DB2-BD59-A6C34878D82A}">
                    <a16:rowId xmlns:a16="http://schemas.microsoft.com/office/drawing/2014/main" val="1062560901"/>
                  </a:ext>
                </a:extLst>
              </a:tr>
              <a:tr h="428022">
                <a:tc>
                  <a:txBody>
                    <a:bodyPr/>
                    <a:lstStyle/>
                    <a:p>
                      <a:pPr algn="ctr"/>
                      <a:r>
                        <a:rPr lang="en-GB" b="1" dirty="0"/>
                        <a:t>Node MCU ESP32 DevKit</a:t>
                      </a:r>
                    </a:p>
                  </a:txBody>
                  <a:tcPr/>
                </a:tc>
                <a:tc>
                  <a:txBody>
                    <a:bodyPr/>
                    <a:lstStyle/>
                    <a:p>
                      <a:pPr algn="ctr"/>
                      <a:r>
                        <a:rPr lang="en-GB" b="1" dirty="0"/>
                        <a:t>1 unit</a:t>
                      </a:r>
                    </a:p>
                  </a:txBody>
                  <a:tcPr/>
                </a:tc>
                <a:tc>
                  <a:txBody>
                    <a:bodyPr/>
                    <a:lstStyle/>
                    <a:p>
                      <a:pPr algn="ctr"/>
                      <a:r>
                        <a:rPr lang="en-US" b="1" dirty="0"/>
                        <a:t>1950.</a:t>
                      </a:r>
                      <a:r>
                        <a:rPr lang="en-GB" b="1" dirty="0"/>
                        <a:t>00</a:t>
                      </a:r>
                      <a:endParaRPr lang="en-US" b="1" dirty="0"/>
                    </a:p>
                  </a:txBody>
                  <a:tcPr/>
                </a:tc>
                <a:extLst>
                  <a:ext uri="{0D108BD9-81ED-4DB2-BD59-A6C34878D82A}">
                    <a16:rowId xmlns:a16="http://schemas.microsoft.com/office/drawing/2014/main" val="1529405683"/>
                  </a:ext>
                </a:extLst>
              </a:tr>
              <a:tr h="428022">
                <a:tc>
                  <a:txBody>
                    <a:bodyPr/>
                    <a:lstStyle/>
                    <a:p>
                      <a:pPr algn="ctr"/>
                      <a:r>
                        <a:rPr lang="en-GB" b="1" dirty="0"/>
                        <a:t>Breadboard</a:t>
                      </a:r>
                    </a:p>
                  </a:txBody>
                  <a:tcPr/>
                </a:tc>
                <a:tc>
                  <a:txBody>
                    <a:bodyPr/>
                    <a:lstStyle/>
                    <a:p>
                      <a:pPr algn="ctr"/>
                      <a:r>
                        <a:rPr lang="en-GB" b="1" dirty="0"/>
                        <a:t>1 unit</a:t>
                      </a:r>
                    </a:p>
                  </a:txBody>
                  <a:tcPr/>
                </a:tc>
                <a:tc>
                  <a:txBody>
                    <a:bodyPr/>
                    <a:lstStyle/>
                    <a:p>
                      <a:pPr algn="ctr"/>
                      <a:r>
                        <a:rPr lang="en-GB" b="1" dirty="0"/>
                        <a:t>3</a:t>
                      </a:r>
                      <a:r>
                        <a:rPr lang="en-US" b="1" dirty="0"/>
                        <a:t>65.00</a:t>
                      </a:r>
                      <a:endParaRPr lang="en-GB" b="1" dirty="0"/>
                    </a:p>
                  </a:txBody>
                  <a:tcPr/>
                </a:tc>
                <a:extLst>
                  <a:ext uri="{0D108BD9-81ED-4DB2-BD59-A6C34878D82A}">
                    <a16:rowId xmlns:a16="http://schemas.microsoft.com/office/drawing/2014/main" val="691533292"/>
                  </a:ext>
                </a:extLst>
              </a:tr>
              <a:tr h="428022">
                <a:tc>
                  <a:txBody>
                    <a:bodyPr/>
                    <a:lstStyle/>
                    <a:p>
                      <a:pPr algn="ctr"/>
                      <a:r>
                        <a:rPr lang="en-GB" b="1" dirty="0"/>
                        <a:t>MQ-2 Gas sensor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t>1 unit</a:t>
                      </a:r>
                    </a:p>
                  </a:txBody>
                  <a:tcPr/>
                </a:tc>
                <a:tc>
                  <a:txBody>
                    <a:bodyPr/>
                    <a:lstStyle/>
                    <a:p>
                      <a:pPr algn="ctr"/>
                      <a:r>
                        <a:rPr lang="en-US" b="1" dirty="0"/>
                        <a:t>550.00</a:t>
                      </a:r>
                      <a:endParaRPr lang="en-GB" b="1" dirty="0"/>
                    </a:p>
                  </a:txBody>
                  <a:tcPr/>
                </a:tc>
                <a:extLst>
                  <a:ext uri="{0D108BD9-81ED-4DB2-BD59-A6C34878D82A}">
                    <a16:rowId xmlns:a16="http://schemas.microsoft.com/office/drawing/2014/main" val="4107414162"/>
                  </a:ext>
                </a:extLst>
              </a:tr>
              <a:tr h="428022">
                <a:tc>
                  <a:txBody>
                    <a:bodyPr/>
                    <a:lstStyle/>
                    <a:p>
                      <a:pPr algn="ctr"/>
                      <a:r>
                        <a:rPr lang="en-GB" b="1" dirty="0"/>
                        <a:t>IR flame sensor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t>1 unit</a:t>
                      </a:r>
                    </a:p>
                  </a:txBody>
                  <a:tcPr/>
                </a:tc>
                <a:tc>
                  <a:txBody>
                    <a:bodyPr/>
                    <a:lstStyle/>
                    <a:p>
                      <a:pPr algn="ctr"/>
                      <a:r>
                        <a:rPr lang="en-US" b="1" dirty="0"/>
                        <a:t>300.00</a:t>
                      </a:r>
                      <a:endParaRPr lang="en-GB" b="1" dirty="0"/>
                    </a:p>
                  </a:txBody>
                  <a:tcPr/>
                </a:tc>
                <a:extLst>
                  <a:ext uri="{0D108BD9-81ED-4DB2-BD59-A6C34878D82A}">
                    <a16:rowId xmlns:a16="http://schemas.microsoft.com/office/drawing/2014/main" val="1088594017"/>
                  </a:ext>
                </a:extLst>
              </a:tr>
              <a:tr h="738778">
                <a:tc>
                  <a:txBody>
                    <a:bodyPr/>
                    <a:lstStyle/>
                    <a:p>
                      <a:pPr algn="ctr"/>
                      <a:r>
                        <a:rPr lang="en-US" b="1" dirty="0"/>
                        <a:t>Jumper Wires, buzzer, LEDs, and Resistors</a:t>
                      </a:r>
                      <a:endParaRPr lang="en-GB" b="1" dirty="0"/>
                    </a:p>
                  </a:txBody>
                  <a:tcPr>
                    <a:lnB w="12700" cmpd="sng">
                      <a:noFill/>
                    </a:lnB>
                  </a:tcPr>
                </a:tc>
                <a:tc>
                  <a:txBody>
                    <a:bodyPr/>
                    <a:lstStyle/>
                    <a:p>
                      <a:pPr algn="ctr"/>
                      <a:r>
                        <a:rPr lang="en-GB" b="1" dirty="0"/>
                        <a:t>Essentials</a:t>
                      </a:r>
                    </a:p>
                  </a:txBody>
                  <a:tcPr/>
                </a:tc>
                <a:tc>
                  <a:txBody>
                    <a:bodyPr/>
                    <a:lstStyle/>
                    <a:p>
                      <a:pPr algn="ctr"/>
                      <a:r>
                        <a:rPr lang="en-US" b="1" dirty="0"/>
                        <a:t>800.00</a:t>
                      </a:r>
                      <a:endParaRPr lang="en-GB" b="1" dirty="0"/>
                    </a:p>
                  </a:txBody>
                  <a:tcPr/>
                </a:tc>
                <a:extLst>
                  <a:ext uri="{0D108BD9-81ED-4DB2-BD59-A6C34878D82A}">
                    <a16:rowId xmlns:a16="http://schemas.microsoft.com/office/drawing/2014/main" val="3314277855"/>
                  </a:ext>
                </a:extLst>
              </a:tr>
              <a:tr h="337520">
                <a:tc>
                  <a:txBody>
                    <a:bodyPr/>
                    <a:lstStyle/>
                    <a:p>
                      <a:pPr algn="ctr"/>
                      <a:endParaRPr lang="en-GB"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b="1" dirty="0"/>
                        <a:t>                                              Total :</a:t>
                      </a:r>
                      <a:endParaRPr lang="en-GB" b="1" dirty="0"/>
                    </a:p>
                  </a:txBody>
                  <a:tcPr>
                    <a:lnL w="12700" cap="flat" cmpd="sng" algn="ctr">
                      <a:noFill/>
                      <a:prstDash val="solid"/>
                      <a:round/>
                      <a:headEnd type="none" w="med" len="med"/>
                      <a:tailEnd type="none" w="med" len="med"/>
                    </a:lnL>
                    <a:solidFill>
                      <a:schemeClr val="accent1">
                        <a:lumMod val="60000"/>
                        <a:lumOff val="40000"/>
                      </a:schemeClr>
                    </a:solidFill>
                  </a:tcPr>
                </a:tc>
                <a:tc>
                  <a:txBody>
                    <a:bodyPr/>
                    <a:lstStyle/>
                    <a:p>
                      <a:pPr algn="ctr"/>
                      <a:r>
                        <a:rPr lang="en-US" b="1" dirty="0"/>
                        <a:t>3965</a:t>
                      </a:r>
                      <a:r>
                        <a:rPr lang="en-GB" b="1" dirty="0"/>
                        <a:t>.00</a:t>
                      </a:r>
                      <a:endParaRPr lang="en-US" b="1" dirty="0"/>
                    </a:p>
                  </a:txBody>
                  <a:tcPr>
                    <a:solidFill>
                      <a:schemeClr val="accent1">
                        <a:lumMod val="60000"/>
                        <a:lumOff val="40000"/>
                      </a:schemeClr>
                    </a:solidFill>
                  </a:tcPr>
                </a:tc>
                <a:extLst>
                  <a:ext uri="{0D108BD9-81ED-4DB2-BD59-A6C34878D82A}">
                    <a16:rowId xmlns:a16="http://schemas.microsoft.com/office/drawing/2014/main" val="2626976939"/>
                  </a:ext>
                </a:extLst>
              </a:tr>
            </a:tbl>
          </a:graphicData>
        </a:graphic>
      </p:graphicFrame>
      <p:sp>
        <p:nvSpPr>
          <p:cNvPr id="6" name="TextBox 5">
            <a:extLst>
              <a:ext uri="{FF2B5EF4-FFF2-40B4-BE49-F238E27FC236}">
                <a16:creationId xmlns:a16="http://schemas.microsoft.com/office/drawing/2014/main" id="{A43E9595-7968-ECD7-46BB-DB6E7045AE7F}"/>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7" name="Slide Number Placeholder 6">
            <a:extLst>
              <a:ext uri="{FF2B5EF4-FFF2-40B4-BE49-F238E27FC236}">
                <a16:creationId xmlns:a16="http://schemas.microsoft.com/office/drawing/2014/main" id="{34C83205-BABF-12AE-86DF-82F524FA0420}"/>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26</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155331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5501-E4FC-7A38-3FAA-BAE8244784E1}"/>
              </a:ext>
            </a:extLst>
          </p:cNvPr>
          <p:cNvSpPr>
            <a:spLocks noGrp="1"/>
          </p:cNvSpPr>
          <p:nvPr>
            <p:ph type="ctrTitle"/>
          </p:nvPr>
        </p:nvSpPr>
        <p:spPr>
          <a:xfrm>
            <a:off x="1524000" y="2942524"/>
            <a:ext cx="9144000" cy="972951"/>
          </a:xfrm>
        </p:spPr>
        <p:txBody>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Conclusion</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38629855-0D5C-3BC3-1AB0-6A95F318698B}"/>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4FAB55C5-36A2-6A75-97E8-B9F8B2831BB4}"/>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27</a:t>
            </a:fld>
            <a:endParaRPr lang="en-GB" b="1" dirty="0">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7993020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AF038-B63A-B010-826D-C0463E09180F}"/>
              </a:ext>
            </a:extLst>
          </p:cNvPr>
          <p:cNvSpPr>
            <a:spLocks noGrp="1"/>
          </p:cNvSpPr>
          <p:nvPr>
            <p:ph idx="1"/>
          </p:nvPr>
        </p:nvSpPr>
        <p:spPr>
          <a:xfrm>
            <a:off x="838200" y="185283"/>
            <a:ext cx="10515600" cy="6123137"/>
          </a:xfrm>
        </p:spPr>
        <p:txBody>
          <a:bodyPr>
            <a:noAutofit/>
          </a:bodyPr>
          <a:lstStyle/>
          <a:p>
            <a:pPr algn="just">
              <a:lnSpc>
                <a:spcPct val="150000"/>
              </a:lnSpc>
              <a:buFont typeface="Arial" panose="020B0604020202020204" pitchFamily="34" charset="0"/>
              <a:buChar char="•"/>
            </a:pPr>
            <a:r>
              <a:rPr lang="en-GB" sz="1900" b="1" dirty="0">
                <a:latin typeface="Poppins" pitchFamily="2" charset="77"/>
                <a:cs typeface="Poppins" pitchFamily="2" charset="77"/>
              </a:rPr>
              <a:t>Summary:</a:t>
            </a:r>
          </a:p>
          <a:p>
            <a:pPr lvl="1" algn="just">
              <a:lnSpc>
                <a:spcPct val="150000"/>
              </a:lnSpc>
            </a:pPr>
            <a:r>
              <a:rPr lang="en-GB" sz="1800" dirty="0">
                <a:latin typeface="Poppins" pitchFamily="2" charset="77"/>
                <a:cs typeface="Poppins" pitchFamily="2" charset="77"/>
              </a:rPr>
              <a:t>The IoT-based Flame &amp; Gas Detection System provides real-time monitoring to enhance safety, prevent hazards, and reduce potential damage from gas leaks or fire.</a:t>
            </a:r>
          </a:p>
          <a:p>
            <a:pPr lvl="1" algn="just">
              <a:lnSpc>
                <a:spcPct val="150000"/>
              </a:lnSpc>
            </a:pPr>
            <a:r>
              <a:rPr lang="en-GB" sz="1800" dirty="0">
                <a:latin typeface="Poppins" pitchFamily="2" charset="77"/>
                <a:cs typeface="Poppins" pitchFamily="2" charset="77"/>
              </a:rPr>
              <a:t>It is reliable, user-friendly, and scalable for future improvements.</a:t>
            </a:r>
          </a:p>
          <a:p>
            <a:pPr algn="just">
              <a:lnSpc>
                <a:spcPct val="150000"/>
              </a:lnSpc>
              <a:buFont typeface="Arial" panose="020B0604020202020204" pitchFamily="34" charset="0"/>
              <a:buChar char="•"/>
            </a:pPr>
            <a:r>
              <a:rPr lang="en-GB" sz="1900" b="1" dirty="0">
                <a:latin typeface="Poppins" pitchFamily="2" charset="77"/>
                <a:cs typeface="Poppins" pitchFamily="2" charset="77"/>
              </a:rPr>
              <a:t>Impact:</a:t>
            </a:r>
          </a:p>
          <a:p>
            <a:pPr lvl="1" algn="just">
              <a:lnSpc>
                <a:spcPct val="150000"/>
              </a:lnSpc>
            </a:pPr>
            <a:r>
              <a:rPr lang="en-GB" sz="1800" dirty="0">
                <a:latin typeface="Poppins" pitchFamily="2" charset="77"/>
                <a:cs typeface="Poppins" pitchFamily="2" charset="77"/>
              </a:rPr>
              <a:t>For individuals: Increased safety and peace of mind.</a:t>
            </a:r>
          </a:p>
          <a:p>
            <a:pPr lvl="1" algn="just">
              <a:lnSpc>
                <a:spcPct val="150000"/>
              </a:lnSpc>
            </a:pPr>
            <a:r>
              <a:rPr lang="en-GB" sz="1800" dirty="0">
                <a:latin typeface="Poppins" pitchFamily="2" charset="77"/>
                <a:cs typeface="Poppins" pitchFamily="2" charset="77"/>
              </a:rPr>
              <a:t>For homes or businesses: Reduced risk of accidents, minimized losses, and timely alerts.</a:t>
            </a:r>
            <a:endParaRPr lang="en-GB" sz="1600" dirty="0">
              <a:latin typeface="Poppins" pitchFamily="2" charset="77"/>
              <a:cs typeface="Poppins" pitchFamily="2" charset="77"/>
            </a:endParaRPr>
          </a:p>
          <a:p>
            <a:pPr algn="just">
              <a:lnSpc>
                <a:spcPct val="150000"/>
              </a:lnSpc>
              <a:buFont typeface="Arial" panose="020B0604020202020204" pitchFamily="34" charset="0"/>
              <a:buChar char="•"/>
            </a:pPr>
            <a:r>
              <a:rPr lang="en-GB" sz="1900" b="1" dirty="0">
                <a:latin typeface="Poppins" pitchFamily="2" charset="77"/>
                <a:cs typeface="Poppins" pitchFamily="2" charset="77"/>
              </a:rPr>
              <a:t>Future Scope:</a:t>
            </a:r>
          </a:p>
          <a:p>
            <a:pPr lvl="1" algn="just">
              <a:lnSpc>
                <a:spcPct val="150000"/>
              </a:lnSpc>
            </a:pPr>
            <a:r>
              <a:rPr lang="en-GB" sz="1800" dirty="0">
                <a:latin typeface="Poppins" pitchFamily="2" charset="77"/>
                <a:cs typeface="Poppins" pitchFamily="2" charset="77"/>
              </a:rPr>
              <a:t>Integration with additional IoT sensors and smart home systems.</a:t>
            </a:r>
          </a:p>
          <a:p>
            <a:pPr lvl="1" algn="just">
              <a:lnSpc>
                <a:spcPct val="150000"/>
              </a:lnSpc>
            </a:pPr>
            <a:r>
              <a:rPr lang="en-GB" sz="1800" dirty="0">
                <a:latin typeface="Poppins" pitchFamily="2" charset="77"/>
                <a:cs typeface="Poppins" pitchFamily="2" charset="77"/>
              </a:rPr>
              <a:t>Enhanced features like automated emergency responses and cloud-based analytics.</a:t>
            </a:r>
            <a:endParaRPr lang="en-US" sz="1800" dirty="0">
              <a:latin typeface="Poppins" pitchFamily="2" charset="77"/>
              <a:cs typeface="Poppins" pitchFamily="2" charset="77"/>
            </a:endParaRPr>
          </a:p>
        </p:txBody>
      </p:sp>
      <p:sp>
        <p:nvSpPr>
          <p:cNvPr id="4" name="TextBox 3">
            <a:extLst>
              <a:ext uri="{FF2B5EF4-FFF2-40B4-BE49-F238E27FC236}">
                <a16:creationId xmlns:a16="http://schemas.microsoft.com/office/drawing/2014/main" id="{A879ED33-93A4-7AE8-57AB-DA5921E43BB0}"/>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9CD853CB-E9B2-5FBF-211F-2E3533F2F097}"/>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28</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6999003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5501-E4FC-7A38-3FAA-BAE8244784E1}"/>
              </a:ext>
            </a:extLst>
          </p:cNvPr>
          <p:cNvSpPr>
            <a:spLocks noGrp="1"/>
          </p:cNvSpPr>
          <p:nvPr>
            <p:ph type="ctrTitle"/>
          </p:nvPr>
        </p:nvSpPr>
        <p:spPr>
          <a:xfrm>
            <a:off x="1524000" y="2942524"/>
            <a:ext cx="9144000" cy="972951"/>
          </a:xfrm>
        </p:spPr>
        <p:txBody>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Any Question ?</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38629855-0D5C-3BC3-1AB0-6A95F318698B}"/>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AA52B674-DD97-9F48-A4B1-612EDF97E6A7}"/>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29</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737058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5501-E4FC-7A38-3FAA-BAE8244784E1}"/>
              </a:ext>
            </a:extLst>
          </p:cNvPr>
          <p:cNvSpPr>
            <a:spLocks noGrp="1"/>
          </p:cNvSpPr>
          <p:nvPr>
            <p:ph type="ctrTitle"/>
          </p:nvPr>
        </p:nvSpPr>
        <p:spPr>
          <a:xfrm>
            <a:off x="1524000" y="2942524"/>
            <a:ext cx="9144000" cy="972951"/>
          </a:xfrm>
        </p:spPr>
        <p:txBody>
          <a:bodyPr/>
          <a:lstStyle/>
          <a:p>
            <a:r>
              <a:rPr lang="en-US"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&lt;- Thank You -&gt;</a:t>
            </a:r>
            <a:endParaRPr lang="en-GB" b="1" dirty="0">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38629855-0D5C-3BC3-1AB0-6A95F318698B}"/>
              </a:ext>
            </a:extLst>
          </p:cNvPr>
          <p:cNvSpPr txBox="1"/>
          <p:nvPr/>
        </p:nvSpPr>
        <p:spPr>
          <a:xfrm>
            <a:off x="493058" y="6364940"/>
            <a:ext cx="466166" cy="307777"/>
          </a:xfrm>
          <a:prstGeom prst="rect">
            <a:avLst/>
          </a:prstGeom>
          <a:noFill/>
        </p:spPr>
        <p:txBody>
          <a:bodyPr wrap="square" rtlCol="0">
            <a:spAutoFit/>
          </a:bodyPr>
          <a:lstStyle/>
          <a:p>
            <a:r>
              <a:rPr lang="en-US" sz="1400" b="1" dirty="0">
                <a:latin typeface="Poppins" panose="00000500000000000000" pitchFamily="2" charset="0"/>
                <a:cs typeface="Poppins" panose="00000500000000000000" pitchFamily="2" charset="0"/>
              </a:rPr>
              <a:t>IoT</a:t>
            </a:r>
            <a:endParaRPr lang="en-GB" sz="1400" b="1" dirty="0">
              <a:latin typeface="Poppins" panose="00000500000000000000" pitchFamily="2" charset="0"/>
              <a:cs typeface="Poppins" panose="00000500000000000000" pitchFamily="2" charset="0"/>
            </a:endParaRPr>
          </a:p>
        </p:txBody>
      </p:sp>
      <p:sp>
        <p:nvSpPr>
          <p:cNvPr id="5" name="Slide Number Placeholder 4">
            <a:extLst>
              <a:ext uri="{FF2B5EF4-FFF2-40B4-BE49-F238E27FC236}">
                <a16:creationId xmlns:a16="http://schemas.microsoft.com/office/drawing/2014/main" id="{D3709B16-37A5-F374-C0DC-68F8670E4BEE}"/>
              </a:ext>
            </a:extLst>
          </p:cNvPr>
          <p:cNvSpPr>
            <a:spLocks noGrp="1"/>
          </p:cNvSpPr>
          <p:nvPr>
            <p:ph type="sldNum" sz="quarter" idx="12"/>
          </p:nvPr>
        </p:nvSpPr>
        <p:spPr/>
        <p:txBody>
          <a:bodyPr vert="horz" lIns="91440" tIns="45720" rIns="91440" bIns="45720" rtlCol="0" anchor="ctr"/>
          <a:lstStyle/>
          <a:p>
            <a:fld id="{69D26C72-FEAF-4822-88A6-747C9CAACBDB}" type="slidenum">
              <a:rPr lang="en-GB" b="1">
                <a:solidFill>
                  <a:schemeClr val="tx1"/>
                </a:solidFill>
                <a:latin typeface="Poppins" panose="00000500000000000000" pitchFamily="2" charset="0"/>
                <a:cs typeface="Poppins" panose="00000500000000000000" pitchFamily="2" charset="0"/>
              </a:rPr>
              <a:pPr/>
              <a:t>30</a:t>
            </a:fld>
            <a:endParaRPr lang="en-GB" b="1">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768176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670</TotalTime>
  <Words>1544</Words>
  <Application>Microsoft Office PowerPoint</Application>
  <PresentationFormat>Widescreen</PresentationFormat>
  <Paragraphs>200</Paragraphs>
  <Slides>30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Poppins</vt:lpstr>
      <vt:lpstr>Office Theme</vt:lpstr>
      <vt:lpstr>IoT Based Flame &amp; Gas Detection System</vt:lpstr>
      <vt:lpstr>Table Of Contents </vt:lpstr>
      <vt:lpstr>Introduction</vt:lpstr>
      <vt:lpstr>PowerPoint Presentation</vt:lpstr>
      <vt:lpstr>Problem Statement</vt:lpstr>
      <vt:lpstr>PowerPoint Presentation</vt:lpstr>
      <vt:lpstr>Objectives</vt:lpstr>
      <vt:lpstr>PowerPoint Presentation</vt:lpstr>
      <vt:lpstr>Proposed Solution</vt:lpstr>
      <vt:lpstr>PowerPoint Presentation</vt:lpstr>
      <vt:lpstr>System Architecture </vt:lpstr>
      <vt:lpstr>PowerPoint Presentation</vt:lpstr>
      <vt:lpstr>System Tools and Frameworks</vt:lpstr>
      <vt:lpstr>PowerPoint Presentation</vt:lpstr>
      <vt:lpstr>PowerPoint Presentation</vt:lpstr>
      <vt:lpstr>Circuit Diagram</vt:lpstr>
      <vt:lpstr>PowerPoint Presentation</vt:lpstr>
      <vt:lpstr>Final Outcome</vt:lpstr>
      <vt:lpstr>PowerPoint Presentation</vt:lpstr>
      <vt:lpstr>Demonstration</vt:lpstr>
      <vt:lpstr>Methodology</vt:lpstr>
      <vt:lpstr>PowerPoint Presentation</vt:lpstr>
      <vt:lpstr>Benefits of the Solution </vt:lpstr>
      <vt:lpstr>PowerPoint Presentation</vt:lpstr>
      <vt:lpstr>Cost</vt:lpstr>
      <vt:lpstr>PowerPoint Presentation</vt:lpstr>
      <vt:lpstr>Conclusion</vt:lpstr>
      <vt:lpstr>PowerPoint Presentation</vt:lpstr>
      <vt:lpstr>Any Question ?</vt:lpstr>
      <vt:lpstr>&lt;- Thank You -&gt;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Nabrees Official</dc:creator>
  <cp:lastModifiedBy>Sihanas Sihanas</cp:lastModifiedBy>
  <cp:revision>31</cp:revision>
  <dcterms:created xsi:type="dcterms:W3CDTF">2024-10-25T10:24:55Z</dcterms:created>
  <dcterms:modified xsi:type="dcterms:W3CDTF">2025-09-17T08:13:22Z</dcterms:modified>
</cp:coreProperties>
</file>