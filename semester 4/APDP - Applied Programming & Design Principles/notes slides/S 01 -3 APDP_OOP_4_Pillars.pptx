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28" r:id="rId1"/>
  </p:sldMasterIdLst>
  <p:notesMasterIdLst>
    <p:notesMasterId r:id="rId77"/>
  </p:notesMasterIdLst>
  <p:sldIdLst>
    <p:sldId id="256" r:id="rId2"/>
    <p:sldId id="314" r:id="rId3"/>
    <p:sldId id="410" r:id="rId4"/>
    <p:sldId id="260" r:id="rId5"/>
    <p:sldId id="261" r:id="rId6"/>
    <p:sldId id="262" r:id="rId7"/>
    <p:sldId id="263" r:id="rId8"/>
    <p:sldId id="264" r:id="rId9"/>
    <p:sldId id="265" r:id="rId10"/>
    <p:sldId id="266" r:id="rId11"/>
    <p:sldId id="267" r:id="rId12"/>
    <p:sldId id="268" r:id="rId13"/>
    <p:sldId id="269" r:id="rId14"/>
    <p:sldId id="270" r:id="rId15"/>
    <p:sldId id="379" r:id="rId16"/>
    <p:sldId id="272" r:id="rId17"/>
    <p:sldId id="290" r:id="rId18"/>
    <p:sldId id="303" r:id="rId19"/>
    <p:sldId id="304" r:id="rId20"/>
    <p:sldId id="375" r:id="rId21"/>
    <p:sldId id="397" r:id="rId22"/>
    <p:sldId id="341" r:id="rId23"/>
    <p:sldId id="283" r:id="rId24"/>
    <p:sldId id="334" r:id="rId25"/>
    <p:sldId id="361" r:id="rId26"/>
    <p:sldId id="362" r:id="rId27"/>
    <p:sldId id="363" r:id="rId28"/>
    <p:sldId id="364" r:id="rId29"/>
    <p:sldId id="365" r:id="rId30"/>
    <p:sldId id="335" r:id="rId31"/>
    <p:sldId id="336" r:id="rId32"/>
    <p:sldId id="337" r:id="rId33"/>
    <p:sldId id="300" r:id="rId34"/>
    <p:sldId id="385" r:id="rId35"/>
    <p:sldId id="386" r:id="rId36"/>
    <p:sldId id="387" r:id="rId37"/>
    <p:sldId id="388" r:id="rId38"/>
    <p:sldId id="389" r:id="rId39"/>
    <p:sldId id="392" r:id="rId40"/>
    <p:sldId id="393" r:id="rId41"/>
    <p:sldId id="271" r:id="rId42"/>
    <p:sldId id="279" r:id="rId43"/>
    <p:sldId id="373" r:id="rId44"/>
    <p:sldId id="368" r:id="rId45"/>
    <p:sldId id="369" r:id="rId46"/>
    <p:sldId id="366" r:id="rId47"/>
    <p:sldId id="367" r:id="rId48"/>
    <p:sldId id="331" r:id="rId49"/>
    <p:sldId id="329" r:id="rId50"/>
    <p:sldId id="330" r:id="rId51"/>
    <p:sldId id="332" r:id="rId52"/>
    <p:sldId id="333" r:id="rId53"/>
    <p:sldId id="406" r:id="rId54"/>
    <p:sldId id="407" r:id="rId55"/>
    <p:sldId id="408" r:id="rId56"/>
    <p:sldId id="409" r:id="rId57"/>
    <p:sldId id="394" r:id="rId58"/>
    <p:sldId id="284" r:id="rId59"/>
    <p:sldId id="390" r:id="rId60"/>
    <p:sldId id="413" r:id="rId61"/>
    <p:sldId id="391" r:id="rId62"/>
    <p:sldId id="291" r:id="rId63"/>
    <p:sldId id="292" r:id="rId64"/>
    <p:sldId id="338" r:id="rId65"/>
    <p:sldId id="374" r:id="rId66"/>
    <p:sldId id="302" r:id="rId67"/>
    <p:sldId id="301" r:id="rId68"/>
    <p:sldId id="287" r:id="rId69"/>
    <p:sldId id="339" r:id="rId70"/>
    <p:sldId id="412" r:id="rId71"/>
    <p:sldId id="288" r:id="rId72"/>
    <p:sldId id="312" r:id="rId73"/>
    <p:sldId id="313" r:id="rId74"/>
    <p:sldId id="289" r:id="rId75"/>
    <p:sldId id="372"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B00"/>
    <a:srgbClr val="D19D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14F16C-9550-FBA9-D9B4-69966A8BAFD5}" v="1" dt="2025-05-30T05:20:15.6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5A34D0-BD93-4862-A5BE-DC48A32A008C}" type="datetimeFigureOut">
              <a:rPr lang="en-US" smtClean="0"/>
              <a:t>6/22/2025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D12C6D-F6F1-4F7B-8B98-CEB96C06A8CB}" type="slidenum">
              <a:rPr lang="en-US" smtClean="0"/>
              <a:t>‹#›</a:t>
            </a:fld>
            <a:endParaRPr lang="en-US"/>
          </a:p>
        </p:txBody>
      </p:sp>
    </p:spTree>
    <p:extLst>
      <p:ext uri="{BB962C8B-B14F-4D97-AF65-F5344CB8AC3E}">
        <p14:creationId xmlns:p14="http://schemas.microsoft.com/office/powerpoint/2010/main" val="4223435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blog.devgenius.io/mastering-advanced-oop-concepts-in-python-theory-behind-oop-c9e87fb1697b"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Classes which are not having objects but only references, those classes are holding abstract methods, abstract method only have declaration not implementation </a:t>
            </a:r>
          </a:p>
        </p:txBody>
      </p:sp>
      <p:sp>
        <p:nvSpPr>
          <p:cNvPr id="4" name="Slide Number Placeholder 3"/>
          <p:cNvSpPr>
            <a:spLocks noGrp="1"/>
          </p:cNvSpPr>
          <p:nvPr>
            <p:ph type="sldNum" sz="quarter" idx="5"/>
          </p:nvPr>
        </p:nvSpPr>
        <p:spPr/>
        <p:txBody>
          <a:bodyPr/>
          <a:lstStyle/>
          <a:p>
            <a:fld id="{BDD12C6D-F6F1-4F7B-8B98-CEB96C06A8CB}" type="slidenum">
              <a:rPr lang="en-US" smtClean="0"/>
              <a:t>20</a:t>
            </a:fld>
            <a:endParaRPr lang="en-US"/>
          </a:p>
        </p:txBody>
      </p:sp>
    </p:spTree>
    <p:extLst>
      <p:ext uri="{BB962C8B-B14F-4D97-AF65-F5344CB8AC3E}">
        <p14:creationId xmlns:p14="http://schemas.microsoft.com/office/powerpoint/2010/main" val="1240705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Data Hiding but </a:t>
            </a:r>
            <a:r>
              <a:rPr lang="en-US">
                <a:ea typeface="Calibri"/>
                <a:cs typeface="Calibri"/>
              </a:rPr>
              <a:t>manipulation</a:t>
            </a:r>
            <a:r>
              <a:rPr lang="en-US" dirty="0">
                <a:ea typeface="Calibri"/>
                <a:cs typeface="Calibri"/>
              </a:rPr>
              <a:t> is every where you go, so if you need to access any data within the class then you need to call a method belongs to the class then you can use the results that the particular method is returning </a:t>
            </a:r>
          </a:p>
          <a:p>
            <a:r>
              <a:rPr lang="en-US">
                <a:ea typeface="Calibri"/>
                <a:cs typeface="Calibri"/>
              </a:rPr>
              <a:t>We can encapsulate and use the data through 1. use the instance of the class 2. inherit the class to inherit any of their attributes </a:t>
            </a:r>
          </a:p>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BDD12C6D-F6F1-4F7B-8B98-CEB96C06A8CB}" type="slidenum">
              <a:rPr lang="en-US" smtClean="0"/>
              <a:t>21</a:t>
            </a:fld>
            <a:endParaRPr lang="en-US"/>
          </a:p>
        </p:txBody>
      </p:sp>
    </p:spTree>
    <p:extLst>
      <p:ext uri="{BB962C8B-B14F-4D97-AF65-F5344CB8AC3E}">
        <p14:creationId xmlns:p14="http://schemas.microsoft.com/office/powerpoint/2010/main" val="2501298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Two ways to get the data or process of any class is u create a instance for the class or you inherit that class</a:t>
            </a:r>
          </a:p>
        </p:txBody>
      </p:sp>
      <p:sp>
        <p:nvSpPr>
          <p:cNvPr id="4" name="Slide Number Placeholder 3"/>
          <p:cNvSpPr>
            <a:spLocks noGrp="1"/>
          </p:cNvSpPr>
          <p:nvPr>
            <p:ph type="sldNum" sz="quarter" idx="5"/>
          </p:nvPr>
        </p:nvSpPr>
        <p:spPr/>
        <p:txBody>
          <a:bodyPr/>
          <a:lstStyle/>
          <a:p>
            <a:fld id="{BDD12C6D-F6F1-4F7B-8B98-CEB96C06A8CB}" type="slidenum">
              <a:rPr lang="en-US" smtClean="0"/>
              <a:t>22</a:t>
            </a:fld>
            <a:endParaRPr lang="en-US"/>
          </a:p>
        </p:txBody>
      </p:sp>
    </p:spTree>
    <p:extLst>
      <p:ext uri="{BB962C8B-B14F-4D97-AF65-F5344CB8AC3E}">
        <p14:creationId xmlns:p14="http://schemas.microsoft.com/office/powerpoint/2010/main" val="3548381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https://blog.devgenius.io/mastering-advanced-oop-concepts-in-python-theory-behind-oop-c9e87fb1697b</a:t>
            </a:r>
            <a:endParaRPr lang="en-US"/>
          </a:p>
          <a:p>
            <a:endParaRPr lang="en-US" dirty="0"/>
          </a:p>
        </p:txBody>
      </p:sp>
      <p:sp>
        <p:nvSpPr>
          <p:cNvPr id="4" name="Slide Number Placeholder 3"/>
          <p:cNvSpPr>
            <a:spLocks noGrp="1"/>
          </p:cNvSpPr>
          <p:nvPr>
            <p:ph type="sldNum" sz="quarter" idx="5"/>
          </p:nvPr>
        </p:nvSpPr>
        <p:spPr/>
        <p:txBody>
          <a:bodyPr/>
          <a:lstStyle/>
          <a:p>
            <a:fld id="{BDD12C6D-F6F1-4F7B-8B98-CEB96C06A8CB}" type="slidenum">
              <a:rPr lang="en-US" smtClean="0"/>
              <a:t>32</a:t>
            </a:fld>
            <a:endParaRPr lang="en-US"/>
          </a:p>
        </p:txBody>
      </p:sp>
    </p:spTree>
    <p:extLst>
      <p:ext uri="{BB962C8B-B14F-4D97-AF65-F5344CB8AC3E}">
        <p14:creationId xmlns:p14="http://schemas.microsoft.com/office/powerpoint/2010/main" val="2626584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Naming encapsulate is done when we declare different classes () with same name (Student class in pack1 and pack2 ) in different packages, when any third party want to use the instance from pack1 then how to call that student class belongs to pack1 – so this </a:t>
            </a:r>
            <a:r>
              <a:rPr lang="en-US" err="1">
                <a:ea typeface="Calibri"/>
                <a:cs typeface="Calibri"/>
              </a:rPr>
              <a:t>seperation</a:t>
            </a:r>
            <a:r>
              <a:rPr lang="en-US">
                <a:ea typeface="Calibri"/>
                <a:cs typeface="Calibri"/>
              </a:rPr>
              <a:t> is called naming encapsulation</a:t>
            </a:r>
            <a:endParaRPr lang="en-US"/>
          </a:p>
          <a:p>
            <a:endParaRPr lang="en-US">
              <a:ea typeface="Calibri"/>
              <a:cs typeface="Calibri"/>
            </a:endParaRPr>
          </a:p>
          <a:p>
            <a:r>
              <a:rPr lang="en-US">
                <a:ea typeface="Calibri"/>
                <a:cs typeface="Calibri"/>
              </a:rPr>
              <a:t>In java - package </a:t>
            </a:r>
          </a:p>
          <a:p>
            <a:r>
              <a:rPr lang="en-US">
                <a:ea typeface="Calibri"/>
                <a:cs typeface="Calibri"/>
              </a:rPr>
              <a:t>In </a:t>
            </a:r>
            <a:r>
              <a:rPr lang="en-US" err="1">
                <a:ea typeface="Calibri"/>
                <a:cs typeface="Calibri"/>
              </a:rPr>
              <a:t>c#</a:t>
            </a:r>
            <a:r>
              <a:rPr lang="en-US">
                <a:ea typeface="Calibri"/>
                <a:cs typeface="Calibri"/>
              </a:rPr>
              <a:t> - namespace</a:t>
            </a:r>
          </a:p>
        </p:txBody>
      </p:sp>
      <p:sp>
        <p:nvSpPr>
          <p:cNvPr id="4" name="Slide Number Placeholder 3"/>
          <p:cNvSpPr>
            <a:spLocks noGrp="1"/>
          </p:cNvSpPr>
          <p:nvPr>
            <p:ph type="sldNum" sz="quarter" idx="5"/>
          </p:nvPr>
        </p:nvSpPr>
        <p:spPr/>
        <p:txBody>
          <a:bodyPr/>
          <a:lstStyle/>
          <a:p>
            <a:fld id="{BDD12C6D-F6F1-4F7B-8B98-CEB96C06A8CB}" type="slidenum">
              <a:rPr lang="en-US" smtClean="0"/>
              <a:t>35</a:t>
            </a:fld>
            <a:endParaRPr lang="en-US"/>
          </a:p>
        </p:txBody>
      </p:sp>
    </p:spTree>
    <p:extLst>
      <p:ext uri="{BB962C8B-B14F-4D97-AF65-F5344CB8AC3E}">
        <p14:creationId xmlns:p14="http://schemas.microsoft.com/office/powerpoint/2010/main" val="23851338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There is no need to have multiple inheritance </a:t>
            </a:r>
            <a:r>
              <a:rPr lang="en-US" err="1">
                <a:ea typeface="Calibri"/>
                <a:cs typeface="Calibri"/>
              </a:rPr>
              <a:t>whicj</a:t>
            </a:r>
            <a:r>
              <a:rPr lang="en-US">
                <a:ea typeface="Calibri"/>
                <a:cs typeface="Calibri"/>
              </a:rPr>
              <a:t> cause complexity – in java we don’t have multiple </a:t>
            </a:r>
            <a:r>
              <a:rPr lang="en-US" err="1">
                <a:ea typeface="Calibri"/>
                <a:cs typeface="Calibri"/>
              </a:rPr>
              <a:t>inhe</a:t>
            </a:r>
            <a:r>
              <a:rPr lang="en-US">
                <a:ea typeface="Calibri"/>
                <a:cs typeface="Calibri"/>
              </a:rPr>
              <a:t>, only single inheritance </a:t>
            </a:r>
          </a:p>
        </p:txBody>
      </p:sp>
      <p:sp>
        <p:nvSpPr>
          <p:cNvPr id="4" name="Slide Number Placeholder 3"/>
          <p:cNvSpPr>
            <a:spLocks noGrp="1"/>
          </p:cNvSpPr>
          <p:nvPr>
            <p:ph type="sldNum" sz="quarter" idx="5"/>
          </p:nvPr>
        </p:nvSpPr>
        <p:spPr/>
        <p:txBody>
          <a:bodyPr/>
          <a:lstStyle/>
          <a:p>
            <a:fld id="{BDD12C6D-F6F1-4F7B-8B98-CEB96C06A8CB}" type="slidenum">
              <a:rPr lang="en-US" smtClean="0"/>
              <a:t>43</a:t>
            </a:fld>
            <a:endParaRPr lang="en-US"/>
          </a:p>
        </p:txBody>
      </p:sp>
    </p:spTree>
    <p:extLst>
      <p:ext uri="{BB962C8B-B14F-4D97-AF65-F5344CB8AC3E}">
        <p14:creationId xmlns:p14="http://schemas.microsoft.com/office/powerpoint/2010/main" val="5519653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Person p1 = new Person() --- special </a:t>
            </a:r>
            <a:r>
              <a:rPr lang="en-US" err="1">
                <a:ea typeface="Calibri"/>
                <a:cs typeface="Calibri"/>
              </a:rPr>
              <a:t>fucntion</a:t>
            </a:r>
            <a:r>
              <a:rPr lang="en-US">
                <a:ea typeface="Calibri"/>
                <a:cs typeface="Calibri"/>
              </a:rPr>
              <a:t> called constructer</a:t>
            </a:r>
          </a:p>
        </p:txBody>
      </p:sp>
      <p:sp>
        <p:nvSpPr>
          <p:cNvPr id="4" name="Slide Number Placeholder 3"/>
          <p:cNvSpPr>
            <a:spLocks noGrp="1"/>
          </p:cNvSpPr>
          <p:nvPr>
            <p:ph type="sldNum" sz="quarter" idx="5"/>
          </p:nvPr>
        </p:nvSpPr>
        <p:spPr/>
        <p:txBody>
          <a:bodyPr/>
          <a:lstStyle/>
          <a:p>
            <a:fld id="{BDD12C6D-F6F1-4F7B-8B98-CEB96C06A8CB}" type="slidenum">
              <a:rPr lang="en-US" smtClean="0"/>
              <a:t>58</a:t>
            </a:fld>
            <a:endParaRPr lang="en-US"/>
          </a:p>
        </p:txBody>
      </p:sp>
    </p:spTree>
    <p:extLst>
      <p:ext uri="{BB962C8B-B14F-4D97-AF65-F5344CB8AC3E}">
        <p14:creationId xmlns:p14="http://schemas.microsoft.com/office/powerpoint/2010/main" val="674384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Super type can refer the subtype  </a:t>
            </a:r>
          </a:p>
          <a:p>
            <a:r>
              <a:rPr lang="en-US">
                <a:ea typeface="Calibri"/>
                <a:cs typeface="Calibri"/>
              </a:rPr>
              <a:t>Rectangle r1= new Square()</a:t>
            </a:r>
          </a:p>
          <a:p>
            <a:r>
              <a:rPr lang="en-US">
                <a:ea typeface="Calibri"/>
                <a:cs typeface="Calibri"/>
              </a:rPr>
              <a:t>Sqaure s3 = new Sqaure()</a:t>
            </a:r>
          </a:p>
          <a:p>
            <a:r>
              <a:rPr lang="en-US">
                <a:ea typeface="Calibri"/>
                <a:cs typeface="Calibri"/>
              </a:rPr>
              <a:t>S3.area()</a:t>
            </a:r>
          </a:p>
          <a:p>
            <a:r>
              <a:rPr lang="en-US">
                <a:ea typeface="Calibri"/>
                <a:cs typeface="Calibri"/>
              </a:rPr>
              <a:t>Shape s1= new Rectangle()</a:t>
            </a:r>
          </a:p>
          <a:p>
            <a:r>
              <a:rPr lang="en-US">
                <a:ea typeface="Calibri"/>
                <a:cs typeface="Calibri"/>
              </a:rPr>
              <a:t>Shape s2 = new Sqaure()</a:t>
            </a:r>
          </a:p>
          <a:p>
            <a:r>
              <a:rPr lang="en-US">
                <a:ea typeface="Calibri"/>
                <a:cs typeface="Calibri"/>
              </a:rPr>
              <a:t>S1.area()</a:t>
            </a:r>
          </a:p>
          <a:p>
            <a:r>
              <a:rPr lang="en-US">
                <a:ea typeface="Calibri"/>
                <a:cs typeface="Calibri"/>
              </a:rPr>
              <a:t>S2.area()</a:t>
            </a: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BDD12C6D-F6F1-4F7B-8B98-CEB96C06A8CB}" type="slidenum">
              <a:rPr lang="en-US" smtClean="0"/>
              <a:t>59</a:t>
            </a:fld>
            <a:endParaRPr lang="en-US"/>
          </a:p>
        </p:txBody>
      </p:sp>
    </p:spTree>
    <p:extLst>
      <p:ext uri="{BB962C8B-B14F-4D97-AF65-F5344CB8AC3E}">
        <p14:creationId xmlns:p14="http://schemas.microsoft.com/office/powerpoint/2010/main" val="1826308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6/22/2025</a:t>
            </a:fld>
            <a:endParaRPr lang="en-US"/>
          </a:p>
        </p:txBody>
      </p:sp>
      <p:sp>
        <p:nvSpPr>
          <p:cNvPr id="5" name="Footer Placeholder 4"/>
          <p:cNvSpPr>
            <a:spLocks noGrp="1"/>
          </p:cNvSpPr>
          <p:nvPr>
            <p:ph type="ftr" sz="quarter" idx="11"/>
          </p:nvPr>
        </p:nvSpPr>
        <p:spPr/>
        <p:txBody>
          <a:bodyPr/>
          <a:lstStyle/>
          <a:p>
            <a:r>
              <a:rPr lang="en-US"/>
              <a:t>Ms. ALF. Sajeetha</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4213315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6/22/2025</a:t>
            </a:fld>
            <a:endParaRPr lang="en-US"/>
          </a:p>
        </p:txBody>
      </p:sp>
      <p:sp>
        <p:nvSpPr>
          <p:cNvPr id="5" name="Footer Placeholder 4"/>
          <p:cNvSpPr>
            <a:spLocks noGrp="1"/>
          </p:cNvSpPr>
          <p:nvPr>
            <p:ph type="ftr" sz="quarter" idx="11"/>
          </p:nvPr>
        </p:nvSpPr>
        <p:spPr/>
        <p:txBody>
          <a:bodyPr/>
          <a:lstStyle/>
          <a:p>
            <a:r>
              <a:rPr lang="en-US"/>
              <a:t>Ms. ALF. Sajeetha</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320471415"/>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6/22/2025</a:t>
            </a:fld>
            <a:endParaRPr lang="en-US"/>
          </a:p>
        </p:txBody>
      </p:sp>
      <p:sp>
        <p:nvSpPr>
          <p:cNvPr id="5" name="Footer Placeholder 4"/>
          <p:cNvSpPr>
            <a:spLocks noGrp="1"/>
          </p:cNvSpPr>
          <p:nvPr>
            <p:ph type="ftr" sz="quarter" idx="11"/>
          </p:nvPr>
        </p:nvSpPr>
        <p:spPr/>
        <p:txBody>
          <a:bodyPr/>
          <a:lstStyle/>
          <a:p>
            <a:r>
              <a:rPr lang="en-US"/>
              <a:t>Ms. ALF. Sajeetha</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46845262"/>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6/22/2025</a:t>
            </a:fld>
            <a:endParaRPr lang="en-US"/>
          </a:p>
        </p:txBody>
      </p:sp>
      <p:sp>
        <p:nvSpPr>
          <p:cNvPr id="6" name="Footer Placeholder 5"/>
          <p:cNvSpPr>
            <a:spLocks noGrp="1"/>
          </p:cNvSpPr>
          <p:nvPr>
            <p:ph type="ftr" sz="quarter" idx="11"/>
          </p:nvPr>
        </p:nvSpPr>
        <p:spPr/>
        <p:txBody>
          <a:bodyPr/>
          <a:lstStyle/>
          <a:p>
            <a:r>
              <a:rPr lang="en-US"/>
              <a:t>Ms. ALF. Sajeetha</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14388794"/>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6/22/2025</a:t>
            </a:fld>
            <a:endParaRPr lang="en-US"/>
          </a:p>
        </p:txBody>
      </p:sp>
      <p:sp>
        <p:nvSpPr>
          <p:cNvPr id="8" name="Footer Placeholder 7"/>
          <p:cNvSpPr>
            <a:spLocks noGrp="1"/>
          </p:cNvSpPr>
          <p:nvPr>
            <p:ph type="ftr" sz="quarter" idx="11"/>
          </p:nvPr>
        </p:nvSpPr>
        <p:spPr/>
        <p:txBody>
          <a:bodyPr/>
          <a:lstStyle/>
          <a:p>
            <a:r>
              <a:rPr lang="en-US"/>
              <a:t>Ms. ALF. Sajeetha</a:t>
            </a:r>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5017226"/>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6/22/2025</a:t>
            </a:fld>
            <a:endParaRPr lang="en-US"/>
          </a:p>
        </p:txBody>
      </p:sp>
      <p:sp>
        <p:nvSpPr>
          <p:cNvPr id="4" name="Footer Placeholder 3"/>
          <p:cNvSpPr>
            <a:spLocks noGrp="1"/>
          </p:cNvSpPr>
          <p:nvPr>
            <p:ph type="ftr" sz="quarter" idx="11"/>
          </p:nvPr>
        </p:nvSpPr>
        <p:spPr/>
        <p:txBody>
          <a:bodyPr/>
          <a:lstStyle/>
          <a:p>
            <a:r>
              <a:rPr lang="en-US"/>
              <a:t>Ms. ALF. Sajeetha</a:t>
            </a:r>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41816157"/>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6/22/2025</a:t>
            </a:fld>
            <a:endParaRPr lang="en-US"/>
          </a:p>
        </p:txBody>
      </p:sp>
      <p:sp>
        <p:nvSpPr>
          <p:cNvPr id="3" name="Footer Placeholder 2"/>
          <p:cNvSpPr>
            <a:spLocks noGrp="1"/>
          </p:cNvSpPr>
          <p:nvPr>
            <p:ph type="ftr" sz="quarter" idx="11"/>
          </p:nvPr>
        </p:nvSpPr>
        <p:spPr/>
        <p:txBody>
          <a:bodyPr/>
          <a:lstStyle/>
          <a:p>
            <a:r>
              <a:rPr lang="en-US"/>
              <a:t>Ms. ALF. Sajeetha</a:t>
            </a:r>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69441520"/>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6/22/2025</a:t>
            </a:fld>
            <a:endParaRPr lang="en-US"/>
          </a:p>
        </p:txBody>
      </p:sp>
      <p:sp>
        <p:nvSpPr>
          <p:cNvPr id="6" name="Footer Placeholder 5"/>
          <p:cNvSpPr>
            <a:spLocks noGrp="1"/>
          </p:cNvSpPr>
          <p:nvPr>
            <p:ph type="ftr" sz="quarter" idx="11"/>
          </p:nvPr>
        </p:nvSpPr>
        <p:spPr/>
        <p:txBody>
          <a:bodyPr/>
          <a:lstStyle/>
          <a:p>
            <a:r>
              <a:rPr lang="en-US"/>
              <a:t>Ms. ALF. Sajeetha</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57054689"/>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6/22/2025</a:t>
            </a:fld>
            <a:endParaRPr lang="en-US"/>
          </a:p>
        </p:txBody>
      </p:sp>
      <p:sp>
        <p:nvSpPr>
          <p:cNvPr id="6" name="Footer Placeholder 5"/>
          <p:cNvSpPr>
            <a:spLocks noGrp="1"/>
          </p:cNvSpPr>
          <p:nvPr>
            <p:ph type="ftr" sz="quarter" idx="11"/>
          </p:nvPr>
        </p:nvSpPr>
        <p:spPr/>
        <p:txBody>
          <a:bodyPr/>
          <a:lstStyle/>
          <a:p>
            <a:r>
              <a:rPr lang="en-US"/>
              <a:t>Ms. ALF. Sajeetha</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38953272"/>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6/22/2025</a:t>
            </a:fld>
            <a:endParaRPr lang="en-US"/>
          </a:p>
        </p:txBody>
      </p:sp>
      <p:sp>
        <p:nvSpPr>
          <p:cNvPr id="5" name="Footer Placeholder 4"/>
          <p:cNvSpPr>
            <a:spLocks noGrp="1"/>
          </p:cNvSpPr>
          <p:nvPr>
            <p:ph type="ftr" sz="quarter" idx="11"/>
          </p:nvPr>
        </p:nvSpPr>
        <p:spPr/>
        <p:txBody>
          <a:bodyPr/>
          <a:lstStyle/>
          <a:p>
            <a:r>
              <a:rPr lang="en-US"/>
              <a:t>Ms. ALF. Sajeetha</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00955170"/>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6/22/2025</a:t>
            </a:fld>
            <a:endParaRPr lang="en-US"/>
          </a:p>
        </p:txBody>
      </p:sp>
      <p:sp>
        <p:nvSpPr>
          <p:cNvPr id="5" name="Footer Placeholder 4"/>
          <p:cNvSpPr>
            <a:spLocks noGrp="1"/>
          </p:cNvSpPr>
          <p:nvPr>
            <p:ph type="ftr" sz="quarter" idx="11"/>
          </p:nvPr>
        </p:nvSpPr>
        <p:spPr/>
        <p:txBody>
          <a:bodyPr/>
          <a:lstStyle/>
          <a:p>
            <a:r>
              <a:rPr lang="en-US"/>
              <a:t>Ms. ALF. Sajeetha</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2566865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3004800" h="9753600">
                <a:moveTo>
                  <a:pt x="13004800" y="0"/>
                </a:moveTo>
                <a:lnTo>
                  <a:pt x="0" y="0"/>
                </a:lnTo>
                <a:lnTo>
                  <a:pt x="0" y="9753600"/>
                </a:lnTo>
                <a:lnTo>
                  <a:pt x="13004800" y="9753600"/>
                </a:lnTo>
                <a:lnTo>
                  <a:pt x="13004800" y="0"/>
                </a:lnTo>
                <a:close/>
              </a:path>
            </a:pathLst>
          </a:custGeom>
          <a:solidFill>
            <a:srgbClr val="000000"/>
          </a:solidFill>
        </p:spPr>
        <p:txBody>
          <a:bodyPr wrap="square" lIns="0" tIns="0" rIns="0" bIns="0" rtlCol="0"/>
          <a:lstStyle/>
          <a:p>
            <a:endParaRPr/>
          </a:p>
        </p:txBody>
      </p:sp>
      <p:sp>
        <p:nvSpPr>
          <p:cNvPr id="17" name="bg object 17"/>
          <p:cNvSpPr/>
          <p:nvPr/>
        </p:nvSpPr>
        <p:spPr>
          <a:xfrm>
            <a:off x="6884362" y="1504203"/>
            <a:ext cx="3303984" cy="3940225"/>
          </a:xfrm>
          <a:custGeom>
            <a:avLst/>
            <a:gdLst/>
            <a:ahLst/>
            <a:cxnLst/>
            <a:rect l="l" t="t" r="r" b="b"/>
            <a:pathLst>
              <a:path w="3524250" h="5603875">
                <a:moveTo>
                  <a:pt x="3523964" y="0"/>
                </a:moveTo>
                <a:lnTo>
                  <a:pt x="0" y="0"/>
                </a:lnTo>
                <a:lnTo>
                  <a:pt x="0" y="5603873"/>
                </a:lnTo>
                <a:lnTo>
                  <a:pt x="3523964" y="5603873"/>
                </a:lnTo>
                <a:lnTo>
                  <a:pt x="3523964" y="0"/>
                </a:lnTo>
                <a:close/>
              </a:path>
            </a:pathLst>
          </a:custGeom>
          <a:solidFill>
            <a:srgbClr val="F8BA00"/>
          </a:solidFill>
        </p:spPr>
        <p:txBody>
          <a:bodyPr wrap="square" lIns="0" tIns="0" rIns="0" bIns="0" rtlCol="0"/>
          <a:lstStyle/>
          <a:p>
            <a:endParaRPr/>
          </a:p>
        </p:txBody>
      </p:sp>
      <p:sp>
        <p:nvSpPr>
          <p:cNvPr id="18" name="bg object 18"/>
          <p:cNvSpPr/>
          <p:nvPr/>
        </p:nvSpPr>
        <p:spPr>
          <a:xfrm>
            <a:off x="7434190" y="2034057"/>
            <a:ext cx="2038350" cy="892969"/>
          </a:xfrm>
          <a:custGeom>
            <a:avLst/>
            <a:gdLst/>
            <a:ahLst/>
            <a:cxnLst/>
            <a:rect l="l" t="t" r="r" b="b"/>
            <a:pathLst>
              <a:path w="2174240" h="1270000">
                <a:moveTo>
                  <a:pt x="1882692" y="0"/>
                </a:moveTo>
                <a:lnTo>
                  <a:pt x="291210" y="0"/>
                </a:lnTo>
                <a:lnTo>
                  <a:pt x="233261" y="222"/>
                </a:lnTo>
                <a:lnTo>
                  <a:pt x="186527" y="1783"/>
                </a:lnTo>
                <a:lnTo>
                  <a:pt x="120299" y="14269"/>
                </a:lnTo>
                <a:lnTo>
                  <a:pt x="85465" y="31474"/>
                </a:lnTo>
                <a:lnTo>
                  <a:pt x="55531" y="55531"/>
                </a:lnTo>
                <a:lnTo>
                  <a:pt x="31474" y="85465"/>
                </a:lnTo>
                <a:lnTo>
                  <a:pt x="14270" y="120299"/>
                </a:lnTo>
                <a:lnTo>
                  <a:pt x="1783" y="186527"/>
                </a:lnTo>
                <a:lnTo>
                  <a:pt x="222" y="233260"/>
                </a:lnTo>
                <a:lnTo>
                  <a:pt x="0" y="291209"/>
                </a:lnTo>
                <a:lnTo>
                  <a:pt x="0" y="978789"/>
                </a:lnTo>
                <a:lnTo>
                  <a:pt x="222" y="1036738"/>
                </a:lnTo>
                <a:lnTo>
                  <a:pt x="1783" y="1083472"/>
                </a:lnTo>
                <a:lnTo>
                  <a:pt x="14270" y="1149700"/>
                </a:lnTo>
                <a:lnTo>
                  <a:pt x="31474" y="1184533"/>
                </a:lnTo>
                <a:lnTo>
                  <a:pt x="55531" y="1214467"/>
                </a:lnTo>
                <a:lnTo>
                  <a:pt x="85465" y="1238525"/>
                </a:lnTo>
                <a:lnTo>
                  <a:pt x="120299" y="1255729"/>
                </a:lnTo>
                <a:lnTo>
                  <a:pt x="186527" y="1268216"/>
                </a:lnTo>
                <a:lnTo>
                  <a:pt x="233261" y="1269777"/>
                </a:lnTo>
                <a:lnTo>
                  <a:pt x="291210" y="1270000"/>
                </a:lnTo>
                <a:lnTo>
                  <a:pt x="1882692" y="1270000"/>
                </a:lnTo>
                <a:lnTo>
                  <a:pt x="1940641" y="1269777"/>
                </a:lnTo>
                <a:lnTo>
                  <a:pt x="1987374" y="1268216"/>
                </a:lnTo>
                <a:lnTo>
                  <a:pt x="2053602" y="1255729"/>
                </a:lnTo>
                <a:lnTo>
                  <a:pt x="2088436" y="1238525"/>
                </a:lnTo>
                <a:lnTo>
                  <a:pt x="2118370" y="1214467"/>
                </a:lnTo>
                <a:lnTo>
                  <a:pt x="2142428" y="1184533"/>
                </a:lnTo>
                <a:lnTo>
                  <a:pt x="2159632" y="1149700"/>
                </a:lnTo>
                <a:lnTo>
                  <a:pt x="2172118" y="1083472"/>
                </a:lnTo>
                <a:lnTo>
                  <a:pt x="2173679" y="1036738"/>
                </a:lnTo>
                <a:lnTo>
                  <a:pt x="2173902" y="978789"/>
                </a:lnTo>
                <a:lnTo>
                  <a:pt x="2173902" y="291209"/>
                </a:lnTo>
                <a:lnTo>
                  <a:pt x="2173679" y="233260"/>
                </a:lnTo>
                <a:lnTo>
                  <a:pt x="2172118" y="186527"/>
                </a:lnTo>
                <a:lnTo>
                  <a:pt x="2159632" y="120299"/>
                </a:lnTo>
                <a:lnTo>
                  <a:pt x="2142428" y="85465"/>
                </a:lnTo>
                <a:lnTo>
                  <a:pt x="2118370" y="55531"/>
                </a:lnTo>
                <a:lnTo>
                  <a:pt x="2088436" y="31474"/>
                </a:lnTo>
                <a:lnTo>
                  <a:pt x="2053602" y="14269"/>
                </a:lnTo>
                <a:lnTo>
                  <a:pt x="1987374" y="1783"/>
                </a:lnTo>
                <a:lnTo>
                  <a:pt x="1940641" y="222"/>
                </a:lnTo>
                <a:lnTo>
                  <a:pt x="1882692" y="0"/>
                </a:lnTo>
                <a:close/>
              </a:path>
            </a:pathLst>
          </a:custGeom>
          <a:solidFill>
            <a:srgbClr val="1DB100"/>
          </a:solidFill>
        </p:spPr>
        <p:txBody>
          <a:bodyPr wrap="square" lIns="0" tIns="0" rIns="0" bIns="0" rtlCol="0"/>
          <a:lstStyle/>
          <a:p>
            <a:endParaRPr/>
          </a:p>
        </p:txBody>
      </p:sp>
      <p:sp>
        <p:nvSpPr>
          <p:cNvPr id="19" name="bg object 19"/>
          <p:cNvSpPr/>
          <p:nvPr/>
        </p:nvSpPr>
        <p:spPr>
          <a:xfrm>
            <a:off x="7487986" y="3425443"/>
            <a:ext cx="2038350" cy="1665387"/>
          </a:xfrm>
          <a:custGeom>
            <a:avLst/>
            <a:gdLst/>
            <a:ahLst/>
            <a:cxnLst/>
            <a:rect l="l" t="t" r="r" b="b"/>
            <a:pathLst>
              <a:path w="2174240" h="2368550">
                <a:moveTo>
                  <a:pt x="1882692" y="0"/>
                </a:moveTo>
                <a:lnTo>
                  <a:pt x="291211" y="0"/>
                </a:lnTo>
                <a:lnTo>
                  <a:pt x="233261" y="222"/>
                </a:lnTo>
                <a:lnTo>
                  <a:pt x="186528" y="1783"/>
                </a:lnTo>
                <a:lnTo>
                  <a:pt x="120299" y="14270"/>
                </a:lnTo>
                <a:lnTo>
                  <a:pt x="85466" y="31474"/>
                </a:lnTo>
                <a:lnTo>
                  <a:pt x="55532" y="55532"/>
                </a:lnTo>
                <a:lnTo>
                  <a:pt x="31474" y="85466"/>
                </a:lnTo>
                <a:lnTo>
                  <a:pt x="14270" y="120299"/>
                </a:lnTo>
                <a:lnTo>
                  <a:pt x="1783" y="186527"/>
                </a:lnTo>
                <a:lnTo>
                  <a:pt x="222" y="233261"/>
                </a:lnTo>
                <a:lnTo>
                  <a:pt x="0" y="291211"/>
                </a:lnTo>
                <a:lnTo>
                  <a:pt x="0" y="2076831"/>
                </a:lnTo>
                <a:lnTo>
                  <a:pt x="222" y="2134779"/>
                </a:lnTo>
                <a:lnTo>
                  <a:pt x="1783" y="2181513"/>
                </a:lnTo>
                <a:lnTo>
                  <a:pt x="14270" y="2247741"/>
                </a:lnTo>
                <a:lnTo>
                  <a:pt x="31474" y="2282574"/>
                </a:lnTo>
                <a:lnTo>
                  <a:pt x="55532" y="2312509"/>
                </a:lnTo>
                <a:lnTo>
                  <a:pt x="85466" y="2336566"/>
                </a:lnTo>
                <a:lnTo>
                  <a:pt x="120299" y="2353771"/>
                </a:lnTo>
                <a:lnTo>
                  <a:pt x="186528" y="2366257"/>
                </a:lnTo>
                <a:lnTo>
                  <a:pt x="233261" y="2367817"/>
                </a:lnTo>
                <a:lnTo>
                  <a:pt x="291211" y="2368040"/>
                </a:lnTo>
                <a:lnTo>
                  <a:pt x="1882692" y="2368040"/>
                </a:lnTo>
                <a:lnTo>
                  <a:pt x="1940642" y="2367817"/>
                </a:lnTo>
                <a:lnTo>
                  <a:pt x="1987375" y="2366257"/>
                </a:lnTo>
                <a:lnTo>
                  <a:pt x="2053603" y="2353771"/>
                </a:lnTo>
                <a:lnTo>
                  <a:pt x="2088437" y="2336566"/>
                </a:lnTo>
                <a:lnTo>
                  <a:pt x="2118371" y="2312509"/>
                </a:lnTo>
                <a:lnTo>
                  <a:pt x="2142428" y="2282574"/>
                </a:lnTo>
                <a:lnTo>
                  <a:pt x="2159632" y="2247741"/>
                </a:lnTo>
                <a:lnTo>
                  <a:pt x="2172119" y="2181513"/>
                </a:lnTo>
                <a:lnTo>
                  <a:pt x="2173680" y="2134779"/>
                </a:lnTo>
                <a:lnTo>
                  <a:pt x="2173903" y="2076831"/>
                </a:lnTo>
                <a:lnTo>
                  <a:pt x="2173903" y="291211"/>
                </a:lnTo>
                <a:lnTo>
                  <a:pt x="2173680" y="233261"/>
                </a:lnTo>
                <a:lnTo>
                  <a:pt x="2172119" y="186527"/>
                </a:lnTo>
                <a:lnTo>
                  <a:pt x="2159632" y="120299"/>
                </a:lnTo>
                <a:lnTo>
                  <a:pt x="2142428" y="85466"/>
                </a:lnTo>
                <a:lnTo>
                  <a:pt x="2118371" y="55532"/>
                </a:lnTo>
                <a:lnTo>
                  <a:pt x="2088437" y="31474"/>
                </a:lnTo>
                <a:lnTo>
                  <a:pt x="2053603" y="14270"/>
                </a:lnTo>
                <a:lnTo>
                  <a:pt x="1987375" y="1783"/>
                </a:lnTo>
                <a:lnTo>
                  <a:pt x="1940642" y="222"/>
                </a:lnTo>
                <a:lnTo>
                  <a:pt x="1882692" y="0"/>
                </a:lnTo>
                <a:close/>
              </a:path>
            </a:pathLst>
          </a:custGeom>
          <a:solidFill>
            <a:srgbClr val="00A2F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219" b="0" i="0">
                <a:solidFill>
                  <a:srgbClr val="FF9300"/>
                </a:solidFill>
                <a:latin typeface="Arial MT"/>
                <a:cs typeface="Arial M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884362" y="1504203"/>
            <a:ext cx="3303984" cy="3940225"/>
          </a:xfrm>
          <a:prstGeom prst="rect">
            <a:avLst/>
          </a:prstGeom>
        </p:spPr>
        <p:txBody>
          <a:bodyPr wrap="square" lIns="0" tIns="0" rIns="0" bIns="0">
            <a:spAutoFit/>
          </a:bodyPr>
          <a:lstStyle>
            <a:lvl1pPr>
              <a:defRPr sz="1687" b="1" i="0">
                <a:solidFill>
                  <a:schemeClr val="bg1"/>
                </a:solidFill>
                <a:latin typeface="Arial"/>
                <a:cs typeface="Arial"/>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a:t>Ms. ALF. Sajeetha</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801523648"/>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C764DE79-268F-4C1A-8933-263129D2AF90}" type="datetimeFigureOut">
              <a:rPr lang="en-US" dirty="0"/>
              <a:t>6/22/2025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r>
              <a:rPr lang="en-US"/>
              <a:t>Ms. ALF. Sajeetha</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790651473"/>
      </p:ext>
    </p:extLst>
  </p:cSld>
  <p:clrMap bg1="dk1" tx1="lt1" bg2="dk2" tx2="lt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 id="214748384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3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1855" y="818984"/>
            <a:ext cx="11045125" cy="2172849"/>
          </a:xfrm>
        </p:spPr>
        <p:txBody>
          <a:bodyPr>
            <a:normAutofit/>
          </a:bodyPr>
          <a:lstStyle/>
          <a:p>
            <a:pPr algn="l"/>
            <a:r>
              <a:rPr lang="en-US" sz="4800" b="1">
                <a:solidFill>
                  <a:srgbClr val="FF7B00"/>
                </a:solidFill>
              </a:rPr>
              <a:t>Applied Programming &amp; Design Principles</a:t>
            </a:r>
            <a:br>
              <a:rPr lang="en-US" sz="4800" b="1"/>
            </a:br>
            <a:r>
              <a:rPr lang="en-US" sz="3600" b="1">
                <a:solidFill>
                  <a:srgbClr val="FF7B00"/>
                </a:solidFill>
              </a:rPr>
              <a:t>S - 03</a:t>
            </a:r>
            <a:r>
              <a:rPr lang="en-US" sz="4800" b="1">
                <a:solidFill>
                  <a:srgbClr val="FF7B00"/>
                </a:solidFill>
              </a:rPr>
              <a:t> </a:t>
            </a:r>
          </a:p>
        </p:txBody>
      </p:sp>
      <p:sp>
        <p:nvSpPr>
          <p:cNvPr id="3" name="Subtitle 2"/>
          <p:cNvSpPr>
            <a:spLocks noGrp="1"/>
          </p:cNvSpPr>
          <p:nvPr>
            <p:ph type="subTitle" idx="1"/>
          </p:nvPr>
        </p:nvSpPr>
        <p:spPr>
          <a:xfrm>
            <a:off x="8374995" y="5557737"/>
            <a:ext cx="3726058" cy="1078054"/>
          </a:xfrm>
        </p:spPr>
        <p:txBody>
          <a:bodyPr vert="horz" lIns="91440" tIns="45720" rIns="91440" bIns="45720" rtlCol="0" anchor="t">
            <a:normAutofit/>
          </a:bodyPr>
          <a:lstStyle/>
          <a:p>
            <a:pPr algn="l"/>
            <a:r>
              <a:rPr lang="en-US">
                <a:solidFill>
                  <a:srgbClr val="FFFFFF"/>
                </a:solidFill>
              </a:rPr>
              <a:t>Ms. ALF. Sajeetha</a:t>
            </a:r>
          </a:p>
          <a:p>
            <a:pPr algn="l"/>
            <a:r>
              <a:rPr lang="en-US">
                <a:solidFill>
                  <a:srgbClr val="FFFFFF"/>
                </a:solidFill>
              </a:rPr>
              <a:t>Lecturer - IT</a:t>
            </a:r>
          </a:p>
        </p:txBody>
      </p:sp>
    </p:spTree>
    <p:extLst>
      <p:ext uri="{BB962C8B-B14F-4D97-AF65-F5344CB8AC3E}">
        <p14:creationId xmlns:p14="http://schemas.microsoft.com/office/powerpoint/2010/main" val="1133751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249" y="243864"/>
            <a:ext cx="11478096" cy="1280890"/>
          </a:xfrm>
        </p:spPr>
        <p:txBody>
          <a:bodyPr>
            <a:noAutofit/>
          </a:bodyPr>
          <a:lstStyle/>
          <a:p>
            <a:r>
              <a:rPr lang="en-US" sz="3200" b="1">
                <a:solidFill>
                  <a:srgbClr val="FF7B00"/>
                </a:solidFill>
              </a:rPr>
              <a:t>Object-oriented programming (OOP) in Python follows the four fundamental principles known as the "Four Pillars of OOP</a:t>
            </a:r>
          </a:p>
        </p:txBody>
      </p:sp>
      <p:sp>
        <p:nvSpPr>
          <p:cNvPr id="3" name="Content Placeholder 2"/>
          <p:cNvSpPr>
            <a:spLocks noGrp="1"/>
          </p:cNvSpPr>
          <p:nvPr>
            <p:ph idx="1"/>
          </p:nvPr>
        </p:nvSpPr>
        <p:spPr>
          <a:xfrm>
            <a:off x="850379" y="1720030"/>
            <a:ext cx="10301859" cy="4467225"/>
          </a:xfrm>
        </p:spPr>
        <p:txBody>
          <a:bodyPr vert="horz" lIns="91440" tIns="45720" rIns="91440" bIns="45720" rtlCol="0" anchor="t">
            <a:normAutofit fontScale="85000" lnSpcReduction="10000"/>
          </a:bodyPr>
          <a:lstStyle/>
          <a:p>
            <a:pPr marL="285750" indent="-285750">
              <a:buAutoNum type="arabicPeriod"/>
            </a:pPr>
            <a:r>
              <a:rPr lang="en-US" b="1">
                <a:solidFill>
                  <a:srgbClr val="FF7B00"/>
                </a:solidFill>
              </a:rPr>
              <a:t>Abstraction</a:t>
            </a:r>
            <a:endParaRPr lang="en-US" sz="3300">
              <a:solidFill>
                <a:srgbClr val="FF7B00"/>
              </a:solidFill>
            </a:endParaRPr>
          </a:p>
          <a:p>
            <a:pPr marL="0" indent="0">
              <a:buNone/>
            </a:pPr>
            <a:r>
              <a:rPr lang="en-US" sz="2600"/>
              <a:t>It involves hiding the complex implementation details and showing only the relevant functionalities of an object.</a:t>
            </a:r>
            <a:endParaRPr lang="en-US"/>
          </a:p>
          <a:p>
            <a:pPr marL="0" indent="0">
              <a:buNone/>
            </a:pPr>
            <a:r>
              <a:rPr lang="en-US" b="1">
                <a:solidFill>
                  <a:srgbClr val="FF7B00"/>
                </a:solidFill>
              </a:rPr>
              <a:t>2. Encapsulation </a:t>
            </a:r>
            <a:endParaRPr lang="en-US">
              <a:solidFill>
                <a:srgbClr val="FF7B00"/>
              </a:solidFill>
            </a:endParaRPr>
          </a:p>
          <a:p>
            <a:pPr marL="0" indent="0">
              <a:buNone/>
            </a:pPr>
            <a:r>
              <a:rPr lang="en-US"/>
              <a:t> Bundling of data (attributes) and the methods (functions) that operate on the data into a single unit called a class</a:t>
            </a:r>
          </a:p>
          <a:p>
            <a:pPr marL="0" indent="0">
              <a:buNone/>
            </a:pPr>
            <a:r>
              <a:rPr lang="en-US" b="1">
                <a:solidFill>
                  <a:srgbClr val="FF7B00"/>
                </a:solidFill>
              </a:rPr>
              <a:t>3. Inheritance</a:t>
            </a:r>
          </a:p>
          <a:p>
            <a:pPr marL="0" indent="0">
              <a:buNone/>
            </a:pPr>
            <a:r>
              <a:rPr lang="en-US"/>
              <a:t>Ability of a class to inherit properties and behaviors from another class, allowing for code reuse and creating a hierarchy of classes.</a:t>
            </a:r>
          </a:p>
          <a:p>
            <a:pPr marL="0" indent="0">
              <a:buNone/>
            </a:pPr>
            <a:r>
              <a:rPr lang="en-US" b="1">
                <a:solidFill>
                  <a:srgbClr val="FF7B00"/>
                </a:solidFill>
              </a:rPr>
              <a:t>4. Polymorphism</a:t>
            </a:r>
          </a:p>
          <a:p>
            <a:pPr marL="0" indent="0">
              <a:buNone/>
            </a:pPr>
            <a:r>
              <a:rPr lang="en-US"/>
              <a:t>It allows objects of different types to be treated as objects of a common type. It enables a single interface to represent different types of objects</a:t>
            </a:r>
          </a:p>
          <a:p>
            <a:pPr marL="0" indent="0">
              <a:buNone/>
            </a:pPr>
            <a:endParaRPr lang="en-US" b="1"/>
          </a:p>
        </p:txBody>
      </p:sp>
      <p:sp>
        <p:nvSpPr>
          <p:cNvPr id="4" name="Footer Placeholder 3">
            <a:extLst>
              <a:ext uri="{FF2B5EF4-FFF2-40B4-BE49-F238E27FC236}">
                <a16:creationId xmlns:a16="http://schemas.microsoft.com/office/drawing/2014/main" id="{A96C3B0C-CF78-29C7-B332-065D7DB4E381}"/>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8FBDA930-0B2D-B1AE-3ACF-63F44CCF1FE9}"/>
              </a:ext>
            </a:extLst>
          </p:cNvPr>
          <p:cNvSpPr>
            <a:spLocks noGrp="1"/>
          </p:cNvSpPr>
          <p:nvPr>
            <p:ph type="sldNum" sz="quarter" idx="12"/>
          </p:nvPr>
        </p:nvSpPr>
        <p:spPr/>
        <p:txBody>
          <a:bodyPr/>
          <a:lstStyle/>
          <a:p>
            <a:fld id="{48F63A3B-78C7-47BE-AE5E-E10140E04643}" type="slidenum">
              <a:rPr lang="en-US" dirty="0"/>
              <a:t>2</a:t>
            </a:fld>
            <a:endParaRPr lang="en-US"/>
          </a:p>
        </p:txBody>
      </p:sp>
    </p:spTree>
    <p:extLst>
      <p:ext uri="{BB962C8B-B14F-4D97-AF65-F5344CB8AC3E}">
        <p14:creationId xmlns:p14="http://schemas.microsoft.com/office/powerpoint/2010/main" val="612376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EDA31-6B79-7B00-185B-A50CE054DCC4}"/>
              </a:ext>
            </a:extLst>
          </p:cNvPr>
          <p:cNvSpPr>
            <a:spLocks noGrp="1"/>
          </p:cNvSpPr>
          <p:nvPr>
            <p:ph type="ctrTitle"/>
          </p:nvPr>
        </p:nvSpPr>
        <p:spPr/>
        <p:txBody>
          <a:bodyPr>
            <a:normAutofit/>
          </a:bodyPr>
          <a:lstStyle/>
          <a:p>
            <a:pPr algn="l"/>
            <a:r>
              <a:rPr lang="en-US" sz="5400">
                <a:solidFill>
                  <a:srgbClr val="FF7B00"/>
                </a:solidFill>
              </a:rPr>
              <a:t>Abstraction</a:t>
            </a:r>
          </a:p>
        </p:txBody>
      </p:sp>
      <p:sp>
        <p:nvSpPr>
          <p:cNvPr id="4" name="Footer Placeholder 3">
            <a:extLst>
              <a:ext uri="{FF2B5EF4-FFF2-40B4-BE49-F238E27FC236}">
                <a16:creationId xmlns:a16="http://schemas.microsoft.com/office/drawing/2014/main" id="{D97ED50A-68BB-8B95-7869-B61E890136A9}"/>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DC94030E-029F-8C88-677A-C37DEDC84B65}"/>
              </a:ext>
            </a:extLst>
          </p:cNvPr>
          <p:cNvSpPr>
            <a:spLocks noGrp="1"/>
          </p:cNvSpPr>
          <p:nvPr>
            <p:ph type="sldNum" sz="quarter" idx="12"/>
          </p:nvPr>
        </p:nvSpPr>
        <p:spPr/>
        <p:txBody>
          <a:bodyPr/>
          <a:lstStyle/>
          <a:p>
            <a:fld id="{48F63A3B-78C7-47BE-AE5E-E10140E04643}" type="slidenum">
              <a:rPr lang="en-US" dirty="0"/>
              <a:t>3</a:t>
            </a:fld>
            <a:endParaRPr lang="en-US"/>
          </a:p>
        </p:txBody>
      </p:sp>
    </p:spTree>
    <p:extLst>
      <p:ext uri="{BB962C8B-B14F-4D97-AF65-F5344CB8AC3E}">
        <p14:creationId xmlns:p14="http://schemas.microsoft.com/office/powerpoint/2010/main" val="549473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684843"/>
            <a:ext cx="10515600" cy="686126"/>
          </a:xfrm>
          <a:prstGeom prst="rect">
            <a:avLst/>
          </a:prstGeom>
        </p:spPr>
        <p:txBody>
          <a:bodyPr vert="horz" wrap="square" lIns="0" tIns="8930" rIns="0" bIns="0" rtlCol="0">
            <a:spAutoFit/>
          </a:bodyPr>
          <a:lstStyle/>
          <a:p>
            <a:pPr marL="3075305">
              <a:lnSpc>
                <a:spcPct val="100000"/>
              </a:lnSpc>
              <a:spcBef>
                <a:spcPts val="70"/>
              </a:spcBef>
            </a:pPr>
            <a:r>
              <a:rPr spc="105">
                <a:solidFill>
                  <a:srgbClr val="FF7B00"/>
                </a:solidFill>
              </a:rPr>
              <a:t>Abstraction</a:t>
            </a:r>
            <a:endParaRPr lang="en-US" spc="105">
              <a:solidFill>
                <a:srgbClr val="FF7B00"/>
              </a:solidFill>
            </a:endParaRPr>
          </a:p>
        </p:txBody>
      </p:sp>
      <p:sp>
        <p:nvSpPr>
          <p:cNvPr id="3" name="object 3"/>
          <p:cNvSpPr txBox="1"/>
          <p:nvPr/>
        </p:nvSpPr>
        <p:spPr>
          <a:xfrm>
            <a:off x="1191489" y="1717231"/>
            <a:ext cx="9813793" cy="4487529"/>
          </a:xfrm>
          <a:prstGeom prst="rect">
            <a:avLst/>
          </a:prstGeom>
        </p:spPr>
        <p:txBody>
          <a:bodyPr vert="horz" wrap="square" lIns="0" tIns="4018" rIns="0" bIns="0" rtlCol="0" anchor="t">
            <a:spAutoFit/>
          </a:bodyPr>
          <a:lstStyle/>
          <a:p>
            <a:pPr marL="236220" marR="12065" indent="-218440">
              <a:lnSpc>
                <a:spcPct val="101600"/>
              </a:lnSpc>
              <a:spcBef>
                <a:spcPts val="32"/>
              </a:spcBef>
              <a:buSzPct val="144642"/>
              <a:buChar char="•"/>
              <a:tabLst>
                <a:tab pos="236628" algn="l"/>
              </a:tabLst>
            </a:pPr>
            <a:r>
              <a:rPr sz="2000">
                <a:latin typeface="Arial MT"/>
                <a:cs typeface="Arial MT"/>
              </a:rPr>
              <a:t>An</a:t>
            </a:r>
            <a:r>
              <a:rPr sz="2000" spc="18">
                <a:latin typeface="Arial MT"/>
                <a:cs typeface="Arial MT"/>
              </a:rPr>
              <a:t> </a:t>
            </a:r>
            <a:r>
              <a:rPr sz="2000">
                <a:latin typeface="Arial MT"/>
                <a:cs typeface="Arial MT"/>
              </a:rPr>
              <a:t>abstraction</a:t>
            </a:r>
            <a:r>
              <a:rPr sz="2000" spc="21">
                <a:latin typeface="Arial MT"/>
                <a:cs typeface="Arial MT"/>
              </a:rPr>
              <a:t> </a:t>
            </a:r>
            <a:r>
              <a:rPr sz="2000">
                <a:latin typeface="Arial MT"/>
                <a:cs typeface="Arial MT"/>
              </a:rPr>
              <a:t>is</a:t>
            </a:r>
            <a:r>
              <a:rPr sz="2000" spc="18">
                <a:latin typeface="Arial MT"/>
                <a:cs typeface="Arial MT"/>
              </a:rPr>
              <a:t> </a:t>
            </a:r>
            <a:r>
              <a:rPr sz="2000">
                <a:latin typeface="Arial MT"/>
                <a:cs typeface="Arial MT"/>
              </a:rPr>
              <a:t>a</a:t>
            </a:r>
            <a:r>
              <a:rPr sz="2000" spc="21">
                <a:latin typeface="Arial MT"/>
                <a:cs typeface="Arial MT"/>
              </a:rPr>
              <a:t> </a:t>
            </a:r>
            <a:r>
              <a:rPr sz="2000">
                <a:latin typeface="Arial MT"/>
                <a:cs typeface="Arial MT"/>
              </a:rPr>
              <a:t>view</a:t>
            </a:r>
            <a:r>
              <a:rPr sz="2000" spc="18">
                <a:latin typeface="Arial MT"/>
                <a:cs typeface="Arial MT"/>
              </a:rPr>
              <a:t> </a:t>
            </a:r>
            <a:r>
              <a:rPr sz="2000">
                <a:latin typeface="Arial MT"/>
                <a:cs typeface="Arial MT"/>
              </a:rPr>
              <a:t>or</a:t>
            </a:r>
            <a:r>
              <a:rPr sz="2000" spc="21">
                <a:latin typeface="Arial MT"/>
                <a:cs typeface="Arial MT"/>
              </a:rPr>
              <a:t> </a:t>
            </a:r>
            <a:r>
              <a:rPr sz="2000">
                <a:latin typeface="Arial MT"/>
                <a:cs typeface="Arial MT"/>
              </a:rPr>
              <a:t>representation</a:t>
            </a:r>
            <a:r>
              <a:rPr sz="2000" spc="18">
                <a:latin typeface="Arial MT"/>
                <a:cs typeface="Arial MT"/>
              </a:rPr>
              <a:t> </a:t>
            </a:r>
            <a:r>
              <a:rPr sz="2000">
                <a:latin typeface="Arial MT"/>
                <a:cs typeface="Arial MT"/>
              </a:rPr>
              <a:t>of</a:t>
            </a:r>
            <a:r>
              <a:rPr sz="2000" spc="21">
                <a:latin typeface="Arial MT"/>
                <a:cs typeface="Arial MT"/>
              </a:rPr>
              <a:t> </a:t>
            </a:r>
            <a:r>
              <a:rPr sz="2000">
                <a:latin typeface="Arial MT"/>
                <a:cs typeface="Arial MT"/>
              </a:rPr>
              <a:t>an</a:t>
            </a:r>
            <a:r>
              <a:rPr sz="2000" spc="18">
                <a:latin typeface="Arial MT"/>
                <a:cs typeface="Arial MT"/>
              </a:rPr>
              <a:t> </a:t>
            </a:r>
            <a:r>
              <a:rPr sz="2000">
                <a:latin typeface="Arial MT"/>
                <a:cs typeface="Arial MT"/>
              </a:rPr>
              <a:t>entity</a:t>
            </a:r>
            <a:r>
              <a:rPr sz="2000" spc="21">
                <a:latin typeface="Arial MT"/>
                <a:cs typeface="Arial MT"/>
              </a:rPr>
              <a:t> </a:t>
            </a:r>
            <a:r>
              <a:rPr sz="2000">
                <a:latin typeface="Arial MT"/>
                <a:cs typeface="Arial MT"/>
              </a:rPr>
              <a:t>that</a:t>
            </a:r>
            <a:r>
              <a:rPr sz="2000" spc="18">
                <a:latin typeface="Arial MT"/>
                <a:cs typeface="Arial MT"/>
              </a:rPr>
              <a:t> </a:t>
            </a:r>
            <a:r>
              <a:rPr sz="2000" spc="-7">
                <a:latin typeface="Arial MT"/>
                <a:cs typeface="Arial MT"/>
              </a:rPr>
              <a:t>includes </a:t>
            </a:r>
            <a:r>
              <a:rPr sz="2000">
                <a:latin typeface="Arial MT"/>
                <a:cs typeface="Arial MT"/>
              </a:rPr>
              <a:t>only</a:t>
            </a:r>
            <a:r>
              <a:rPr sz="2000" spc="60">
                <a:latin typeface="Arial MT"/>
                <a:cs typeface="Arial MT"/>
              </a:rPr>
              <a:t> </a:t>
            </a:r>
            <a:r>
              <a:rPr sz="2000">
                <a:latin typeface="Arial MT"/>
                <a:cs typeface="Arial MT"/>
              </a:rPr>
              <a:t>the</a:t>
            </a:r>
            <a:r>
              <a:rPr sz="2000" spc="63">
                <a:latin typeface="Arial MT"/>
                <a:cs typeface="Arial MT"/>
              </a:rPr>
              <a:t> </a:t>
            </a:r>
            <a:r>
              <a:rPr sz="2000">
                <a:latin typeface="Arial MT"/>
                <a:cs typeface="Arial MT"/>
              </a:rPr>
              <a:t>most</a:t>
            </a:r>
            <a:r>
              <a:rPr sz="2000" spc="63">
                <a:latin typeface="Arial MT"/>
                <a:cs typeface="Arial MT"/>
              </a:rPr>
              <a:t> </a:t>
            </a:r>
            <a:r>
              <a:rPr sz="2000">
                <a:latin typeface="Arial MT"/>
                <a:cs typeface="Arial MT"/>
              </a:rPr>
              <a:t>significant</a:t>
            </a:r>
            <a:r>
              <a:rPr sz="2000" spc="60">
                <a:latin typeface="Arial MT"/>
                <a:cs typeface="Arial MT"/>
              </a:rPr>
              <a:t> </a:t>
            </a:r>
            <a:r>
              <a:rPr sz="2000">
                <a:latin typeface="Arial MT"/>
                <a:cs typeface="Arial MT"/>
              </a:rPr>
              <a:t>attributes</a:t>
            </a:r>
            <a:r>
              <a:rPr sz="2000" spc="63">
                <a:latin typeface="Arial MT"/>
                <a:cs typeface="Arial MT"/>
              </a:rPr>
              <a:t> </a:t>
            </a:r>
            <a:r>
              <a:rPr sz="2000">
                <a:latin typeface="Arial MT"/>
                <a:cs typeface="Arial MT"/>
              </a:rPr>
              <a:t>and</a:t>
            </a:r>
            <a:r>
              <a:rPr sz="2000" spc="63">
                <a:latin typeface="Arial MT"/>
                <a:cs typeface="Arial MT"/>
              </a:rPr>
              <a:t> </a:t>
            </a:r>
            <a:r>
              <a:rPr sz="2000">
                <a:latin typeface="Arial MT"/>
                <a:cs typeface="Arial MT"/>
              </a:rPr>
              <a:t>processes</a:t>
            </a:r>
            <a:r>
              <a:rPr sz="2000" spc="63">
                <a:latin typeface="Arial MT"/>
                <a:cs typeface="Arial MT"/>
              </a:rPr>
              <a:t> </a:t>
            </a:r>
            <a:r>
              <a:rPr sz="2000" spc="-7">
                <a:latin typeface="Arial MT"/>
                <a:cs typeface="Arial MT"/>
              </a:rPr>
              <a:t>(methods).</a:t>
            </a:r>
            <a:endParaRPr lang="en-US" sz="2000">
              <a:latin typeface="Arial MT"/>
              <a:cs typeface="Arial MT"/>
            </a:endParaRPr>
          </a:p>
          <a:p>
            <a:pPr marL="236220" marR="238760" indent="-218440">
              <a:lnSpc>
                <a:spcPct val="101200"/>
              </a:lnSpc>
              <a:spcBef>
                <a:spcPts val="2067"/>
              </a:spcBef>
              <a:buClr>
                <a:srgbClr val="FFFFFF"/>
              </a:buClr>
              <a:buSzPct val="144642"/>
              <a:buChar char="•"/>
              <a:tabLst>
                <a:tab pos="236628" algn="l"/>
              </a:tabLst>
            </a:pPr>
            <a:r>
              <a:rPr sz="2000">
                <a:latin typeface="Arial MT"/>
                <a:cs typeface="Arial MT"/>
              </a:rPr>
              <a:t>Abstraction</a:t>
            </a:r>
            <a:r>
              <a:rPr sz="2000" spc="60">
                <a:latin typeface="Arial MT"/>
                <a:cs typeface="Arial MT"/>
              </a:rPr>
              <a:t> </a:t>
            </a:r>
            <a:r>
              <a:rPr sz="2000">
                <a:latin typeface="Arial MT"/>
                <a:cs typeface="Arial MT"/>
              </a:rPr>
              <a:t>is</a:t>
            </a:r>
            <a:r>
              <a:rPr sz="2000" spc="60">
                <a:latin typeface="Arial MT"/>
                <a:cs typeface="Arial MT"/>
              </a:rPr>
              <a:t> </a:t>
            </a:r>
            <a:r>
              <a:rPr sz="2000">
                <a:latin typeface="Arial MT"/>
                <a:cs typeface="Arial MT"/>
              </a:rPr>
              <a:t>a</a:t>
            </a:r>
            <a:r>
              <a:rPr sz="2000" spc="63">
                <a:latin typeface="Arial MT"/>
                <a:cs typeface="Arial MT"/>
              </a:rPr>
              <a:t> </a:t>
            </a:r>
            <a:r>
              <a:rPr sz="2000">
                <a:latin typeface="Arial MT"/>
                <a:cs typeface="Arial MT"/>
              </a:rPr>
              <a:t>weapon</a:t>
            </a:r>
            <a:r>
              <a:rPr sz="2000" spc="60">
                <a:latin typeface="Arial MT"/>
                <a:cs typeface="Arial MT"/>
              </a:rPr>
              <a:t> </a:t>
            </a:r>
            <a:r>
              <a:rPr sz="2000">
                <a:latin typeface="Arial MT"/>
                <a:cs typeface="Arial MT"/>
              </a:rPr>
              <a:t>against</a:t>
            </a:r>
            <a:r>
              <a:rPr sz="2000" spc="60">
                <a:latin typeface="Arial MT"/>
                <a:cs typeface="Arial MT"/>
              </a:rPr>
              <a:t> </a:t>
            </a:r>
            <a:r>
              <a:rPr sz="2000">
                <a:latin typeface="Arial MT"/>
                <a:cs typeface="Arial MT"/>
              </a:rPr>
              <a:t>the</a:t>
            </a:r>
            <a:r>
              <a:rPr sz="2000" spc="63">
                <a:latin typeface="Arial MT"/>
                <a:cs typeface="Arial MT"/>
              </a:rPr>
              <a:t> </a:t>
            </a:r>
            <a:r>
              <a:rPr sz="2000">
                <a:latin typeface="Arial MT"/>
                <a:cs typeface="Arial MT"/>
              </a:rPr>
              <a:t>complexity</a:t>
            </a:r>
            <a:r>
              <a:rPr sz="2000" spc="60">
                <a:latin typeface="Arial MT"/>
                <a:cs typeface="Arial MT"/>
              </a:rPr>
              <a:t> </a:t>
            </a:r>
            <a:r>
              <a:rPr sz="2000">
                <a:latin typeface="Arial MT"/>
                <a:cs typeface="Arial MT"/>
              </a:rPr>
              <a:t>of</a:t>
            </a:r>
            <a:r>
              <a:rPr sz="2000" spc="60">
                <a:latin typeface="Arial MT"/>
                <a:cs typeface="Arial MT"/>
              </a:rPr>
              <a:t> </a:t>
            </a:r>
            <a:r>
              <a:rPr sz="2000" spc="-7">
                <a:latin typeface="Arial MT"/>
                <a:cs typeface="Arial MT"/>
              </a:rPr>
              <a:t>programming; </a:t>
            </a:r>
            <a:r>
              <a:rPr sz="2000">
                <a:latin typeface="Arial MT"/>
                <a:cs typeface="Arial MT"/>
              </a:rPr>
              <a:t>its</a:t>
            </a:r>
            <a:r>
              <a:rPr sz="2000" spc="53">
                <a:latin typeface="Arial MT"/>
                <a:cs typeface="Arial MT"/>
              </a:rPr>
              <a:t> </a:t>
            </a:r>
            <a:r>
              <a:rPr sz="2000">
                <a:latin typeface="Arial MT"/>
                <a:cs typeface="Arial MT"/>
              </a:rPr>
              <a:t>purpose</a:t>
            </a:r>
            <a:r>
              <a:rPr sz="2000" spc="56">
                <a:latin typeface="Arial MT"/>
                <a:cs typeface="Arial MT"/>
              </a:rPr>
              <a:t> </a:t>
            </a:r>
            <a:r>
              <a:rPr sz="2000">
                <a:latin typeface="Arial MT"/>
                <a:cs typeface="Arial MT"/>
              </a:rPr>
              <a:t>is</a:t>
            </a:r>
            <a:r>
              <a:rPr sz="2000" spc="56">
                <a:latin typeface="Arial MT"/>
                <a:cs typeface="Arial MT"/>
              </a:rPr>
              <a:t> </a:t>
            </a:r>
            <a:r>
              <a:rPr sz="2000" spc="49">
                <a:latin typeface="Arial MT"/>
                <a:cs typeface="Arial MT"/>
              </a:rPr>
              <a:t>to</a:t>
            </a:r>
            <a:r>
              <a:rPr sz="2000" spc="56">
                <a:latin typeface="Arial MT"/>
                <a:cs typeface="Arial MT"/>
              </a:rPr>
              <a:t> </a:t>
            </a:r>
            <a:r>
              <a:rPr sz="2000">
                <a:latin typeface="Arial MT"/>
                <a:cs typeface="Arial MT"/>
              </a:rPr>
              <a:t>simplify</a:t>
            </a:r>
            <a:r>
              <a:rPr sz="2000" spc="53">
                <a:latin typeface="Arial MT"/>
                <a:cs typeface="Arial MT"/>
              </a:rPr>
              <a:t> </a:t>
            </a:r>
            <a:r>
              <a:rPr sz="2000">
                <a:latin typeface="Arial MT"/>
                <a:cs typeface="Arial MT"/>
              </a:rPr>
              <a:t>the</a:t>
            </a:r>
            <a:r>
              <a:rPr sz="2000" spc="56">
                <a:latin typeface="Arial MT"/>
                <a:cs typeface="Arial MT"/>
              </a:rPr>
              <a:t> </a:t>
            </a:r>
            <a:r>
              <a:rPr sz="2000">
                <a:latin typeface="Arial MT"/>
                <a:cs typeface="Arial MT"/>
              </a:rPr>
              <a:t>programming</a:t>
            </a:r>
            <a:r>
              <a:rPr sz="2000" spc="56">
                <a:latin typeface="Arial MT"/>
                <a:cs typeface="Arial MT"/>
              </a:rPr>
              <a:t> </a:t>
            </a:r>
            <a:r>
              <a:rPr sz="2000" spc="-7">
                <a:latin typeface="Arial MT"/>
                <a:cs typeface="Arial MT"/>
              </a:rPr>
              <a:t>process.</a:t>
            </a:r>
            <a:endParaRPr sz="2000">
              <a:latin typeface="Arial MT"/>
              <a:cs typeface="Arial MT"/>
            </a:endParaRPr>
          </a:p>
          <a:p>
            <a:pPr marL="236220" marR="34925" indent="-218440">
              <a:lnSpc>
                <a:spcPct val="101200"/>
              </a:lnSpc>
              <a:spcBef>
                <a:spcPts val="2067"/>
              </a:spcBef>
              <a:buSzPct val="144642"/>
              <a:buChar char="•"/>
              <a:tabLst>
                <a:tab pos="236628" algn="l"/>
              </a:tabLst>
            </a:pPr>
            <a:r>
              <a:rPr sz="2000">
                <a:latin typeface="Arial MT"/>
                <a:cs typeface="Arial MT"/>
              </a:rPr>
              <a:t>Abstraction</a:t>
            </a:r>
            <a:r>
              <a:rPr sz="2000" spc="35">
                <a:latin typeface="Arial MT"/>
                <a:cs typeface="Arial MT"/>
              </a:rPr>
              <a:t> </a:t>
            </a:r>
            <a:r>
              <a:rPr sz="2000">
                <a:latin typeface="Arial MT"/>
                <a:cs typeface="Arial MT"/>
              </a:rPr>
              <a:t>is</a:t>
            </a:r>
            <a:r>
              <a:rPr sz="2000" spc="39">
                <a:latin typeface="Arial MT"/>
                <a:cs typeface="Arial MT"/>
              </a:rPr>
              <a:t> </a:t>
            </a:r>
            <a:r>
              <a:rPr sz="2000">
                <a:latin typeface="Arial MT"/>
                <a:cs typeface="Arial MT"/>
              </a:rPr>
              <a:t>an</a:t>
            </a:r>
            <a:r>
              <a:rPr sz="2000" spc="39">
                <a:latin typeface="Arial MT"/>
                <a:cs typeface="Arial MT"/>
              </a:rPr>
              <a:t> </a:t>
            </a:r>
            <a:r>
              <a:rPr sz="2000">
                <a:latin typeface="Arial MT"/>
                <a:cs typeface="Arial MT"/>
              </a:rPr>
              <a:t>effective</a:t>
            </a:r>
            <a:r>
              <a:rPr sz="2000" spc="39">
                <a:latin typeface="Arial MT"/>
                <a:cs typeface="Arial MT"/>
              </a:rPr>
              <a:t> </a:t>
            </a:r>
            <a:r>
              <a:rPr sz="2000">
                <a:latin typeface="Arial MT"/>
                <a:cs typeface="Arial MT"/>
              </a:rPr>
              <a:t>weapon</a:t>
            </a:r>
            <a:r>
              <a:rPr sz="2000" spc="39">
                <a:latin typeface="Arial MT"/>
                <a:cs typeface="Arial MT"/>
              </a:rPr>
              <a:t> </a:t>
            </a:r>
            <a:r>
              <a:rPr sz="2000">
                <a:latin typeface="Arial MT"/>
                <a:cs typeface="Arial MT"/>
              </a:rPr>
              <a:t>because</a:t>
            </a:r>
            <a:r>
              <a:rPr sz="2000" spc="39">
                <a:latin typeface="Arial MT"/>
                <a:cs typeface="Arial MT"/>
              </a:rPr>
              <a:t> </a:t>
            </a:r>
            <a:r>
              <a:rPr sz="2000">
                <a:latin typeface="Arial MT"/>
                <a:cs typeface="Arial MT"/>
              </a:rPr>
              <a:t>it</a:t>
            </a:r>
            <a:r>
              <a:rPr sz="2000" spc="39">
                <a:latin typeface="Arial MT"/>
                <a:cs typeface="Arial MT"/>
              </a:rPr>
              <a:t> </a:t>
            </a:r>
            <a:r>
              <a:rPr sz="2000">
                <a:latin typeface="Arial MT"/>
                <a:cs typeface="Arial MT"/>
              </a:rPr>
              <a:t>allows</a:t>
            </a:r>
            <a:r>
              <a:rPr sz="2000" spc="39">
                <a:latin typeface="Arial MT"/>
                <a:cs typeface="Arial MT"/>
              </a:rPr>
              <a:t> </a:t>
            </a:r>
            <a:r>
              <a:rPr sz="2000" spc="-7">
                <a:latin typeface="Arial MT"/>
                <a:cs typeface="Arial MT"/>
              </a:rPr>
              <a:t>programmers </a:t>
            </a:r>
            <a:r>
              <a:rPr sz="2000" spc="49">
                <a:latin typeface="Arial MT"/>
                <a:cs typeface="Arial MT"/>
              </a:rPr>
              <a:t>to</a:t>
            </a:r>
            <a:r>
              <a:rPr sz="2000" spc="39">
                <a:latin typeface="Arial MT"/>
                <a:cs typeface="Arial MT"/>
              </a:rPr>
              <a:t> </a:t>
            </a:r>
            <a:r>
              <a:rPr sz="2000">
                <a:latin typeface="Arial MT"/>
                <a:cs typeface="Arial MT"/>
              </a:rPr>
              <a:t>focus</a:t>
            </a:r>
            <a:r>
              <a:rPr sz="2000" spc="39">
                <a:latin typeface="Arial MT"/>
                <a:cs typeface="Arial MT"/>
              </a:rPr>
              <a:t> </a:t>
            </a:r>
            <a:r>
              <a:rPr sz="2000">
                <a:latin typeface="Arial MT"/>
                <a:cs typeface="Arial MT"/>
              </a:rPr>
              <a:t>on</a:t>
            </a:r>
            <a:r>
              <a:rPr sz="2000" spc="39">
                <a:latin typeface="Arial MT"/>
                <a:cs typeface="Arial MT"/>
              </a:rPr>
              <a:t> </a:t>
            </a:r>
            <a:r>
              <a:rPr sz="2000">
                <a:latin typeface="Arial MT"/>
                <a:cs typeface="Arial MT"/>
              </a:rPr>
              <a:t>essential</a:t>
            </a:r>
            <a:r>
              <a:rPr sz="2000" spc="39">
                <a:latin typeface="Arial MT"/>
                <a:cs typeface="Arial MT"/>
              </a:rPr>
              <a:t> </a:t>
            </a:r>
            <a:r>
              <a:rPr sz="2000">
                <a:latin typeface="Arial MT"/>
                <a:cs typeface="Arial MT"/>
              </a:rPr>
              <a:t>attributes</a:t>
            </a:r>
            <a:r>
              <a:rPr sz="2000" spc="39">
                <a:latin typeface="Arial MT"/>
                <a:cs typeface="Arial MT"/>
              </a:rPr>
              <a:t> </a:t>
            </a:r>
            <a:r>
              <a:rPr sz="2000">
                <a:latin typeface="Arial MT"/>
                <a:cs typeface="Arial MT"/>
              </a:rPr>
              <a:t>while</a:t>
            </a:r>
            <a:r>
              <a:rPr sz="2000" spc="39">
                <a:latin typeface="Arial MT"/>
                <a:cs typeface="Arial MT"/>
              </a:rPr>
              <a:t> </a:t>
            </a:r>
            <a:r>
              <a:rPr sz="2000">
                <a:latin typeface="Arial MT"/>
                <a:cs typeface="Arial MT"/>
              </a:rPr>
              <a:t>ignoring</a:t>
            </a:r>
            <a:r>
              <a:rPr sz="2000" spc="39">
                <a:latin typeface="Arial MT"/>
                <a:cs typeface="Arial MT"/>
              </a:rPr>
              <a:t> </a:t>
            </a:r>
            <a:r>
              <a:rPr sz="2000" spc="-7">
                <a:latin typeface="Arial MT"/>
                <a:cs typeface="Arial MT"/>
              </a:rPr>
              <a:t>subordinate attributes.</a:t>
            </a:r>
            <a:endParaRPr sz="2000">
              <a:latin typeface="Arial MT"/>
              <a:cs typeface="Arial MT"/>
            </a:endParaRPr>
          </a:p>
          <a:p>
            <a:pPr marL="236220" marR="179070" indent="-218440">
              <a:lnSpc>
                <a:spcPct val="101200"/>
              </a:lnSpc>
              <a:spcBef>
                <a:spcPts val="2067"/>
              </a:spcBef>
              <a:buSzPct val="144642"/>
              <a:buChar char="•"/>
              <a:tabLst>
                <a:tab pos="236628" algn="l"/>
              </a:tabLst>
            </a:pPr>
            <a:r>
              <a:rPr sz="2000">
                <a:latin typeface="Arial MT"/>
                <a:cs typeface="Arial MT"/>
              </a:rPr>
              <a:t>Abstraction</a:t>
            </a:r>
            <a:r>
              <a:rPr sz="2000" spc="53">
                <a:latin typeface="Arial MT"/>
                <a:cs typeface="Arial MT"/>
              </a:rPr>
              <a:t> </a:t>
            </a:r>
            <a:r>
              <a:rPr sz="2000">
                <a:latin typeface="Arial MT"/>
                <a:cs typeface="Arial MT"/>
              </a:rPr>
              <a:t>allows</a:t>
            </a:r>
            <a:r>
              <a:rPr sz="2000" spc="56">
                <a:latin typeface="Arial MT"/>
                <a:cs typeface="Arial MT"/>
              </a:rPr>
              <a:t> </a:t>
            </a:r>
            <a:r>
              <a:rPr sz="2000">
                <a:latin typeface="Arial MT"/>
                <a:cs typeface="Arial MT"/>
              </a:rPr>
              <a:t>one</a:t>
            </a:r>
            <a:r>
              <a:rPr sz="2000" spc="53">
                <a:latin typeface="Arial MT"/>
                <a:cs typeface="Arial MT"/>
              </a:rPr>
              <a:t> </a:t>
            </a:r>
            <a:r>
              <a:rPr sz="2000" spc="49">
                <a:latin typeface="Arial MT"/>
                <a:cs typeface="Arial MT"/>
              </a:rPr>
              <a:t>to</a:t>
            </a:r>
            <a:r>
              <a:rPr sz="2000" spc="56">
                <a:latin typeface="Arial MT"/>
                <a:cs typeface="Arial MT"/>
              </a:rPr>
              <a:t> </a:t>
            </a:r>
            <a:r>
              <a:rPr sz="2000">
                <a:latin typeface="Arial MT"/>
                <a:cs typeface="Arial MT"/>
              </a:rPr>
              <a:t>collect</a:t>
            </a:r>
            <a:r>
              <a:rPr sz="2000" spc="53">
                <a:latin typeface="Arial MT"/>
                <a:cs typeface="Arial MT"/>
              </a:rPr>
              <a:t> </a:t>
            </a:r>
            <a:r>
              <a:rPr sz="2000">
                <a:latin typeface="Arial MT"/>
                <a:cs typeface="Arial MT"/>
              </a:rPr>
              <a:t>instances</a:t>
            </a:r>
            <a:r>
              <a:rPr sz="2000" spc="56">
                <a:latin typeface="Arial MT"/>
                <a:cs typeface="Arial MT"/>
              </a:rPr>
              <a:t> </a:t>
            </a:r>
            <a:r>
              <a:rPr sz="2000">
                <a:latin typeface="Arial MT"/>
                <a:cs typeface="Arial MT"/>
              </a:rPr>
              <a:t>of</a:t>
            </a:r>
            <a:r>
              <a:rPr sz="2000" spc="56">
                <a:latin typeface="Arial MT"/>
                <a:cs typeface="Arial MT"/>
              </a:rPr>
              <a:t> </a:t>
            </a:r>
            <a:r>
              <a:rPr sz="2000">
                <a:latin typeface="Arial MT"/>
                <a:cs typeface="Arial MT"/>
              </a:rPr>
              <a:t>entities</a:t>
            </a:r>
            <a:r>
              <a:rPr sz="2000" spc="53">
                <a:latin typeface="Arial MT"/>
                <a:cs typeface="Arial MT"/>
              </a:rPr>
              <a:t> </a:t>
            </a:r>
            <a:r>
              <a:rPr sz="2000">
                <a:latin typeface="Arial MT"/>
                <a:cs typeface="Arial MT"/>
              </a:rPr>
              <a:t>into</a:t>
            </a:r>
            <a:r>
              <a:rPr sz="2000" spc="56">
                <a:latin typeface="Arial MT"/>
                <a:cs typeface="Arial MT"/>
              </a:rPr>
              <a:t> </a:t>
            </a:r>
            <a:r>
              <a:rPr sz="2000" spc="-7">
                <a:latin typeface="Arial MT"/>
                <a:cs typeface="Arial MT"/>
              </a:rPr>
              <a:t>groups </a:t>
            </a:r>
            <a:r>
              <a:rPr sz="2000">
                <a:latin typeface="Arial MT"/>
                <a:cs typeface="Arial MT"/>
              </a:rPr>
              <a:t>in</a:t>
            </a:r>
            <a:r>
              <a:rPr sz="2000" spc="56">
                <a:latin typeface="Arial MT"/>
                <a:cs typeface="Arial MT"/>
              </a:rPr>
              <a:t> </a:t>
            </a:r>
            <a:r>
              <a:rPr sz="2000">
                <a:latin typeface="Arial MT"/>
                <a:cs typeface="Arial MT"/>
              </a:rPr>
              <a:t>which</a:t>
            </a:r>
            <a:r>
              <a:rPr sz="2000" spc="56">
                <a:latin typeface="Arial MT"/>
                <a:cs typeface="Arial MT"/>
              </a:rPr>
              <a:t> </a:t>
            </a:r>
            <a:r>
              <a:rPr sz="2000">
                <a:latin typeface="Arial MT"/>
                <a:cs typeface="Arial MT"/>
              </a:rPr>
              <a:t>their</a:t>
            </a:r>
            <a:r>
              <a:rPr sz="2000" spc="60">
                <a:latin typeface="Arial MT"/>
                <a:cs typeface="Arial MT"/>
              </a:rPr>
              <a:t> </a:t>
            </a:r>
            <a:r>
              <a:rPr sz="2000">
                <a:latin typeface="Arial MT"/>
                <a:cs typeface="Arial MT"/>
              </a:rPr>
              <a:t>common</a:t>
            </a:r>
            <a:r>
              <a:rPr sz="2000" spc="56">
                <a:latin typeface="Arial MT"/>
                <a:cs typeface="Arial MT"/>
              </a:rPr>
              <a:t> </a:t>
            </a:r>
            <a:r>
              <a:rPr sz="2000">
                <a:latin typeface="Arial MT"/>
                <a:cs typeface="Arial MT"/>
              </a:rPr>
              <a:t>attributes</a:t>
            </a:r>
            <a:r>
              <a:rPr sz="2000" spc="56">
                <a:latin typeface="Arial MT"/>
                <a:cs typeface="Arial MT"/>
              </a:rPr>
              <a:t> </a:t>
            </a:r>
            <a:r>
              <a:rPr sz="2000">
                <a:latin typeface="Arial MT"/>
                <a:cs typeface="Arial MT"/>
              </a:rPr>
              <a:t>need</a:t>
            </a:r>
            <a:r>
              <a:rPr sz="2000" spc="60">
                <a:latin typeface="Arial MT"/>
                <a:cs typeface="Arial MT"/>
              </a:rPr>
              <a:t> </a:t>
            </a:r>
            <a:r>
              <a:rPr sz="2000">
                <a:latin typeface="Arial MT"/>
                <a:cs typeface="Arial MT"/>
              </a:rPr>
              <a:t>not</a:t>
            </a:r>
            <a:r>
              <a:rPr sz="2000" spc="56">
                <a:latin typeface="Arial MT"/>
                <a:cs typeface="Arial MT"/>
              </a:rPr>
              <a:t> </a:t>
            </a:r>
            <a:r>
              <a:rPr sz="2000">
                <a:latin typeface="Arial MT"/>
                <a:cs typeface="Arial MT"/>
              </a:rPr>
              <a:t>be</a:t>
            </a:r>
            <a:r>
              <a:rPr sz="2000" spc="56">
                <a:latin typeface="Arial MT"/>
                <a:cs typeface="Arial MT"/>
              </a:rPr>
              <a:t> </a:t>
            </a:r>
            <a:r>
              <a:rPr sz="2000" spc="-7">
                <a:latin typeface="Arial MT"/>
                <a:cs typeface="Arial MT"/>
              </a:rPr>
              <a:t>considered.</a:t>
            </a:r>
            <a:endParaRPr sz="2000">
              <a:latin typeface="Arial MT"/>
              <a:cs typeface="Arial MT"/>
            </a:endParaRPr>
          </a:p>
          <a:p>
            <a:pPr marL="236220" marR="26670" indent="-218440">
              <a:lnSpc>
                <a:spcPct val="101200"/>
              </a:lnSpc>
              <a:spcBef>
                <a:spcPts val="2067"/>
              </a:spcBef>
              <a:buSzPct val="144642"/>
              <a:buChar char="•"/>
              <a:tabLst>
                <a:tab pos="236628" algn="l"/>
              </a:tabLst>
            </a:pPr>
            <a:r>
              <a:rPr sz="2000">
                <a:latin typeface="Arial MT"/>
                <a:cs typeface="Arial MT"/>
              </a:rPr>
              <a:t>E.g.:</a:t>
            </a:r>
            <a:r>
              <a:rPr sz="2000" spc="11">
                <a:latin typeface="Arial MT"/>
                <a:cs typeface="Arial MT"/>
              </a:rPr>
              <a:t> </a:t>
            </a:r>
            <a:r>
              <a:rPr sz="2000">
                <a:latin typeface="Arial MT"/>
                <a:cs typeface="Arial MT"/>
              </a:rPr>
              <a:t>Suppose</a:t>
            </a:r>
            <a:r>
              <a:rPr sz="2000" spc="14">
                <a:latin typeface="Arial MT"/>
                <a:cs typeface="Arial MT"/>
              </a:rPr>
              <a:t> </a:t>
            </a:r>
            <a:r>
              <a:rPr sz="2000">
                <a:latin typeface="Arial MT"/>
                <a:cs typeface="Arial MT"/>
              </a:rPr>
              <a:t>we</a:t>
            </a:r>
            <a:r>
              <a:rPr sz="2000" spc="14">
                <a:latin typeface="Arial MT"/>
                <a:cs typeface="Arial MT"/>
              </a:rPr>
              <a:t> </a:t>
            </a:r>
            <a:r>
              <a:rPr sz="2000">
                <a:latin typeface="Arial MT"/>
                <a:cs typeface="Arial MT"/>
              </a:rPr>
              <a:t>define</a:t>
            </a:r>
            <a:r>
              <a:rPr sz="2000" spc="14">
                <a:latin typeface="Arial MT"/>
                <a:cs typeface="Arial MT"/>
              </a:rPr>
              <a:t> </a:t>
            </a:r>
            <a:r>
              <a:rPr sz="2000">
                <a:latin typeface="Arial MT"/>
                <a:cs typeface="Arial MT"/>
              </a:rPr>
              <a:t>birds</a:t>
            </a:r>
            <a:r>
              <a:rPr sz="2000" spc="11">
                <a:latin typeface="Arial MT"/>
                <a:cs typeface="Arial MT"/>
              </a:rPr>
              <a:t> </a:t>
            </a:r>
            <a:r>
              <a:rPr sz="2000" spc="49">
                <a:latin typeface="Arial MT"/>
                <a:cs typeface="Arial MT"/>
              </a:rPr>
              <a:t>to</a:t>
            </a:r>
            <a:r>
              <a:rPr sz="2000" spc="14">
                <a:latin typeface="Arial MT"/>
                <a:cs typeface="Arial MT"/>
              </a:rPr>
              <a:t> </a:t>
            </a:r>
            <a:r>
              <a:rPr sz="2000">
                <a:latin typeface="Arial MT"/>
                <a:cs typeface="Arial MT"/>
              </a:rPr>
              <a:t>be</a:t>
            </a:r>
            <a:r>
              <a:rPr sz="2000" spc="14">
                <a:latin typeface="Arial MT"/>
                <a:cs typeface="Arial MT"/>
              </a:rPr>
              <a:t> </a:t>
            </a:r>
            <a:r>
              <a:rPr sz="2000">
                <a:latin typeface="Arial MT"/>
                <a:cs typeface="Arial MT"/>
              </a:rPr>
              <a:t>creatures</a:t>
            </a:r>
            <a:r>
              <a:rPr sz="2000" spc="14">
                <a:latin typeface="Arial MT"/>
                <a:cs typeface="Arial MT"/>
              </a:rPr>
              <a:t> </a:t>
            </a:r>
            <a:r>
              <a:rPr sz="2000">
                <a:latin typeface="Arial MT"/>
                <a:cs typeface="Arial MT"/>
              </a:rPr>
              <a:t>with</a:t>
            </a:r>
            <a:r>
              <a:rPr sz="2000" spc="11">
                <a:latin typeface="Arial MT"/>
                <a:cs typeface="Arial MT"/>
              </a:rPr>
              <a:t> </a:t>
            </a:r>
            <a:r>
              <a:rPr sz="2000">
                <a:latin typeface="Arial MT"/>
                <a:cs typeface="Arial MT"/>
              </a:rPr>
              <a:t>the</a:t>
            </a:r>
            <a:r>
              <a:rPr sz="2000" spc="14">
                <a:latin typeface="Arial MT"/>
                <a:cs typeface="Arial MT"/>
              </a:rPr>
              <a:t> </a:t>
            </a:r>
            <a:r>
              <a:rPr sz="2000" spc="-7">
                <a:latin typeface="Arial MT"/>
                <a:cs typeface="Arial MT"/>
              </a:rPr>
              <a:t>following </a:t>
            </a:r>
            <a:r>
              <a:rPr sz="2000">
                <a:latin typeface="Arial MT"/>
                <a:cs typeface="Arial MT"/>
              </a:rPr>
              <a:t>attributes: </a:t>
            </a:r>
            <a:r>
              <a:rPr sz="2000" spc="49">
                <a:latin typeface="Arial MT"/>
                <a:cs typeface="Arial MT"/>
              </a:rPr>
              <a:t>two</a:t>
            </a:r>
            <a:r>
              <a:rPr sz="2000" spc="4">
                <a:latin typeface="Arial MT"/>
                <a:cs typeface="Arial MT"/>
              </a:rPr>
              <a:t> </a:t>
            </a:r>
            <a:r>
              <a:rPr sz="2000">
                <a:latin typeface="Arial MT"/>
                <a:cs typeface="Arial MT"/>
              </a:rPr>
              <a:t>wings,</a:t>
            </a:r>
            <a:r>
              <a:rPr sz="2000" spc="4">
                <a:latin typeface="Arial MT"/>
                <a:cs typeface="Arial MT"/>
              </a:rPr>
              <a:t> </a:t>
            </a:r>
            <a:r>
              <a:rPr sz="2000" spc="49">
                <a:latin typeface="Arial MT"/>
                <a:cs typeface="Arial MT"/>
              </a:rPr>
              <a:t>two</a:t>
            </a:r>
            <a:r>
              <a:rPr sz="2000" spc="4">
                <a:latin typeface="Arial MT"/>
                <a:cs typeface="Arial MT"/>
              </a:rPr>
              <a:t> </a:t>
            </a:r>
            <a:r>
              <a:rPr sz="2000">
                <a:latin typeface="Arial MT"/>
                <a:cs typeface="Arial MT"/>
              </a:rPr>
              <a:t>legs,</a:t>
            </a:r>
            <a:r>
              <a:rPr sz="2000" spc="4">
                <a:latin typeface="Arial MT"/>
                <a:cs typeface="Arial MT"/>
              </a:rPr>
              <a:t> </a:t>
            </a:r>
            <a:r>
              <a:rPr sz="2000">
                <a:latin typeface="Arial MT"/>
                <a:cs typeface="Arial MT"/>
              </a:rPr>
              <a:t>a</a:t>
            </a:r>
            <a:r>
              <a:rPr sz="2000" spc="4">
                <a:latin typeface="Arial MT"/>
                <a:cs typeface="Arial MT"/>
              </a:rPr>
              <a:t> </a:t>
            </a:r>
            <a:r>
              <a:rPr sz="2000">
                <a:latin typeface="Arial MT"/>
                <a:cs typeface="Arial MT"/>
              </a:rPr>
              <a:t>tail,</a:t>
            </a:r>
            <a:r>
              <a:rPr sz="2000" spc="4">
                <a:latin typeface="Arial MT"/>
                <a:cs typeface="Arial MT"/>
              </a:rPr>
              <a:t> </a:t>
            </a:r>
            <a:r>
              <a:rPr sz="2000">
                <a:latin typeface="Arial MT"/>
                <a:cs typeface="Arial MT"/>
              </a:rPr>
              <a:t>and feathers.</a:t>
            </a:r>
            <a:r>
              <a:rPr sz="2000" spc="4">
                <a:latin typeface="Arial MT"/>
                <a:cs typeface="Arial MT"/>
              </a:rPr>
              <a:t> </a:t>
            </a:r>
            <a:r>
              <a:rPr sz="2000" spc="-7">
                <a:latin typeface="Arial MT"/>
                <a:cs typeface="Arial MT"/>
              </a:rPr>
              <a:t>Then,</a:t>
            </a:r>
            <a:r>
              <a:rPr sz="2000" spc="4">
                <a:latin typeface="Arial MT"/>
                <a:cs typeface="Arial MT"/>
              </a:rPr>
              <a:t> </a:t>
            </a:r>
            <a:r>
              <a:rPr sz="2000">
                <a:latin typeface="Arial MT"/>
                <a:cs typeface="Arial MT"/>
              </a:rPr>
              <a:t>if</a:t>
            </a:r>
            <a:r>
              <a:rPr sz="2000" spc="4">
                <a:latin typeface="Arial MT"/>
                <a:cs typeface="Arial MT"/>
              </a:rPr>
              <a:t> </a:t>
            </a:r>
            <a:r>
              <a:rPr sz="2000">
                <a:latin typeface="Arial MT"/>
                <a:cs typeface="Arial MT"/>
              </a:rPr>
              <a:t>we</a:t>
            </a:r>
            <a:r>
              <a:rPr sz="2000" spc="4">
                <a:latin typeface="Arial MT"/>
                <a:cs typeface="Arial MT"/>
              </a:rPr>
              <a:t> </a:t>
            </a:r>
            <a:r>
              <a:rPr sz="2000" spc="-18">
                <a:latin typeface="Arial MT"/>
                <a:cs typeface="Arial MT"/>
              </a:rPr>
              <a:t>say </a:t>
            </a:r>
            <a:r>
              <a:rPr sz="2000">
                <a:latin typeface="Arial MT"/>
                <a:cs typeface="Arial MT"/>
              </a:rPr>
              <a:t>a</a:t>
            </a:r>
            <a:r>
              <a:rPr sz="2000" spc="32">
                <a:latin typeface="Arial MT"/>
                <a:cs typeface="Arial MT"/>
              </a:rPr>
              <a:t> </a:t>
            </a:r>
            <a:r>
              <a:rPr sz="2000">
                <a:latin typeface="Arial MT"/>
                <a:cs typeface="Arial MT"/>
              </a:rPr>
              <a:t>crow</a:t>
            </a:r>
            <a:r>
              <a:rPr sz="2000" spc="35">
                <a:latin typeface="Arial MT"/>
                <a:cs typeface="Arial MT"/>
              </a:rPr>
              <a:t> </a:t>
            </a:r>
            <a:r>
              <a:rPr sz="2000">
                <a:latin typeface="Arial MT"/>
                <a:cs typeface="Arial MT"/>
              </a:rPr>
              <a:t>is</a:t>
            </a:r>
            <a:r>
              <a:rPr sz="2000" spc="35">
                <a:latin typeface="Arial MT"/>
                <a:cs typeface="Arial MT"/>
              </a:rPr>
              <a:t> </a:t>
            </a:r>
            <a:r>
              <a:rPr sz="2000">
                <a:latin typeface="Arial MT"/>
                <a:cs typeface="Arial MT"/>
              </a:rPr>
              <a:t>a</a:t>
            </a:r>
            <a:r>
              <a:rPr sz="2000" spc="32">
                <a:latin typeface="Arial MT"/>
                <a:cs typeface="Arial MT"/>
              </a:rPr>
              <a:t> </a:t>
            </a:r>
            <a:r>
              <a:rPr sz="2000">
                <a:latin typeface="Arial MT"/>
                <a:cs typeface="Arial MT"/>
              </a:rPr>
              <a:t>bird,</a:t>
            </a:r>
            <a:r>
              <a:rPr sz="2000" spc="35">
                <a:latin typeface="Arial MT"/>
                <a:cs typeface="Arial MT"/>
              </a:rPr>
              <a:t> </a:t>
            </a:r>
            <a:r>
              <a:rPr sz="2000">
                <a:latin typeface="Arial MT"/>
                <a:cs typeface="Arial MT"/>
              </a:rPr>
              <a:t>a</a:t>
            </a:r>
            <a:r>
              <a:rPr sz="2000" spc="35">
                <a:latin typeface="Arial MT"/>
                <a:cs typeface="Arial MT"/>
              </a:rPr>
              <a:t> </a:t>
            </a:r>
            <a:r>
              <a:rPr sz="2000">
                <a:latin typeface="Arial MT"/>
                <a:cs typeface="Arial MT"/>
              </a:rPr>
              <a:t>description</a:t>
            </a:r>
            <a:r>
              <a:rPr sz="2000" spc="35">
                <a:latin typeface="Arial MT"/>
                <a:cs typeface="Arial MT"/>
              </a:rPr>
              <a:t> </a:t>
            </a:r>
            <a:r>
              <a:rPr sz="2000">
                <a:latin typeface="Arial MT"/>
                <a:cs typeface="Arial MT"/>
              </a:rPr>
              <a:t>of</a:t>
            </a:r>
            <a:r>
              <a:rPr sz="2000" spc="32">
                <a:latin typeface="Arial MT"/>
                <a:cs typeface="Arial MT"/>
              </a:rPr>
              <a:t> </a:t>
            </a:r>
            <a:r>
              <a:rPr sz="2000">
                <a:latin typeface="Arial MT"/>
                <a:cs typeface="Arial MT"/>
              </a:rPr>
              <a:t>a</a:t>
            </a:r>
            <a:r>
              <a:rPr sz="2000" spc="35">
                <a:latin typeface="Arial MT"/>
                <a:cs typeface="Arial MT"/>
              </a:rPr>
              <a:t> </a:t>
            </a:r>
            <a:r>
              <a:rPr sz="2000">
                <a:latin typeface="Arial MT"/>
                <a:cs typeface="Arial MT"/>
              </a:rPr>
              <a:t>crow</a:t>
            </a:r>
            <a:r>
              <a:rPr sz="2000" spc="35">
                <a:latin typeface="Arial MT"/>
                <a:cs typeface="Arial MT"/>
              </a:rPr>
              <a:t> </a:t>
            </a:r>
            <a:r>
              <a:rPr sz="2000">
                <a:latin typeface="Arial MT"/>
                <a:cs typeface="Arial MT"/>
              </a:rPr>
              <a:t>need</a:t>
            </a:r>
            <a:r>
              <a:rPr sz="2000" spc="32">
                <a:latin typeface="Arial MT"/>
                <a:cs typeface="Arial MT"/>
              </a:rPr>
              <a:t> </a:t>
            </a:r>
            <a:r>
              <a:rPr sz="2000">
                <a:latin typeface="Arial MT"/>
                <a:cs typeface="Arial MT"/>
              </a:rPr>
              <a:t>not</a:t>
            </a:r>
            <a:r>
              <a:rPr sz="2000" spc="35">
                <a:latin typeface="Arial MT"/>
                <a:cs typeface="Arial MT"/>
              </a:rPr>
              <a:t> </a:t>
            </a:r>
            <a:r>
              <a:rPr sz="2000">
                <a:latin typeface="Arial MT"/>
                <a:cs typeface="Arial MT"/>
              </a:rPr>
              <a:t>include</a:t>
            </a:r>
            <a:r>
              <a:rPr sz="2000" spc="35">
                <a:latin typeface="Arial MT"/>
                <a:cs typeface="Arial MT"/>
              </a:rPr>
              <a:t> </a:t>
            </a:r>
            <a:r>
              <a:rPr sz="2000" spc="-7">
                <a:latin typeface="Arial MT"/>
                <a:cs typeface="Arial MT"/>
              </a:rPr>
              <a:t>those attributes.</a:t>
            </a:r>
            <a:endParaRPr sz="2000">
              <a:latin typeface="Arial MT"/>
              <a:cs typeface="Arial MT"/>
            </a:endParaRPr>
          </a:p>
        </p:txBody>
      </p:sp>
      <p:sp>
        <p:nvSpPr>
          <p:cNvPr id="4" name="Footer Placeholder 3">
            <a:extLst>
              <a:ext uri="{FF2B5EF4-FFF2-40B4-BE49-F238E27FC236}">
                <a16:creationId xmlns:a16="http://schemas.microsoft.com/office/drawing/2014/main" id="{C46C8A2F-18C6-FB0E-44C6-6FDC0985936B}"/>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42C2D687-F6DF-4B13-3780-8CE011B77667}"/>
              </a:ext>
            </a:extLst>
          </p:cNvPr>
          <p:cNvSpPr>
            <a:spLocks noGrp="1"/>
          </p:cNvSpPr>
          <p:nvPr>
            <p:ph type="sldNum" sz="quarter" idx="12"/>
          </p:nvPr>
        </p:nvSpPr>
        <p:spPr/>
        <p:txBody>
          <a:bodyPr/>
          <a:lstStyle/>
          <a:p>
            <a:fld id="{48F63A3B-78C7-47BE-AE5E-E10140E04643}" type="slidenum">
              <a:rPr lang="en-US" dirty="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684843"/>
            <a:ext cx="10515600" cy="686126"/>
          </a:xfrm>
          <a:prstGeom prst="rect">
            <a:avLst/>
          </a:prstGeom>
        </p:spPr>
        <p:txBody>
          <a:bodyPr vert="horz" wrap="square" lIns="0" tIns="8930" rIns="0" bIns="0" rtlCol="0">
            <a:spAutoFit/>
          </a:bodyPr>
          <a:lstStyle/>
          <a:p>
            <a:pPr marL="2420620">
              <a:lnSpc>
                <a:spcPct val="100000"/>
              </a:lnSpc>
              <a:spcBef>
                <a:spcPts val="70"/>
              </a:spcBef>
            </a:pPr>
            <a:r>
              <a:rPr b="1" spc="42">
                <a:solidFill>
                  <a:srgbClr val="FF7B00"/>
                </a:solidFill>
              </a:rPr>
              <a:t>Data</a:t>
            </a:r>
            <a:r>
              <a:rPr b="1" spc="7">
                <a:solidFill>
                  <a:srgbClr val="FF7B00"/>
                </a:solidFill>
              </a:rPr>
              <a:t> </a:t>
            </a:r>
            <a:r>
              <a:rPr b="1" spc="105">
                <a:solidFill>
                  <a:srgbClr val="FF7B00"/>
                </a:solidFill>
              </a:rPr>
              <a:t>Abstraction</a:t>
            </a:r>
            <a:endParaRPr lang="en-US" b="1">
              <a:solidFill>
                <a:srgbClr val="FFFFFF"/>
              </a:solidFill>
            </a:endParaRPr>
          </a:p>
        </p:txBody>
      </p:sp>
      <p:sp>
        <p:nvSpPr>
          <p:cNvPr id="3" name="object 3"/>
          <p:cNvSpPr txBox="1">
            <a:spLocks noGrp="1"/>
          </p:cNvSpPr>
          <p:nvPr>
            <p:ph type="body" idx="1"/>
          </p:nvPr>
        </p:nvSpPr>
        <p:spPr>
          <a:xfrm>
            <a:off x="838200" y="1825625"/>
            <a:ext cx="10515600" cy="3374939"/>
          </a:xfrm>
          <a:prstGeom prst="rect">
            <a:avLst/>
          </a:prstGeom>
        </p:spPr>
        <p:txBody>
          <a:bodyPr vert="horz" wrap="square" lIns="0" tIns="8930" rIns="0" bIns="0" rtlCol="0" anchor="t">
            <a:spAutoFit/>
          </a:bodyPr>
          <a:lstStyle/>
          <a:p>
            <a:pPr marL="330200" marR="130175" indent="-312420">
              <a:lnSpc>
                <a:spcPct val="100000"/>
              </a:lnSpc>
              <a:spcBef>
                <a:spcPts val="70"/>
              </a:spcBef>
              <a:buSzPct val="145000"/>
              <a:buChar char="•"/>
              <a:tabLst>
                <a:tab pos="330387" algn="l"/>
              </a:tabLst>
            </a:pPr>
            <a:r>
              <a:t>The</a:t>
            </a:r>
            <a:r>
              <a:rPr spc="60"/>
              <a:t> </a:t>
            </a:r>
            <a:r>
              <a:rPr spc="35"/>
              <a:t>common</a:t>
            </a:r>
            <a:r>
              <a:rPr spc="60"/>
              <a:t> </a:t>
            </a:r>
            <a:r>
              <a:t>attributes</a:t>
            </a:r>
            <a:r>
              <a:rPr spc="60"/>
              <a:t> </a:t>
            </a:r>
            <a:r>
              <a:t>in</a:t>
            </a:r>
            <a:r>
              <a:rPr spc="60"/>
              <a:t> </a:t>
            </a:r>
            <a:r>
              <a:t>the</a:t>
            </a:r>
            <a:r>
              <a:rPr spc="60"/>
              <a:t> </a:t>
            </a:r>
            <a:r>
              <a:t>descriptions</a:t>
            </a:r>
            <a:r>
              <a:rPr spc="60"/>
              <a:t> </a:t>
            </a:r>
            <a:r>
              <a:rPr spc="28"/>
              <a:t>of </a:t>
            </a:r>
            <a:r>
              <a:t>specific</a:t>
            </a:r>
            <a:r>
              <a:rPr spc="95"/>
              <a:t> </a:t>
            </a:r>
            <a:r>
              <a:t>species</a:t>
            </a:r>
            <a:r>
              <a:rPr spc="95"/>
              <a:t> </a:t>
            </a:r>
            <a:r>
              <a:rPr spc="46"/>
              <a:t>of</a:t>
            </a:r>
            <a:r>
              <a:rPr spc="98"/>
              <a:t> </a:t>
            </a:r>
            <a:r>
              <a:t>birds</a:t>
            </a:r>
            <a:r>
              <a:rPr spc="95"/>
              <a:t> </a:t>
            </a:r>
            <a:r>
              <a:t>can</a:t>
            </a:r>
            <a:r>
              <a:rPr spc="95"/>
              <a:t> </a:t>
            </a:r>
            <a:r>
              <a:t>be</a:t>
            </a:r>
            <a:r>
              <a:rPr spc="98"/>
              <a:t> </a:t>
            </a:r>
            <a:r>
              <a:rPr spc="-7"/>
              <a:t>abstracted </a:t>
            </a:r>
            <a:r>
              <a:t>away</a:t>
            </a:r>
            <a:r>
              <a:rPr spc="-32"/>
              <a:t> </a:t>
            </a:r>
            <a:r>
              <a:t>because</a:t>
            </a:r>
            <a:r>
              <a:rPr spc="-28"/>
              <a:t> </a:t>
            </a:r>
            <a:r>
              <a:t>all</a:t>
            </a:r>
            <a:r>
              <a:rPr spc="-32"/>
              <a:t> </a:t>
            </a:r>
            <a:r>
              <a:t>species</a:t>
            </a:r>
            <a:r>
              <a:rPr spc="-28"/>
              <a:t> </a:t>
            </a:r>
            <a:r>
              <a:t>have</a:t>
            </a:r>
            <a:r>
              <a:rPr spc="-32"/>
              <a:t> </a:t>
            </a:r>
            <a:r>
              <a:rPr spc="-7"/>
              <a:t>them.</a:t>
            </a:r>
            <a:endParaRPr lang="en-US"/>
          </a:p>
          <a:p>
            <a:pPr marL="330200" marR="12065" indent="-312420">
              <a:lnSpc>
                <a:spcPct val="100000"/>
              </a:lnSpc>
              <a:spcBef>
                <a:spcPts val="2953"/>
              </a:spcBef>
              <a:buSzPct val="145000"/>
              <a:buChar char="•"/>
              <a:tabLst>
                <a:tab pos="330387" algn="l"/>
              </a:tabLst>
            </a:pPr>
            <a:r>
              <a:t>Within</a:t>
            </a:r>
            <a:r>
              <a:rPr spc="14"/>
              <a:t> </a:t>
            </a:r>
            <a:r>
              <a:t>a</a:t>
            </a:r>
            <a:r>
              <a:rPr spc="14"/>
              <a:t> </a:t>
            </a:r>
            <a:r>
              <a:t>particular</a:t>
            </a:r>
            <a:r>
              <a:rPr spc="18"/>
              <a:t> </a:t>
            </a:r>
            <a:r>
              <a:t>species,</a:t>
            </a:r>
            <a:r>
              <a:rPr spc="14"/>
              <a:t> </a:t>
            </a:r>
            <a:r>
              <a:t>only</a:t>
            </a:r>
            <a:r>
              <a:rPr spc="14"/>
              <a:t> </a:t>
            </a:r>
            <a:r>
              <a:t>the</a:t>
            </a:r>
            <a:r>
              <a:rPr spc="18"/>
              <a:t> </a:t>
            </a:r>
            <a:r>
              <a:rPr spc="-7"/>
              <a:t>attributes </a:t>
            </a:r>
            <a:r>
              <a:rPr spc="35"/>
              <a:t>that</a:t>
            </a:r>
            <a:r>
              <a:rPr spc="25"/>
              <a:t> </a:t>
            </a:r>
            <a:r>
              <a:t>distinguish</a:t>
            </a:r>
            <a:r>
              <a:rPr spc="28"/>
              <a:t> </a:t>
            </a:r>
            <a:r>
              <a:rPr spc="35"/>
              <a:t>that</a:t>
            </a:r>
            <a:r>
              <a:rPr spc="28"/>
              <a:t> </a:t>
            </a:r>
            <a:r>
              <a:t>species</a:t>
            </a:r>
            <a:r>
              <a:rPr spc="28"/>
              <a:t> </a:t>
            </a:r>
            <a:r>
              <a:t>need</a:t>
            </a:r>
            <a:r>
              <a:rPr spc="28"/>
              <a:t> </a:t>
            </a:r>
            <a:r>
              <a:rPr spc="70"/>
              <a:t>to</a:t>
            </a:r>
            <a:r>
              <a:rPr spc="28"/>
              <a:t> </a:t>
            </a:r>
            <a:r>
              <a:rPr spc="-18"/>
              <a:t>be </a:t>
            </a:r>
            <a:r>
              <a:rPr spc="-7"/>
              <a:t>considered.</a:t>
            </a:r>
            <a:endParaRPr/>
          </a:p>
          <a:p>
            <a:pPr marL="330200" marR="19050" indent="-312420">
              <a:lnSpc>
                <a:spcPct val="100000"/>
              </a:lnSpc>
              <a:spcBef>
                <a:spcPts val="2953"/>
              </a:spcBef>
              <a:buSzPct val="145000"/>
              <a:buChar char="•"/>
              <a:tabLst>
                <a:tab pos="330387" algn="l"/>
              </a:tabLst>
            </a:pPr>
            <a:r>
              <a:t>E.g.:</a:t>
            </a:r>
            <a:r>
              <a:rPr spc="21"/>
              <a:t> </a:t>
            </a:r>
            <a:r>
              <a:t>Crows</a:t>
            </a:r>
            <a:r>
              <a:rPr spc="25"/>
              <a:t> </a:t>
            </a:r>
            <a:r>
              <a:t>have</a:t>
            </a:r>
            <a:r>
              <a:rPr spc="25"/>
              <a:t> </a:t>
            </a:r>
            <a:r>
              <a:t>the</a:t>
            </a:r>
            <a:r>
              <a:rPr spc="25"/>
              <a:t> </a:t>
            </a:r>
            <a:r>
              <a:t>attributes</a:t>
            </a:r>
            <a:r>
              <a:rPr spc="25"/>
              <a:t> </a:t>
            </a:r>
            <a:r>
              <a:rPr spc="46"/>
              <a:t>of</a:t>
            </a:r>
            <a:r>
              <a:rPr spc="25"/>
              <a:t> </a:t>
            </a:r>
            <a:r>
              <a:t>being</a:t>
            </a:r>
            <a:r>
              <a:rPr spc="25"/>
              <a:t> </a:t>
            </a:r>
            <a:r>
              <a:rPr spc="32"/>
              <a:t>black </a:t>
            </a:r>
            <a:r>
              <a:rPr spc="-25"/>
              <a:t>(Colour),</a:t>
            </a:r>
            <a:r>
              <a:rPr spc="-42"/>
              <a:t> </a:t>
            </a:r>
            <a:r>
              <a:t>being</a:t>
            </a:r>
            <a:r>
              <a:rPr spc="-39"/>
              <a:t> </a:t>
            </a:r>
            <a:r>
              <a:rPr spc="46"/>
              <a:t>of</a:t>
            </a:r>
            <a:r>
              <a:rPr spc="-39"/>
              <a:t> </a:t>
            </a:r>
            <a:r>
              <a:t>a</a:t>
            </a:r>
            <a:r>
              <a:rPr spc="-39"/>
              <a:t> </a:t>
            </a:r>
            <a:r>
              <a:t>particular</a:t>
            </a:r>
            <a:r>
              <a:rPr spc="-39"/>
              <a:t> </a:t>
            </a:r>
            <a:r>
              <a:t>size</a:t>
            </a:r>
            <a:r>
              <a:rPr spc="-39"/>
              <a:t> </a:t>
            </a:r>
            <a:r>
              <a:rPr spc="-70"/>
              <a:t>(Size),</a:t>
            </a:r>
            <a:r>
              <a:rPr spc="-39"/>
              <a:t> </a:t>
            </a:r>
            <a:r>
              <a:rPr spc="-18"/>
              <a:t>and </a:t>
            </a:r>
            <a:r>
              <a:t>being</a:t>
            </a:r>
            <a:r>
              <a:rPr spc="32"/>
              <a:t> </a:t>
            </a:r>
            <a:r>
              <a:t>noisy</a:t>
            </a:r>
            <a:r>
              <a:rPr spc="35"/>
              <a:t> </a:t>
            </a:r>
            <a:r>
              <a:rPr spc="-7"/>
              <a:t>(Sound).</a:t>
            </a:r>
            <a:endParaRPr/>
          </a:p>
        </p:txBody>
      </p:sp>
      <p:sp>
        <p:nvSpPr>
          <p:cNvPr id="4" name="Footer Placeholder 3">
            <a:extLst>
              <a:ext uri="{FF2B5EF4-FFF2-40B4-BE49-F238E27FC236}">
                <a16:creationId xmlns:a16="http://schemas.microsoft.com/office/drawing/2014/main" id="{F1F5B9CF-F3BC-8EC8-4A1D-EFD8F71383B8}"/>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AC668EEC-3E90-479F-6B78-63B031FD0F8E}"/>
              </a:ext>
            </a:extLst>
          </p:cNvPr>
          <p:cNvSpPr>
            <a:spLocks noGrp="1"/>
          </p:cNvSpPr>
          <p:nvPr>
            <p:ph type="sldNum" sz="quarter" idx="12"/>
          </p:nvPr>
        </p:nvSpPr>
        <p:spPr/>
        <p:txBody>
          <a:bodyPr/>
          <a:lstStyle/>
          <a:p>
            <a:fld id="{48F63A3B-78C7-47BE-AE5E-E10140E04643}" type="slidenum">
              <a:rPr lang="en-US" dirty="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684843"/>
            <a:ext cx="10515600" cy="686126"/>
          </a:xfrm>
          <a:prstGeom prst="rect">
            <a:avLst/>
          </a:prstGeom>
        </p:spPr>
        <p:txBody>
          <a:bodyPr vert="horz" wrap="square" lIns="0" tIns="8930" rIns="0" bIns="0" rtlCol="0">
            <a:spAutoFit/>
          </a:bodyPr>
          <a:lstStyle/>
          <a:p>
            <a:pPr marL="2420620">
              <a:lnSpc>
                <a:spcPct val="100000"/>
              </a:lnSpc>
              <a:spcBef>
                <a:spcPts val="70"/>
              </a:spcBef>
            </a:pPr>
            <a:r>
              <a:rPr b="1" spc="42">
                <a:solidFill>
                  <a:srgbClr val="FF7B00"/>
                </a:solidFill>
              </a:rPr>
              <a:t>Data</a:t>
            </a:r>
            <a:r>
              <a:rPr b="1" spc="7">
                <a:solidFill>
                  <a:srgbClr val="FF7B00"/>
                </a:solidFill>
              </a:rPr>
              <a:t> </a:t>
            </a:r>
            <a:r>
              <a:rPr b="1" spc="105">
                <a:solidFill>
                  <a:srgbClr val="FF7B00"/>
                </a:solidFill>
              </a:rPr>
              <a:t>Abstraction</a:t>
            </a:r>
            <a:endParaRPr lang="en-US" b="1">
              <a:solidFill>
                <a:srgbClr val="FFFFFF"/>
              </a:solidFill>
            </a:endParaRPr>
          </a:p>
        </p:txBody>
      </p:sp>
      <p:sp>
        <p:nvSpPr>
          <p:cNvPr id="3" name="object 3"/>
          <p:cNvSpPr txBox="1"/>
          <p:nvPr/>
        </p:nvSpPr>
        <p:spPr>
          <a:xfrm>
            <a:off x="933393" y="1708752"/>
            <a:ext cx="10326578" cy="3848337"/>
          </a:xfrm>
          <a:prstGeom prst="rect">
            <a:avLst/>
          </a:prstGeom>
        </p:spPr>
        <p:txBody>
          <a:bodyPr vert="horz" wrap="square" lIns="0" tIns="23217" rIns="0" bIns="0" rtlCol="0" anchor="t">
            <a:spAutoFit/>
          </a:bodyPr>
          <a:lstStyle/>
          <a:p>
            <a:pPr marL="280035" marR="34290" indent="-262255">
              <a:lnSpc>
                <a:spcPts val="2812"/>
              </a:lnSpc>
              <a:spcBef>
                <a:spcPts val="183"/>
              </a:spcBef>
              <a:buSzPct val="144776"/>
              <a:buChar char="•"/>
              <a:tabLst>
                <a:tab pos="280382" algn="l"/>
              </a:tabLst>
            </a:pPr>
            <a:r>
              <a:rPr sz="2350">
                <a:latin typeface="Arial MT"/>
                <a:cs typeface="Arial MT"/>
              </a:rPr>
              <a:t>An</a:t>
            </a:r>
            <a:r>
              <a:rPr sz="2350" spc="56">
                <a:latin typeface="Arial MT"/>
                <a:cs typeface="Arial MT"/>
              </a:rPr>
              <a:t> </a:t>
            </a:r>
            <a:r>
              <a:rPr sz="2350">
                <a:latin typeface="Arial MT"/>
                <a:cs typeface="Arial MT"/>
              </a:rPr>
              <a:t>abstract</a:t>
            </a:r>
            <a:r>
              <a:rPr sz="2350" spc="60">
                <a:latin typeface="Arial MT"/>
                <a:cs typeface="Arial MT"/>
              </a:rPr>
              <a:t> </a:t>
            </a:r>
            <a:r>
              <a:rPr sz="2350">
                <a:latin typeface="Arial MT"/>
                <a:cs typeface="Arial MT"/>
              </a:rPr>
              <a:t>data</a:t>
            </a:r>
            <a:r>
              <a:rPr sz="2350" spc="63">
                <a:latin typeface="Arial MT"/>
                <a:cs typeface="Arial MT"/>
              </a:rPr>
              <a:t> </a:t>
            </a:r>
            <a:r>
              <a:rPr sz="2350">
                <a:latin typeface="Arial MT"/>
                <a:cs typeface="Arial MT"/>
              </a:rPr>
              <a:t>type</a:t>
            </a:r>
            <a:r>
              <a:rPr sz="2350" spc="63">
                <a:latin typeface="Arial MT"/>
                <a:cs typeface="Arial MT"/>
              </a:rPr>
              <a:t> </a:t>
            </a:r>
            <a:r>
              <a:rPr sz="2350">
                <a:latin typeface="Arial MT"/>
                <a:cs typeface="Arial MT"/>
              </a:rPr>
              <a:t>is</a:t>
            </a:r>
            <a:r>
              <a:rPr sz="2350" spc="63">
                <a:latin typeface="Arial MT"/>
                <a:cs typeface="Arial MT"/>
              </a:rPr>
              <a:t> </a:t>
            </a:r>
            <a:r>
              <a:rPr sz="2350">
                <a:latin typeface="Arial MT"/>
                <a:cs typeface="Arial MT"/>
              </a:rPr>
              <a:t>an</a:t>
            </a:r>
            <a:r>
              <a:rPr sz="2350" spc="60">
                <a:latin typeface="Arial MT"/>
                <a:cs typeface="Arial MT"/>
              </a:rPr>
              <a:t> </a:t>
            </a:r>
            <a:r>
              <a:rPr sz="2350">
                <a:latin typeface="Arial MT"/>
                <a:cs typeface="Arial MT"/>
              </a:rPr>
              <a:t>enclosure</a:t>
            </a:r>
            <a:r>
              <a:rPr sz="2350" spc="63">
                <a:latin typeface="Arial MT"/>
                <a:cs typeface="Arial MT"/>
              </a:rPr>
              <a:t> </a:t>
            </a:r>
            <a:r>
              <a:rPr sz="2350">
                <a:latin typeface="Arial MT"/>
                <a:cs typeface="Arial MT"/>
              </a:rPr>
              <a:t>that</a:t>
            </a:r>
            <a:r>
              <a:rPr sz="2350" spc="63">
                <a:latin typeface="Arial MT"/>
                <a:cs typeface="Arial MT"/>
              </a:rPr>
              <a:t> </a:t>
            </a:r>
            <a:r>
              <a:rPr sz="2350">
                <a:latin typeface="Arial MT"/>
                <a:cs typeface="Arial MT"/>
              </a:rPr>
              <a:t>includes</a:t>
            </a:r>
            <a:r>
              <a:rPr sz="2350" spc="63">
                <a:latin typeface="Arial MT"/>
                <a:cs typeface="Arial MT"/>
              </a:rPr>
              <a:t> </a:t>
            </a:r>
            <a:r>
              <a:rPr sz="2350" spc="-14">
                <a:latin typeface="Arial MT"/>
                <a:cs typeface="Arial MT"/>
              </a:rPr>
              <a:t>only </a:t>
            </a:r>
            <a:r>
              <a:rPr sz="2350">
                <a:latin typeface="Arial MT"/>
                <a:cs typeface="Arial MT"/>
              </a:rPr>
              <a:t>the</a:t>
            </a:r>
            <a:r>
              <a:rPr sz="2350" spc="77">
                <a:latin typeface="Arial MT"/>
                <a:cs typeface="Arial MT"/>
              </a:rPr>
              <a:t> </a:t>
            </a:r>
            <a:r>
              <a:rPr sz="2350">
                <a:latin typeface="Arial MT"/>
                <a:cs typeface="Arial MT"/>
              </a:rPr>
              <a:t>data</a:t>
            </a:r>
            <a:r>
              <a:rPr sz="2350" spc="80">
                <a:latin typeface="Arial MT"/>
                <a:cs typeface="Arial MT"/>
              </a:rPr>
              <a:t> </a:t>
            </a:r>
            <a:r>
              <a:rPr sz="2350">
                <a:latin typeface="Arial MT"/>
                <a:cs typeface="Arial MT"/>
              </a:rPr>
              <a:t>representation</a:t>
            </a:r>
            <a:r>
              <a:rPr sz="2350" spc="77">
                <a:latin typeface="Arial MT"/>
                <a:cs typeface="Arial MT"/>
              </a:rPr>
              <a:t> </a:t>
            </a:r>
            <a:r>
              <a:rPr sz="2350" spc="39">
                <a:latin typeface="Arial MT"/>
                <a:cs typeface="Arial MT"/>
              </a:rPr>
              <a:t>of</a:t>
            </a:r>
            <a:r>
              <a:rPr sz="2350" spc="80">
                <a:latin typeface="Arial MT"/>
                <a:cs typeface="Arial MT"/>
              </a:rPr>
              <a:t> </a:t>
            </a:r>
            <a:r>
              <a:rPr sz="2350">
                <a:latin typeface="Arial MT"/>
                <a:cs typeface="Arial MT"/>
              </a:rPr>
              <a:t>one</a:t>
            </a:r>
            <a:r>
              <a:rPr sz="2350" spc="77">
                <a:latin typeface="Arial MT"/>
                <a:cs typeface="Arial MT"/>
              </a:rPr>
              <a:t> </a:t>
            </a:r>
            <a:r>
              <a:rPr sz="2350">
                <a:latin typeface="Arial MT"/>
                <a:cs typeface="Arial MT"/>
              </a:rPr>
              <a:t>specific</a:t>
            </a:r>
            <a:r>
              <a:rPr sz="2350" spc="77">
                <a:latin typeface="Arial MT"/>
                <a:cs typeface="Arial MT"/>
              </a:rPr>
              <a:t> </a:t>
            </a:r>
            <a:r>
              <a:rPr sz="2350">
                <a:latin typeface="Arial MT"/>
                <a:cs typeface="Arial MT"/>
              </a:rPr>
              <a:t>data</a:t>
            </a:r>
            <a:r>
              <a:rPr sz="2350" spc="80">
                <a:latin typeface="Arial MT"/>
                <a:cs typeface="Arial MT"/>
              </a:rPr>
              <a:t> </a:t>
            </a:r>
            <a:r>
              <a:rPr sz="2350">
                <a:latin typeface="Arial MT"/>
                <a:cs typeface="Arial MT"/>
              </a:rPr>
              <a:t>type</a:t>
            </a:r>
            <a:r>
              <a:rPr sz="2350" spc="77">
                <a:latin typeface="Arial MT"/>
                <a:cs typeface="Arial MT"/>
              </a:rPr>
              <a:t> </a:t>
            </a:r>
            <a:r>
              <a:rPr sz="2350" spc="-18">
                <a:latin typeface="Arial MT"/>
                <a:cs typeface="Arial MT"/>
              </a:rPr>
              <a:t>and </a:t>
            </a:r>
            <a:r>
              <a:rPr sz="2350">
                <a:latin typeface="Arial MT"/>
                <a:cs typeface="Arial MT"/>
              </a:rPr>
              <a:t>the</a:t>
            </a:r>
            <a:r>
              <a:rPr sz="2350" spc="98">
                <a:latin typeface="Arial MT"/>
                <a:cs typeface="Arial MT"/>
              </a:rPr>
              <a:t> </a:t>
            </a:r>
            <a:r>
              <a:rPr sz="2350">
                <a:latin typeface="Arial MT"/>
                <a:cs typeface="Arial MT"/>
              </a:rPr>
              <a:t>subprograms</a:t>
            </a:r>
            <a:r>
              <a:rPr sz="2350" spc="95">
                <a:latin typeface="Arial MT"/>
                <a:cs typeface="Arial MT"/>
              </a:rPr>
              <a:t> </a:t>
            </a:r>
            <a:r>
              <a:rPr sz="2350">
                <a:latin typeface="Arial MT"/>
                <a:cs typeface="Arial MT"/>
              </a:rPr>
              <a:t>that</a:t>
            </a:r>
            <a:r>
              <a:rPr sz="2350" spc="98">
                <a:latin typeface="Arial MT"/>
                <a:cs typeface="Arial MT"/>
              </a:rPr>
              <a:t> </a:t>
            </a:r>
            <a:r>
              <a:rPr sz="2350">
                <a:latin typeface="Arial MT"/>
                <a:cs typeface="Arial MT"/>
              </a:rPr>
              <a:t>provide</a:t>
            </a:r>
            <a:r>
              <a:rPr sz="2350" spc="95">
                <a:latin typeface="Arial MT"/>
                <a:cs typeface="Arial MT"/>
              </a:rPr>
              <a:t> </a:t>
            </a:r>
            <a:r>
              <a:rPr sz="2350">
                <a:latin typeface="Arial MT"/>
                <a:cs typeface="Arial MT"/>
              </a:rPr>
              <a:t>the</a:t>
            </a:r>
            <a:r>
              <a:rPr sz="2350" spc="98">
                <a:latin typeface="Arial MT"/>
                <a:cs typeface="Arial MT"/>
              </a:rPr>
              <a:t> </a:t>
            </a:r>
            <a:r>
              <a:rPr sz="2350">
                <a:latin typeface="Arial MT"/>
                <a:cs typeface="Arial MT"/>
              </a:rPr>
              <a:t>operations</a:t>
            </a:r>
            <a:r>
              <a:rPr sz="2350" spc="98">
                <a:latin typeface="Arial MT"/>
                <a:cs typeface="Arial MT"/>
              </a:rPr>
              <a:t> </a:t>
            </a:r>
            <a:r>
              <a:rPr sz="2350">
                <a:latin typeface="Arial MT"/>
                <a:cs typeface="Arial MT"/>
              </a:rPr>
              <a:t>for</a:t>
            </a:r>
            <a:r>
              <a:rPr sz="2350" spc="95">
                <a:latin typeface="Arial MT"/>
                <a:cs typeface="Arial MT"/>
              </a:rPr>
              <a:t> </a:t>
            </a:r>
            <a:r>
              <a:rPr sz="2350" spc="-14">
                <a:latin typeface="Arial MT"/>
                <a:cs typeface="Arial MT"/>
              </a:rPr>
              <a:t>that </a:t>
            </a:r>
            <a:r>
              <a:rPr sz="2350" spc="-7">
                <a:latin typeface="Arial MT"/>
                <a:cs typeface="Arial MT"/>
              </a:rPr>
              <a:t>type.</a:t>
            </a:r>
            <a:endParaRPr lang="en-US" sz="2350">
              <a:latin typeface="Arial MT"/>
              <a:cs typeface="Arial MT"/>
            </a:endParaRPr>
          </a:p>
          <a:p>
            <a:pPr marL="280035" marR="484505" indent="-262255" algn="just">
              <a:lnSpc>
                <a:spcPts val="2812"/>
              </a:lnSpc>
              <a:spcBef>
                <a:spcPts val="2478"/>
              </a:spcBef>
              <a:buSzPct val="144776"/>
              <a:buChar char="•"/>
              <a:tabLst>
                <a:tab pos="280382" algn="l"/>
              </a:tabLst>
            </a:pPr>
            <a:r>
              <a:rPr sz="2350">
                <a:latin typeface="Arial MT"/>
                <a:cs typeface="Arial MT"/>
              </a:rPr>
              <a:t>Through</a:t>
            </a:r>
            <a:r>
              <a:rPr sz="2350" spc="18">
                <a:latin typeface="Arial MT"/>
                <a:cs typeface="Arial MT"/>
              </a:rPr>
              <a:t> </a:t>
            </a:r>
            <a:r>
              <a:rPr sz="2350">
                <a:latin typeface="Arial MT"/>
                <a:cs typeface="Arial MT"/>
              </a:rPr>
              <a:t>access</a:t>
            </a:r>
            <a:r>
              <a:rPr sz="2350" spc="18">
                <a:latin typeface="Arial MT"/>
                <a:cs typeface="Arial MT"/>
              </a:rPr>
              <a:t> </a:t>
            </a:r>
            <a:r>
              <a:rPr sz="2350">
                <a:latin typeface="Arial MT"/>
                <a:cs typeface="Arial MT"/>
              </a:rPr>
              <a:t>controls,</a:t>
            </a:r>
            <a:r>
              <a:rPr sz="2350" spc="18">
                <a:latin typeface="Arial MT"/>
                <a:cs typeface="Arial MT"/>
              </a:rPr>
              <a:t> </a:t>
            </a:r>
            <a:r>
              <a:rPr sz="2350">
                <a:latin typeface="Arial MT"/>
                <a:cs typeface="Arial MT"/>
              </a:rPr>
              <a:t>unnecessary</a:t>
            </a:r>
            <a:r>
              <a:rPr sz="2350" spc="18">
                <a:latin typeface="Arial MT"/>
                <a:cs typeface="Arial MT"/>
              </a:rPr>
              <a:t> </a:t>
            </a:r>
            <a:r>
              <a:rPr sz="2350">
                <a:latin typeface="Arial MT"/>
                <a:cs typeface="Arial MT"/>
              </a:rPr>
              <a:t>details</a:t>
            </a:r>
            <a:r>
              <a:rPr sz="2350" spc="14">
                <a:latin typeface="Arial MT"/>
                <a:cs typeface="Arial MT"/>
              </a:rPr>
              <a:t> </a:t>
            </a:r>
            <a:r>
              <a:rPr sz="2350" spc="39">
                <a:latin typeface="Arial MT"/>
                <a:cs typeface="Arial MT"/>
              </a:rPr>
              <a:t>of</a:t>
            </a:r>
            <a:r>
              <a:rPr sz="2350" spc="18">
                <a:latin typeface="Arial MT"/>
                <a:cs typeface="Arial MT"/>
              </a:rPr>
              <a:t> </a:t>
            </a:r>
            <a:r>
              <a:rPr sz="2350" spc="-18">
                <a:latin typeface="Arial MT"/>
                <a:cs typeface="Arial MT"/>
              </a:rPr>
              <a:t>the </a:t>
            </a:r>
            <a:r>
              <a:rPr sz="2350">
                <a:latin typeface="Arial MT"/>
                <a:cs typeface="Arial MT"/>
              </a:rPr>
              <a:t>type</a:t>
            </a:r>
            <a:r>
              <a:rPr sz="2350" spc="91">
                <a:latin typeface="Arial MT"/>
                <a:cs typeface="Arial MT"/>
              </a:rPr>
              <a:t> </a:t>
            </a:r>
            <a:r>
              <a:rPr sz="2350">
                <a:latin typeface="Arial MT"/>
                <a:cs typeface="Arial MT"/>
              </a:rPr>
              <a:t>can</a:t>
            </a:r>
            <a:r>
              <a:rPr sz="2350" spc="88">
                <a:latin typeface="Arial MT"/>
                <a:cs typeface="Arial MT"/>
              </a:rPr>
              <a:t> </a:t>
            </a:r>
            <a:r>
              <a:rPr sz="2350">
                <a:latin typeface="Arial MT"/>
                <a:cs typeface="Arial MT"/>
              </a:rPr>
              <a:t>be</a:t>
            </a:r>
            <a:r>
              <a:rPr sz="2350" spc="91">
                <a:latin typeface="Arial MT"/>
                <a:cs typeface="Arial MT"/>
              </a:rPr>
              <a:t> </a:t>
            </a:r>
            <a:r>
              <a:rPr sz="2350">
                <a:latin typeface="Arial MT"/>
                <a:cs typeface="Arial MT"/>
              </a:rPr>
              <a:t>hidden</a:t>
            </a:r>
            <a:r>
              <a:rPr sz="2350" spc="88">
                <a:latin typeface="Arial MT"/>
                <a:cs typeface="Arial MT"/>
              </a:rPr>
              <a:t> </a:t>
            </a:r>
            <a:r>
              <a:rPr sz="2350">
                <a:latin typeface="Arial MT"/>
                <a:cs typeface="Arial MT"/>
              </a:rPr>
              <a:t>from</a:t>
            </a:r>
            <a:r>
              <a:rPr sz="2350" spc="91">
                <a:latin typeface="Arial MT"/>
                <a:cs typeface="Arial MT"/>
              </a:rPr>
              <a:t> </a:t>
            </a:r>
            <a:r>
              <a:rPr sz="2350">
                <a:latin typeface="Arial MT"/>
                <a:cs typeface="Arial MT"/>
              </a:rPr>
              <a:t>units</a:t>
            </a:r>
            <a:r>
              <a:rPr sz="2350" spc="88">
                <a:latin typeface="Arial MT"/>
                <a:cs typeface="Arial MT"/>
              </a:rPr>
              <a:t> </a:t>
            </a:r>
            <a:r>
              <a:rPr sz="2350">
                <a:latin typeface="Arial MT"/>
                <a:cs typeface="Arial MT"/>
              </a:rPr>
              <a:t>outside</a:t>
            </a:r>
            <a:r>
              <a:rPr sz="2350" spc="91">
                <a:latin typeface="Arial MT"/>
                <a:cs typeface="Arial MT"/>
              </a:rPr>
              <a:t> </a:t>
            </a:r>
            <a:r>
              <a:rPr sz="2350">
                <a:latin typeface="Arial MT"/>
                <a:cs typeface="Arial MT"/>
              </a:rPr>
              <a:t>the</a:t>
            </a:r>
            <a:r>
              <a:rPr sz="2350" spc="88">
                <a:latin typeface="Arial MT"/>
                <a:cs typeface="Arial MT"/>
              </a:rPr>
              <a:t> </a:t>
            </a:r>
            <a:r>
              <a:rPr sz="2350" spc="-7">
                <a:latin typeface="Arial MT"/>
                <a:cs typeface="Arial MT"/>
              </a:rPr>
              <a:t>enclosure </a:t>
            </a:r>
            <a:r>
              <a:rPr sz="2350">
                <a:latin typeface="Arial MT"/>
                <a:cs typeface="Arial MT"/>
              </a:rPr>
              <a:t>that</a:t>
            </a:r>
            <a:r>
              <a:rPr sz="2350" spc="32">
                <a:latin typeface="Arial MT"/>
                <a:cs typeface="Arial MT"/>
              </a:rPr>
              <a:t> </a:t>
            </a:r>
            <a:r>
              <a:rPr sz="2350">
                <a:latin typeface="Arial MT"/>
                <a:cs typeface="Arial MT"/>
              </a:rPr>
              <a:t>use</a:t>
            </a:r>
            <a:r>
              <a:rPr sz="2350" spc="35">
                <a:latin typeface="Arial MT"/>
                <a:cs typeface="Arial MT"/>
              </a:rPr>
              <a:t> </a:t>
            </a:r>
            <a:r>
              <a:rPr sz="2350">
                <a:latin typeface="Arial MT"/>
                <a:cs typeface="Arial MT"/>
              </a:rPr>
              <a:t>the</a:t>
            </a:r>
            <a:r>
              <a:rPr sz="2350" spc="39">
                <a:latin typeface="Arial MT"/>
                <a:cs typeface="Arial MT"/>
              </a:rPr>
              <a:t> </a:t>
            </a:r>
            <a:r>
              <a:rPr sz="2350" spc="-7">
                <a:latin typeface="Arial MT"/>
                <a:cs typeface="Arial MT"/>
              </a:rPr>
              <a:t>type.</a:t>
            </a:r>
            <a:endParaRPr sz="2350">
              <a:latin typeface="Arial MT"/>
              <a:cs typeface="Arial MT"/>
            </a:endParaRPr>
          </a:p>
          <a:p>
            <a:pPr marL="280035" marR="356235" indent="-262255">
              <a:lnSpc>
                <a:spcPts val="2812"/>
              </a:lnSpc>
              <a:spcBef>
                <a:spcPts val="2481"/>
              </a:spcBef>
              <a:buSzPct val="144776"/>
              <a:buChar char="•"/>
              <a:tabLst>
                <a:tab pos="280382" algn="l"/>
              </a:tabLst>
            </a:pPr>
            <a:r>
              <a:rPr sz="2350">
                <a:latin typeface="Arial MT"/>
                <a:cs typeface="Arial MT"/>
              </a:rPr>
              <a:t>Program</a:t>
            </a:r>
            <a:r>
              <a:rPr sz="2350" spc="74">
                <a:latin typeface="Arial MT"/>
                <a:cs typeface="Arial MT"/>
              </a:rPr>
              <a:t> </a:t>
            </a:r>
            <a:r>
              <a:rPr sz="2350">
                <a:latin typeface="Arial MT"/>
                <a:cs typeface="Arial MT"/>
              </a:rPr>
              <a:t>units</a:t>
            </a:r>
            <a:r>
              <a:rPr sz="2350" spc="70">
                <a:latin typeface="Arial MT"/>
                <a:cs typeface="Arial MT"/>
              </a:rPr>
              <a:t> </a:t>
            </a:r>
            <a:r>
              <a:rPr sz="2350">
                <a:latin typeface="Arial MT"/>
                <a:cs typeface="Arial MT"/>
              </a:rPr>
              <a:t>that</a:t>
            </a:r>
            <a:r>
              <a:rPr sz="2350" spc="74">
                <a:latin typeface="Arial MT"/>
                <a:cs typeface="Arial MT"/>
              </a:rPr>
              <a:t> </a:t>
            </a:r>
            <a:r>
              <a:rPr sz="2350">
                <a:latin typeface="Arial MT"/>
                <a:cs typeface="Arial MT"/>
              </a:rPr>
              <a:t>use</a:t>
            </a:r>
            <a:r>
              <a:rPr sz="2350" spc="70">
                <a:latin typeface="Arial MT"/>
                <a:cs typeface="Arial MT"/>
              </a:rPr>
              <a:t> </a:t>
            </a:r>
            <a:r>
              <a:rPr sz="2350">
                <a:latin typeface="Arial MT"/>
                <a:cs typeface="Arial MT"/>
              </a:rPr>
              <a:t>an</a:t>
            </a:r>
            <a:r>
              <a:rPr sz="2350" spc="74">
                <a:latin typeface="Arial MT"/>
                <a:cs typeface="Arial MT"/>
              </a:rPr>
              <a:t> </a:t>
            </a:r>
            <a:r>
              <a:rPr sz="2350">
                <a:latin typeface="Arial MT"/>
                <a:cs typeface="Arial MT"/>
              </a:rPr>
              <a:t>abstract</a:t>
            </a:r>
            <a:r>
              <a:rPr sz="2350" spc="70">
                <a:latin typeface="Arial MT"/>
                <a:cs typeface="Arial MT"/>
              </a:rPr>
              <a:t> </a:t>
            </a:r>
            <a:r>
              <a:rPr sz="2350">
                <a:latin typeface="Arial MT"/>
                <a:cs typeface="Arial MT"/>
              </a:rPr>
              <a:t>data</a:t>
            </a:r>
            <a:r>
              <a:rPr sz="2350" spc="74">
                <a:latin typeface="Arial MT"/>
                <a:cs typeface="Arial MT"/>
              </a:rPr>
              <a:t> </a:t>
            </a:r>
            <a:r>
              <a:rPr sz="2350">
                <a:latin typeface="Arial MT"/>
                <a:cs typeface="Arial MT"/>
              </a:rPr>
              <a:t>type</a:t>
            </a:r>
            <a:r>
              <a:rPr sz="2350" spc="70">
                <a:latin typeface="Arial MT"/>
                <a:cs typeface="Arial MT"/>
              </a:rPr>
              <a:t> </a:t>
            </a:r>
            <a:r>
              <a:rPr sz="2350" spc="-18">
                <a:latin typeface="Arial MT"/>
                <a:cs typeface="Arial MT"/>
              </a:rPr>
              <a:t>can </a:t>
            </a:r>
            <a:r>
              <a:rPr sz="2350">
                <a:latin typeface="Arial MT"/>
                <a:cs typeface="Arial MT"/>
              </a:rPr>
              <a:t>declare</a:t>
            </a:r>
            <a:r>
              <a:rPr sz="2350" spc="25">
                <a:latin typeface="Arial MT"/>
                <a:cs typeface="Arial MT"/>
              </a:rPr>
              <a:t> </a:t>
            </a:r>
            <a:r>
              <a:rPr sz="2350">
                <a:latin typeface="Arial MT"/>
                <a:cs typeface="Arial MT"/>
              </a:rPr>
              <a:t>variables</a:t>
            </a:r>
            <a:r>
              <a:rPr sz="2350" spc="25">
                <a:latin typeface="Arial MT"/>
                <a:cs typeface="Arial MT"/>
              </a:rPr>
              <a:t> </a:t>
            </a:r>
            <a:r>
              <a:rPr sz="2350" spc="39">
                <a:latin typeface="Arial MT"/>
                <a:cs typeface="Arial MT"/>
              </a:rPr>
              <a:t>of</a:t>
            </a:r>
            <a:r>
              <a:rPr sz="2350" spc="25">
                <a:latin typeface="Arial MT"/>
                <a:cs typeface="Arial MT"/>
              </a:rPr>
              <a:t> </a:t>
            </a:r>
            <a:r>
              <a:rPr sz="2350">
                <a:latin typeface="Arial MT"/>
                <a:cs typeface="Arial MT"/>
              </a:rPr>
              <a:t>that</a:t>
            </a:r>
            <a:r>
              <a:rPr sz="2350" spc="25">
                <a:latin typeface="Arial MT"/>
                <a:cs typeface="Arial MT"/>
              </a:rPr>
              <a:t> </a:t>
            </a:r>
            <a:r>
              <a:rPr sz="2350">
                <a:latin typeface="Arial MT"/>
                <a:cs typeface="Arial MT"/>
              </a:rPr>
              <a:t>type,</a:t>
            </a:r>
            <a:r>
              <a:rPr sz="2350" spc="25">
                <a:latin typeface="Arial MT"/>
                <a:cs typeface="Arial MT"/>
              </a:rPr>
              <a:t> </a:t>
            </a:r>
            <a:r>
              <a:rPr sz="2350">
                <a:latin typeface="Arial MT"/>
                <a:cs typeface="Arial MT"/>
              </a:rPr>
              <a:t>even</a:t>
            </a:r>
            <a:r>
              <a:rPr sz="2350" spc="25">
                <a:latin typeface="Arial MT"/>
                <a:cs typeface="Arial MT"/>
              </a:rPr>
              <a:t> </a:t>
            </a:r>
            <a:r>
              <a:rPr sz="2350">
                <a:latin typeface="Arial MT"/>
                <a:cs typeface="Arial MT"/>
              </a:rPr>
              <a:t>though</a:t>
            </a:r>
            <a:r>
              <a:rPr sz="2350" spc="25">
                <a:latin typeface="Arial MT"/>
                <a:cs typeface="Arial MT"/>
              </a:rPr>
              <a:t> </a:t>
            </a:r>
            <a:r>
              <a:rPr sz="2350">
                <a:latin typeface="Arial MT"/>
                <a:cs typeface="Arial MT"/>
              </a:rPr>
              <a:t>the</a:t>
            </a:r>
            <a:r>
              <a:rPr sz="2350" spc="25">
                <a:latin typeface="Arial MT"/>
                <a:cs typeface="Arial MT"/>
              </a:rPr>
              <a:t> </a:t>
            </a:r>
            <a:r>
              <a:rPr sz="2350" spc="-7">
                <a:latin typeface="Arial MT"/>
                <a:cs typeface="Arial MT"/>
              </a:rPr>
              <a:t>actual </a:t>
            </a:r>
            <a:r>
              <a:rPr sz="2350">
                <a:latin typeface="Arial MT"/>
                <a:cs typeface="Arial MT"/>
              </a:rPr>
              <a:t>representation</a:t>
            </a:r>
            <a:r>
              <a:rPr sz="2350" spc="63">
                <a:latin typeface="Arial MT"/>
                <a:cs typeface="Arial MT"/>
              </a:rPr>
              <a:t> </a:t>
            </a:r>
            <a:r>
              <a:rPr sz="2350">
                <a:latin typeface="Arial MT"/>
                <a:cs typeface="Arial MT"/>
              </a:rPr>
              <a:t>is</a:t>
            </a:r>
            <a:r>
              <a:rPr sz="2350" spc="74">
                <a:latin typeface="Arial MT"/>
                <a:cs typeface="Arial MT"/>
              </a:rPr>
              <a:t> </a:t>
            </a:r>
            <a:r>
              <a:rPr sz="2350">
                <a:latin typeface="Arial MT"/>
                <a:cs typeface="Arial MT"/>
              </a:rPr>
              <a:t>hidden</a:t>
            </a:r>
            <a:r>
              <a:rPr sz="2350" spc="70">
                <a:latin typeface="Arial MT"/>
                <a:cs typeface="Arial MT"/>
              </a:rPr>
              <a:t> </a:t>
            </a:r>
            <a:r>
              <a:rPr sz="2350">
                <a:latin typeface="Arial MT"/>
                <a:cs typeface="Arial MT"/>
              </a:rPr>
              <a:t>from</a:t>
            </a:r>
            <a:r>
              <a:rPr sz="2350" spc="74">
                <a:latin typeface="Arial MT"/>
                <a:cs typeface="Arial MT"/>
              </a:rPr>
              <a:t> </a:t>
            </a:r>
            <a:r>
              <a:rPr sz="2350" spc="-7">
                <a:latin typeface="Arial MT"/>
                <a:cs typeface="Arial MT"/>
              </a:rPr>
              <a:t>them.</a:t>
            </a:r>
            <a:endParaRPr sz="2350">
              <a:latin typeface="Arial MT"/>
              <a:cs typeface="Arial MT"/>
            </a:endParaRPr>
          </a:p>
          <a:p>
            <a:pPr marL="280035" indent="-262255">
              <a:lnSpc>
                <a:spcPct val="100000"/>
              </a:lnSpc>
              <a:spcBef>
                <a:spcPts val="2373"/>
              </a:spcBef>
              <a:buSzPct val="144776"/>
              <a:buChar char="•"/>
              <a:tabLst>
                <a:tab pos="280382" algn="l"/>
              </a:tabLst>
            </a:pPr>
            <a:r>
              <a:rPr sz="2350">
                <a:latin typeface="Arial MT"/>
                <a:cs typeface="Arial MT"/>
              </a:rPr>
              <a:t>An</a:t>
            </a:r>
            <a:r>
              <a:rPr sz="2350" spc="39">
                <a:latin typeface="Arial MT"/>
                <a:cs typeface="Arial MT"/>
              </a:rPr>
              <a:t> </a:t>
            </a:r>
            <a:r>
              <a:rPr sz="2350">
                <a:latin typeface="Arial MT"/>
                <a:cs typeface="Arial MT"/>
              </a:rPr>
              <a:t>instance</a:t>
            </a:r>
            <a:r>
              <a:rPr sz="2350" spc="46">
                <a:latin typeface="Arial MT"/>
                <a:cs typeface="Arial MT"/>
              </a:rPr>
              <a:t> </a:t>
            </a:r>
            <a:r>
              <a:rPr sz="2350" spc="39">
                <a:latin typeface="Arial MT"/>
                <a:cs typeface="Arial MT"/>
              </a:rPr>
              <a:t>of</a:t>
            </a:r>
            <a:r>
              <a:rPr sz="2350" spc="49">
                <a:latin typeface="Arial MT"/>
                <a:cs typeface="Arial MT"/>
              </a:rPr>
              <a:t> </a:t>
            </a:r>
            <a:r>
              <a:rPr sz="2350">
                <a:latin typeface="Arial MT"/>
                <a:cs typeface="Arial MT"/>
              </a:rPr>
              <a:t>an</a:t>
            </a:r>
            <a:r>
              <a:rPr sz="2350" spc="46">
                <a:latin typeface="Arial MT"/>
                <a:cs typeface="Arial MT"/>
              </a:rPr>
              <a:t> </a:t>
            </a:r>
            <a:r>
              <a:rPr sz="2350">
                <a:latin typeface="Arial MT"/>
                <a:cs typeface="Arial MT"/>
              </a:rPr>
              <a:t>abstract</a:t>
            </a:r>
            <a:r>
              <a:rPr sz="2350" spc="46">
                <a:latin typeface="Arial MT"/>
                <a:cs typeface="Arial MT"/>
              </a:rPr>
              <a:t> </a:t>
            </a:r>
            <a:r>
              <a:rPr sz="2350">
                <a:latin typeface="Arial MT"/>
                <a:cs typeface="Arial MT"/>
              </a:rPr>
              <a:t>data</a:t>
            </a:r>
            <a:r>
              <a:rPr sz="2350" spc="46">
                <a:latin typeface="Arial MT"/>
                <a:cs typeface="Arial MT"/>
              </a:rPr>
              <a:t> </a:t>
            </a:r>
            <a:r>
              <a:rPr sz="2350">
                <a:latin typeface="Arial MT"/>
                <a:cs typeface="Arial MT"/>
              </a:rPr>
              <a:t>type</a:t>
            </a:r>
            <a:r>
              <a:rPr sz="2350" spc="46">
                <a:latin typeface="Arial MT"/>
                <a:cs typeface="Arial MT"/>
              </a:rPr>
              <a:t> </a:t>
            </a:r>
            <a:r>
              <a:rPr sz="2350">
                <a:latin typeface="Arial MT"/>
                <a:cs typeface="Arial MT"/>
              </a:rPr>
              <a:t>is</a:t>
            </a:r>
            <a:r>
              <a:rPr sz="2350" spc="49">
                <a:latin typeface="Arial MT"/>
                <a:cs typeface="Arial MT"/>
              </a:rPr>
              <a:t> </a:t>
            </a:r>
            <a:r>
              <a:rPr sz="2350">
                <a:latin typeface="Arial MT"/>
                <a:cs typeface="Arial MT"/>
              </a:rPr>
              <a:t>called</a:t>
            </a:r>
            <a:r>
              <a:rPr sz="2350" spc="46">
                <a:latin typeface="Arial MT"/>
                <a:cs typeface="Arial MT"/>
              </a:rPr>
              <a:t> </a:t>
            </a:r>
            <a:r>
              <a:rPr sz="2350">
                <a:latin typeface="Arial MT"/>
                <a:cs typeface="Arial MT"/>
              </a:rPr>
              <a:t>an</a:t>
            </a:r>
            <a:r>
              <a:rPr sz="2350" spc="46">
                <a:latin typeface="Arial MT"/>
                <a:cs typeface="Arial MT"/>
              </a:rPr>
              <a:t> </a:t>
            </a:r>
            <a:r>
              <a:rPr sz="2350" spc="28">
                <a:latin typeface="Arial MT"/>
                <a:cs typeface="Arial MT"/>
              </a:rPr>
              <a:t>object.</a:t>
            </a:r>
            <a:endParaRPr sz="2350">
              <a:latin typeface="Arial MT"/>
              <a:cs typeface="Arial MT"/>
            </a:endParaRPr>
          </a:p>
        </p:txBody>
      </p:sp>
      <p:sp>
        <p:nvSpPr>
          <p:cNvPr id="4" name="Footer Placeholder 3">
            <a:extLst>
              <a:ext uri="{FF2B5EF4-FFF2-40B4-BE49-F238E27FC236}">
                <a16:creationId xmlns:a16="http://schemas.microsoft.com/office/drawing/2014/main" id="{D8B313A1-C226-3BB0-910A-E76E0FFC28AB}"/>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B217E3AE-B4C0-BFF2-997F-30580F45F830}"/>
              </a:ext>
            </a:extLst>
          </p:cNvPr>
          <p:cNvSpPr>
            <a:spLocks noGrp="1"/>
          </p:cNvSpPr>
          <p:nvPr>
            <p:ph type="sldNum" sz="quarter" idx="12"/>
          </p:nvPr>
        </p:nvSpPr>
        <p:spPr/>
        <p:txBody>
          <a:bodyPr/>
          <a:lstStyle/>
          <a:p>
            <a:fld id="{48F63A3B-78C7-47BE-AE5E-E10140E04643}" type="slidenum">
              <a:rPr lang="en-US" dirty="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684843"/>
            <a:ext cx="10515600" cy="686126"/>
          </a:xfrm>
          <a:prstGeom prst="rect">
            <a:avLst/>
          </a:prstGeom>
        </p:spPr>
        <p:txBody>
          <a:bodyPr vert="horz" wrap="square" lIns="0" tIns="8930" rIns="0" bIns="0" rtlCol="0">
            <a:spAutoFit/>
          </a:bodyPr>
          <a:lstStyle/>
          <a:p>
            <a:pPr marL="1998345">
              <a:lnSpc>
                <a:spcPct val="100000"/>
              </a:lnSpc>
              <a:spcBef>
                <a:spcPts val="70"/>
              </a:spcBef>
            </a:pPr>
            <a:r>
              <a:rPr b="1" spc="67">
                <a:solidFill>
                  <a:srgbClr val="FF7B00"/>
                </a:solidFill>
              </a:rPr>
              <a:t>Process</a:t>
            </a:r>
            <a:r>
              <a:rPr b="1" spc="11">
                <a:solidFill>
                  <a:srgbClr val="FF7B00"/>
                </a:solidFill>
              </a:rPr>
              <a:t> </a:t>
            </a:r>
            <a:r>
              <a:rPr b="1" spc="105">
                <a:solidFill>
                  <a:srgbClr val="FF7B00"/>
                </a:solidFill>
              </a:rPr>
              <a:t>Abstraction</a:t>
            </a:r>
            <a:endParaRPr lang="en-US" b="1">
              <a:solidFill>
                <a:srgbClr val="FF7B00"/>
              </a:solidFill>
            </a:endParaRPr>
          </a:p>
        </p:txBody>
      </p:sp>
      <p:sp>
        <p:nvSpPr>
          <p:cNvPr id="3" name="object 3"/>
          <p:cNvSpPr txBox="1"/>
          <p:nvPr/>
        </p:nvSpPr>
        <p:spPr>
          <a:xfrm>
            <a:off x="1179199" y="1696076"/>
            <a:ext cx="10172397" cy="4794621"/>
          </a:xfrm>
          <a:prstGeom prst="rect">
            <a:avLst/>
          </a:prstGeom>
        </p:spPr>
        <p:txBody>
          <a:bodyPr vert="horz" wrap="square" lIns="0" tIns="23216" rIns="0" bIns="0" rtlCol="0" anchor="t">
            <a:spAutoFit/>
          </a:bodyPr>
          <a:lstStyle/>
          <a:p>
            <a:pPr marL="242570" marR="12065" indent="-224790">
              <a:lnSpc>
                <a:spcPts val="2391"/>
              </a:lnSpc>
              <a:spcBef>
                <a:spcPts val="182"/>
              </a:spcBef>
              <a:buSzPct val="145614"/>
              <a:buChar char="•"/>
              <a:tabLst>
                <a:tab pos="242879" algn="l"/>
              </a:tabLst>
            </a:pPr>
            <a:r>
              <a:rPr sz="2000">
                <a:latin typeface="Arial MT"/>
                <a:cs typeface="Arial MT"/>
              </a:rPr>
              <a:t>All</a:t>
            </a:r>
            <a:r>
              <a:rPr sz="2000" spc="98">
                <a:latin typeface="Arial MT"/>
                <a:cs typeface="Arial MT"/>
              </a:rPr>
              <a:t> </a:t>
            </a:r>
            <a:r>
              <a:rPr sz="2000">
                <a:latin typeface="Arial MT"/>
                <a:cs typeface="Arial MT"/>
              </a:rPr>
              <a:t>subprograms</a:t>
            </a:r>
            <a:r>
              <a:rPr sz="2000" spc="105">
                <a:latin typeface="Arial MT"/>
                <a:cs typeface="Arial MT"/>
              </a:rPr>
              <a:t> </a:t>
            </a:r>
            <a:r>
              <a:rPr sz="2000">
                <a:latin typeface="Arial MT"/>
                <a:cs typeface="Arial MT"/>
              </a:rPr>
              <a:t>are</a:t>
            </a:r>
            <a:r>
              <a:rPr sz="2000" spc="102">
                <a:latin typeface="Arial MT"/>
                <a:cs typeface="Arial MT"/>
              </a:rPr>
              <a:t> </a:t>
            </a:r>
            <a:r>
              <a:rPr sz="2000">
                <a:latin typeface="Arial MT"/>
                <a:cs typeface="Arial MT"/>
              </a:rPr>
              <a:t>process</a:t>
            </a:r>
            <a:r>
              <a:rPr sz="2000" spc="105">
                <a:latin typeface="Arial MT"/>
                <a:cs typeface="Arial MT"/>
              </a:rPr>
              <a:t> </a:t>
            </a:r>
            <a:r>
              <a:rPr sz="2000">
                <a:latin typeface="Arial MT"/>
                <a:cs typeface="Arial MT"/>
              </a:rPr>
              <a:t>abstractions</a:t>
            </a:r>
            <a:r>
              <a:rPr sz="2000" spc="105">
                <a:latin typeface="Arial MT"/>
                <a:cs typeface="Arial MT"/>
              </a:rPr>
              <a:t> </a:t>
            </a:r>
            <a:r>
              <a:rPr sz="2000">
                <a:latin typeface="Arial MT"/>
                <a:cs typeface="Arial MT"/>
              </a:rPr>
              <a:t>because</a:t>
            </a:r>
            <a:r>
              <a:rPr sz="2000" spc="105">
                <a:latin typeface="Arial MT"/>
                <a:cs typeface="Arial MT"/>
              </a:rPr>
              <a:t> </a:t>
            </a:r>
            <a:r>
              <a:rPr sz="2000">
                <a:latin typeface="Arial MT"/>
                <a:cs typeface="Arial MT"/>
              </a:rPr>
              <a:t>they</a:t>
            </a:r>
            <a:r>
              <a:rPr sz="2000" spc="105">
                <a:latin typeface="Arial MT"/>
                <a:cs typeface="Arial MT"/>
              </a:rPr>
              <a:t> </a:t>
            </a:r>
            <a:r>
              <a:rPr sz="2000" spc="-7">
                <a:latin typeface="Arial MT"/>
                <a:cs typeface="Arial MT"/>
              </a:rPr>
              <a:t>provide</a:t>
            </a:r>
            <a:r>
              <a:rPr sz="2000" spc="499">
                <a:latin typeface="Arial MT"/>
                <a:cs typeface="Arial MT"/>
              </a:rPr>
              <a:t> </a:t>
            </a:r>
            <a:r>
              <a:rPr sz="2000">
                <a:latin typeface="Arial MT"/>
                <a:cs typeface="Arial MT"/>
              </a:rPr>
              <a:t>a</a:t>
            </a:r>
            <a:r>
              <a:rPr sz="2000" spc="70">
                <a:latin typeface="Arial MT"/>
                <a:cs typeface="Arial MT"/>
              </a:rPr>
              <a:t> </a:t>
            </a:r>
            <a:r>
              <a:rPr sz="2000">
                <a:latin typeface="Arial MT"/>
                <a:cs typeface="Arial MT"/>
              </a:rPr>
              <a:t>way</a:t>
            </a:r>
            <a:r>
              <a:rPr sz="2000" spc="77">
                <a:latin typeface="Arial MT"/>
                <a:cs typeface="Arial MT"/>
              </a:rPr>
              <a:t> </a:t>
            </a:r>
            <a:r>
              <a:rPr sz="2000">
                <a:latin typeface="Arial MT"/>
                <a:cs typeface="Arial MT"/>
              </a:rPr>
              <a:t>for</a:t>
            </a:r>
            <a:r>
              <a:rPr sz="2000" spc="77">
                <a:latin typeface="Arial MT"/>
                <a:cs typeface="Arial MT"/>
              </a:rPr>
              <a:t> </a:t>
            </a:r>
            <a:r>
              <a:rPr sz="2000">
                <a:latin typeface="Arial MT"/>
                <a:cs typeface="Arial MT"/>
              </a:rPr>
              <a:t>a</a:t>
            </a:r>
            <a:r>
              <a:rPr sz="2000" spc="77">
                <a:latin typeface="Arial MT"/>
                <a:cs typeface="Arial MT"/>
              </a:rPr>
              <a:t> </a:t>
            </a:r>
            <a:r>
              <a:rPr sz="2000">
                <a:latin typeface="Arial MT"/>
                <a:cs typeface="Arial MT"/>
              </a:rPr>
              <a:t>program</a:t>
            </a:r>
            <a:r>
              <a:rPr sz="2000" spc="77">
                <a:latin typeface="Arial MT"/>
                <a:cs typeface="Arial MT"/>
              </a:rPr>
              <a:t> </a:t>
            </a:r>
            <a:r>
              <a:rPr sz="2000" spc="56">
                <a:latin typeface="Arial MT"/>
                <a:cs typeface="Arial MT"/>
              </a:rPr>
              <a:t>to</a:t>
            </a:r>
            <a:r>
              <a:rPr sz="2000" spc="77">
                <a:latin typeface="Arial MT"/>
                <a:cs typeface="Arial MT"/>
              </a:rPr>
              <a:t> </a:t>
            </a:r>
            <a:r>
              <a:rPr sz="2000">
                <a:latin typeface="Arial MT"/>
                <a:cs typeface="Arial MT"/>
              </a:rPr>
              <a:t>specify</a:t>
            </a:r>
            <a:r>
              <a:rPr sz="2000" spc="80">
                <a:latin typeface="Arial MT"/>
                <a:cs typeface="Arial MT"/>
              </a:rPr>
              <a:t> </a:t>
            </a:r>
            <a:r>
              <a:rPr sz="2000">
                <a:latin typeface="Arial MT"/>
                <a:cs typeface="Arial MT"/>
              </a:rPr>
              <a:t>a</a:t>
            </a:r>
            <a:r>
              <a:rPr sz="2000" spc="77">
                <a:latin typeface="Arial MT"/>
                <a:cs typeface="Arial MT"/>
              </a:rPr>
              <a:t> </a:t>
            </a:r>
            <a:r>
              <a:rPr sz="2000">
                <a:latin typeface="Arial MT"/>
                <a:cs typeface="Arial MT"/>
              </a:rPr>
              <a:t>process,</a:t>
            </a:r>
            <a:r>
              <a:rPr sz="2000" spc="77">
                <a:latin typeface="Arial MT"/>
                <a:cs typeface="Arial MT"/>
              </a:rPr>
              <a:t> </a:t>
            </a:r>
            <a:r>
              <a:rPr sz="2000" spc="42">
                <a:latin typeface="Arial MT"/>
                <a:cs typeface="Arial MT"/>
              </a:rPr>
              <a:t>without</a:t>
            </a:r>
            <a:r>
              <a:rPr sz="2000" spc="77">
                <a:latin typeface="Arial MT"/>
                <a:cs typeface="Arial MT"/>
              </a:rPr>
              <a:t> </a:t>
            </a:r>
            <a:r>
              <a:rPr sz="2000">
                <a:latin typeface="Arial MT"/>
                <a:cs typeface="Arial MT"/>
              </a:rPr>
              <a:t>providing</a:t>
            </a:r>
            <a:r>
              <a:rPr sz="2000" spc="77">
                <a:latin typeface="Arial MT"/>
                <a:cs typeface="Arial MT"/>
              </a:rPr>
              <a:t> </a:t>
            </a:r>
            <a:r>
              <a:rPr sz="2000" spc="-18">
                <a:latin typeface="Arial MT"/>
                <a:cs typeface="Arial MT"/>
              </a:rPr>
              <a:t>the </a:t>
            </a:r>
            <a:r>
              <a:rPr sz="2000">
                <a:latin typeface="Arial MT"/>
                <a:cs typeface="Arial MT"/>
              </a:rPr>
              <a:t>details</a:t>
            </a:r>
            <a:r>
              <a:rPr sz="2000" spc="42">
                <a:latin typeface="Arial MT"/>
                <a:cs typeface="Arial MT"/>
              </a:rPr>
              <a:t> </a:t>
            </a:r>
            <a:r>
              <a:rPr sz="2000" spc="39">
                <a:latin typeface="Arial MT"/>
                <a:cs typeface="Arial MT"/>
              </a:rPr>
              <a:t>of</a:t>
            </a:r>
            <a:r>
              <a:rPr sz="2000" spc="49">
                <a:latin typeface="Arial MT"/>
                <a:cs typeface="Arial MT"/>
              </a:rPr>
              <a:t> </a:t>
            </a:r>
            <a:r>
              <a:rPr sz="2000" spc="35">
                <a:latin typeface="Arial MT"/>
                <a:cs typeface="Arial MT"/>
              </a:rPr>
              <a:t>how</a:t>
            </a:r>
            <a:r>
              <a:rPr sz="2000" spc="49">
                <a:latin typeface="Arial MT"/>
                <a:cs typeface="Arial MT"/>
              </a:rPr>
              <a:t> </a:t>
            </a:r>
            <a:r>
              <a:rPr sz="2000" spc="39">
                <a:latin typeface="Arial MT"/>
                <a:cs typeface="Arial MT"/>
              </a:rPr>
              <a:t>it</a:t>
            </a:r>
            <a:r>
              <a:rPr sz="2000" spc="53">
                <a:latin typeface="Arial MT"/>
                <a:cs typeface="Arial MT"/>
              </a:rPr>
              <a:t> </a:t>
            </a:r>
            <a:r>
              <a:rPr sz="2000">
                <a:latin typeface="Arial MT"/>
                <a:cs typeface="Arial MT"/>
              </a:rPr>
              <a:t>performs</a:t>
            </a:r>
            <a:r>
              <a:rPr sz="2000" spc="49">
                <a:latin typeface="Arial MT"/>
                <a:cs typeface="Arial MT"/>
              </a:rPr>
              <a:t> </a:t>
            </a:r>
            <a:r>
              <a:rPr sz="2000">
                <a:latin typeface="Arial MT"/>
                <a:cs typeface="Arial MT"/>
              </a:rPr>
              <a:t>its</a:t>
            </a:r>
            <a:r>
              <a:rPr sz="2000" spc="49">
                <a:latin typeface="Arial MT"/>
                <a:cs typeface="Arial MT"/>
              </a:rPr>
              <a:t> </a:t>
            </a:r>
            <a:r>
              <a:rPr sz="2000">
                <a:latin typeface="Arial MT"/>
                <a:cs typeface="Arial MT"/>
              </a:rPr>
              <a:t>task</a:t>
            </a:r>
            <a:r>
              <a:rPr sz="2000" spc="49">
                <a:latin typeface="Arial MT"/>
                <a:cs typeface="Arial MT"/>
              </a:rPr>
              <a:t> </a:t>
            </a:r>
            <a:r>
              <a:rPr sz="2000">
                <a:latin typeface="Arial MT"/>
                <a:cs typeface="Arial MT"/>
              </a:rPr>
              <a:t>(at</a:t>
            </a:r>
            <a:r>
              <a:rPr sz="2000" spc="49">
                <a:latin typeface="Arial MT"/>
                <a:cs typeface="Arial MT"/>
              </a:rPr>
              <a:t> </a:t>
            </a:r>
            <a:r>
              <a:rPr sz="2000">
                <a:latin typeface="Arial MT"/>
                <a:cs typeface="Arial MT"/>
              </a:rPr>
              <a:t>least</a:t>
            </a:r>
            <a:r>
              <a:rPr sz="2000" spc="49">
                <a:latin typeface="Arial MT"/>
                <a:cs typeface="Arial MT"/>
              </a:rPr>
              <a:t> </a:t>
            </a:r>
            <a:r>
              <a:rPr sz="2000">
                <a:latin typeface="Arial MT"/>
                <a:cs typeface="Arial MT"/>
              </a:rPr>
              <a:t>in</a:t>
            </a:r>
            <a:r>
              <a:rPr sz="2000" spc="49">
                <a:latin typeface="Arial MT"/>
                <a:cs typeface="Arial MT"/>
              </a:rPr>
              <a:t> </a:t>
            </a:r>
            <a:r>
              <a:rPr sz="2000">
                <a:latin typeface="Arial MT"/>
                <a:cs typeface="Arial MT"/>
              </a:rPr>
              <a:t>the</a:t>
            </a:r>
            <a:r>
              <a:rPr sz="2000" spc="53">
                <a:latin typeface="Arial MT"/>
                <a:cs typeface="Arial MT"/>
              </a:rPr>
              <a:t> </a:t>
            </a:r>
            <a:r>
              <a:rPr sz="2000">
                <a:latin typeface="Arial MT"/>
                <a:cs typeface="Arial MT"/>
              </a:rPr>
              <a:t>calling</a:t>
            </a:r>
            <a:r>
              <a:rPr sz="2000" spc="49">
                <a:latin typeface="Arial MT"/>
                <a:cs typeface="Arial MT"/>
              </a:rPr>
              <a:t> </a:t>
            </a:r>
            <a:r>
              <a:rPr sz="2000" spc="-7">
                <a:latin typeface="Arial MT"/>
                <a:cs typeface="Arial MT"/>
              </a:rPr>
              <a:t>program).</a:t>
            </a:r>
            <a:endParaRPr lang="en-US" sz="2000">
              <a:latin typeface="Arial MT"/>
              <a:cs typeface="Arial MT"/>
            </a:endParaRPr>
          </a:p>
          <a:p>
            <a:pPr marL="242570" marR="115570" indent="-224790">
              <a:lnSpc>
                <a:spcPts val="2391"/>
              </a:lnSpc>
              <a:spcBef>
                <a:spcPts val="2123"/>
              </a:spcBef>
              <a:buSzPct val="145614"/>
              <a:buChar char="•"/>
              <a:tabLst>
                <a:tab pos="242879" algn="l"/>
                <a:tab pos="904992" algn="l"/>
              </a:tabLst>
            </a:pPr>
            <a:r>
              <a:rPr sz="2000" spc="-7">
                <a:latin typeface="Arial MT"/>
                <a:cs typeface="Arial MT"/>
              </a:rPr>
              <a:t>E.g.:</a:t>
            </a:r>
            <a:r>
              <a:rPr sz="2000">
                <a:latin typeface="Arial MT"/>
                <a:cs typeface="Arial MT"/>
              </a:rPr>
              <a:t>	when</a:t>
            </a:r>
            <a:r>
              <a:rPr sz="2000" spc="32">
                <a:latin typeface="Arial MT"/>
                <a:cs typeface="Arial MT"/>
              </a:rPr>
              <a:t> </a:t>
            </a:r>
            <a:r>
              <a:rPr sz="2000">
                <a:latin typeface="Arial MT"/>
                <a:cs typeface="Arial MT"/>
              </a:rPr>
              <a:t>a</a:t>
            </a:r>
            <a:r>
              <a:rPr sz="2000" spc="42">
                <a:latin typeface="Arial MT"/>
                <a:cs typeface="Arial MT"/>
              </a:rPr>
              <a:t> </a:t>
            </a:r>
            <a:r>
              <a:rPr sz="2000">
                <a:latin typeface="Arial MT"/>
                <a:cs typeface="Arial MT"/>
              </a:rPr>
              <a:t>program</a:t>
            </a:r>
            <a:r>
              <a:rPr sz="2000" spc="39">
                <a:latin typeface="Arial MT"/>
                <a:cs typeface="Arial MT"/>
              </a:rPr>
              <a:t> </a:t>
            </a:r>
            <a:r>
              <a:rPr sz="2000">
                <a:latin typeface="Arial MT"/>
                <a:cs typeface="Arial MT"/>
              </a:rPr>
              <a:t>needs</a:t>
            </a:r>
            <a:r>
              <a:rPr sz="2000" spc="39">
                <a:latin typeface="Arial MT"/>
                <a:cs typeface="Arial MT"/>
              </a:rPr>
              <a:t> </a:t>
            </a:r>
            <a:r>
              <a:rPr sz="2000" spc="56">
                <a:latin typeface="Arial MT"/>
                <a:cs typeface="Arial MT"/>
              </a:rPr>
              <a:t>to</a:t>
            </a:r>
            <a:r>
              <a:rPr sz="2000" spc="42">
                <a:latin typeface="Arial MT"/>
                <a:cs typeface="Arial MT"/>
              </a:rPr>
              <a:t> </a:t>
            </a:r>
            <a:r>
              <a:rPr sz="2000">
                <a:latin typeface="Arial MT"/>
                <a:cs typeface="Arial MT"/>
              </a:rPr>
              <a:t>sort</a:t>
            </a:r>
            <a:r>
              <a:rPr sz="2000" spc="42">
                <a:latin typeface="Arial MT"/>
                <a:cs typeface="Arial MT"/>
              </a:rPr>
              <a:t> </a:t>
            </a:r>
            <a:r>
              <a:rPr sz="2000">
                <a:latin typeface="Arial MT"/>
                <a:cs typeface="Arial MT"/>
              </a:rPr>
              <a:t>an</a:t>
            </a:r>
            <a:r>
              <a:rPr sz="2000" spc="39">
                <a:latin typeface="Arial MT"/>
                <a:cs typeface="Arial MT"/>
              </a:rPr>
              <a:t> </a:t>
            </a:r>
            <a:r>
              <a:rPr sz="2000">
                <a:latin typeface="Arial MT"/>
                <a:cs typeface="Arial MT"/>
              </a:rPr>
              <a:t>array</a:t>
            </a:r>
            <a:r>
              <a:rPr sz="2000" spc="42">
                <a:latin typeface="Arial MT"/>
                <a:cs typeface="Arial MT"/>
              </a:rPr>
              <a:t> </a:t>
            </a:r>
            <a:r>
              <a:rPr sz="2000" spc="39">
                <a:latin typeface="Arial MT"/>
                <a:cs typeface="Arial MT"/>
              </a:rPr>
              <a:t>of </a:t>
            </a:r>
            <a:r>
              <a:rPr sz="2000">
                <a:latin typeface="Arial MT"/>
                <a:cs typeface="Arial MT"/>
              </a:rPr>
              <a:t>numeric</a:t>
            </a:r>
            <a:r>
              <a:rPr sz="2000" spc="42">
                <a:latin typeface="Arial MT"/>
                <a:cs typeface="Arial MT"/>
              </a:rPr>
              <a:t> </a:t>
            </a:r>
            <a:r>
              <a:rPr sz="2000">
                <a:latin typeface="Arial MT"/>
                <a:cs typeface="Arial MT"/>
              </a:rPr>
              <a:t>data</a:t>
            </a:r>
            <a:r>
              <a:rPr sz="2000" spc="39">
                <a:latin typeface="Arial MT"/>
                <a:cs typeface="Arial MT"/>
              </a:rPr>
              <a:t> </a:t>
            </a:r>
            <a:r>
              <a:rPr sz="2000" spc="21">
                <a:latin typeface="Arial MT"/>
                <a:cs typeface="Arial MT"/>
              </a:rPr>
              <a:t>of </a:t>
            </a:r>
            <a:r>
              <a:rPr sz="2000">
                <a:latin typeface="Arial MT"/>
                <a:cs typeface="Arial MT"/>
              </a:rPr>
              <a:t>some</a:t>
            </a:r>
            <a:r>
              <a:rPr sz="2000" spc="74">
                <a:latin typeface="Arial MT"/>
                <a:cs typeface="Arial MT"/>
              </a:rPr>
              <a:t> </a:t>
            </a:r>
            <a:r>
              <a:rPr sz="2000">
                <a:latin typeface="Arial MT"/>
                <a:cs typeface="Arial MT"/>
              </a:rPr>
              <a:t>type,</a:t>
            </a:r>
            <a:r>
              <a:rPr sz="2000" spc="74">
                <a:latin typeface="Arial MT"/>
                <a:cs typeface="Arial MT"/>
              </a:rPr>
              <a:t> </a:t>
            </a:r>
            <a:r>
              <a:rPr sz="2000" spc="39">
                <a:latin typeface="Arial MT"/>
                <a:cs typeface="Arial MT"/>
              </a:rPr>
              <a:t>it</a:t>
            </a:r>
            <a:r>
              <a:rPr sz="2000" spc="74">
                <a:latin typeface="Arial MT"/>
                <a:cs typeface="Arial MT"/>
              </a:rPr>
              <a:t> </a:t>
            </a:r>
            <a:r>
              <a:rPr sz="2000">
                <a:latin typeface="Arial MT"/>
                <a:cs typeface="Arial MT"/>
              </a:rPr>
              <a:t>usually</a:t>
            </a:r>
            <a:r>
              <a:rPr sz="2000" spc="74">
                <a:latin typeface="Arial MT"/>
                <a:cs typeface="Arial MT"/>
              </a:rPr>
              <a:t> </a:t>
            </a:r>
            <a:r>
              <a:rPr sz="2000">
                <a:latin typeface="Arial MT"/>
                <a:cs typeface="Arial MT"/>
              </a:rPr>
              <a:t>uses</a:t>
            </a:r>
            <a:r>
              <a:rPr sz="2000" spc="74">
                <a:latin typeface="Arial MT"/>
                <a:cs typeface="Arial MT"/>
              </a:rPr>
              <a:t> </a:t>
            </a:r>
            <a:r>
              <a:rPr sz="2000">
                <a:latin typeface="Arial MT"/>
                <a:cs typeface="Arial MT"/>
              </a:rPr>
              <a:t>a</a:t>
            </a:r>
            <a:r>
              <a:rPr sz="2000" spc="74">
                <a:latin typeface="Arial MT"/>
                <a:cs typeface="Arial MT"/>
              </a:rPr>
              <a:t> </a:t>
            </a:r>
            <a:r>
              <a:rPr sz="2000">
                <a:latin typeface="Arial MT"/>
                <a:cs typeface="Arial MT"/>
              </a:rPr>
              <a:t>subprogram</a:t>
            </a:r>
            <a:r>
              <a:rPr sz="2000" spc="74">
                <a:latin typeface="Arial MT"/>
                <a:cs typeface="Arial MT"/>
              </a:rPr>
              <a:t> </a:t>
            </a:r>
            <a:r>
              <a:rPr sz="2000">
                <a:latin typeface="Arial MT"/>
                <a:cs typeface="Arial MT"/>
              </a:rPr>
              <a:t>for</a:t>
            </a:r>
            <a:r>
              <a:rPr sz="2000" spc="74">
                <a:latin typeface="Arial MT"/>
                <a:cs typeface="Arial MT"/>
              </a:rPr>
              <a:t> </a:t>
            </a:r>
            <a:r>
              <a:rPr sz="2000">
                <a:latin typeface="Arial MT"/>
                <a:cs typeface="Arial MT"/>
              </a:rPr>
              <a:t>the</a:t>
            </a:r>
            <a:r>
              <a:rPr sz="2000" spc="74">
                <a:latin typeface="Arial MT"/>
                <a:cs typeface="Arial MT"/>
              </a:rPr>
              <a:t> </a:t>
            </a:r>
            <a:r>
              <a:rPr sz="2000">
                <a:latin typeface="Arial MT"/>
                <a:cs typeface="Arial MT"/>
              </a:rPr>
              <a:t>sorting</a:t>
            </a:r>
            <a:r>
              <a:rPr sz="2000" spc="74">
                <a:latin typeface="Arial MT"/>
                <a:cs typeface="Arial MT"/>
              </a:rPr>
              <a:t> </a:t>
            </a:r>
            <a:r>
              <a:rPr sz="2000" spc="-7">
                <a:latin typeface="Arial MT"/>
                <a:cs typeface="Arial MT"/>
              </a:rPr>
              <a:t>process.</a:t>
            </a:r>
            <a:endParaRPr sz="2000">
              <a:latin typeface="Arial MT"/>
              <a:cs typeface="Arial MT"/>
            </a:endParaRPr>
          </a:p>
          <a:p>
            <a:pPr marL="241935" indent="-224155">
              <a:lnSpc>
                <a:spcPct val="100000"/>
              </a:lnSpc>
              <a:spcBef>
                <a:spcPts val="2035"/>
              </a:spcBef>
              <a:buSzPct val="145614"/>
              <a:buChar char="•"/>
              <a:tabLst>
                <a:tab pos="242432" algn="l"/>
              </a:tabLst>
            </a:pPr>
            <a:r>
              <a:rPr sz="2000">
                <a:latin typeface="Arial MT"/>
                <a:cs typeface="Arial MT"/>
              </a:rPr>
              <a:t>E.g.</a:t>
            </a:r>
            <a:r>
              <a:rPr sz="2000" spc="32">
                <a:latin typeface="Arial MT"/>
                <a:cs typeface="Arial MT"/>
              </a:rPr>
              <a:t> </a:t>
            </a:r>
            <a:r>
              <a:rPr sz="2000">
                <a:latin typeface="Arial MT"/>
                <a:cs typeface="Arial MT"/>
              </a:rPr>
              <a:t>sortInt(list,</a:t>
            </a:r>
            <a:r>
              <a:rPr sz="2000" spc="32">
                <a:latin typeface="Arial MT"/>
                <a:cs typeface="Arial MT"/>
              </a:rPr>
              <a:t> </a:t>
            </a:r>
            <a:r>
              <a:rPr sz="2000" spc="-7">
                <a:latin typeface="Arial MT"/>
                <a:cs typeface="Arial MT"/>
              </a:rPr>
              <a:t>listLen)</a:t>
            </a:r>
            <a:endParaRPr sz="2000">
              <a:latin typeface="Arial MT"/>
              <a:cs typeface="Arial MT"/>
            </a:endParaRPr>
          </a:p>
          <a:p>
            <a:pPr marL="242570" marR="340995" indent="-224790">
              <a:lnSpc>
                <a:spcPts val="2391"/>
              </a:lnSpc>
              <a:spcBef>
                <a:spcPts val="2204"/>
              </a:spcBef>
              <a:buSzPct val="145614"/>
              <a:buChar char="•"/>
              <a:tabLst>
                <a:tab pos="242879" algn="l"/>
              </a:tabLst>
            </a:pPr>
            <a:r>
              <a:rPr sz="2000">
                <a:latin typeface="Arial MT"/>
                <a:cs typeface="Arial MT"/>
              </a:rPr>
              <a:t>This</a:t>
            </a:r>
            <a:r>
              <a:rPr sz="2000" spc="80">
                <a:latin typeface="Arial MT"/>
                <a:cs typeface="Arial MT"/>
              </a:rPr>
              <a:t> </a:t>
            </a:r>
            <a:r>
              <a:rPr sz="2000">
                <a:latin typeface="Arial MT"/>
                <a:cs typeface="Arial MT"/>
              </a:rPr>
              <a:t>call</a:t>
            </a:r>
            <a:r>
              <a:rPr sz="2000" spc="80">
                <a:latin typeface="Arial MT"/>
                <a:cs typeface="Arial MT"/>
              </a:rPr>
              <a:t> </a:t>
            </a:r>
            <a:r>
              <a:rPr sz="2000">
                <a:latin typeface="Arial MT"/>
                <a:cs typeface="Arial MT"/>
              </a:rPr>
              <a:t>is</a:t>
            </a:r>
            <a:r>
              <a:rPr sz="2000" spc="80">
                <a:latin typeface="Arial MT"/>
                <a:cs typeface="Arial MT"/>
              </a:rPr>
              <a:t> </a:t>
            </a:r>
            <a:r>
              <a:rPr sz="2000">
                <a:latin typeface="Arial MT"/>
                <a:cs typeface="Arial MT"/>
              </a:rPr>
              <a:t>an</a:t>
            </a:r>
            <a:r>
              <a:rPr sz="2000" spc="80">
                <a:latin typeface="Arial MT"/>
                <a:cs typeface="Arial MT"/>
              </a:rPr>
              <a:t> </a:t>
            </a:r>
            <a:r>
              <a:rPr sz="2000">
                <a:latin typeface="Arial MT"/>
                <a:cs typeface="Arial MT"/>
              </a:rPr>
              <a:t>abstraction</a:t>
            </a:r>
            <a:r>
              <a:rPr sz="2000" spc="80">
                <a:latin typeface="Arial MT"/>
                <a:cs typeface="Arial MT"/>
              </a:rPr>
              <a:t> </a:t>
            </a:r>
            <a:r>
              <a:rPr sz="2000" spc="39">
                <a:latin typeface="Arial MT"/>
                <a:cs typeface="Arial MT"/>
              </a:rPr>
              <a:t>of</a:t>
            </a:r>
            <a:r>
              <a:rPr sz="2000" spc="80">
                <a:latin typeface="Arial MT"/>
                <a:cs typeface="Arial MT"/>
              </a:rPr>
              <a:t> </a:t>
            </a:r>
            <a:r>
              <a:rPr sz="2000">
                <a:latin typeface="Arial MT"/>
                <a:cs typeface="Arial MT"/>
              </a:rPr>
              <a:t>the</a:t>
            </a:r>
            <a:r>
              <a:rPr sz="2000" spc="80">
                <a:latin typeface="Arial MT"/>
                <a:cs typeface="Arial MT"/>
              </a:rPr>
              <a:t> </a:t>
            </a:r>
            <a:r>
              <a:rPr sz="2000">
                <a:latin typeface="Arial MT"/>
                <a:cs typeface="Arial MT"/>
              </a:rPr>
              <a:t>actual</a:t>
            </a:r>
            <a:r>
              <a:rPr sz="2000" spc="80">
                <a:latin typeface="Arial MT"/>
                <a:cs typeface="Arial MT"/>
              </a:rPr>
              <a:t> </a:t>
            </a:r>
            <a:r>
              <a:rPr sz="2000">
                <a:latin typeface="Arial MT"/>
                <a:cs typeface="Arial MT"/>
              </a:rPr>
              <a:t>sorting</a:t>
            </a:r>
            <a:r>
              <a:rPr sz="2000" spc="80">
                <a:latin typeface="Arial MT"/>
                <a:cs typeface="Arial MT"/>
              </a:rPr>
              <a:t> </a:t>
            </a:r>
            <a:r>
              <a:rPr sz="2000">
                <a:latin typeface="Arial MT"/>
                <a:cs typeface="Arial MT"/>
              </a:rPr>
              <a:t>process,</a:t>
            </a:r>
            <a:r>
              <a:rPr sz="2000" spc="80">
                <a:latin typeface="Arial MT"/>
                <a:cs typeface="Arial MT"/>
              </a:rPr>
              <a:t> </a:t>
            </a:r>
            <a:r>
              <a:rPr sz="2000" spc="-7">
                <a:latin typeface="Arial MT"/>
                <a:cs typeface="Arial MT"/>
              </a:rPr>
              <a:t>whose </a:t>
            </a:r>
            <a:r>
              <a:rPr sz="2000">
                <a:latin typeface="Arial MT"/>
                <a:cs typeface="Arial MT"/>
              </a:rPr>
              <a:t>algorithm</a:t>
            </a:r>
            <a:r>
              <a:rPr sz="2000" spc="56">
                <a:latin typeface="Arial MT"/>
                <a:cs typeface="Arial MT"/>
              </a:rPr>
              <a:t> </a:t>
            </a:r>
            <a:r>
              <a:rPr sz="2000">
                <a:latin typeface="Arial MT"/>
                <a:cs typeface="Arial MT"/>
              </a:rPr>
              <a:t>is</a:t>
            </a:r>
            <a:r>
              <a:rPr sz="2000" spc="67">
                <a:latin typeface="Arial MT"/>
                <a:cs typeface="Arial MT"/>
              </a:rPr>
              <a:t> </a:t>
            </a:r>
            <a:r>
              <a:rPr sz="2000" spc="46">
                <a:latin typeface="Arial MT"/>
                <a:cs typeface="Arial MT"/>
              </a:rPr>
              <a:t>not</a:t>
            </a:r>
            <a:r>
              <a:rPr sz="2000" spc="63">
                <a:latin typeface="Arial MT"/>
                <a:cs typeface="Arial MT"/>
              </a:rPr>
              <a:t> </a:t>
            </a:r>
            <a:r>
              <a:rPr sz="2000">
                <a:latin typeface="Arial MT"/>
                <a:cs typeface="Arial MT"/>
              </a:rPr>
              <a:t>specified.</a:t>
            </a:r>
            <a:r>
              <a:rPr sz="2000" spc="67">
                <a:latin typeface="Arial MT"/>
                <a:cs typeface="Arial MT"/>
              </a:rPr>
              <a:t> </a:t>
            </a:r>
            <a:r>
              <a:rPr sz="2000">
                <a:latin typeface="Arial MT"/>
                <a:cs typeface="Arial MT"/>
              </a:rPr>
              <a:t>The</a:t>
            </a:r>
            <a:r>
              <a:rPr sz="2000" spc="63">
                <a:latin typeface="Arial MT"/>
                <a:cs typeface="Arial MT"/>
              </a:rPr>
              <a:t> </a:t>
            </a:r>
            <a:r>
              <a:rPr sz="2000">
                <a:latin typeface="Arial MT"/>
                <a:cs typeface="Arial MT"/>
              </a:rPr>
              <a:t>call</a:t>
            </a:r>
            <a:r>
              <a:rPr sz="2000" spc="67">
                <a:latin typeface="Arial MT"/>
                <a:cs typeface="Arial MT"/>
              </a:rPr>
              <a:t> </a:t>
            </a:r>
            <a:r>
              <a:rPr sz="2000">
                <a:latin typeface="Arial MT"/>
                <a:cs typeface="Arial MT"/>
              </a:rPr>
              <a:t>is</a:t>
            </a:r>
            <a:r>
              <a:rPr sz="2000" spc="63">
                <a:latin typeface="Arial MT"/>
                <a:cs typeface="Arial MT"/>
              </a:rPr>
              <a:t> </a:t>
            </a:r>
            <a:r>
              <a:rPr sz="2000">
                <a:latin typeface="Arial MT"/>
                <a:cs typeface="Arial MT"/>
              </a:rPr>
              <a:t>independent</a:t>
            </a:r>
            <a:r>
              <a:rPr sz="2000" spc="63">
                <a:latin typeface="Arial MT"/>
                <a:cs typeface="Arial MT"/>
              </a:rPr>
              <a:t> </a:t>
            </a:r>
            <a:r>
              <a:rPr sz="2000" spc="39">
                <a:latin typeface="Arial MT"/>
                <a:cs typeface="Arial MT"/>
              </a:rPr>
              <a:t>of</a:t>
            </a:r>
            <a:r>
              <a:rPr sz="2000" spc="67">
                <a:latin typeface="Arial MT"/>
                <a:cs typeface="Arial MT"/>
              </a:rPr>
              <a:t> </a:t>
            </a:r>
            <a:r>
              <a:rPr sz="2000" spc="-18">
                <a:latin typeface="Arial MT"/>
                <a:cs typeface="Arial MT"/>
              </a:rPr>
              <a:t>the </a:t>
            </a:r>
            <a:r>
              <a:rPr sz="2000">
                <a:latin typeface="Arial MT"/>
                <a:cs typeface="Arial MT"/>
              </a:rPr>
              <a:t>algorithm</a:t>
            </a:r>
            <a:r>
              <a:rPr sz="2000" spc="116">
                <a:latin typeface="Arial MT"/>
                <a:cs typeface="Arial MT"/>
              </a:rPr>
              <a:t> </a:t>
            </a:r>
            <a:r>
              <a:rPr sz="2000">
                <a:latin typeface="Arial MT"/>
                <a:cs typeface="Arial MT"/>
              </a:rPr>
              <a:t>implemented</a:t>
            </a:r>
            <a:r>
              <a:rPr sz="2000" spc="112">
                <a:latin typeface="Arial MT"/>
                <a:cs typeface="Arial MT"/>
              </a:rPr>
              <a:t> </a:t>
            </a:r>
            <a:r>
              <a:rPr sz="2000">
                <a:latin typeface="Arial MT"/>
                <a:cs typeface="Arial MT"/>
              </a:rPr>
              <a:t>in</a:t>
            </a:r>
            <a:r>
              <a:rPr sz="2000" spc="116">
                <a:latin typeface="Arial MT"/>
                <a:cs typeface="Arial MT"/>
              </a:rPr>
              <a:t> </a:t>
            </a:r>
            <a:r>
              <a:rPr sz="2000">
                <a:latin typeface="Arial MT"/>
                <a:cs typeface="Arial MT"/>
              </a:rPr>
              <a:t>the</a:t>
            </a:r>
            <a:r>
              <a:rPr sz="2000" spc="112">
                <a:latin typeface="Arial MT"/>
                <a:cs typeface="Arial MT"/>
              </a:rPr>
              <a:t> </a:t>
            </a:r>
            <a:r>
              <a:rPr sz="2000">
                <a:latin typeface="Arial MT"/>
                <a:cs typeface="Arial MT"/>
              </a:rPr>
              <a:t>called</a:t>
            </a:r>
            <a:r>
              <a:rPr sz="2000" spc="116">
                <a:latin typeface="Arial MT"/>
                <a:cs typeface="Arial MT"/>
              </a:rPr>
              <a:t> </a:t>
            </a:r>
            <a:r>
              <a:rPr sz="2000" spc="-7">
                <a:latin typeface="Arial MT"/>
                <a:cs typeface="Arial MT"/>
              </a:rPr>
              <a:t>subprogram.</a:t>
            </a:r>
            <a:endParaRPr sz="2000">
              <a:latin typeface="Arial MT"/>
              <a:cs typeface="Arial MT"/>
            </a:endParaRPr>
          </a:p>
          <a:p>
            <a:pPr marL="242570" marR="26670" indent="-224790">
              <a:lnSpc>
                <a:spcPts val="2391"/>
              </a:lnSpc>
              <a:spcBef>
                <a:spcPts val="2123"/>
              </a:spcBef>
              <a:buSzPct val="145614"/>
              <a:buChar char="•"/>
              <a:tabLst>
                <a:tab pos="242879" algn="l"/>
              </a:tabLst>
            </a:pPr>
            <a:r>
              <a:rPr sz="2000">
                <a:latin typeface="Arial MT"/>
                <a:cs typeface="Arial MT"/>
              </a:rPr>
              <a:t>The</a:t>
            </a:r>
            <a:r>
              <a:rPr sz="2000" spc="74">
                <a:latin typeface="Arial MT"/>
                <a:cs typeface="Arial MT"/>
              </a:rPr>
              <a:t> </a:t>
            </a:r>
            <a:r>
              <a:rPr sz="2000">
                <a:latin typeface="Arial MT"/>
                <a:cs typeface="Arial MT"/>
              </a:rPr>
              <a:t>widespread</a:t>
            </a:r>
            <a:r>
              <a:rPr sz="2000" spc="84">
                <a:latin typeface="Arial MT"/>
                <a:cs typeface="Arial MT"/>
              </a:rPr>
              <a:t> </a:t>
            </a:r>
            <a:r>
              <a:rPr sz="2000">
                <a:latin typeface="Arial MT"/>
                <a:cs typeface="Arial MT"/>
              </a:rPr>
              <a:t>use</a:t>
            </a:r>
            <a:r>
              <a:rPr sz="2000" spc="80">
                <a:latin typeface="Arial MT"/>
                <a:cs typeface="Arial MT"/>
              </a:rPr>
              <a:t> </a:t>
            </a:r>
            <a:r>
              <a:rPr sz="2000" spc="39">
                <a:latin typeface="Arial MT"/>
                <a:cs typeface="Arial MT"/>
              </a:rPr>
              <a:t>of</a:t>
            </a:r>
            <a:r>
              <a:rPr sz="2000" spc="84">
                <a:latin typeface="Arial MT"/>
                <a:cs typeface="Arial MT"/>
              </a:rPr>
              <a:t> </a:t>
            </a:r>
            <a:r>
              <a:rPr sz="2000">
                <a:latin typeface="Arial MT"/>
                <a:cs typeface="Arial MT"/>
              </a:rPr>
              <a:t>data</a:t>
            </a:r>
            <a:r>
              <a:rPr sz="2000" spc="80">
                <a:latin typeface="Arial MT"/>
                <a:cs typeface="Arial MT"/>
              </a:rPr>
              <a:t> </a:t>
            </a:r>
            <a:r>
              <a:rPr sz="2000">
                <a:latin typeface="Arial MT"/>
                <a:cs typeface="Arial MT"/>
              </a:rPr>
              <a:t>abstraction</a:t>
            </a:r>
            <a:r>
              <a:rPr sz="2000" spc="84">
                <a:latin typeface="Arial MT"/>
                <a:cs typeface="Arial MT"/>
              </a:rPr>
              <a:t> </a:t>
            </a:r>
            <a:r>
              <a:rPr sz="2000">
                <a:latin typeface="Arial MT"/>
                <a:cs typeface="Arial MT"/>
              </a:rPr>
              <a:t>necessarily</a:t>
            </a:r>
            <a:r>
              <a:rPr sz="2000" spc="80">
                <a:latin typeface="Arial MT"/>
                <a:cs typeface="Arial MT"/>
              </a:rPr>
              <a:t> </a:t>
            </a:r>
            <a:r>
              <a:rPr sz="2000">
                <a:latin typeface="Arial MT"/>
                <a:cs typeface="Arial MT"/>
              </a:rPr>
              <a:t>followed</a:t>
            </a:r>
            <a:r>
              <a:rPr sz="2000" spc="84">
                <a:latin typeface="Arial MT"/>
                <a:cs typeface="Arial MT"/>
              </a:rPr>
              <a:t> </a:t>
            </a:r>
            <a:r>
              <a:rPr sz="2000" spc="-14">
                <a:latin typeface="Arial MT"/>
                <a:cs typeface="Arial MT"/>
              </a:rPr>
              <a:t>that </a:t>
            </a:r>
            <a:r>
              <a:rPr sz="2000" spc="39">
                <a:latin typeface="Arial MT"/>
                <a:cs typeface="Arial MT"/>
              </a:rPr>
              <a:t>of</a:t>
            </a:r>
            <a:r>
              <a:rPr sz="2000" spc="88">
                <a:latin typeface="Arial MT"/>
                <a:cs typeface="Arial MT"/>
              </a:rPr>
              <a:t> </a:t>
            </a:r>
            <a:r>
              <a:rPr sz="2000">
                <a:latin typeface="Arial MT"/>
                <a:cs typeface="Arial MT"/>
              </a:rPr>
              <a:t>process</a:t>
            </a:r>
            <a:r>
              <a:rPr sz="2000" spc="84">
                <a:latin typeface="Arial MT"/>
                <a:cs typeface="Arial MT"/>
              </a:rPr>
              <a:t> </a:t>
            </a:r>
            <a:r>
              <a:rPr sz="2000">
                <a:latin typeface="Arial MT"/>
                <a:cs typeface="Arial MT"/>
              </a:rPr>
              <a:t>abstraction</a:t>
            </a:r>
            <a:r>
              <a:rPr sz="2000" spc="88">
                <a:latin typeface="Arial MT"/>
                <a:cs typeface="Arial MT"/>
              </a:rPr>
              <a:t> </a:t>
            </a:r>
            <a:r>
              <a:rPr sz="2000">
                <a:latin typeface="Arial MT"/>
                <a:cs typeface="Arial MT"/>
              </a:rPr>
              <a:t>because</a:t>
            </a:r>
            <a:r>
              <a:rPr sz="2000" spc="84">
                <a:latin typeface="Arial MT"/>
                <a:cs typeface="Arial MT"/>
              </a:rPr>
              <a:t> </a:t>
            </a:r>
            <a:r>
              <a:rPr sz="2000">
                <a:latin typeface="Arial MT"/>
                <a:cs typeface="Arial MT"/>
              </a:rPr>
              <a:t>an</a:t>
            </a:r>
            <a:r>
              <a:rPr sz="2000" spc="88">
                <a:latin typeface="Arial MT"/>
                <a:cs typeface="Arial MT"/>
              </a:rPr>
              <a:t> </a:t>
            </a:r>
            <a:r>
              <a:rPr sz="2000">
                <a:latin typeface="Arial MT"/>
                <a:cs typeface="Arial MT"/>
              </a:rPr>
              <a:t>integral</a:t>
            </a:r>
            <a:r>
              <a:rPr sz="2000" spc="88">
                <a:latin typeface="Arial MT"/>
                <a:cs typeface="Arial MT"/>
              </a:rPr>
              <a:t> </a:t>
            </a:r>
            <a:r>
              <a:rPr sz="2000">
                <a:latin typeface="Arial MT"/>
                <a:cs typeface="Arial MT"/>
              </a:rPr>
              <a:t>and</a:t>
            </a:r>
            <a:r>
              <a:rPr sz="2000" spc="84">
                <a:latin typeface="Arial MT"/>
                <a:cs typeface="Arial MT"/>
              </a:rPr>
              <a:t> </a:t>
            </a:r>
            <a:r>
              <a:rPr sz="2000">
                <a:latin typeface="Arial MT"/>
                <a:cs typeface="Arial MT"/>
              </a:rPr>
              <a:t>essential</a:t>
            </a:r>
            <a:r>
              <a:rPr sz="2000" spc="88">
                <a:latin typeface="Arial MT"/>
                <a:cs typeface="Arial MT"/>
              </a:rPr>
              <a:t> </a:t>
            </a:r>
            <a:r>
              <a:rPr sz="2000">
                <a:latin typeface="Arial MT"/>
                <a:cs typeface="Arial MT"/>
              </a:rPr>
              <a:t>part</a:t>
            </a:r>
            <a:r>
              <a:rPr sz="2000" spc="84">
                <a:latin typeface="Arial MT"/>
                <a:cs typeface="Arial MT"/>
              </a:rPr>
              <a:t> </a:t>
            </a:r>
            <a:r>
              <a:rPr sz="2000" spc="21">
                <a:latin typeface="Arial MT"/>
                <a:cs typeface="Arial MT"/>
              </a:rPr>
              <a:t>of </a:t>
            </a:r>
            <a:r>
              <a:rPr sz="2000">
                <a:latin typeface="Arial MT"/>
                <a:cs typeface="Arial MT"/>
              </a:rPr>
              <a:t>every</a:t>
            </a:r>
            <a:r>
              <a:rPr sz="2000" spc="88">
                <a:latin typeface="Arial MT"/>
                <a:cs typeface="Arial MT"/>
              </a:rPr>
              <a:t> </a:t>
            </a:r>
            <a:r>
              <a:rPr sz="2000">
                <a:latin typeface="Arial MT"/>
                <a:cs typeface="Arial MT"/>
              </a:rPr>
              <a:t>data</a:t>
            </a:r>
            <a:r>
              <a:rPr sz="2000" spc="88">
                <a:latin typeface="Arial MT"/>
                <a:cs typeface="Arial MT"/>
              </a:rPr>
              <a:t> </a:t>
            </a:r>
            <a:r>
              <a:rPr sz="2000">
                <a:latin typeface="Arial MT"/>
                <a:cs typeface="Arial MT"/>
              </a:rPr>
              <a:t>abstraction</a:t>
            </a:r>
            <a:r>
              <a:rPr sz="2000" spc="88">
                <a:latin typeface="Arial MT"/>
                <a:cs typeface="Arial MT"/>
              </a:rPr>
              <a:t> </a:t>
            </a:r>
            <a:r>
              <a:rPr sz="2000">
                <a:latin typeface="Arial MT"/>
                <a:cs typeface="Arial MT"/>
              </a:rPr>
              <a:t>is</a:t>
            </a:r>
            <a:r>
              <a:rPr sz="2000" spc="88">
                <a:latin typeface="Arial MT"/>
                <a:cs typeface="Arial MT"/>
              </a:rPr>
              <a:t> </a:t>
            </a:r>
            <a:r>
              <a:rPr sz="2000">
                <a:latin typeface="Arial MT"/>
                <a:cs typeface="Arial MT"/>
              </a:rPr>
              <a:t>its</a:t>
            </a:r>
            <a:r>
              <a:rPr sz="2000" spc="88">
                <a:latin typeface="Arial MT"/>
                <a:cs typeface="Arial MT"/>
              </a:rPr>
              <a:t> </a:t>
            </a:r>
            <a:r>
              <a:rPr sz="2000">
                <a:latin typeface="Arial MT"/>
                <a:cs typeface="Arial MT"/>
              </a:rPr>
              <a:t>operations,</a:t>
            </a:r>
            <a:r>
              <a:rPr sz="2000" spc="88">
                <a:latin typeface="Arial MT"/>
                <a:cs typeface="Arial MT"/>
              </a:rPr>
              <a:t> </a:t>
            </a:r>
            <a:r>
              <a:rPr sz="2000">
                <a:latin typeface="Arial MT"/>
                <a:cs typeface="Arial MT"/>
              </a:rPr>
              <a:t>which</a:t>
            </a:r>
            <a:r>
              <a:rPr sz="2000" spc="88">
                <a:latin typeface="Arial MT"/>
                <a:cs typeface="Arial MT"/>
              </a:rPr>
              <a:t> </a:t>
            </a:r>
            <a:r>
              <a:rPr sz="2000">
                <a:latin typeface="Arial MT"/>
                <a:cs typeface="Arial MT"/>
              </a:rPr>
              <a:t>are</a:t>
            </a:r>
            <a:r>
              <a:rPr sz="2000" spc="88">
                <a:latin typeface="Arial MT"/>
                <a:cs typeface="Arial MT"/>
              </a:rPr>
              <a:t> </a:t>
            </a:r>
            <a:r>
              <a:rPr sz="2000">
                <a:latin typeface="Arial MT"/>
                <a:cs typeface="Arial MT"/>
              </a:rPr>
              <a:t>defined</a:t>
            </a:r>
            <a:r>
              <a:rPr sz="2000" spc="88">
                <a:latin typeface="Arial MT"/>
                <a:cs typeface="Arial MT"/>
              </a:rPr>
              <a:t> </a:t>
            </a:r>
            <a:r>
              <a:rPr sz="2000" spc="-18">
                <a:latin typeface="Arial MT"/>
                <a:cs typeface="Arial MT"/>
              </a:rPr>
              <a:t>as </a:t>
            </a:r>
            <a:r>
              <a:rPr sz="2000">
                <a:latin typeface="Arial MT"/>
                <a:cs typeface="Arial MT"/>
              </a:rPr>
              <a:t>process</a:t>
            </a:r>
            <a:r>
              <a:rPr sz="2000" spc="158">
                <a:latin typeface="Arial MT"/>
                <a:cs typeface="Arial MT"/>
              </a:rPr>
              <a:t> </a:t>
            </a:r>
            <a:r>
              <a:rPr sz="2000" spc="-7">
                <a:latin typeface="Arial MT"/>
                <a:cs typeface="Arial MT"/>
              </a:rPr>
              <a:t>abstractions.</a:t>
            </a:r>
            <a:endParaRPr sz="2000">
              <a:latin typeface="Arial MT"/>
              <a:cs typeface="Arial MT"/>
            </a:endParaRPr>
          </a:p>
        </p:txBody>
      </p:sp>
      <p:sp>
        <p:nvSpPr>
          <p:cNvPr id="4" name="Footer Placeholder 3">
            <a:extLst>
              <a:ext uri="{FF2B5EF4-FFF2-40B4-BE49-F238E27FC236}">
                <a16:creationId xmlns:a16="http://schemas.microsoft.com/office/drawing/2014/main" id="{B8859E2E-68B4-8A79-77F5-E4EE332ACC98}"/>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F047AB95-B53C-E414-426E-4A573E88028D}"/>
              </a:ext>
            </a:extLst>
          </p:cNvPr>
          <p:cNvSpPr>
            <a:spLocks noGrp="1"/>
          </p:cNvSpPr>
          <p:nvPr>
            <p:ph type="sldNum" sz="quarter" idx="12"/>
          </p:nvPr>
        </p:nvSpPr>
        <p:spPr/>
        <p:txBody>
          <a:bodyPr/>
          <a:lstStyle/>
          <a:p>
            <a:fld id="{48F63A3B-78C7-47BE-AE5E-E10140E04643}" type="slidenum">
              <a:rPr lang="en-US" dirty="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684843"/>
            <a:ext cx="10515600" cy="686126"/>
          </a:xfrm>
          <a:prstGeom prst="rect">
            <a:avLst/>
          </a:prstGeom>
        </p:spPr>
        <p:txBody>
          <a:bodyPr vert="horz" wrap="square" lIns="0" tIns="8930" rIns="0" bIns="0" rtlCol="0">
            <a:spAutoFit/>
          </a:bodyPr>
          <a:lstStyle/>
          <a:p>
            <a:pPr marL="1929130">
              <a:lnSpc>
                <a:spcPct val="100000"/>
              </a:lnSpc>
              <a:spcBef>
                <a:spcPts val="70"/>
              </a:spcBef>
            </a:pPr>
            <a:r>
              <a:rPr b="1" spc="112">
                <a:solidFill>
                  <a:srgbClr val="FF7B00"/>
                </a:solidFill>
              </a:rPr>
              <a:t>Abstraction</a:t>
            </a:r>
            <a:r>
              <a:rPr b="1" spc="28">
                <a:solidFill>
                  <a:srgbClr val="FF7B00"/>
                </a:solidFill>
              </a:rPr>
              <a:t> </a:t>
            </a:r>
            <a:r>
              <a:rPr b="1" spc="39">
                <a:solidFill>
                  <a:srgbClr val="FF7B00"/>
                </a:solidFill>
              </a:rPr>
              <a:t>Example</a:t>
            </a:r>
            <a:endParaRPr lang="en-US" b="1">
              <a:solidFill>
                <a:srgbClr val="FFFFFF"/>
              </a:solidFill>
            </a:endParaRPr>
          </a:p>
        </p:txBody>
      </p:sp>
      <p:sp>
        <p:nvSpPr>
          <p:cNvPr id="3" name="object 3"/>
          <p:cNvSpPr txBox="1"/>
          <p:nvPr/>
        </p:nvSpPr>
        <p:spPr>
          <a:xfrm>
            <a:off x="1031717" y="1718001"/>
            <a:ext cx="10318565" cy="2228108"/>
          </a:xfrm>
          <a:prstGeom prst="rect">
            <a:avLst/>
          </a:prstGeom>
        </p:spPr>
        <p:txBody>
          <a:bodyPr vert="horz" wrap="square" lIns="0" tIns="23217" rIns="0" bIns="0" rtlCol="0">
            <a:spAutoFit/>
          </a:bodyPr>
          <a:lstStyle/>
          <a:p>
            <a:pPr marL="286186" marR="12501" indent="-268774">
              <a:lnSpc>
                <a:spcPts val="2883"/>
              </a:lnSpc>
              <a:spcBef>
                <a:spcPts val="183"/>
              </a:spcBef>
              <a:buSzPct val="143478"/>
              <a:buChar char="•"/>
              <a:tabLst>
                <a:tab pos="286186" algn="l"/>
              </a:tabLst>
            </a:pPr>
            <a:r>
              <a:rPr sz="2426">
                <a:latin typeface="Arial MT"/>
                <a:cs typeface="Arial MT"/>
              </a:rPr>
              <a:t>A</a:t>
            </a:r>
            <a:r>
              <a:rPr sz="2426" spc="46">
                <a:latin typeface="Arial MT"/>
                <a:cs typeface="Arial MT"/>
              </a:rPr>
              <a:t> </a:t>
            </a:r>
            <a:r>
              <a:rPr sz="2426">
                <a:solidFill>
                  <a:srgbClr val="FF9300"/>
                </a:solidFill>
                <a:latin typeface="Arial MT"/>
                <a:cs typeface="Arial MT"/>
              </a:rPr>
              <a:t>stack</a:t>
            </a:r>
            <a:r>
              <a:rPr sz="2426" spc="53">
                <a:solidFill>
                  <a:srgbClr val="FF9300"/>
                </a:solidFill>
                <a:latin typeface="Arial MT"/>
                <a:cs typeface="Arial MT"/>
              </a:rPr>
              <a:t> </a:t>
            </a:r>
            <a:r>
              <a:rPr sz="2426">
                <a:latin typeface="Arial MT"/>
                <a:cs typeface="Arial MT"/>
              </a:rPr>
              <a:t>is</a:t>
            </a:r>
            <a:r>
              <a:rPr sz="2426" spc="53">
                <a:latin typeface="Arial MT"/>
                <a:cs typeface="Arial MT"/>
              </a:rPr>
              <a:t> </a:t>
            </a:r>
            <a:r>
              <a:rPr sz="2426">
                <a:latin typeface="Arial MT"/>
                <a:cs typeface="Arial MT"/>
              </a:rPr>
              <a:t>a</a:t>
            </a:r>
            <a:r>
              <a:rPr sz="2426" spc="53">
                <a:latin typeface="Arial MT"/>
                <a:cs typeface="Arial MT"/>
              </a:rPr>
              <a:t> </a:t>
            </a:r>
            <a:r>
              <a:rPr sz="2426">
                <a:latin typeface="Arial MT"/>
                <a:cs typeface="Arial MT"/>
              </a:rPr>
              <a:t>widely</a:t>
            </a:r>
            <a:r>
              <a:rPr sz="2426" spc="53">
                <a:latin typeface="Arial MT"/>
                <a:cs typeface="Arial MT"/>
              </a:rPr>
              <a:t> </a:t>
            </a:r>
            <a:r>
              <a:rPr sz="2426">
                <a:latin typeface="Arial MT"/>
                <a:cs typeface="Arial MT"/>
              </a:rPr>
              <a:t>applicable</a:t>
            </a:r>
            <a:r>
              <a:rPr sz="2426" spc="56">
                <a:latin typeface="Arial MT"/>
                <a:cs typeface="Arial MT"/>
              </a:rPr>
              <a:t> </a:t>
            </a:r>
            <a:r>
              <a:rPr sz="2426">
                <a:solidFill>
                  <a:srgbClr val="FF9300"/>
                </a:solidFill>
                <a:latin typeface="Arial MT"/>
                <a:cs typeface="Arial MT"/>
              </a:rPr>
              <a:t>data</a:t>
            </a:r>
            <a:r>
              <a:rPr sz="2426" spc="53">
                <a:solidFill>
                  <a:srgbClr val="FF9300"/>
                </a:solidFill>
                <a:latin typeface="Arial MT"/>
                <a:cs typeface="Arial MT"/>
              </a:rPr>
              <a:t> </a:t>
            </a:r>
            <a:r>
              <a:rPr sz="2426">
                <a:solidFill>
                  <a:srgbClr val="FF9300"/>
                </a:solidFill>
                <a:latin typeface="Arial MT"/>
                <a:cs typeface="Arial MT"/>
              </a:rPr>
              <a:t>structure</a:t>
            </a:r>
            <a:r>
              <a:rPr sz="2426" spc="53">
                <a:solidFill>
                  <a:srgbClr val="FF9300"/>
                </a:solidFill>
                <a:latin typeface="Arial MT"/>
                <a:cs typeface="Arial MT"/>
              </a:rPr>
              <a:t> </a:t>
            </a:r>
            <a:r>
              <a:rPr sz="2426" spc="-14">
                <a:latin typeface="Arial MT"/>
                <a:cs typeface="Arial MT"/>
              </a:rPr>
              <a:t>that </a:t>
            </a:r>
            <a:r>
              <a:rPr sz="2426">
                <a:latin typeface="Arial MT"/>
                <a:cs typeface="Arial MT"/>
              </a:rPr>
              <a:t>stores</a:t>
            </a:r>
            <a:r>
              <a:rPr sz="2426" spc="11">
                <a:latin typeface="Arial MT"/>
                <a:cs typeface="Arial MT"/>
              </a:rPr>
              <a:t> </a:t>
            </a:r>
            <a:r>
              <a:rPr sz="2426">
                <a:latin typeface="Arial MT"/>
                <a:cs typeface="Arial MT"/>
              </a:rPr>
              <a:t>some</a:t>
            </a:r>
            <a:r>
              <a:rPr sz="2426" spc="7">
                <a:latin typeface="Arial MT"/>
                <a:cs typeface="Arial MT"/>
              </a:rPr>
              <a:t> </a:t>
            </a:r>
            <a:r>
              <a:rPr sz="2426">
                <a:latin typeface="Arial MT"/>
                <a:cs typeface="Arial MT"/>
              </a:rPr>
              <a:t>number</a:t>
            </a:r>
            <a:r>
              <a:rPr sz="2426" spc="7">
                <a:latin typeface="Arial MT"/>
                <a:cs typeface="Arial MT"/>
              </a:rPr>
              <a:t> </a:t>
            </a:r>
            <a:r>
              <a:rPr sz="2426" spc="39">
                <a:latin typeface="Arial MT"/>
                <a:cs typeface="Arial MT"/>
              </a:rPr>
              <a:t>of</a:t>
            </a:r>
            <a:r>
              <a:rPr sz="2426" spc="11">
                <a:latin typeface="Arial MT"/>
                <a:cs typeface="Arial MT"/>
              </a:rPr>
              <a:t> </a:t>
            </a:r>
            <a:r>
              <a:rPr sz="2426">
                <a:latin typeface="Arial MT"/>
                <a:cs typeface="Arial MT"/>
              </a:rPr>
              <a:t>data</a:t>
            </a:r>
            <a:r>
              <a:rPr sz="2426" spc="11">
                <a:latin typeface="Arial MT"/>
                <a:cs typeface="Arial MT"/>
              </a:rPr>
              <a:t> </a:t>
            </a:r>
            <a:r>
              <a:rPr sz="2426">
                <a:latin typeface="Arial MT"/>
                <a:cs typeface="Arial MT"/>
              </a:rPr>
              <a:t>elements</a:t>
            </a:r>
            <a:r>
              <a:rPr sz="2426" spc="7">
                <a:latin typeface="Arial MT"/>
                <a:cs typeface="Arial MT"/>
              </a:rPr>
              <a:t> </a:t>
            </a:r>
            <a:r>
              <a:rPr sz="2426">
                <a:latin typeface="Arial MT"/>
                <a:cs typeface="Arial MT"/>
              </a:rPr>
              <a:t>and</a:t>
            </a:r>
            <a:r>
              <a:rPr sz="2426" spc="11">
                <a:latin typeface="Arial MT"/>
                <a:cs typeface="Arial MT"/>
              </a:rPr>
              <a:t> </a:t>
            </a:r>
            <a:r>
              <a:rPr sz="2426">
                <a:latin typeface="Arial MT"/>
                <a:cs typeface="Arial MT"/>
              </a:rPr>
              <a:t>only</a:t>
            </a:r>
            <a:r>
              <a:rPr sz="2426" spc="7">
                <a:latin typeface="Arial MT"/>
                <a:cs typeface="Arial MT"/>
              </a:rPr>
              <a:t> </a:t>
            </a:r>
            <a:r>
              <a:rPr sz="2426" spc="-7">
                <a:latin typeface="Arial MT"/>
                <a:cs typeface="Arial MT"/>
              </a:rPr>
              <a:t>allows </a:t>
            </a:r>
            <a:r>
              <a:rPr sz="2426">
                <a:latin typeface="Arial MT"/>
                <a:cs typeface="Arial MT"/>
              </a:rPr>
              <a:t>access</a:t>
            </a:r>
            <a:r>
              <a:rPr sz="2426" spc="4">
                <a:latin typeface="Arial MT"/>
                <a:cs typeface="Arial MT"/>
              </a:rPr>
              <a:t> </a:t>
            </a:r>
            <a:r>
              <a:rPr sz="2426" spc="60">
                <a:latin typeface="Arial MT"/>
                <a:cs typeface="Arial MT"/>
              </a:rPr>
              <a:t>to</a:t>
            </a:r>
            <a:r>
              <a:rPr sz="2426" spc="4">
                <a:latin typeface="Arial MT"/>
                <a:cs typeface="Arial MT"/>
              </a:rPr>
              <a:t> </a:t>
            </a:r>
            <a:r>
              <a:rPr sz="2426">
                <a:latin typeface="Arial MT"/>
                <a:cs typeface="Arial MT"/>
              </a:rPr>
              <a:t>the</a:t>
            </a:r>
            <a:r>
              <a:rPr sz="2426" spc="7">
                <a:latin typeface="Arial MT"/>
                <a:cs typeface="Arial MT"/>
              </a:rPr>
              <a:t> </a:t>
            </a:r>
            <a:r>
              <a:rPr sz="2426">
                <a:latin typeface="Arial MT"/>
                <a:cs typeface="Arial MT"/>
              </a:rPr>
              <a:t>data</a:t>
            </a:r>
            <a:r>
              <a:rPr sz="2426" spc="4">
                <a:latin typeface="Arial MT"/>
                <a:cs typeface="Arial MT"/>
              </a:rPr>
              <a:t> </a:t>
            </a:r>
            <a:r>
              <a:rPr sz="2426">
                <a:latin typeface="Arial MT"/>
                <a:cs typeface="Arial MT"/>
              </a:rPr>
              <a:t>element</a:t>
            </a:r>
            <a:r>
              <a:rPr sz="2426" spc="4">
                <a:latin typeface="Arial MT"/>
                <a:cs typeface="Arial MT"/>
              </a:rPr>
              <a:t> </a:t>
            </a:r>
            <a:r>
              <a:rPr sz="2426">
                <a:latin typeface="Arial MT"/>
                <a:cs typeface="Arial MT"/>
              </a:rPr>
              <a:t>at</a:t>
            </a:r>
            <a:r>
              <a:rPr sz="2426" spc="4">
                <a:latin typeface="Arial MT"/>
                <a:cs typeface="Arial MT"/>
              </a:rPr>
              <a:t> </a:t>
            </a:r>
            <a:r>
              <a:rPr sz="2426">
                <a:latin typeface="Arial MT"/>
                <a:cs typeface="Arial MT"/>
              </a:rPr>
              <a:t>one</a:t>
            </a:r>
            <a:r>
              <a:rPr sz="2426" spc="4">
                <a:latin typeface="Arial MT"/>
                <a:cs typeface="Arial MT"/>
              </a:rPr>
              <a:t> </a:t>
            </a:r>
            <a:r>
              <a:rPr sz="2426" spc="39">
                <a:latin typeface="Arial MT"/>
                <a:cs typeface="Arial MT"/>
              </a:rPr>
              <a:t>of</a:t>
            </a:r>
            <a:r>
              <a:rPr sz="2426" spc="4">
                <a:latin typeface="Arial MT"/>
                <a:cs typeface="Arial MT"/>
              </a:rPr>
              <a:t> </a:t>
            </a:r>
            <a:r>
              <a:rPr sz="2426">
                <a:latin typeface="Arial MT"/>
                <a:cs typeface="Arial MT"/>
              </a:rPr>
              <a:t>its</a:t>
            </a:r>
            <a:r>
              <a:rPr sz="2426" spc="7">
                <a:latin typeface="Arial MT"/>
                <a:cs typeface="Arial MT"/>
              </a:rPr>
              <a:t> </a:t>
            </a:r>
            <a:r>
              <a:rPr sz="2426">
                <a:latin typeface="Arial MT"/>
                <a:cs typeface="Arial MT"/>
              </a:rPr>
              <a:t>ends,</a:t>
            </a:r>
            <a:r>
              <a:rPr sz="2426" spc="4">
                <a:latin typeface="Arial MT"/>
                <a:cs typeface="Arial MT"/>
              </a:rPr>
              <a:t> </a:t>
            </a:r>
            <a:r>
              <a:rPr sz="2426">
                <a:latin typeface="Arial MT"/>
                <a:cs typeface="Arial MT"/>
              </a:rPr>
              <a:t>the</a:t>
            </a:r>
            <a:r>
              <a:rPr sz="2426" spc="4">
                <a:latin typeface="Arial MT"/>
                <a:cs typeface="Arial MT"/>
              </a:rPr>
              <a:t> </a:t>
            </a:r>
            <a:r>
              <a:rPr sz="2426" spc="35">
                <a:latin typeface="Arial MT"/>
                <a:cs typeface="Arial MT"/>
              </a:rPr>
              <a:t>top.</a:t>
            </a:r>
            <a:endParaRPr sz="2426">
              <a:latin typeface="Arial MT"/>
              <a:cs typeface="Arial MT"/>
            </a:endParaRPr>
          </a:p>
          <a:p>
            <a:pPr marL="286186" marR="115635" indent="-268774">
              <a:lnSpc>
                <a:spcPts val="2883"/>
              </a:lnSpc>
              <a:spcBef>
                <a:spcPts val="2516"/>
              </a:spcBef>
              <a:buSzPct val="143478"/>
              <a:buChar char="•"/>
              <a:tabLst>
                <a:tab pos="286186" algn="l"/>
              </a:tabLst>
            </a:pPr>
            <a:r>
              <a:rPr sz="2426">
                <a:latin typeface="Arial MT"/>
                <a:cs typeface="Arial MT"/>
              </a:rPr>
              <a:t>Suppose</a:t>
            </a:r>
            <a:r>
              <a:rPr sz="2426" spc="35">
                <a:latin typeface="Arial MT"/>
                <a:cs typeface="Arial MT"/>
              </a:rPr>
              <a:t> </a:t>
            </a:r>
            <a:r>
              <a:rPr sz="2426">
                <a:latin typeface="Arial MT"/>
                <a:cs typeface="Arial MT"/>
              </a:rPr>
              <a:t>an</a:t>
            </a:r>
            <a:r>
              <a:rPr sz="2426" spc="42">
                <a:latin typeface="Arial MT"/>
                <a:cs typeface="Arial MT"/>
              </a:rPr>
              <a:t> </a:t>
            </a:r>
            <a:r>
              <a:rPr sz="2426">
                <a:latin typeface="Arial MT"/>
                <a:cs typeface="Arial MT"/>
              </a:rPr>
              <a:t>abstract</a:t>
            </a:r>
            <a:r>
              <a:rPr sz="2426" spc="42">
                <a:latin typeface="Arial MT"/>
                <a:cs typeface="Arial MT"/>
              </a:rPr>
              <a:t> </a:t>
            </a:r>
            <a:r>
              <a:rPr sz="2426">
                <a:latin typeface="Arial MT"/>
                <a:cs typeface="Arial MT"/>
              </a:rPr>
              <a:t>data</a:t>
            </a:r>
            <a:r>
              <a:rPr sz="2426" spc="42">
                <a:latin typeface="Arial MT"/>
                <a:cs typeface="Arial MT"/>
              </a:rPr>
              <a:t> </a:t>
            </a:r>
            <a:r>
              <a:rPr sz="2426">
                <a:latin typeface="Arial MT"/>
                <a:cs typeface="Arial MT"/>
              </a:rPr>
              <a:t>type</a:t>
            </a:r>
            <a:r>
              <a:rPr sz="2426" spc="42">
                <a:latin typeface="Arial MT"/>
                <a:cs typeface="Arial MT"/>
              </a:rPr>
              <a:t> </a:t>
            </a:r>
            <a:r>
              <a:rPr sz="2426">
                <a:latin typeface="Arial MT"/>
                <a:cs typeface="Arial MT"/>
              </a:rPr>
              <a:t>is</a:t>
            </a:r>
            <a:r>
              <a:rPr sz="2426" spc="39">
                <a:latin typeface="Arial MT"/>
                <a:cs typeface="Arial MT"/>
              </a:rPr>
              <a:t> </a:t>
            </a:r>
            <a:r>
              <a:rPr sz="2426" spc="60">
                <a:latin typeface="Arial MT"/>
                <a:cs typeface="Arial MT"/>
              </a:rPr>
              <a:t>to</a:t>
            </a:r>
            <a:r>
              <a:rPr sz="2426" spc="42">
                <a:latin typeface="Arial MT"/>
                <a:cs typeface="Arial MT"/>
              </a:rPr>
              <a:t> </a:t>
            </a:r>
            <a:r>
              <a:rPr sz="2426">
                <a:latin typeface="Arial MT"/>
                <a:cs typeface="Arial MT"/>
              </a:rPr>
              <a:t>be</a:t>
            </a:r>
            <a:r>
              <a:rPr sz="2426" spc="46">
                <a:latin typeface="Arial MT"/>
                <a:cs typeface="Arial MT"/>
              </a:rPr>
              <a:t> </a:t>
            </a:r>
            <a:r>
              <a:rPr sz="2426" spc="-7">
                <a:latin typeface="Arial MT"/>
                <a:cs typeface="Arial MT"/>
              </a:rPr>
              <a:t>constructed </a:t>
            </a:r>
            <a:r>
              <a:rPr sz="2426">
                <a:latin typeface="Arial MT"/>
                <a:cs typeface="Arial MT"/>
              </a:rPr>
              <a:t>for</a:t>
            </a:r>
            <a:r>
              <a:rPr sz="2426" spc="67">
                <a:latin typeface="Arial MT"/>
                <a:cs typeface="Arial MT"/>
              </a:rPr>
              <a:t> </a:t>
            </a:r>
            <a:r>
              <a:rPr sz="2426">
                <a:latin typeface="Arial MT"/>
                <a:cs typeface="Arial MT"/>
              </a:rPr>
              <a:t>a</a:t>
            </a:r>
            <a:r>
              <a:rPr sz="2426" spc="63">
                <a:latin typeface="Arial MT"/>
                <a:cs typeface="Arial MT"/>
              </a:rPr>
              <a:t> </a:t>
            </a:r>
            <a:r>
              <a:rPr sz="2426">
                <a:latin typeface="Arial MT"/>
                <a:cs typeface="Arial MT"/>
              </a:rPr>
              <a:t>stack</a:t>
            </a:r>
            <a:r>
              <a:rPr sz="2426" spc="67">
                <a:latin typeface="Arial MT"/>
                <a:cs typeface="Arial MT"/>
              </a:rPr>
              <a:t> </a:t>
            </a:r>
            <a:r>
              <a:rPr sz="2426">
                <a:latin typeface="Arial MT"/>
                <a:cs typeface="Arial MT"/>
              </a:rPr>
              <a:t>that</a:t>
            </a:r>
            <a:r>
              <a:rPr sz="2426" spc="67">
                <a:latin typeface="Arial MT"/>
                <a:cs typeface="Arial MT"/>
              </a:rPr>
              <a:t> </a:t>
            </a:r>
            <a:r>
              <a:rPr sz="2426">
                <a:latin typeface="Arial MT"/>
                <a:cs typeface="Arial MT"/>
              </a:rPr>
              <a:t>has</a:t>
            </a:r>
            <a:r>
              <a:rPr sz="2426" spc="63">
                <a:latin typeface="Arial MT"/>
                <a:cs typeface="Arial MT"/>
              </a:rPr>
              <a:t> </a:t>
            </a:r>
            <a:r>
              <a:rPr sz="2426">
                <a:latin typeface="Arial MT"/>
                <a:cs typeface="Arial MT"/>
              </a:rPr>
              <a:t>the</a:t>
            </a:r>
            <a:r>
              <a:rPr sz="2426" spc="67">
                <a:latin typeface="Arial MT"/>
                <a:cs typeface="Arial MT"/>
              </a:rPr>
              <a:t> </a:t>
            </a:r>
            <a:r>
              <a:rPr sz="2426">
                <a:latin typeface="Arial MT"/>
                <a:cs typeface="Arial MT"/>
              </a:rPr>
              <a:t>following</a:t>
            </a:r>
            <a:r>
              <a:rPr sz="2426" spc="67">
                <a:latin typeface="Arial MT"/>
                <a:cs typeface="Arial MT"/>
              </a:rPr>
              <a:t> </a:t>
            </a:r>
            <a:r>
              <a:rPr sz="2426">
                <a:latin typeface="Arial MT"/>
                <a:cs typeface="Arial MT"/>
              </a:rPr>
              <a:t>abstract</a:t>
            </a:r>
            <a:r>
              <a:rPr sz="2426" spc="63">
                <a:latin typeface="Arial MT"/>
                <a:cs typeface="Arial MT"/>
              </a:rPr>
              <a:t> </a:t>
            </a:r>
            <a:r>
              <a:rPr sz="2426" spc="-7">
                <a:latin typeface="Arial MT"/>
                <a:cs typeface="Arial MT"/>
              </a:rPr>
              <a:t>operations:</a:t>
            </a:r>
            <a:endParaRPr sz="2426">
              <a:latin typeface="Arial MT"/>
              <a:cs typeface="Arial MT"/>
            </a:endParaRPr>
          </a:p>
        </p:txBody>
      </p:sp>
      <p:grpSp>
        <p:nvGrpSpPr>
          <p:cNvPr id="4" name="object 4"/>
          <p:cNvGrpSpPr/>
          <p:nvPr/>
        </p:nvGrpSpPr>
        <p:grpSpPr>
          <a:xfrm>
            <a:off x="1859757" y="3797991"/>
            <a:ext cx="9498666" cy="2309377"/>
            <a:chOff x="320204" y="4562567"/>
            <a:chExt cx="13509215" cy="3284447"/>
          </a:xfrm>
        </p:grpSpPr>
        <p:pic>
          <p:nvPicPr>
            <p:cNvPr id="5" name="object 5"/>
            <p:cNvPicPr/>
            <p:nvPr/>
          </p:nvPicPr>
          <p:blipFill>
            <a:blip r:embed="rId2" cstate="print"/>
            <a:stretch>
              <a:fillRect/>
            </a:stretch>
          </p:blipFill>
          <p:spPr>
            <a:xfrm>
              <a:off x="320204" y="4562567"/>
              <a:ext cx="9745299" cy="3284447"/>
            </a:xfrm>
            <a:prstGeom prst="rect">
              <a:avLst/>
            </a:prstGeom>
          </p:spPr>
        </p:pic>
        <p:pic>
          <p:nvPicPr>
            <p:cNvPr id="6" name="object 6"/>
            <p:cNvPicPr/>
            <p:nvPr/>
          </p:nvPicPr>
          <p:blipFill>
            <a:blip r:embed="rId3" cstate="print"/>
            <a:stretch>
              <a:fillRect/>
            </a:stretch>
          </p:blipFill>
          <p:spPr>
            <a:xfrm>
              <a:off x="10070232" y="5394587"/>
              <a:ext cx="3759187" cy="2174067"/>
            </a:xfrm>
            <a:prstGeom prst="rect">
              <a:avLst/>
            </a:prstGeom>
          </p:spPr>
        </p:pic>
      </p:grpSp>
      <p:sp>
        <p:nvSpPr>
          <p:cNvPr id="7" name="Footer Placeholder 6">
            <a:extLst>
              <a:ext uri="{FF2B5EF4-FFF2-40B4-BE49-F238E27FC236}">
                <a16:creationId xmlns:a16="http://schemas.microsoft.com/office/drawing/2014/main" id="{02D88077-80B2-8E8C-C92A-8E718D3DC8CA}"/>
              </a:ext>
            </a:extLst>
          </p:cNvPr>
          <p:cNvSpPr>
            <a:spLocks noGrp="1"/>
          </p:cNvSpPr>
          <p:nvPr>
            <p:ph type="ftr" sz="quarter" idx="11"/>
          </p:nvPr>
        </p:nvSpPr>
        <p:spPr/>
        <p:txBody>
          <a:bodyPr/>
          <a:lstStyle/>
          <a:p>
            <a:r>
              <a:rPr lang="en-US"/>
              <a:t>Ms. ALF. Sajeetha</a:t>
            </a:r>
          </a:p>
        </p:txBody>
      </p:sp>
      <p:sp>
        <p:nvSpPr>
          <p:cNvPr id="8" name="Slide Number Placeholder 7">
            <a:extLst>
              <a:ext uri="{FF2B5EF4-FFF2-40B4-BE49-F238E27FC236}">
                <a16:creationId xmlns:a16="http://schemas.microsoft.com/office/drawing/2014/main" id="{98013775-A135-0166-FD32-22C9E3C880E4}"/>
              </a:ext>
            </a:extLst>
          </p:cNvPr>
          <p:cNvSpPr>
            <a:spLocks noGrp="1"/>
          </p:cNvSpPr>
          <p:nvPr>
            <p:ph type="sldNum" sz="quarter" idx="12"/>
          </p:nvPr>
        </p:nvSpPr>
        <p:spPr/>
        <p:txBody>
          <a:bodyPr/>
          <a:lstStyle/>
          <a:p>
            <a:fld id="{48F63A3B-78C7-47BE-AE5E-E10140E04643}" type="slidenum">
              <a:rPr lang="en-US" dirty="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30559"/>
            <a:ext cx="10515600" cy="594694"/>
          </a:xfrm>
          <a:prstGeom prst="rect">
            <a:avLst/>
          </a:prstGeom>
        </p:spPr>
        <p:txBody>
          <a:bodyPr vert="horz" wrap="square" lIns="0" tIns="9823" rIns="0" bIns="0" rtlCol="0">
            <a:spAutoFit/>
          </a:bodyPr>
          <a:lstStyle/>
          <a:p>
            <a:pPr>
              <a:lnSpc>
                <a:spcPct val="100000"/>
              </a:lnSpc>
              <a:spcBef>
                <a:spcPts val="77"/>
              </a:spcBef>
            </a:pPr>
            <a:r>
              <a:rPr sz="3800" b="1" spc="102">
                <a:solidFill>
                  <a:srgbClr val="FF7B00"/>
                </a:solidFill>
              </a:rPr>
              <a:t>Abstraction</a:t>
            </a:r>
            <a:r>
              <a:rPr sz="3800" b="1" spc="-14">
                <a:solidFill>
                  <a:srgbClr val="FF7B00"/>
                </a:solidFill>
              </a:rPr>
              <a:t> </a:t>
            </a:r>
            <a:r>
              <a:rPr sz="3800" b="1">
                <a:solidFill>
                  <a:srgbClr val="FF7B00"/>
                </a:solidFill>
              </a:rPr>
              <a:t>&amp;</a:t>
            </a:r>
            <a:r>
              <a:rPr sz="3800" b="1" spc="-11">
                <a:solidFill>
                  <a:srgbClr val="FF7B00"/>
                </a:solidFill>
              </a:rPr>
              <a:t> </a:t>
            </a:r>
            <a:r>
              <a:rPr sz="3800" b="1" spc="74">
                <a:solidFill>
                  <a:srgbClr val="FF7B00"/>
                </a:solidFill>
              </a:rPr>
              <a:t>Encapsulation</a:t>
            </a:r>
            <a:r>
              <a:rPr sz="3800" b="1" spc="-11">
                <a:solidFill>
                  <a:srgbClr val="FF7B00"/>
                </a:solidFill>
              </a:rPr>
              <a:t> </a:t>
            </a:r>
            <a:r>
              <a:rPr sz="3800" b="1" spc="214">
                <a:solidFill>
                  <a:srgbClr val="FF7B00"/>
                </a:solidFill>
              </a:rPr>
              <a:t>-</a:t>
            </a:r>
            <a:r>
              <a:rPr sz="3800" b="1" spc="-11">
                <a:solidFill>
                  <a:srgbClr val="FF7B00"/>
                </a:solidFill>
              </a:rPr>
              <a:t> </a:t>
            </a:r>
            <a:r>
              <a:rPr sz="3800" b="1" spc="42">
                <a:solidFill>
                  <a:srgbClr val="FF7B00"/>
                </a:solidFill>
              </a:rPr>
              <a:t>Exercises</a:t>
            </a:r>
            <a:endParaRPr sz="3800" b="1">
              <a:solidFill>
                <a:srgbClr val="FF7B00"/>
              </a:solidFill>
            </a:endParaRPr>
          </a:p>
        </p:txBody>
      </p:sp>
      <p:sp>
        <p:nvSpPr>
          <p:cNvPr id="3" name="object 3"/>
          <p:cNvSpPr txBox="1"/>
          <p:nvPr/>
        </p:nvSpPr>
        <p:spPr>
          <a:xfrm>
            <a:off x="1265231" y="1708948"/>
            <a:ext cx="7600504" cy="2234208"/>
          </a:xfrm>
          <a:prstGeom prst="rect">
            <a:avLst/>
          </a:prstGeom>
        </p:spPr>
        <p:txBody>
          <a:bodyPr vert="horz" wrap="square" lIns="0" tIns="156716" rIns="0" bIns="0" rtlCol="0" anchor="t">
            <a:spAutoFit/>
          </a:bodyPr>
          <a:lstStyle/>
          <a:p>
            <a:pPr marL="329565" indent="-311785">
              <a:lnSpc>
                <a:spcPct val="100000"/>
              </a:lnSpc>
              <a:spcBef>
                <a:spcPts val="1234"/>
              </a:spcBef>
              <a:buSzPct val="145000"/>
              <a:buChar char="•"/>
              <a:tabLst>
                <a:tab pos="329940" algn="l"/>
              </a:tabLst>
            </a:pPr>
            <a:r>
              <a:rPr sz="2800">
                <a:solidFill>
                  <a:srgbClr val="FFFFFF"/>
                </a:solidFill>
                <a:latin typeface="Arial MT"/>
                <a:cs typeface="Arial MT"/>
              </a:rPr>
              <a:t>Customer</a:t>
            </a:r>
            <a:r>
              <a:rPr lang="en-US" sz="2800">
                <a:solidFill>
                  <a:srgbClr val="FFFFFF"/>
                </a:solidFill>
                <a:latin typeface="Arial MT"/>
                <a:cs typeface="Arial MT"/>
              </a:rPr>
              <a:t>,</a:t>
            </a:r>
            <a:r>
              <a:rPr sz="2800" spc="-28">
                <a:solidFill>
                  <a:srgbClr val="FFFFFF"/>
                </a:solidFill>
                <a:latin typeface="Arial MT"/>
                <a:cs typeface="Arial MT"/>
              </a:rPr>
              <a:t> </a:t>
            </a:r>
            <a:r>
              <a:rPr sz="2800" spc="-39">
                <a:solidFill>
                  <a:srgbClr val="FFFFFF"/>
                </a:solidFill>
                <a:latin typeface="Arial MT"/>
                <a:cs typeface="Arial MT"/>
              </a:rPr>
              <a:t>Order,</a:t>
            </a:r>
            <a:r>
              <a:rPr sz="2800" spc="-28">
                <a:solidFill>
                  <a:srgbClr val="FFFFFF"/>
                </a:solidFill>
                <a:latin typeface="Arial MT"/>
                <a:cs typeface="Arial MT"/>
              </a:rPr>
              <a:t> </a:t>
            </a:r>
            <a:r>
              <a:rPr sz="2800">
                <a:solidFill>
                  <a:srgbClr val="FFFFFF"/>
                </a:solidFill>
                <a:latin typeface="Arial MT"/>
                <a:cs typeface="Arial MT"/>
              </a:rPr>
              <a:t>Normal</a:t>
            </a:r>
            <a:r>
              <a:rPr sz="2800" spc="-28">
                <a:solidFill>
                  <a:srgbClr val="FFFFFF"/>
                </a:solidFill>
                <a:latin typeface="Arial MT"/>
                <a:cs typeface="Arial MT"/>
              </a:rPr>
              <a:t> </a:t>
            </a:r>
            <a:r>
              <a:rPr sz="2800" spc="-39">
                <a:solidFill>
                  <a:srgbClr val="FFFFFF"/>
                </a:solidFill>
                <a:latin typeface="Arial MT"/>
                <a:cs typeface="Arial MT"/>
              </a:rPr>
              <a:t>Order,</a:t>
            </a:r>
            <a:r>
              <a:rPr sz="2800" spc="-28">
                <a:solidFill>
                  <a:srgbClr val="FFFFFF"/>
                </a:solidFill>
                <a:latin typeface="Arial MT"/>
                <a:cs typeface="Arial MT"/>
              </a:rPr>
              <a:t> </a:t>
            </a:r>
            <a:r>
              <a:rPr sz="2800">
                <a:solidFill>
                  <a:srgbClr val="FFFFFF"/>
                </a:solidFill>
                <a:latin typeface="Arial MT"/>
                <a:cs typeface="Arial MT"/>
              </a:rPr>
              <a:t>Special</a:t>
            </a:r>
            <a:r>
              <a:rPr sz="2800" spc="-25">
                <a:solidFill>
                  <a:srgbClr val="FFFFFF"/>
                </a:solidFill>
                <a:latin typeface="Arial MT"/>
                <a:cs typeface="Arial MT"/>
              </a:rPr>
              <a:t> </a:t>
            </a:r>
            <a:r>
              <a:rPr sz="2800" spc="-7">
                <a:solidFill>
                  <a:srgbClr val="FFFFFF"/>
                </a:solidFill>
                <a:latin typeface="Arial MT"/>
                <a:cs typeface="Arial MT"/>
              </a:rPr>
              <a:t>Order</a:t>
            </a:r>
            <a:endParaRPr lang="en-US" sz="2800">
              <a:latin typeface="Arial MT"/>
              <a:cs typeface="Arial MT"/>
            </a:endParaRPr>
          </a:p>
          <a:p>
            <a:pPr marL="329565" indent="-311785">
              <a:spcBef>
                <a:spcPts val="2953"/>
              </a:spcBef>
              <a:buSzPct val="145000"/>
              <a:buChar char="•"/>
              <a:tabLst>
                <a:tab pos="329940" algn="l"/>
              </a:tabLst>
            </a:pPr>
            <a:r>
              <a:rPr sz="2800">
                <a:solidFill>
                  <a:srgbClr val="FFFFFF"/>
                </a:solidFill>
                <a:latin typeface="Arial MT"/>
                <a:cs typeface="Arial MT"/>
              </a:rPr>
              <a:t>Person,</a:t>
            </a:r>
            <a:r>
              <a:rPr sz="2800" spc="4">
                <a:solidFill>
                  <a:srgbClr val="FFFFFF"/>
                </a:solidFill>
                <a:latin typeface="Arial MT"/>
                <a:cs typeface="Arial MT"/>
              </a:rPr>
              <a:t> </a:t>
            </a:r>
            <a:r>
              <a:rPr sz="2800">
                <a:solidFill>
                  <a:srgbClr val="FFFFFF"/>
                </a:solidFill>
                <a:latin typeface="Arial MT"/>
                <a:cs typeface="Arial MT"/>
              </a:rPr>
              <a:t>Student,</a:t>
            </a:r>
            <a:r>
              <a:rPr sz="2800" spc="4">
                <a:solidFill>
                  <a:srgbClr val="FFFFFF"/>
                </a:solidFill>
                <a:latin typeface="Arial MT"/>
                <a:cs typeface="Arial MT"/>
              </a:rPr>
              <a:t> </a:t>
            </a:r>
            <a:r>
              <a:rPr sz="2800" spc="-7">
                <a:solidFill>
                  <a:srgbClr val="FFFFFF"/>
                </a:solidFill>
                <a:latin typeface="Arial MT"/>
                <a:cs typeface="Arial MT"/>
              </a:rPr>
              <a:t>Teacher</a:t>
            </a:r>
            <a:r>
              <a:rPr lang="en-US" sz="2800" spc="-7">
                <a:solidFill>
                  <a:srgbClr val="FFFFFF"/>
                </a:solidFill>
                <a:latin typeface="Arial MT"/>
                <a:cs typeface="Arial MT"/>
              </a:rPr>
              <a:t>, Address</a:t>
            </a:r>
            <a:endParaRPr sz="2800">
              <a:latin typeface="Arial MT"/>
              <a:cs typeface="Arial MT"/>
            </a:endParaRPr>
          </a:p>
          <a:p>
            <a:pPr marL="329565" indent="-311785">
              <a:lnSpc>
                <a:spcPct val="100000"/>
              </a:lnSpc>
              <a:spcBef>
                <a:spcPts val="2953"/>
              </a:spcBef>
              <a:buSzPct val="145000"/>
              <a:buChar char="•"/>
              <a:tabLst>
                <a:tab pos="329940" algn="l"/>
              </a:tabLst>
            </a:pPr>
            <a:r>
              <a:rPr sz="2800">
                <a:solidFill>
                  <a:srgbClr val="FFFFFF"/>
                </a:solidFill>
                <a:latin typeface="Arial MT"/>
                <a:cs typeface="Arial MT"/>
              </a:rPr>
              <a:t>Bank</a:t>
            </a:r>
            <a:r>
              <a:rPr sz="2800" spc="32">
                <a:solidFill>
                  <a:srgbClr val="FFFFFF"/>
                </a:solidFill>
                <a:latin typeface="Arial MT"/>
                <a:cs typeface="Arial MT"/>
              </a:rPr>
              <a:t> </a:t>
            </a:r>
            <a:r>
              <a:rPr sz="2800">
                <a:solidFill>
                  <a:srgbClr val="FFFFFF"/>
                </a:solidFill>
                <a:latin typeface="Arial MT"/>
                <a:cs typeface="Arial MT"/>
              </a:rPr>
              <a:t>Account,</a:t>
            </a:r>
            <a:r>
              <a:rPr sz="2800" spc="35">
                <a:solidFill>
                  <a:srgbClr val="FFFFFF"/>
                </a:solidFill>
                <a:latin typeface="Arial MT"/>
                <a:cs typeface="Arial MT"/>
              </a:rPr>
              <a:t> </a:t>
            </a:r>
            <a:r>
              <a:rPr sz="2800">
                <a:solidFill>
                  <a:srgbClr val="FFFFFF"/>
                </a:solidFill>
                <a:latin typeface="Arial MT"/>
                <a:cs typeface="Arial MT"/>
              </a:rPr>
              <a:t>Savings,</a:t>
            </a:r>
            <a:r>
              <a:rPr sz="2800" spc="32">
                <a:solidFill>
                  <a:srgbClr val="FFFFFF"/>
                </a:solidFill>
                <a:latin typeface="Arial MT"/>
                <a:cs typeface="Arial MT"/>
              </a:rPr>
              <a:t> </a:t>
            </a:r>
            <a:r>
              <a:rPr sz="2800">
                <a:solidFill>
                  <a:srgbClr val="FFFFFF"/>
                </a:solidFill>
                <a:latin typeface="Arial MT"/>
                <a:cs typeface="Arial MT"/>
              </a:rPr>
              <a:t>Credit,</a:t>
            </a:r>
            <a:r>
              <a:rPr sz="2800" spc="35">
                <a:solidFill>
                  <a:srgbClr val="FFFFFF"/>
                </a:solidFill>
                <a:latin typeface="Arial MT"/>
                <a:cs typeface="Arial MT"/>
              </a:rPr>
              <a:t> </a:t>
            </a:r>
            <a:r>
              <a:rPr sz="2800" spc="-7">
                <a:solidFill>
                  <a:srgbClr val="FFFFFF"/>
                </a:solidFill>
                <a:latin typeface="Arial MT"/>
                <a:cs typeface="Arial MT"/>
              </a:rPr>
              <a:t>Current</a:t>
            </a:r>
            <a:endParaRPr sz="2800">
              <a:latin typeface="Arial MT"/>
              <a:cs typeface="Arial MT"/>
            </a:endParaRPr>
          </a:p>
        </p:txBody>
      </p:sp>
      <p:sp>
        <p:nvSpPr>
          <p:cNvPr id="4" name="Footer Placeholder 3">
            <a:extLst>
              <a:ext uri="{FF2B5EF4-FFF2-40B4-BE49-F238E27FC236}">
                <a16:creationId xmlns:a16="http://schemas.microsoft.com/office/drawing/2014/main" id="{D08C4BCD-D313-3FF5-1D39-697373C64E2D}"/>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2D244BA4-2619-52D3-1A66-0568891CB773}"/>
              </a:ext>
            </a:extLst>
          </p:cNvPr>
          <p:cNvSpPr>
            <a:spLocks noGrp="1"/>
          </p:cNvSpPr>
          <p:nvPr>
            <p:ph type="sldNum" sz="quarter" idx="12"/>
          </p:nvPr>
        </p:nvSpPr>
        <p:spPr/>
        <p:txBody>
          <a:bodyPr/>
          <a:lstStyle/>
          <a:p>
            <a:fld id="{48F63A3B-78C7-47BE-AE5E-E10140E04643}" type="slidenum">
              <a:rPr lang="en-US" dirty="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1760425">
              <a:lnSpc>
                <a:spcPct val="100000"/>
              </a:lnSpc>
              <a:spcBef>
                <a:spcPts val="70"/>
              </a:spcBef>
            </a:pPr>
            <a:r>
              <a:rPr spc="112"/>
              <a:t>Abstraction</a:t>
            </a:r>
            <a:r>
              <a:rPr spc="14"/>
              <a:t> </a:t>
            </a:r>
            <a:r>
              <a:rPr spc="225"/>
              <a:t>-</a:t>
            </a:r>
            <a:r>
              <a:rPr spc="14"/>
              <a:t> </a:t>
            </a:r>
            <a:r>
              <a:rPr spc="60"/>
              <a:t>Answers</a:t>
            </a:r>
          </a:p>
        </p:txBody>
      </p:sp>
      <p:grpSp>
        <p:nvGrpSpPr>
          <p:cNvPr id="3" name="object 3"/>
          <p:cNvGrpSpPr/>
          <p:nvPr/>
        </p:nvGrpSpPr>
        <p:grpSpPr>
          <a:xfrm>
            <a:off x="3054065" y="1927309"/>
            <a:ext cx="5227847" cy="4531865"/>
            <a:chOff x="2106174" y="1220341"/>
            <a:chExt cx="8466455" cy="8001000"/>
          </a:xfrm>
        </p:grpSpPr>
        <p:pic>
          <p:nvPicPr>
            <p:cNvPr id="4" name="object 4"/>
            <p:cNvPicPr/>
            <p:nvPr/>
          </p:nvPicPr>
          <p:blipFill>
            <a:blip r:embed="rId2" cstate="print"/>
            <a:stretch>
              <a:fillRect/>
            </a:stretch>
          </p:blipFill>
          <p:spPr>
            <a:xfrm>
              <a:off x="2106174" y="1393886"/>
              <a:ext cx="8465896" cy="7826961"/>
            </a:xfrm>
            <a:prstGeom prst="rect">
              <a:avLst/>
            </a:prstGeom>
          </p:spPr>
        </p:pic>
        <p:sp>
          <p:nvSpPr>
            <p:cNvPr id="5" name="object 5"/>
            <p:cNvSpPr/>
            <p:nvPr/>
          </p:nvSpPr>
          <p:spPr>
            <a:xfrm>
              <a:off x="4795269" y="1220341"/>
              <a:ext cx="2324735" cy="811530"/>
            </a:xfrm>
            <a:custGeom>
              <a:avLst/>
              <a:gdLst/>
              <a:ahLst/>
              <a:cxnLst/>
              <a:rect l="l" t="t" r="r" b="b"/>
              <a:pathLst>
                <a:path w="2324734" h="811530">
                  <a:moveTo>
                    <a:pt x="2324527" y="0"/>
                  </a:moveTo>
                  <a:lnTo>
                    <a:pt x="0" y="0"/>
                  </a:lnTo>
                  <a:lnTo>
                    <a:pt x="0" y="811056"/>
                  </a:lnTo>
                  <a:lnTo>
                    <a:pt x="2324527" y="811056"/>
                  </a:lnTo>
                  <a:lnTo>
                    <a:pt x="2324527" y="0"/>
                  </a:lnTo>
                  <a:close/>
                </a:path>
              </a:pathLst>
            </a:custGeom>
            <a:solidFill>
              <a:srgbClr val="FFFFFF"/>
            </a:solidFill>
          </p:spPr>
          <p:txBody>
            <a:bodyPr wrap="square" lIns="0" tIns="0" rIns="0" bIns="0" rtlCol="0"/>
            <a:lstStyle/>
            <a:p>
              <a:endParaRPr/>
            </a:p>
          </p:txBody>
        </p:sp>
      </p:grpSp>
      <p:sp>
        <p:nvSpPr>
          <p:cNvPr id="6" name="Footer Placeholder 5">
            <a:extLst>
              <a:ext uri="{FF2B5EF4-FFF2-40B4-BE49-F238E27FC236}">
                <a16:creationId xmlns:a16="http://schemas.microsoft.com/office/drawing/2014/main" id="{DDCB5535-0953-31DC-A03C-7FA216AC91DB}"/>
              </a:ext>
            </a:extLst>
          </p:cNvPr>
          <p:cNvSpPr>
            <a:spLocks noGrp="1"/>
          </p:cNvSpPr>
          <p:nvPr>
            <p:ph type="ftr" sz="quarter" idx="11"/>
          </p:nvPr>
        </p:nvSpPr>
        <p:spPr/>
        <p:txBody>
          <a:bodyPr/>
          <a:lstStyle/>
          <a:p>
            <a:r>
              <a:rPr lang="en-US"/>
              <a:t>Ms. ALF. Sajeetha</a:t>
            </a:r>
          </a:p>
        </p:txBody>
      </p:sp>
      <p:sp>
        <p:nvSpPr>
          <p:cNvPr id="7" name="Slide Number Placeholder 6">
            <a:extLst>
              <a:ext uri="{FF2B5EF4-FFF2-40B4-BE49-F238E27FC236}">
                <a16:creationId xmlns:a16="http://schemas.microsoft.com/office/drawing/2014/main" id="{C51AA8B3-A6A1-08F4-902A-1B6A1F883EAF}"/>
              </a:ext>
            </a:extLst>
          </p:cNvPr>
          <p:cNvSpPr>
            <a:spLocks noGrp="1"/>
          </p:cNvSpPr>
          <p:nvPr>
            <p:ph type="sldNum" sz="quarter" idx="12"/>
          </p:nvPr>
        </p:nvSpPr>
        <p:spPr/>
        <p:txBody>
          <a:bodyPr/>
          <a:lstStyle/>
          <a:p>
            <a:fld id="{48F63A3B-78C7-47BE-AE5E-E10140E04643}" type="slidenum">
              <a:rPr lang="en-US" dirty="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1760425">
              <a:lnSpc>
                <a:spcPct val="100000"/>
              </a:lnSpc>
              <a:spcBef>
                <a:spcPts val="70"/>
              </a:spcBef>
            </a:pPr>
            <a:r>
              <a:rPr spc="112"/>
              <a:t>Abstraction</a:t>
            </a:r>
            <a:r>
              <a:rPr spc="14"/>
              <a:t> </a:t>
            </a:r>
            <a:r>
              <a:rPr spc="225"/>
              <a:t>-</a:t>
            </a:r>
            <a:r>
              <a:rPr spc="14"/>
              <a:t> </a:t>
            </a:r>
            <a:r>
              <a:rPr spc="60"/>
              <a:t>Answers</a:t>
            </a:r>
          </a:p>
        </p:txBody>
      </p:sp>
      <p:pic>
        <p:nvPicPr>
          <p:cNvPr id="3" name="object 3"/>
          <p:cNvPicPr/>
          <p:nvPr/>
        </p:nvPicPr>
        <p:blipFill>
          <a:blip r:embed="rId2" cstate="print"/>
          <a:stretch>
            <a:fillRect/>
          </a:stretch>
        </p:blipFill>
        <p:spPr>
          <a:xfrm>
            <a:off x="2824396" y="1896020"/>
            <a:ext cx="6543486" cy="4432684"/>
          </a:xfrm>
          <a:prstGeom prst="rect">
            <a:avLst/>
          </a:prstGeom>
        </p:spPr>
      </p:pic>
      <p:sp>
        <p:nvSpPr>
          <p:cNvPr id="4" name="Footer Placeholder 3">
            <a:extLst>
              <a:ext uri="{FF2B5EF4-FFF2-40B4-BE49-F238E27FC236}">
                <a16:creationId xmlns:a16="http://schemas.microsoft.com/office/drawing/2014/main" id="{2BBB428E-3395-462F-5426-6DEAFF048DA9}"/>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C9FC1264-DD36-D941-0F73-05BADFDAADAF}"/>
              </a:ext>
            </a:extLst>
          </p:cNvPr>
          <p:cNvSpPr>
            <a:spLocks noGrp="1"/>
          </p:cNvSpPr>
          <p:nvPr>
            <p:ph type="sldNum" sz="quarter" idx="12"/>
          </p:nvPr>
        </p:nvSpPr>
        <p:spPr/>
        <p:txBody>
          <a:bodyPr/>
          <a:lstStyle/>
          <a:p>
            <a:fld id="{48F63A3B-78C7-47BE-AE5E-E10140E04643}" type="slidenum">
              <a:rPr lang="en-US" dirty="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1760425">
              <a:lnSpc>
                <a:spcPct val="100000"/>
              </a:lnSpc>
              <a:spcBef>
                <a:spcPts val="70"/>
              </a:spcBef>
            </a:pPr>
            <a:r>
              <a:rPr spc="112"/>
              <a:t>Abstraction</a:t>
            </a:r>
            <a:r>
              <a:rPr spc="14"/>
              <a:t> </a:t>
            </a:r>
            <a:r>
              <a:rPr spc="225"/>
              <a:t>-</a:t>
            </a:r>
            <a:r>
              <a:rPr spc="14"/>
              <a:t> </a:t>
            </a:r>
            <a:r>
              <a:rPr spc="60"/>
              <a:t>Answers</a:t>
            </a:r>
          </a:p>
        </p:txBody>
      </p:sp>
      <p:pic>
        <p:nvPicPr>
          <p:cNvPr id="3" name="object 3"/>
          <p:cNvPicPr/>
          <p:nvPr/>
        </p:nvPicPr>
        <p:blipFill>
          <a:blip r:embed="rId2" cstate="print"/>
          <a:stretch>
            <a:fillRect/>
          </a:stretch>
        </p:blipFill>
        <p:spPr>
          <a:xfrm>
            <a:off x="2166944" y="2190107"/>
            <a:ext cx="7355712" cy="3167405"/>
          </a:xfrm>
          <a:prstGeom prst="rect">
            <a:avLst/>
          </a:prstGeom>
        </p:spPr>
      </p:pic>
      <p:sp>
        <p:nvSpPr>
          <p:cNvPr id="4" name="Footer Placeholder 3">
            <a:extLst>
              <a:ext uri="{FF2B5EF4-FFF2-40B4-BE49-F238E27FC236}">
                <a16:creationId xmlns:a16="http://schemas.microsoft.com/office/drawing/2014/main" id="{7F02E84B-C582-24D8-3720-084DC651BA59}"/>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616D895C-71B1-5E80-7B9B-D3D2B6049DF5}"/>
              </a:ext>
            </a:extLst>
          </p:cNvPr>
          <p:cNvSpPr>
            <a:spLocks noGrp="1"/>
          </p:cNvSpPr>
          <p:nvPr>
            <p:ph type="sldNum" sz="quarter" idx="12"/>
          </p:nvPr>
        </p:nvSpPr>
        <p:spPr/>
        <p:txBody>
          <a:bodyPr/>
          <a:lstStyle/>
          <a:p>
            <a:fld id="{48F63A3B-78C7-47BE-AE5E-E10140E04643}" type="slidenum">
              <a:rPr lang="en-US" dirty="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684843"/>
            <a:ext cx="10515600" cy="686126"/>
          </a:xfrm>
          <a:prstGeom prst="rect">
            <a:avLst/>
          </a:prstGeom>
        </p:spPr>
        <p:txBody>
          <a:bodyPr vert="horz" wrap="square" lIns="0" tIns="8930" rIns="0" bIns="0" rtlCol="0">
            <a:spAutoFit/>
          </a:bodyPr>
          <a:lstStyle/>
          <a:p>
            <a:pPr marL="8890">
              <a:lnSpc>
                <a:spcPct val="100000"/>
              </a:lnSpc>
              <a:spcBef>
                <a:spcPts val="70"/>
              </a:spcBef>
            </a:pPr>
            <a:r>
              <a:rPr spc="56">
                <a:solidFill>
                  <a:srgbClr val="FF7B00"/>
                </a:solidFill>
              </a:rPr>
              <a:t>Abstract</a:t>
            </a:r>
            <a:r>
              <a:rPr spc="-39">
                <a:solidFill>
                  <a:srgbClr val="FF7B00"/>
                </a:solidFill>
              </a:rPr>
              <a:t> </a:t>
            </a:r>
            <a:r>
              <a:rPr>
                <a:solidFill>
                  <a:srgbClr val="FF7B00"/>
                </a:solidFill>
              </a:rPr>
              <a:t>Data</a:t>
            </a:r>
            <a:r>
              <a:rPr spc="-39">
                <a:solidFill>
                  <a:srgbClr val="FF7B00"/>
                </a:solidFill>
              </a:rPr>
              <a:t> </a:t>
            </a:r>
            <a:r>
              <a:rPr spc="-506">
                <a:solidFill>
                  <a:srgbClr val="FF7B00"/>
                </a:solidFill>
              </a:rPr>
              <a:t>T</a:t>
            </a:r>
            <a:r>
              <a:rPr spc="-4">
                <a:solidFill>
                  <a:srgbClr val="FF7B00"/>
                </a:solidFill>
              </a:rPr>
              <a:t>ypes</a:t>
            </a:r>
            <a:r>
              <a:rPr lang="en-US" spc="-4">
                <a:solidFill>
                  <a:srgbClr val="FF7B00"/>
                </a:solidFill>
              </a:rPr>
              <a:t> (ADT)</a:t>
            </a:r>
            <a:endParaRPr lang="en-US">
              <a:solidFill>
                <a:srgbClr val="FF7B00"/>
              </a:solidFill>
            </a:endParaRPr>
          </a:p>
        </p:txBody>
      </p:sp>
      <p:sp>
        <p:nvSpPr>
          <p:cNvPr id="5" name="Content Placeholder 4">
            <a:extLst>
              <a:ext uri="{FF2B5EF4-FFF2-40B4-BE49-F238E27FC236}">
                <a16:creationId xmlns:a16="http://schemas.microsoft.com/office/drawing/2014/main" id="{1C111F29-AC96-5BA7-D8A0-C1E9E4F3519D}"/>
              </a:ext>
            </a:extLst>
          </p:cNvPr>
          <p:cNvSpPr>
            <a:spLocks noGrp="1"/>
          </p:cNvSpPr>
          <p:nvPr>
            <p:ph idx="1"/>
          </p:nvPr>
        </p:nvSpPr>
        <p:spPr/>
        <p:txBody>
          <a:bodyPr vert="horz" lIns="91440" tIns="45720" rIns="91440" bIns="45720" rtlCol="0" anchor="t">
            <a:normAutofit/>
          </a:bodyPr>
          <a:lstStyle/>
          <a:p>
            <a:r>
              <a:rPr lang="en-US"/>
              <a:t>An Abstract Data Type (ADT) is a theoretical concept in computer science that defines a data structure purely by the operations that can be performed on it and the </a:t>
            </a:r>
            <a:r>
              <a:rPr lang="en-US">
                <a:solidFill>
                  <a:srgbClr val="FF7B00"/>
                </a:solidFill>
              </a:rPr>
              <a:t>rules for those operations</a:t>
            </a:r>
            <a:r>
              <a:rPr lang="en-US"/>
              <a:t>, without specifying how these operations are implemented. ADTs describe the </a:t>
            </a:r>
            <a:r>
              <a:rPr lang="en-US">
                <a:solidFill>
                  <a:srgbClr val="FF7B00"/>
                </a:solidFill>
              </a:rPr>
              <a:t>behavior of data types</a:t>
            </a:r>
            <a:r>
              <a:rPr lang="en-US"/>
              <a:t> from the user's perspective, but do not reveal the details of how they are implemented</a:t>
            </a:r>
          </a:p>
          <a:p>
            <a:r>
              <a:rPr lang="en-US" err="1"/>
              <a:t>Eg</a:t>
            </a:r>
            <a:r>
              <a:rPr lang="en-US"/>
              <a:t>: </a:t>
            </a:r>
            <a:r>
              <a:rPr lang="en-US">
                <a:ea typeface="+mn-lt"/>
                <a:cs typeface="+mn-lt"/>
              </a:rPr>
              <a:t>Stack, Queue, List, Dictionary</a:t>
            </a:r>
            <a:endParaRPr lang="en-US"/>
          </a:p>
        </p:txBody>
      </p:sp>
      <p:sp>
        <p:nvSpPr>
          <p:cNvPr id="3" name="Footer Placeholder 2">
            <a:extLst>
              <a:ext uri="{FF2B5EF4-FFF2-40B4-BE49-F238E27FC236}">
                <a16:creationId xmlns:a16="http://schemas.microsoft.com/office/drawing/2014/main" id="{1089C171-BA07-0029-0BD1-174DDEC8C02D}"/>
              </a:ext>
            </a:extLst>
          </p:cNvPr>
          <p:cNvSpPr>
            <a:spLocks noGrp="1"/>
          </p:cNvSpPr>
          <p:nvPr>
            <p:ph type="ftr" sz="quarter" idx="11"/>
          </p:nvPr>
        </p:nvSpPr>
        <p:spPr/>
        <p:txBody>
          <a:bodyPr/>
          <a:lstStyle/>
          <a:p>
            <a:r>
              <a:rPr lang="en-US"/>
              <a:t>Ms. ALF. Sajeetha</a:t>
            </a:r>
          </a:p>
        </p:txBody>
      </p:sp>
      <p:sp>
        <p:nvSpPr>
          <p:cNvPr id="4" name="Slide Number Placeholder 3">
            <a:extLst>
              <a:ext uri="{FF2B5EF4-FFF2-40B4-BE49-F238E27FC236}">
                <a16:creationId xmlns:a16="http://schemas.microsoft.com/office/drawing/2014/main" id="{CFDC3EDF-36D1-9C12-8952-A9D9E972812E}"/>
              </a:ext>
            </a:extLst>
          </p:cNvPr>
          <p:cNvSpPr>
            <a:spLocks noGrp="1"/>
          </p:cNvSpPr>
          <p:nvPr>
            <p:ph type="sldNum" sz="quarter" idx="12"/>
          </p:nvPr>
        </p:nvSpPr>
        <p:spPr/>
        <p:txBody>
          <a:bodyPr/>
          <a:lstStyle/>
          <a:p>
            <a:fld id="{48F63A3B-78C7-47BE-AE5E-E10140E04643}" type="slidenum">
              <a:rPr lang="en-US" dirty="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75865" y="82510"/>
            <a:ext cx="6440537" cy="1307578"/>
          </a:xfrm>
          <a:prstGeom prst="rect">
            <a:avLst/>
          </a:prstGeom>
        </p:spPr>
        <p:txBody>
          <a:bodyPr vert="horz" wrap="square" lIns="0" tIns="8930" rIns="0" bIns="0" rtlCol="0">
            <a:spAutoFit/>
          </a:bodyPr>
          <a:lstStyle/>
          <a:p>
            <a:pPr marL="8929">
              <a:lnSpc>
                <a:spcPct val="100000"/>
              </a:lnSpc>
              <a:spcBef>
                <a:spcPts val="70"/>
              </a:spcBef>
            </a:pPr>
            <a:r>
              <a:rPr spc="74"/>
              <a:t>Software</a:t>
            </a:r>
            <a:r>
              <a:rPr spc="7"/>
              <a:t> </a:t>
            </a:r>
            <a:r>
              <a:t>Reuse</a:t>
            </a:r>
            <a:r>
              <a:rPr spc="11"/>
              <a:t> </a:t>
            </a:r>
            <a:r>
              <a:rPr spc="91"/>
              <a:t>and</a:t>
            </a:r>
            <a:r>
              <a:rPr spc="11"/>
              <a:t> </a:t>
            </a:r>
            <a:r>
              <a:rPr spc="60"/>
              <a:t>AD</a:t>
            </a:r>
            <a:r>
              <a:rPr spc="-429"/>
              <a:t>T</a:t>
            </a:r>
            <a:r>
              <a:rPr spc="60"/>
              <a:t>s</a:t>
            </a:r>
          </a:p>
        </p:txBody>
      </p:sp>
      <p:sp>
        <p:nvSpPr>
          <p:cNvPr id="3" name="object 3"/>
          <p:cNvSpPr txBox="1"/>
          <p:nvPr/>
        </p:nvSpPr>
        <p:spPr>
          <a:xfrm>
            <a:off x="896522" y="1217395"/>
            <a:ext cx="10485163" cy="4187534"/>
          </a:xfrm>
          <a:prstGeom prst="rect">
            <a:avLst/>
          </a:prstGeom>
        </p:spPr>
        <p:txBody>
          <a:bodyPr vert="horz" wrap="square" lIns="0" tIns="9376" rIns="0" bIns="0" rtlCol="0" anchor="t">
            <a:spAutoFit/>
          </a:bodyPr>
          <a:lstStyle/>
          <a:p>
            <a:pPr marL="304800" marR="12065" indent="-287020">
              <a:lnSpc>
                <a:spcPct val="100499"/>
              </a:lnSpc>
              <a:spcBef>
                <a:spcPts val="74"/>
              </a:spcBef>
              <a:buSzPct val="145205"/>
              <a:buChar char="•"/>
              <a:tabLst>
                <a:tab pos="305384" algn="l"/>
              </a:tabLst>
            </a:pPr>
            <a:r>
              <a:rPr sz="2550" spc="-7">
                <a:solidFill>
                  <a:srgbClr val="FFFFFF"/>
                </a:solidFill>
                <a:latin typeface="Calibri"/>
                <a:ea typeface="Calibri"/>
                <a:cs typeface="Arial MT"/>
              </a:rPr>
              <a:t>There</a:t>
            </a:r>
            <a:r>
              <a:rPr sz="2550" spc="11">
                <a:solidFill>
                  <a:srgbClr val="FFFFFF"/>
                </a:solidFill>
                <a:latin typeface="Calibri"/>
                <a:ea typeface="Calibri"/>
                <a:cs typeface="Arial MT"/>
              </a:rPr>
              <a:t> </a:t>
            </a:r>
            <a:r>
              <a:rPr sz="2550">
                <a:solidFill>
                  <a:srgbClr val="FFFFFF"/>
                </a:solidFill>
                <a:latin typeface="Calibri"/>
                <a:ea typeface="Calibri"/>
                <a:cs typeface="Arial MT"/>
              </a:rPr>
              <a:t>is</a:t>
            </a:r>
            <a:r>
              <a:rPr sz="2550" spc="7">
                <a:solidFill>
                  <a:srgbClr val="FFFFFF"/>
                </a:solidFill>
                <a:latin typeface="Calibri"/>
                <a:ea typeface="Calibri"/>
                <a:cs typeface="Arial MT"/>
              </a:rPr>
              <a:t> </a:t>
            </a:r>
            <a:r>
              <a:rPr sz="2550" spc="35">
                <a:solidFill>
                  <a:srgbClr val="FFFFFF"/>
                </a:solidFill>
                <a:latin typeface="Calibri"/>
                <a:ea typeface="Calibri"/>
                <a:cs typeface="Arial MT"/>
              </a:rPr>
              <a:t>constant</a:t>
            </a:r>
            <a:r>
              <a:rPr sz="2550" spc="7">
                <a:solidFill>
                  <a:srgbClr val="FFFFFF"/>
                </a:solidFill>
                <a:latin typeface="Calibri"/>
                <a:ea typeface="Calibri"/>
                <a:cs typeface="Arial MT"/>
              </a:rPr>
              <a:t> </a:t>
            </a:r>
            <a:r>
              <a:rPr sz="2550">
                <a:solidFill>
                  <a:srgbClr val="FFFFFF"/>
                </a:solidFill>
                <a:latin typeface="Calibri"/>
                <a:ea typeface="Calibri"/>
                <a:cs typeface="Arial MT"/>
              </a:rPr>
              <a:t>pressure</a:t>
            </a:r>
            <a:r>
              <a:rPr sz="2550" spc="11">
                <a:solidFill>
                  <a:srgbClr val="FFFFFF"/>
                </a:solidFill>
                <a:latin typeface="Calibri"/>
                <a:ea typeface="Calibri"/>
                <a:cs typeface="Arial MT"/>
              </a:rPr>
              <a:t> </a:t>
            </a:r>
            <a:r>
              <a:rPr sz="2550">
                <a:solidFill>
                  <a:srgbClr val="FFFFFF"/>
                </a:solidFill>
                <a:latin typeface="Calibri"/>
                <a:ea typeface="Calibri"/>
                <a:cs typeface="Arial MT"/>
              </a:rPr>
              <a:t>on</a:t>
            </a:r>
            <a:r>
              <a:rPr sz="2550" spc="11">
                <a:solidFill>
                  <a:srgbClr val="FFFFFF"/>
                </a:solidFill>
                <a:latin typeface="Calibri"/>
                <a:ea typeface="Calibri"/>
                <a:cs typeface="Arial MT"/>
              </a:rPr>
              <a:t> </a:t>
            </a:r>
            <a:r>
              <a:rPr sz="2550">
                <a:solidFill>
                  <a:srgbClr val="FFFFFF"/>
                </a:solidFill>
                <a:latin typeface="Calibri"/>
                <a:ea typeface="Calibri"/>
                <a:cs typeface="Arial MT"/>
              </a:rPr>
              <a:t>software</a:t>
            </a:r>
            <a:r>
              <a:rPr sz="2550" spc="7">
                <a:solidFill>
                  <a:srgbClr val="FFFFFF"/>
                </a:solidFill>
                <a:latin typeface="Calibri"/>
                <a:ea typeface="Calibri"/>
                <a:cs typeface="Arial MT"/>
              </a:rPr>
              <a:t> </a:t>
            </a:r>
            <a:r>
              <a:rPr sz="2550" spc="-7">
                <a:solidFill>
                  <a:srgbClr val="FFFFFF"/>
                </a:solidFill>
                <a:latin typeface="Calibri"/>
                <a:ea typeface="Calibri"/>
                <a:cs typeface="Arial MT"/>
              </a:rPr>
              <a:t>developers </a:t>
            </a:r>
            <a:r>
              <a:rPr sz="2550" spc="74">
                <a:solidFill>
                  <a:srgbClr val="FFFFFF"/>
                </a:solidFill>
                <a:latin typeface="Calibri"/>
                <a:ea typeface="Calibri"/>
                <a:cs typeface="Arial MT"/>
              </a:rPr>
              <a:t>to</a:t>
            </a:r>
            <a:r>
              <a:rPr sz="2550" spc="7">
                <a:solidFill>
                  <a:srgbClr val="FFFFFF"/>
                </a:solidFill>
                <a:latin typeface="Calibri"/>
                <a:ea typeface="Calibri"/>
                <a:cs typeface="Arial MT"/>
              </a:rPr>
              <a:t> </a:t>
            </a:r>
            <a:r>
              <a:rPr sz="2550">
                <a:solidFill>
                  <a:srgbClr val="FFFFFF"/>
                </a:solidFill>
                <a:latin typeface="Calibri"/>
                <a:ea typeface="Calibri"/>
                <a:cs typeface="Arial MT"/>
              </a:rPr>
              <a:t>increase</a:t>
            </a:r>
            <a:r>
              <a:rPr sz="2550" spc="11">
                <a:solidFill>
                  <a:srgbClr val="FFFFFF"/>
                </a:solidFill>
                <a:latin typeface="Calibri"/>
                <a:ea typeface="Calibri"/>
                <a:cs typeface="Arial MT"/>
              </a:rPr>
              <a:t> </a:t>
            </a:r>
            <a:r>
              <a:rPr sz="2550">
                <a:solidFill>
                  <a:srgbClr val="FFFFFF"/>
                </a:solidFill>
                <a:latin typeface="Calibri"/>
                <a:ea typeface="Calibri"/>
                <a:cs typeface="Arial MT"/>
              </a:rPr>
              <a:t>their</a:t>
            </a:r>
            <a:r>
              <a:rPr sz="2550" spc="7">
                <a:solidFill>
                  <a:srgbClr val="FFFFFF"/>
                </a:solidFill>
                <a:latin typeface="Calibri"/>
                <a:ea typeface="Calibri"/>
                <a:cs typeface="Arial MT"/>
              </a:rPr>
              <a:t> </a:t>
            </a:r>
            <a:r>
              <a:rPr sz="2550" spc="-7">
                <a:solidFill>
                  <a:srgbClr val="FF9300"/>
                </a:solidFill>
                <a:latin typeface="Calibri"/>
                <a:ea typeface="Calibri"/>
                <a:cs typeface="Arial MT"/>
              </a:rPr>
              <a:t>productivity</a:t>
            </a:r>
            <a:r>
              <a:rPr sz="2550" spc="-7">
                <a:solidFill>
                  <a:srgbClr val="FFFFFF"/>
                </a:solidFill>
                <a:latin typeface="Calibri"/>
                <a:ea typeface="Calibri"/>
                <a:cs typeface="Arial MT"/>
              </a:rPr>
              <a:t>.</a:t>
            </a:r>
            <a:endParaRPr lang="en-US" sz="2550">
              <a:latin typeface="Calibri"/>
              <a:ea typeface="Calibri"/>
              <a:cs typeface="Arial MT"/>
            </a:endParaRPr>
          </a:p>
          <a:p>
            <a:pPr marL="304800" marR="218440" indent="-287020">
              <a:lnSpc>
                <a:spcPct val="100499"/>
              </a:lnSpc>
              <a:spcBef>
                <a:spcPts val="2717"/>
              </a:spcBef>
              <a:buSzPct val="145205"/>
              <a:buChar char="•"/>
              <a:tabLst>
                <a:tab pos="305384" algn="l"/>
              </a:tabLst>
            </a:pPr>
            <a:r>
              <a:rPr sz="2550">
                <a:solidFill>
                  <a:srgbClr val="FFFFFF"/>
                </a:solidFill>
                <a:latin typeface="Calibri"/>
                <a:ea typeface="Calibri"/>
                <a:cs typeface="Arial MT"/>
              </a:rPr>
              <a:t>It</a:t>
            </a:r>
            <a:r>
              <a:rPr sz="2550" spc="95">
                <a:solidFill>
                  <a:srgbClr val="FFFFFF"/>
                </a:solidFill>
                <a:latin typeface="Calibri"/>
                <a:ea typeface="Calibri"/>
                <a:cs typeface="Arial MT"/>
              </a:rPr>
              <a:t> </a:t>
            </a:r>
            <a:r>
              <a:rPr sz="2550">
                <a:solidFill>
                  <a:srgbClr val="FFFFFF"/>
                </a:solidFill>
                <a:latin typeface="Calibri"/>
                <a:ea typeface="Calibri"/>
                <a:cs typeface="Arial MT"/>
              </a:rPr>
              <a:t>became</a:t>
            </a:r>
            <a:r>
              <a:rPr sz="2550" spc="95">
                <a:solidFill>
                  <a:srgbClr val="FFFFFF"/>
                </a:solidFill>
                <a:latin typeface="Calibri"/>
                <a:ea typeface="Calibri"/>
                <a:cs typeface="Arial MT"/>
              </a:rPr>
              <a:t> </a:t>
            </a:r>
            <a:r>
              <a:rPr sz="2550">
                <a:solidFill>
                  <a:srgbClr val="FFFFFF"/>
                </a:solidFill>
                <a:latin typeface="Calibri"/>
                <a:ea typeface="Calibri"/>
                <a:cs typeface="Arial MT"/>
              </a:rPr>
              <a:t>apparent</a:t>
            </a:r>
            <a:r>
              <a:rPr sz="2550" spc="95">
                <a:solidFill>
                  <a:srgbClr val="FFFFFF"/>
                </a:solidFill>
                <a:latin typeface="Calibri"/>
                <a:ea typeface="Calibri"/>
                <a:cs typeface="Arial MT"/>
              </a:rPr>
              <a:t> </a:t>
            </a:r>
            <a:r>
              <a:rPr sz="2550" spc="74">
                <a:solidFill>
                  <a:srgbClr val="FFFFFF"/>
                </a:solidFill>
                <a:latin typeface="Calibri"/>
                <a:ea typeface="Calibri"/>
                <a:cs typeface="Arial MT"/>
              </a:rPr>
              <a:t>to</a:t>
            </a:r>
            <a:r>
              <a:rPr sz="2550" spc="95">
                <a:solidFill>
                  <a:srgbClr val="FFFFFF"/>
                </a:solidFill>
                <a:latin typeface="Calibri"/>
                <a:ea typeface="Calibri"/>
                <a:cs typeface="Arial MT"/>
              </a:rPr>
              <a:t> </a:t>
            </a:r>
            <a:r>
              <a:rPr sz="2550">
                <a:solidFill>
                  <a:srgbClr val="FFFFFF"/>
                </a:solidFill>
                <a:latin typeface="Calibri"/>
                <a:ea typeface="Calibri"/>
                <a:cs typeface="Arial MT"/>
              </a:rPr>
              <a:t>many</a:t>
            </a:r>
            <a:r>
              <a:rPr sz="2550" spc="95">
                <a:solidFill>
                  <a:srgbClr val="FFFFFF"/>
                </a:solidFill>
                <a:latin typeface="Calibri"/>
                <a:ea typeface="Calibri"/>
                <a:cs typeface="Arial MT"/>
              </a:rPr>
              <a:t> </a:t>
            </a:r>
            <a:r>
              <a:rPr sz="2550">
                <a:solidFill>
                  <a:srgbClr val="FFFFFF"/>
                </a:solidFill>
                <a:latin typeface="Calibri"/>
                <a:ea typeface="Calibri"/>
                <a:cs typeface="Arial MT"/>
              </a:rPr>
              <a:t>software</a:t>
            </a:r>
            <a:r>
              <a:rPr sz="2550" spc="95">
                <a:solidFill>
                  <a:srgbClr val="FFFFFF"/>
                </a:solidFill>
                <a:latin typeface="Calibri"/>
                <a:ea typeface="Calibri"/>
                <a:cs typeface="Arial MT"/>
              </a:rPr>
              <a:t> </a:t>
            </a:r>
            <a:r>
              <a:rPr sz="2550" spc="-7">
                <a:solidFill>
                  <a:srgbClr val="FFFFFF"/>
                </a:solidFill>
                <a:latin typeface="Calibri"/>
                <a:ea typeface="Calibri"/>
                <a:cs typeface="Arial MT"/>
              </a:rPr>
              <a:t>developers </a:t>
            </a:r>
            <a:r>
              <a:rPr sz="2550" spc="42">
                <a:solidFill>
                  <a:srgbClr val="FFFFFF"/>
                </a:solidFill>
                <a:latin typeface="Calibri"/>
                <a:ea typeface="Calibri"/>
                <a:cs typeface="Arial MT"/>
              </a:rPr>
              <a:t>that</a:t>
            </a:r>
            <a:r>
              <a:rPr sz="2550" spc="53">
                <a:solidFill>
                  <a:srgbClr val="FFFFFF"/>
                </a:solidFill>
                <a:latin typeface="Calibri"/>
                <a:ea typeface="Calibri"/>
                <a:cs typeface="Arial MT"/>
              </a:rPr>
              <a:t> </a:t>
            </a:r>
            <a:r>
              <a:rPr sz="2550">
                <a:solidFill>
                  <a:srgbClr val="FFFFFF"/>
                </a:solidFill>
                <a:latin typeface="Calibri"/>
                <a:ea typeface="Calibri"/>
                <a:cs typeface="Arial MT"/>
              </a:rPr>
              <a:t>one</a:t>
            </a:r>
            <a:r>
              <a:rPr sz="2550" spc="56">
                <a:solidFill>
                  <a:srgbClr val="FFFFFF"/>
                </a:solidFill>
                <a:latin typeface="Calibri"/>
                <a:ea typeface="Calibri"/>
                <a:cs typeface="Arial MT"/>
              </a:rPr>
              <a:t> </a:t>
            </a:r>
            <a:r>
              <a:rPr sz="2550" spc="53">
                <a:solidFill>
                  <a:srgbClr val="FFFFFF"/>
                </a:solidFill>
                <a:latin typeface="Calibri"/>
                <a:ea typeface="Calibri"/>
                <a:cs typeface="Arial MT"/>
              </a:rPr>
              <a:t>of </a:t>
            </a:r>
            <a:r>
              <a:rPr sz="2550">
                <a:solidFill>
                  <a:srgbClr val="FFFFFF"/>
                </a:solidFill>
                <a:latin typeface="Calibri"/>
                <a:ea typeface="Calibri"/>
                <a:cs typeface="Arial MT"/>
              </a:rPr>
              <a:t>the</a:t>
            </a:r>
            <a:r>
              <a:rPr sz="2550" spc="56">
                <a:solidFill>
                  <a:srgbClr val="FFFFFF"/>
                </a:solidFill>
                <a:latin typeface="Calibri"/>
                <a:ea typeface="Calibri"/>
                <a:cs typeface="Arial MT"/>
              </a:rPr>
              <a:t> </a:t>
            </a:r>
            <a:r>
              <a:rPr sz="2550" spc="53">
                <a:solidFill>
                  <a:srgbClr val="FFFFFF"/>
                </a:solidFill>
                <a:latin typeface="Calibri"/>
                <a:ea typeface="Calibri"/>
                <a:cs typeface="Arial MT"/>
              </a:rPr>
              <a:t>most </a:t>
            </a:r>
            <a:r>
              <a:rPr sz="2550">
                <a:solidFill>
                  <a:srgbClr val="FFFFFF"/>
                </a:solidFill>
                <a:latin typeface="Calibri"/>
                <a:ea typeface="Calibri"/>
                <a:cs typeface="Arial MT"/>
              </a:rPr>
              <a:t>promising</a:t>
            </a:r>
            <a:r>
              <a:rPr sz="2550" spc="56">
                <a:solidFill>
                  <a:srgbClr val="FFFFFF"/>
                </a:solidFill>
                <a:latin typeface="Calibri"/>
                <a:ea typeface="Calibri"/>
                <a:cs typeface="Arial MT"/>
              </a:rPr>
              <a:t> </a:t>
            </a:r>
            <a:r>
              <a:rPr sz="2550" spc="32">
                <a:solidFill>
                  <a:srgbClr val="FFFFFF"/>
                </a:solidFill>
                <a:latin typeface="Calibri"/>
                <a:ea typeface="Calibri"/>
                <a:cs typeface="Arial MT"/>
              </a:rPr>
              <a:t>opportunities</a:t>
            </a:r>
            <a:r>
              <a:rPr sz="2550" spc="53">
                <a:solidFill>
                  <a:srgbClr val="FFFFFF"/>
                </a:solidFill>
                <a:latin typeface="Calibri"/>
                <a:ea typeface="Calibri"/>
                <a:cs typeface="Arial MT"/>
              </a:rPr>
              <a:t> </a:t>
            </a:r>
            <a:r>
              <a:rPr sz="2550" spc="21">
                <a:solidFill>
                  <a:srgbClr val="FFFFFF"/>
                </a:solidFill>
                <a:latin typeface="Calibri"/>
                <a:ea typeface="Calibri"/>
                <a:cs typeface="Arial MT"/>
              </a:rPr>
              <a:t>for </a:t>
            </a:r>
            <a:r>
              <a:rPr sz="2550">
                <a:solidFill>
                  <a:srgbClr val="FFFFFF"/>
                </a:solidFill>
                <a:latin typeface="Calibri"/>
                <a:ea typeface="Calibri"/>
                <a:cs typeface="Arial MT"/>
              </a:rPr>
              <a:t>increased</a:t>
            </a:r>
            <a:r>
              <a:rPr sz="2550" spc="56">
                <a:solidFill>
                  <a:srgbClr val="FFFFFF"/>
                </a:solidFill>
                <a:latin typeface="Calibri"/>
                <a:ea typeface="Calibri"/>
                <a:cs typeface="Arial MT"/>
              </a:rPr>
              <a:t> </a:t>
            </a:r>
            <a:r>
              <a:rPr sz="2550" spc="39">
                <a:solidFill>
                  <a:srgbClr val="FFFFFF"/>
                </a:solidFill>
                <a:latin typeface="Calibri"/>
                <a:ea typeface="Calibri"/>
                <a:cs typeface="Arial MT"/>
              </a:rPr>
              <a:t>productivity</a:t>
            </a:r>
            <a:r>
              <a:rPr sz="2550" spc="63">
                <a:solidFill>
                  <a:srgbClr val="FFFFFF"/>
                </a:solidFill>
                <a:latin typeface="Calibri"/>
                <a:ea typeface="Calibri"/>
                <a:cs typeface="Arial MT"/>
              </a:rPr>
              <a:t> </a:t>
            </a:r>
            <a:r>
              <a:rPr sz="2550">
                <a:solidFill>
                  <a:srgbClr val="FFFFFF"/>
                </a:solidFill>
                <a:latin typeface="Calibri"/>
                <a:ea typeface="Calibri"/>
                <a:cs typeface="Arial MT"/>
              </a:rPr>
              <a:t>in</a:t>
            </a:r>
            <a:r>
              <a:rPr sz="2550" spc="63">
                <a:solidFill>
                  <a:srgbClr val="FFFFFF"/>
                </a:solidFill>
                <a:latin typeface="Calibri"/>
                <a:ea typeface="Calibri"/>
                <a:cs typeface="Arial MT"/>
              </a:rPr>
              <a:t> </a:t>
            </a:r>
            <a:r>
              <a:rPr sz="2550">
                <a:solidFill>
                  <a:srgbClr val="FFFFFF"/>
                </a:solidFill>
                <a:latin typeface="Calibri"/>
                <a:ea typeface="Calibri"/>
                <a:cs typeface="Arial MT"/>
              </a:rPr>
              <a:t>their</a:t>
            </a:r>
            <a:r>
              <a:rPr sz="2550" spc="63">
                <a:solidFill>
                  <a:srgbClr val="FFFFFF"/>
                </a:solidFill>
                <a:latin typeface="Calibri"/>
                <a:ea typeface="Calibri"/>
                <a:cs typeface="Arial MT"/>
              </a:rPr>
              <a:t> </a:t>
            </a:r>
            <a:r>
              <a:rPr sz="2550">
                <a:solidFill>
                  <a:srgbClr val="FFFFFF"/>
                </a:solidFill>
                <a:latin typeface="Calibri"/>
                <a:ea typeface="Calibri"/>
                <a:cs typeface="Arial MT"/>
              </a:rPr>
              <a:t>profession</a:t>
            </a:r>
            <a:r>
              <a:rPr sz="2550" spc="63">
                <a:solidFill>
                  <a:srgbClr val="FFFFFF"/>
                </a:solidFill>
                <a:latin typeface="Calibri"/>
                <a:ea typeface="Calibri"/>
                <a:cs typeface="Arial MT"/>
              </a:rPr>
              <a:t> </a:t>
            </a:r>
            <a:r>
              <a:rPr sz="2550">
                <a:solidFill>
                  <a:srgbClr val="FFFFFF"/>
                </a:solidFill>
                <a:latin typeface="Calibri"/>
                <a:ea typeface="Calibri"/>
                <a:cs typeface="Arial MT"/>
              </a:rPr>
              <a:t>was</a:t>
            </a:r>
            <a:r>
              <a:rPr sz="2550" spc="63">
                <a:solidFill>
                  <a:srgbClr val="FFFFFF"/>
                </a:solidFill>
                <a:latin typeface="Calibri"/>
                <a:ea typeface="Calibri"/>
                <a:cs typeface="Arial MT"/>
              </a:rPr>
              <a:t> </a:t>
            </a:r>
            <a:r>
              <a:rPr sz="2550" spc="-18">
                <a:solidFill>
                  <a:srgbClr val="FFFFFF"/>
                </a:solidFill>
                <a:latin typeface="Calibri"/>
                <a:ea typeface="Calibri"/>
                <a:cs typeface="Arial MT"/>
              </a:rPr>
              <a:t>in </a:t>
            </a:r>
            <a:r>
              <a:rPr sz="2550">
                <a:solidFill>
                  <a:srgbClr val="FF9300"/>
                </a:solidFill>
                <a:latin typeface="Calibri"/>
                <a:ea typeface="Calibri"/>
                <a:cs typeface="Arial MT"/>
              </a:rPr>
              <a:t>software</a:t>
            </a:r>
            <a:r>
              <a:rPr sz="2550" spc="158">
                <a:solidFill>
                  <a:srgbClr val="FF9300"/>
                </a:solidFill>
                <a:latin typeface="Calibri"/>
                <a:ea typeface="Calibri"/>
                <a:cs typeface="Arial MT"/>
              </a:rPr>
              <a:t> </a:t>
            </a:r>
            <a:r>
              <a:rPr sz="2550" spc="-7">
                <a:solidFill>
                  <a:srgbClr val="FF9300"/>
                </a:solidFill>
                <a:latin typeface="Calibri"/>
                <a:ea typeface="Calibri"/>
                <a:cs typeface="Arial MT"/>
              </a:rPr>
              <a:t>reuse</a:t>
            </a:r>
            <a:r>
              <a:rPr sz="2550" spc="-7">
                <a:solidFill>
                  <a:srgbClr val="FFFFFF"/>
                </a:solidFill>
                <a:latin typeface="Calibri"/>
                <a:ea typeface="Calibri"/>
                <a:cs typeface="Arial MT"/>
              </a:rPr>
              <a:t>.</a:t>
            </a:r>
            <a:endParaRPr sz="2550">
              <a:latin typeface="Calibri"/>
              <a:ea typeface="Calibri"/>
              <a:cs typeface="Arial MT"/>
            </a:endParaRPr>
          </a:p>
          <a:p>
            <a:pPr marL="304800" marR="41910" indent="-287020">
              <a:lnSpc>
                <a:spcPct val="100499"/>
              </a:lnSpc>
              <a:spcBef>
                <a:spcPts val="2714"/>
              </a:spcBef>
              <a:buSzPct val="145205"/>
              <a:buChar char="•"/>
              <a:tabLst>
                <a:tab pos="305384" algn="l"/>
              </a:tabLst>
            </a:pPr>
            <a:r>
              <a:rPr sz="2550" spc="35">
                <a:solidFill>
                  <a:srgbClr val="FFFFFF"/>
                </a:solidFill>
                <a:latin typeface="Calibri"/>
                <a:ea typeface="Calibri"/>
                <a:cs typeface="Arial MT"/>
              </a:rPr>
              <a:t>Abstract</a:t>
            </a:r>
            <a:r>
              <a:rPr sz="2550" spc="112">
                <a:solidFill>
                  <a:srgbClr val="FFFFFF"/>
                </a:solidFill>
                <a:latin typeface="Calibri"/>
                <a:ea typeface="Calibri"/>
                <a:cs typeface="Arial MT"/>
              </a:rPr>
              <a:t> </a:t>
            </a:r>
            <a:r>
              <a:rPr sz="2550">
                <a:solidFill>
                  <a:srgbClr val="FFFFFF"/>
                </a:solidFill>
                <a:latin typeface="Calibri"/>
                <a:ea typeface="Calibri"/>
                <a:cs typeface="Arial MT"/>
              </a:rPr>
              <a:t>data</a:t>
            </a:r>
            <a:r>
              <a:rPr sz="2550" spc="116">
                <a:solidFill>
                  <a:srgbClr val="FFFFFF"/>
                </a:solidFill>
                <a:latin typeface="Calibri"/>
                <a:ea typeface="Calibri"/>
                <a:cs typeface="Arial MT"/>
              </a:rPr>
              <a:t> </a:t>
            </a:r>
            <a:r>
              <a:rPr sz="2550">
                <a:solidFill>
                  <a:srgbClr val="FFFFFF"/>
                </a:solidFill>
                <a:latin typeface="Calibri"/>
                <a:ea typeface="Calibri"/>
                <a:cs typeface="Arial MT"/>
              </a:rPr>
              <a:t>types,</a:t>
            </a:r>
            <a:r>
              <a:rPr sz="2550" spc="116">
                <a:solidFill>
                  <a:srgbClr val="FFFFFF"/>
                </a:solidFill>
                <a:latin typeface="Calibri"/>
                <a:ea typeface="Calibri"/>
                <a:cs typeface="Arial MT"/>
              </a:rPr>
              <a:t> </a:t>
            </a:r>
            <a:r>
              <a:rPr sz="2550" spc="42">
                <a:solidFill>
                  <a:srgbClr val="FFFFFF"/>
                </a:solidFill>
                <a:latin typeface="Calibri"/>
                <a:ea typeface="Calibri"/>
                <a:cs typeface="Arial MT"/>
              </a:rPr>
              <a:t>with</a:t>
            </a:r>
            <a:r>
              <a:rPr sz="2550" spc="120">
                <a:solidFill>
                  <a:srgbClr val="FFFFFF"/>
                </a:solidFill>
                <a:latin typeface="Calibri"/>
                <a:ea typeface="Calibri"/>
                <a:cs typeface="Arial MT"/>
              </a:rPr>
              <a:t> </a:t>
            </a:r>
            <a:r>
              <a:rPr sz="2550">
                <a:solidFill>
                  <a:srgbClr val="FFFFFF"/>
                </a:solidFill>
                <a:latin typeface="Calibri"/>
                <a:ea typeface="Calibri"/>
                <a:cs typeface="Arial MT"/>
              </a:rPr>
              <a:t>their</a:t>
            </a:r>
            <a:r>
              <a:rPr sz="2550" spc="116">
                <a:solidFill>
                  <a:srgbClr val="FFFFFF"/>
                </a:solidFill>
                <a:latin typeface="Calibri"/>
                <a:ea typeface="Calibri"/>
                <a:cs typeface="Arial MT"/>
              </a:rPr>
              <a:t> </a:t>
            </a:r>
            <a:r>
              <a:rPr sz="2550">
                <a:solidFill>
                  <a:srgbClr val="FF9300"/>
                </a:solidFill>
                <a:latin typeface="Calibri"/>
                <a:ea typeface="Calibri"/>
                <a:cs typeface="Arial MT"/>
              </a:rPr>
              <a:t>encapsulation</a:t>
            </a:r>
            <a:r>
              <a:rPr sz="2550" spc="120">
                <a:solidFill>
                  <a:srgbClr val="FF9300"/>
                </a:solidFill>
                <a:latin typeface="Calibri"/>
                <a:ea typeface="Calibri"/>
                <a:cs typeface="Arial MT"/>
              </a:rPr>
              <a:t> </a:t>
            </a:r>
            <a:r>
              <a:rPr sz="2550" spc="-18">
                <a:solidFill>
                  <a:srgbClr val="FFFFFF"/>
                </a:solidFill>
                <a:latin typeface="Calibri"/>
                <a:ea typeface="Calibri"/>
                <a:cs typeface="Arial MT"/>
              </a:rPr>
              <a:t>and </a:t>
            </a:r>
            <a:r>
              <a:rPr sz="2550">
                <a:solidFill>
                  <a:srgbClr val="FF9300"/>
                </a:solidFill>
                <a:latin typeface="Calibri"/>
                <a:ea typeface="Calibri"/>
                <a:cs typeface="Arial MT"/>
              </a:rPr>
              <a:t>access</a:t>
            </a:r>
            <a:r>
              <a:rPr sz="2550" spc="95">
                <a:solidFill>
                  <a:srgbClr val="FF9300"/>
                </a:solidFill>
                <a:latin typeface="Calibri"/>
                <a:ea typeface="Calibri"/>
                <a:cs typeface="Arial MT"/>
              </a:rPr>
              <a:t> </a:t>
            </a:r>
            <a:r>
              <a:rPr sz="2550">
                <a:solidFill>
                  <a:srgbClr val="FF9300"/>
                </a:solidFill>
                <a:latin typeface="Calibri"/>
                <a:ea typeface="Calibri"/>
                <a:cs typeface="Arial MT"/>
              </a:rPr>
              <a:t>controls</a:t>
            </a:r>
            <a:r>
              <a:rPr sz="2550">
                <a:solidFill>
                  <a:srgbClr val="FFFFFF"/>
                </a:solidFill>
                <a:latin typeface="Calibri"/>
                <a:ea typeface="Calibri"/>
                <a:cs typeface="Arial MT"/>
              </a:rPr>
              <a:t>,</a:t>
            </a:r>
            <a:r>
              <a:rPr sz="2550" spc="105">
                <a:solidFill>
                  <a:srgbClr val="FFFFFF"/>
                </a:solidFill>
                <a:latin typeface="Calibri"/>
                <a:ea typeface="Calibri"/>
                <a:cs typeface="Arial MT"/>
              </a:rPr>
              <a:t> </a:t>
            </a:r>
            <a:r>
              <a:rPr sz="2550">
                <a:solidFill>
                  <a:srgbClr val="FFFFFF"/>
                </a:solidFill>
                <a:latin typeface="Calibri"/>
                <a:ea typeface="Calibri"/>
                <a:cs typeface="Arial MT"/>
              </a:rPr>
              <a:t>are</a:t>
            </a:r>
            <a:r>
              <a:rPr sz="2550" spc="102">
                <a:solidFill>
                  <a:srgbClr val="FFFFFF"/>
                </a:solidFill>
                <a:latin typeface="Calibri"/>
                <a:ea typeface="Calibri"/>
                <a:cs typeface="Arial MT"/>
              </a:rPr>
              <a:t> </a:t>
            </a:r>
            <a:r>
              <a:rPr sz="2550" spc="35">
                <a:solidFill>
                  <a:srgbClr val="FFFFFF"/>
                </a:solidFill>
                <a:latin typeface="Calibri"/>
                <a:ea typeface="Calibri"/>
                <a:cs typeface="Arial MT"/>
              </a:rPr>
              <a:t>obvious</a:t>
            </a:r>
            <a:r>
              <a:rPr sz="2550" spc="105">
                <a:solidFill>
                  <a:srgbClr val="FFFFFF"/>
                </a:solidFill>
                <a:latin typeface="Calibri"/>
                <a:ea typeface="Calibri"/>
                <a:cs typeface="Arial MT"/>
              </a:rPr>
              <a:t> </a:t>
            </a:r>
            <a:r>
              <a:rPr sz="2550">
                <a:solidFill>
                  <a:srgbClr val="FFFFFF"/>
                </a:solidFill>
                <a:latin typeface="Calibri"/>
                <a:ea typeface="Calibri"/>
                <a:cs typeface="Arial MT"/>
              </a:rPr>
              <a:t>candidates</a:t>
            </a:r>
            <a:r>
              <a:rPr sz="2550" spc="102">
                <a:solidFill>
                  <a:srgbClr val="FFFFFF"/>
                </a:solidFill>
                <a:latin typeface="Calibri"/>
                <a:ea typeface="Calibri"/>
                <a:cs typeface="Arial MT"/>
              </a:rPr>
              <a:t> </a:t>
            </a:r>
            <a:r>
              <a:rPr sz="2550" spc="39">
                <a:solidFill>
                  <a:srgbClr val="FFFFFF"/>
                </a:solidFill>
                <a:latin typeface="Calibri"/>
                <a:ea typeface="Calibri"/>
                <a:cs typeface="Arial MT"/>
              </a:rPr>
              <a:t>for</a:t>
            </a:r>
            <a:r>
              <a:rPr sz="2550" spc="105">
                <a:solidFill>
                  <a:srgbClr val="FFFFFF"/>
                </a:solidFill>
                <a:latin typeface="Calibri"/>
                <a:ea typeface="Calibri"/>
                <a:cs typeface="Arial MT"/>
              </a:rPr>
              <a:t> </a:t>
            </a:r>
            <a:r>
              <a:rPr sz="2550" spc="-7">
                <a:solidFill>
                  <a:srgbClr val="FFFFFF"/>
                </a:solidFill>
                <a:latin typeface="Calibri"/>
                <a:ea typeface="Calibri"/>
                <a:cs typeface="Arial MT"/>
              </a:rPr>
              <a:t>reuse.</a:t>
            </a:r>
            <a:endParaRPr sz="2550">
              <a:latin typeface="Calibri"/>
              <a:ea typeface="Calibri"/>
              <a:cs typeface="Arial MT"/>
            </a:endParaRPr>
          </a:p>
          <a:p>
            <a:pPr marL="304800" marR="1515110" indent="-287020">
              <a:lnSpc>
                <a:spcPct val="100499"/>
              </a:lnSpc>
              <a:spcBef>
                <a:spcPts val="2717"/>
              </a:spcBef>
              <a:buSzPct val="145205"/>
              <a:buChar char="•"/>
              <a:tabLst>
                <a:tab pos="305384" algn="l"/>
              </a:tabLst>
            </a:pPr>
            <a:r>
              <a:rPr sz="2550">
                <a:solidFill>
                  <a:srgbClr val="FFFFFF"/>
                </a:solidFill>
                <a:latin typeface="Calibri"/>
                <a:ea typeface="Calibri"/>
                <a:cs typeface="Arial MT"/>
              </a:rPr>
              <a:t>Encapsulation</a:t>
            </a:r>
            <a:r>
              <a:rPr sz="2550" spc="49">
                <a:solidFill>
                  <a:srgbClr val="FFFFFF"/>
                </a:solidFill>
                <a:latin typeface="Calibri"/>
                <a:ea typeface="Calibri"/>
                <a:cs typeface="Arial MT"/>
              </a:rPr>
              <a:t> </a:t>
            </a:r>
            <a:r>
              <a:rPr sz="2550">
                <a:solidFill>
                  <a:srgbClr val="FFFFFF"/>
                </a:solidFill>
                <a:latin typeface="Calibri"/>
                <a:ea typeface="Calibri"/>
                <a:cs typeface="Arial MT"/>
              </a:rPr>
              <a:t>can</a:t>
            </a:r>
            <a:r>
              <a:rPr sz="2550" spc="49">
                <a:solidFill>
                  <a:srgbClr val="FFFFFF"/>
                </a:solidFill>
                <a:latin typeface="Calibri"/>
                <a:ea typeface="Calibri"/>
                <a:cs typeface="Arial MT"/>
              </a:rPr>
              <a:t> </a:t>
            </a:r>
            <a:r>
              <a:rPr sz="2550">
                <a:solidFill>
                  <a:srgbClr val="FFFFFF"/>
                </a:solidFill>
                <a:latin typeface="Calibri"/>
                <a:ea typeface="Calibri"/>
                <a:cs typeface="Arial MT"/>
              </a:rPr>
              <a:t>also</a:t>
            </a:r>
            <a:r>
              <a:rPr sz="2550" spc="46">
                <a:solidFill>
                  <a:srgbClr val="FFFFFF"/>
                </a:solidFill>
                <a:latin typeface="Calibri"/>
                <a:ea typeface="Calibri"/>
                <a:cs typeface="Arial MT"/>
              </a:rPr>
              <a:t> </a:t>
            </a:r>
            <a:r>
              <a:rPr sz="2550">
                <a:solidFill>
                  <a:srgbClr val="FFFFFF"/>
                </a:solidFill>
                <a:latin typeface="Calibri"/>
                <a:ea typeface="Calibri"/>
                <a:cs typeface="Arial MT"/>
              </a:rPr>
              <a:t>be</a:t>
            </a:r>
            <a:r>
              <a:rPr sz="2550" spc="49">
                <a:solidFill>
                  <a:srgbClr val="FFFFFF"/>
                </a:solidFill>
                <a:latin typeface="Calibri"/>
                <a:ea typeface="Calibri"/>
                <a:cs typeface="Arial MT"/>
              </a:rPr>
              <a:t> </a:t>
            </a:r>
            <a:r>
              <a:rPr sz="2550">
                <a:solidFill>
                  <a:srgbClr val="FFFFFF"/>
                </a:solidFill>
                <a:latin typeface="Calibri"/>
                <a:ea typeface="Calibri"/>
                <a:cs typeface="Arial MT"/>
              </a:rPr>
              <a:t>referred</a:t>
            </a:r>
            <a:r>
              <a:rPr sz="2550" spc="46">
                <a:solidFill>
                  <a:srgbClr val="FFFFFF"/>
                </a:solidFill>
                <a:latin typeface="Calibri"/>
                <a:ea typeface="Calibri"/>
                <a:cs typeface="Arial MT"/>
              </a:rPr>
              <a:t> </a:t>
            </a:r>
            <a:r>
              <a:rPr sz="2550" spc="74">
                <a:solidFill>
                  <a:srgbClr val="FFFFFF"/>
                </a:solidFill>
                <a:latin typeface="Calibri"/>
                <a:ea typeface="Calibri"/>
                <a:cs typeface="Arial MT"/>
              </a:rPr>
              <a:t>to</a:t>
            </a:r>
            <a:r>
              <a:rPr sz="2550" spc="49">
                <a:solidFill>
                  <a:srgbClr val="FFFFFF"/>
                </a:solidFill>
                <a:latin typeface="Calibri"/>
                <a:ea typeface="Calibri"/>
                <a:cs typeface="Arial MT"/>
              </a:rPr>
              <a:t> </a:t>
            </a:r>
            <a:r>
              <a:rPr sz="2550" spc="-18">
                <a:solidFill>
                  <a:srgbClr val="FFFFFF"/>
                </a:solidFill>
                <a:latin typeface="Calibri"/>
                <a:ea typeface="Calibri"/>
                <a:cs typeface="Arial MT"/>
              </a:rPr>
              <a:t>as </a:t>
            </a:r>
            <a:r>
              <a:rPr sz="2550">
                <a:solidFill>
                  <a:srgbClr val="FF9300"/>
                </a:solidFill>
                <a:latin typeface="Calibri"/>
                <a:ea typeface="Calibri"/>
                <a:cs typeface="Arial MT"/>
              </a:rPr>
              <a:t>Information</a:t>
            </a:r>
            <a:r>
              <a:rPr sz="2550" spc="253">
                <a:solidFill>
                  <a:srgbClr val="FF9300"/>
                </a:solidFill>
                <a:latin typeface="Calibri"/>
                <a:ea typeface="Calibri"/>
                <a:cs typeface="Arial MT"/>
              </a:rPr>
              <a:t> </a:t>
            </a:r>
            <a:r>
              <a:rPr sz="2550" spc="-7">
                <a:solidFill>
                  <a:srgbClr val="FF9300"/>
                </a:solidFill>
                <a:latin typeface="Calibri"/>
                <a:ea typeface="Calibri"/>
                <a:cs typeface="Arial MT"/>
              </a:rPr>
              <a:t>Hiding</a:t>
            </a:r>
            <a:r>
              <a:rPr sz="2550" spc="-7">
                <a:solidFill>
                  <a:srgbClr val="FFFFFF"/>
                </a:solidFill>
                <a:latin typeface="Calibri"/>
                <a:ea typeface="Calibri"/>
                <a:cs typeface="Arial MT"/>
              </a:rPr>
              <a:t>.</a:t>
            </a:r>
            <a:endParaRPr sz="2550">
              <a:latin typeface="Calibri"/>
              <a:ea typeface="Calibri"/>
              <a:cs typeface="Arial MT"/>
            </a:endParaRPr>
          </a:p>
        </p:txBody>
      </p:sp>
      <p:sp>
        <p:nvSpPr>
          <p:cNvPr id="4" name="Footer Placeholder 3">
            <a:extLst>
              <a:ext uri="{FF2B5EF4-FFF2-40B4-BE49-F238E27FC236}">
                <a16:creationId xmlns:a16="http://schemas.microsoft.com/office/drawing/2014/main" id="{C429035D-1780-1994-FFB4-F6E2C7E8E646}"/>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07C18B6A-667E-2E1D-DDA8-53CC348E314C}"/>
              </a:ext>
            </a:extLst>
          </p:cNvPr>
          <p:cNvSpPr>
            <a:spLocks noGrp="1"/>
          </p:cNvSpPr>
          <p:nvPr>
            <p:ph type="sldNum" sz="quarter" idx="12"/>
          </p:nvPr>
        </p:nvSpPr>
        <p:spPr/>
        <p:txBody>
          <a:bodyPr/>
          <a:lstStyle/>
          <a:p>
            <a:fld id="{48F63A3B-78C7-47BE-AE5E-E10140E04643}" type="slidenum">
              <a:rPr lang="en-US" dirty="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75865" y="82510"/>
            <a:ext cx="6440537" cy="1307578"/>
          </a:xfrm>
          <a:prstGeom prst="rect">
            <a:avLst/>
          </a:prstGeom>
        </p:spPr>
        <p:txBody>
          <a:bodyPr vert="horz" wrap="square" lIns="0" tIns="8930" rIns="0" bIns="0" rtlCol="0">
            <a:spAutoFit/>
          </a:bodyPr>
          <a:lstStyle/>
          <a:p>
            <a:pPr marL="8929">
              <a:lnSpc>
                <a:spcPct val="100000"/>
              </a:lnSpc>
              <a:spcBef>
                <a:spcPts val="70"/>
              </a:spcBef>
            </a:pPr>
            <a:r>
              <a:rPr spc="74"/>
              <a:t>Software</a:t>
            </a:r>
            <a:r>
              <a:rPr spc="7"/>
              <a:t> </a:t>
            </a:r>
            <a:r>
              <a:t>Reuse</a:t>
            </a:r>
            <a:r>
              <a:rPr spc="11"/>
              <a:t> </a:t>
            </a:r>
            <a:r>
              <a:rPr spc="91"/>
              <a:t>and</a:t>
            </a:r>
            <a:r>
              <a:rPr spc="11"/>
              <a:t> </a:t>
            </a:r>
            <a:r>
              <a:rPr spc="60"/>
              <a:t>AD</a:t>
            </a:r>
            <a:r>
              <a:rPr spc="-429"/>
              <a:t>T</a:t>
            </a:r>
            <a:r>
              <a:rPr spc="60"/>
              <a:t>s</a:t>
            </a:r>
          </a:p>
        </p:txBody>
      </p:sp>
      <p:sp>
        <p:nvSpPr>
          <p:cNvPr id="3" name="object 3"/>
          <p:cNvSpPr txBox="1"/>
          <p:nvPr/>
        </p:nvSpPr>
        <p:spPr>
          <a:xfrm>
            <a:off x="1111778" y="1708686"/>
            <a:ext cx="9967295" cy="4451399"/>
          </a:xfrm>
          <a:prstGeom prst="rect">
            <a:avLst/>
          </a:prstGeom>
        </p:spPr>
        <p:txBody>
          <a:bodyPr vert="horz" wrap="square" lIns="0" tIns="11609" rIns="0" bIns="0" rtlCol="0" anchor="t">
            <a:spAutoFit/>
          </a:bodyPr>
          <a:lstStyle/>
          <a:p>
            <a:pPr marL="273685" marR="12065" indent="-255905">
              <a:spcBef>
                <a:spcPts val="91"/>
              </a:spcBef>
              <a:buSzPct val="146153"/>
              <a:buChar char="•"/>
              <a:tabLst>
                <a:tab pos="274132" algn="l"/>
                <a:tab pos="6669346" algn="l"/>
              </a:tabLst>
            </a:pPr>
            <a:r>
              <a:rPr sz="2250">
                <a:solidFill>
                  <a:srgbClr val="FFFFFF"/>
                </a:solidFill>
                <a:latin typeface="Arial MT"/>
                <a:cs typeface="Arial MT"/>
              </a:rPr>
              <a:t>The</a:t>
            </a:r>
            <a:r>
              <a:rPr sz="2250" spc="46">
                <a:solidFill>
                  <a:srgbClr val="FFFFFF"/>
                </a:solidFill>
                <a:latin typeface="Arial MT"/>
                <a:cs typeface="Arial MT"/>
              </a:rPr>
              <a:t> </a:t>
            </a:r>
            <a:r>
              <a:rPr sz="2250">
                <a:solidFill>
                  <a:srgbClr val="FFFFFF"/>
                </a:solidFill>
                <a:latin typeface="Arial MT"/>
                <a:cs typeface="Arial MT"/>
              </a:rPr>
              <a:t>problem</a:t>
            </a:r>
            <a:r>
              <a:rPr sz="2250" spc="49">
                <a:solidFill>
                  <a:srgbClr val="FFFFFF"/>
                </a:solidFill>
                <a:latin typeface="Arial MT"/>
                <a:cs typeface="Arial MT"/>
              </a:rPr>
              <a:t> </a:t>
            </a:r>
            <a:r>
              <a:rPr sz="2250" spc="39">
                <a:solidFill>
                  <a:srgbClr val="FFFFFF"/>
                </a:solidFill>
                <a:latin typeface="Arial MT"/>
                <a:cs typeface="Arial MT"/>
              </a:rPr>
              <a:t>with</a:t>
            </a:r>
            <a:r>
              <a:rPr sz="2250" spc="53">
                <a:solidFill>
                  <a:srgbClr val="FFFFFF"/>
                </a:solidFill>
                <a:latin typeface="Arial MT"/>
                <a:cs typeface="Arial MT"/>
              </a:rPr>
              <a:t> </a:t>
            </a:r>
            <a:r>
              <a:rPr sz="2250">
                <a:solidFill>
                  <a:srgbClr val="FFFFFF"/>
                </a:solidFill>
                <a:latin typeface="Arial MT"/>
                <a:cs typeface="Arial MT"/>
              </a:rPr>
              <a:t>the</a:t>
            </a:r>
            <a:r>
              <a:rPr sz="2250" spc="49">
                <a:solidFill>
                  <a:srgbClr val="FFFFFF"/>
                </a:solidFill>
                <a:latin typeface="Arial MT"/>
                <a:cs typeface="Arial MT"/>
              </a:rPr>
              <a:t> </a:t>
            </a:r>
            <a:r>
              <a:rPr sz="2250">
                <a:solidFill>
                  <a:srgbClr val="FFFFFF"/>
                </a:solidFill>
                <a:latin typeface="Arial MT"/>
                <a:cs typeface="Arial MT"/>
              </a:rPr>
              <a:t>reuse</a:t>
            </a:r>
            <a:r>
              <a:rPr sz="2250" spc="53">
                <a:solidFill>
                  <a:srgbClr val="FFFFFF"/>
                </a:solidFill>
                <a:latin typeface="Arial MT"/>
                <a:cs typeface="Arial MT"/>
              </a:rPr>
              <a:t> </a:t>
            </a:r>
            <a:r>
              <a:rPr sz="2250" spc="46">
                <a:solidFill>
                  <a:srgbClr val="FFFFFF"/>
                </a:solidFill>
                <a:latin typeface="Arial MT"/>
                <a:cs typeface="Arial MT"/>
              </a:rPr>
              <a:t>of</a:t>
            </a:r>
            <a:r>
              <a:rPr sz="2250" spc="49">
                <a:solidFill>
                  <a:srgbClr val="FFFFFF"/>
                </a:solidFill>
                <a:latin typeface="Arial MT"/>
                <a:cs typeface="Arial MT"/>
              </a:rPr>
              <a:t> </a:t>
            </a:r>
            <a:r>
              <a:rPr sz="2250">
                <a:solidFill>
                  <a:srgbClr val="FFFFFF"/>
                </a:solidFill>
                <a:latin typeface="Arial MT"/>
                <a:cs typeface="Arial MT"/>
              </a:rPr>
              <a:t>abstract</a:t>
            </a:r>
            <a:r>
              <a:rPr sz="2250" spc="53">
                <a:solidFill>
                  <a:srgbClr val="FFFFFF"/>
                </a:solidFill>
                <a:latin typeface="Arial MT"/>
                <a:cs typeface="Arial MT"/>
              </a:rPr>
              <a:t> </a:t>
            </a:r>
            <a:r>
              <a:rPr sz="2250">
                <a:solidFill>
                  <a:srgbClr val="FFFFFF"/>
                </a:solidFill>
                <a:latin typeface="Arial MT"/>
                <a:cs typeface="Arial MT"/>
              </a:rPr>
              <a:t>data</a:t>
            </a:r>
            <a:r>
              <a:rPr sz="2250" spc="53">
                <a:solidFill>
                  <a:srgbClr val="FFFFFF"/>
                </a:solidFill>
                <a:latin typeface="Arial MT"/>
                <a:cs typeface="Arial MT"/>
              </a:rPr>
              <a:t> </a:t>
            </a:r>
            <a:r>
              <a:rPr sz="2250">
                <a:solidFill>
                  <a:srgbClr val="FFFFFF"/>
                </a:solidFill>
                <a:latin typeface="Arial MT"/>
                <a:cs typeface="Arial MT"/>
              </a:rPr>
              <a:t>types</a:t>
            </a:r>
            <a:r>
              <a:rPr sz="2250" spc="49">
                <a:solidFill>
                  <a:srgbClr val="FFFFFF"/>
                </a:solidFill>
                <a:latin typeface="Arial MT"/>
                <a:cs typeface="Arial MT"/>
              </a:rPr>
              <a:t> </a:t>
            </a:r>
            <a:r>
              <a:rPr sz="2250">
                <a:solidFill>
                  <a:srgbClr val="FFFFFF"/>
                </a:solidFill>
                <a:latin typeface="Arial MT"/>
                <a:cs typeface="Arial MT"/>
              </a:rPr>
              <a:t>is</a:t>
            </a:r>
            <a:r>
              <a:rPr sz="2250" spc="53">
                <a:solidFill>
                  <a:srgbClr val="FFFFFF"/>
                </a:solidFill>
                <a:latin typeface="Arial MT"/>
                <a:cs typeface="Arial MT"/>
              </a:rPr>
              <a:t> </a:t>
            </a:r>
            <a:r>
              <a:rPr sz="2250" spc="-7">
                <a:solidFill>
                  <a:srgbClr val="FFFFFF"/>
                </a:solidFill>
                <a:latin typeface="Arial MT"/>
                <a:cs typeface="Arial MT"/>
              </a:rPr>
              <a:t>that, </a:t>
            </a:r>
            <a:r>
              <a:rPr sz="2250">
                <a:solidFill>
                  <a:srgbClr val="FFFFFF"/>
                </a:solidFill>
                <a:latin typeface="Arial MT"/>
                <a:cs typeface="Arial MT"/>
              </a:rPr>
              <a:t>in</a:t>
            </a:r>
            <a:r>
              <a:rPr sz="2250" spc="25">
                <a:solidFill>
                  <a:srgbClr val="FFFFFF"/>
                </a:solidFill>
                <a:latin typeface="Arial MT"/>
                <a:cs typeface="Arial MT"/>
              </a:rPr>
              <a:t> </a:t>
            </a:r>
            <a:r>
              <a:rPr sz="2250">
                <a:solidFill>
                  <a:srgbClr val="FFFFFF"/>
                </a:solidFill>
                <a:latin typeface="Arial MT"/>
                <a:cs typeface="Arial MT"/>
              </a:rPr>
              <a:t>nearly</a:t>
            </a:r>
            <a:r>
              <a:rPr sz="2250" spc="25">
                <a:solidFill>
                  <a:srgbClr val="FFFFFF"/>
                </a:solidFill>
                <a:latin typeface="Arial MT"/>
                <a:cs typeface="Arial MT"/>
              </a:rPr>
              <a:t> </a:t>
            </a:r>
            <a:r>
              <a:rPr sz="2250">
                <a:solidFill>
                  <a:srgbClr val="FFFFFF"/>
                </a:solidFill>
                <a:latin typeface="Arial MT"/>
                <a:cs typeface="Arial MT"/>
              </a:rPr>
              <a:t>all</a:t>
            </a:r>
            <a:r>
              <a:rPr sz="2250" spc="25">
                <a:solidFill>
                  <a:srgbClr val="FFFFFF"/>
                </a:solidFill>
                <a:latin typeface="Arial MT"/>
                <a:cs typeface="Arial MT"/>
              </a:rPr>
              <a:t> </a:t>
            </a:r>
            <a:r>
              <a:rPr sz="2250">
                <a:solidFill>
                  <a:srgbClr val="FFFFFF"/>
                </a:solidFill>
                <a:latin typeface="Arial MT"/>
                <a:cs typeface="Arial MT"/>
              </a:rPr>
              <a:t>cases,</a:t>
            </a:r>
            <a:r>
              <a:rPr sz="2250" spc="25">
                <a:solidFill>
                  <a:srgbClr val="FFFFFF"/>
                </a:solidFill>
                <a:latin typeface="Arial MT"/>
                <a:cs typeface="Arial MT"/>
              </a:rPr>
              <a:t> </a:t>
            </a:r>
            <a:r>
              <a:rPr sz="2250">
                <a:solidFill>
                  <a:srgbClr val="FFFFFF"/>
                </a:solidFill>
                <a:latin typeface="Arial MT"/>
                <a:cs typeface="Arial MT"/>
              </a:rPr>
              <a:t>the</a:t>
            </a:r>
            <a:r>
              <a:rPr sz="2250" spc="25">
                <a:solidFill>
                  <a:srgbClr val="FFFFFF"/>
                </a:solidFill>
                <a:latin typeface="Arial MT"/>
                <a:cs typeface="Arial MT"/>
              </a:rPr>
              <a:t> </a:t>
            </a:r>
            <a:r>
              <a:rPr sz="2250">
                <a:solidFill>
                  <a:srgbClr val="FFFFFF"/>
                </a:solidFill>
                <a:latin typeface="Arial MT"/>
                <a:cs typeface="Arial MT"/>
              </a:rPr>
              <a:t>features</a:t>
            </a:r>
            <a:r>
              <a:rPr sz="2250" spc="25">
                <a:solidFill>
                  <a:srgbClr val="FFFFFF"/>
                </a:solidFill>
                <a:latin typeface="Arial MT"/>
                <a:cs typeface="Arial MT"/>
              </a:rPr>
              <a:t> </a:t>
            </a:r>
            <a:r>
              <a:rPr sz="2250">
                <a:solidFill>
                  <a:srgbClr val="FFFFFF"/>
                </a:solidFill>
                <a:latin typeface="Arial MT"/>
                <a:cs typeface="Arial MT"/>
              </a:rPr>
              <a:t>and</a:t>
            </a:r>
            <a:r>
              <a:rPr sz="2250" spc="28">
                <a:solidFill>
                  <a:srgbClr val="FFFFFF"/>
                </a:solidFill>
                <a:latin typeface="Arial MT"/>
                <a:cs typeface="Arial MT"/>
              </a:rPr>
              <a:t> </a:t>
            </a:r>
            <a:r>
              <a:rPr sz="2250">
                <a:solidFill>
                  <a:srgbClr val="FF9300"/>
                </a:solidFill>
                <a:latin typeface="Arial MT"/>
                <a:cs typeface="Arial MT"/>
              </a:rPr>
              <a:t>capabilities</a:t>
            </a:r>
            <a:r>
              <a:rPr sz="2250" spc="21">
                <a:solidFill>
                  <a:srgbClr val="FF9300"/>
                </a:solidFill>
                <a:latin typeface="Arial MT"/>
                <a:cs typeface="Arial MT"/>
              </a:rPr>
              <a:t> </a:t>
            </a:r>
            <a:r>
              <a:rPr sz="2250" spc="46">
                <a:solidFill>
                  <a:srgbClr val="FF9300"/>
                </a:solidFill>
                <a:latin typeface="Arial MT"/>
                <a:cs typeface="Arial MT"/>
              </a:rPr>
              <a:t>of</a:t>
            </a:r>
            <a:r>
              <a:rPr sz="2250" spc="25">
                <a:solidFill>
                  <a:srgbClr val="FF9300"/>
                </a:solidFill>
                <a:latin typeface="Arial MT"/>
                <a:cs typeface="Arial MT"/>
              </a:rPr>
              <a:t> </a:t>
            </a:r>
            <a:r>
              <a:rPr sz="2250" spc="-18">
                <a:solidFill>
                  <a:srgbClr val="FF9300"/>
                </a:solidFill>
                <a:latin typeface="Arial MT"/>
                <a:cs typeface="Arial MT"/>
              </a:rPr>
              <a:t>the </a:t>
            </a:r>
            <a:r>
              <a:rPr sz="2250">
                <a:solidFill>
                  <a:srgbClr val="FF9300"/>
                </a:solidFill>
                <a:latin typeface="Arial MT"/>
                <a:cs typeface="Arial MT"/>
              </a:rPr>
              <a:t>existing</a:t>
            </a:r>
            <a:r>
              <a:rPr sz="2250" spc="74">
                <a:solidFill>
                  <a:srgbClr val="FF9300"/>
                </a:solidFill>
                <a:latin typeface="Arial MT"/>
                <a:cs typeface="Arial MT"/>
              </a:rPr>
              <a:t> </a:t>
            </a:r>
            <a:r>
              <a:rPr sz="2250">
                <a:solidFill>
                  <a:srgbClr val="FF9300"/>
                </a:solidFill>
                <a:latin typeface="Arial MT"/>
                <a:cs typeface="Arial MT"/>
              </a:rPr>
              <a:t>type</a:t>
            </a:r>
            <a:r>
              <a:rPr sz="2250" spc="74">
                <a:solidFill>
                  <a:srgbClr val="FF9300"/>
                </a:solidFill>
                <a:latin typeface="Arial MT"/>
                <a:cs typeface="Arial MT"/>
              </a:rPr>
              <a:t> </a:t>
            </a:r>
            <a:r>
              <a:rPr sz="2250">
                <a:solidFill>
                  <a:srgbClr val="FF9300"/>
                </a:solidFill>
                <a:latin typeface="Arial MT"/>
                <a:cs typeface="Arial MT"/>
              </a:rPr>
              <a:t>are</a:t>
            </a:r>
            <a:r>
              <a:rPr sz="2250" spc="74">
                <a:solidFill>
                  <a:srgbClr val="FF9300"/>
                </a:solidFill>
                <a:latin typeface="Arial MT"/>
                <a:cs typeface="Arial MT"/>
              </a:rPr>
              <a:t> </a:t>
            </a:r>
            <a:r>
              <a:rPr sz="2250" spc="42">
                <a:solidFill>
                  <a:srgbClr val="FF9300"/>
                </a:solidFill>
                <a:latin typeface="Arial MT"/>
                <a:cs typeface="Arial MT"/>
              </a:rPr>
              <a:t>not</a:t>
            </a:r>
            <a:r>
              <a:rPr sz="2250" spc="74">
                <a:solidFill>
                  <a:srgbClr val="FF9300"/>
                </a:solidFill>
                <a:latin typeface="Arial MT"/>
                <a:cs typeface="Arial MT"/>
              </a:rPr>
              <a:t> </a:t>
            </a:r>
            <a:r>
              <a:rPr sz="2250">
                <a:solidFill>
                  <a:srgbClr val="FF9300"/>
                </a:solidFill>
                <a:latin typeface="Arial MT"/>
                <a:cs typeface="Arial MT"/>
              </a:rPr>
              <a:t>quite</a:t>
            </a:r>
            <a:r>
              <a:rPr sz="2250" spc="74">
                <a:solidFill>
                  <a:srgbClr val="FF9300"/>
                </a:solidFill>
                <a:latin typeface="Arial MT"/>
                <a:cs typeface="Arial MT"/>
              </a:rPr>
              <a:t> </a:t>
            </a:r>
            <a:r>
              <a:rPr sz="2250">
                <a:solidFill>
                  <a:srgbClr val="FF9300"/>
                </a:solidFill>
                <a:latin typeface="Arial MT"/>
                <a:cs typeface="Arial MT"/>
              </a:rPr>
              <a:t>right</a:t>
            </a:r>
            <a:r>
              <a:rPr sz="2250" spc="74">
                <a:solidFill>
                  <a:srgbClr val="FF9300"/>
                </a:solidFill>
                <a:latin typeface="Arial MT"/>
                <a:cs typeface="Arial MT"/>
              </a:rPr>
              <a:t> </a:t>
            </a:r>
            <a:r>
              <a:rPr sz="2250">
                <a:solidFill>
                  <a:srgbClr val="FF9300"/>
                </a:solidFill>
                <a:latin typeface="Arial MT"/>
                <a:cs typeface="Arial MT"/>
              </a:rPr>
              <a:t>for</a:t>
            </a:r>
            <a:r>
              <a:rPr sz="2250" spc="74">
                <a:solidFill>
                  <a:srgbClr val="FF9300"/>
                </a:solidFill>
                <a:latin typeface="Arial MT"/>
                <a:cs typeface="Arial MT"/>
              </a:rPr>
              <a:t> </a:t>
            </a:r>
            <a:r>
              <a:rPr sz="2250">
                <a:solidFill>
                  <a:srgbClr val="FF9300"/>
                </a:solidFill>
                <a:latin typeface="Arial MT"/>
                <a:cs typeface="Arial MT"/>
              </a:rPr>
              <a:t>the</a:t>
            </a:r>
            <a:r>
              <a:rPr sz="2250" spc="74">
                <a:solidFill>
                  <a:srgbClr val="FF9300"/>
                </a:solidFill>
                <a:latin typeface="Arial MT"/>
                <a:cs typeface="Arial MT"/>
              </a:rPr>
              <a:t> </a:t>
            </a:r>
            <a:r>
              <a:rPr sz="2250">
                <a:solidFill>
                  <a:srgbClr val="FF9300"/>
                </a:solidFill>
                <a:latin typeface="Arial MT"/>
                <a:cs typeface="Arial MT"/>
              </a:rPr>
              <a:t>new</a:t>
            </a:r>
            <a:r>
              <a:rPr sz="2250" spc="74">
                <a:solidFill>
                  <a:srgbClr val="FF9300"/>
                </a:solidFill>
                <a:latin typeface="Arial MT"/>
                <a:cs typeface="Arial MT"/>
              </a:rPr>
              <a:t> </a:t>
            </a:r>
            <a:r>
              <a:rPr sz="2250" spc="-14">
                <a:solidFill>
                  <a:srgbClr val="FF9300"/>
                </a:solidFill>
                <a:latin typeface="Arial MT"/>
                <a:cs typeface="Arial MT"/>
              </a:rPr>
              <a:t>use</a:t>
            </a:r>
            <a:r>
              <a:rPr sz="2250" spc="-14">
                <a:solidFill>
                  <a:srgbClr val="FFFFFF"/>
                </a:solidFill>
                <a:latin typeface="Arial MT"/>
                <a:cs typeface="Arial MT"/>
              </a:rPr>
              <a:t>.</a:t>
            </a:r>
            <a:r>
              <a:rPr sz="2250">
                <a:solidFill>
                  <a:srgbClr val="FFFFFF"/>
                </a:solidFill>
                <a:latin typeface="Arial MT"/>
                <a:cs typeface="Arial MT"/>
              </a:rPr>
              <a:t>	</a:t>
            </a:r>
            <a:endParaRPr lang="en-US" sz="2250">
              <a:solidFill>
                <a:srgbClr val="FFFFFF"/>
              </a:solidFill>
              <a:latin typeface="Arial MT"/>
              <a:cs typeface="Arial MT"/>
            </a:endParaRPr>
          </a:p>
          <a:p>
            <a:pPr marL="273685" marR="12065" indent="-255905">
              <a:lnSpc>
                <a:spcPct val="100000"/>
              </a:lnSpc>
              <a:spcBef>
                <a:spcPts val="91"/>
              </a:spcBef>
              <a:buSzPct val="146153"/>
              <a:buChar char="•"/>
              <a:tabLst>
                <a:tab pos="274132" algn="l"/>
                <a:tab pos="6669346" algn="l"/>
              </a:tabLst>
            </a:pPr>
            <a:r>
              <a:rPr sz="2250">
                <a:solidFill>
                  <a:srgbClr val="FFFFFF"/>
                </a:solidFill>
                <a:latin typeface="Arial MT"/>
                <a:cs typeface="Arial MT"/>
              </a:rPr>
              <a:t>The</a:t>
            </a:r>
            <a:r>
              <a:rPr sz="2250" spc="-116">
                <a:solidFill>
                  <a:srgbClr val="FFFFFF"/>
                </a:solidFill>
                <a:latin typeface="Arial MT"/>
                <a:cs typeface="Arial MT"/>
              </a:rPr>
              <a:t> </a:t>
            </a:r>
            <a:r>
              <a:rPr sz="2250" spc="21">
                <a:solidFill>
                  <a:srgbClr val="FFFFFF"/>
                </a:solidFill>
                <a:latin typeface="Arial MT"/>
                <a:cs typeface="Arial MT"/>
              </a:rPr>
              <a:t>old </a:t>
            </a:r>
            <a:r>
              <a:rPr sz="2250">
                <a:solidFill>
                  <a:srgbClr val="FFFFFF"/>
                </a:solidFill>
                <a:latin typeface="Arial MT"/>
                <a:cs typeface="Arial MT"/>
              </a:rPr>
              <a:t>type</a:t>
            </a:r>
            <a:r>
              <a:rPr sz="2250" spc="49">
                <a:solidFill>
                  <a:srgbClr val="FFFFFF"/>
                </a:solidFill>
                <a:latin typeface="Arial MT"/>
                <a:cs typeface="Arial MT"/>
              </a:rPr>
              <a:t> </a:t>
            </a:r>
            <a:r>
              <a:rPr sz="2250">
                <a:solidFill>
                  <a:srgbClr val="FFFFFF"/>
                </a:solidFill>
                <a:latin typeface="Arial MT"/>
                <a:cs typeface="Arial MT"/>
              </a:rPr>
              <a:t>requires</a:t>
            </a:r>
            <a:r>
              <a:rPr sz="2250" spc="53">
                <a:solidFill>
                  <a:srgbClr val="FFFFFF"/>
                </a:solidFill>
                <a:latin typeface="Arial MT"/>
                <a:cs typeface="Arial MT"/>
              </a:rPr>
              <a:t> </a:t>
            </a:r>
            <a:r>
              <a:rPr sz="2250">
                <a:solidFill>
                  <a:srgbClr val="FFFFFF"/>
                </a:solidFill>
                <a:latin typeface="Arial MT"/>
                <a:cs typeface="Arial MT"/>
              </a:rPr>
              <a:t>at</a:t>
            </a:r>
            <a:r>
              <a:rPr sz="2250" spc="56">
                <a:solidFill>
                  <a:srgbClr val="FFFFFF"/>
                </a:solidFill>
                <a:latin typeface="Arial MT"/>
                <a:cs typeface="Arial MT"/>
              </a:rPr>
              <a:t> </a:t>
            </a:r>
            <a:r>
              <a:rPr sz="2250">
                <a:solidFill>
                  <a:srgbClr val="FFFFFF"/>
                </a:solidFill>
                <a:latin typeface="Arial MT"/>
                <a:cs typeface="Arial MT"/>
              </a:rPr>
              <a:t>least</a:t>
            </a:r>
            <a:r>
              <a:rPr sz="2250" spc="56">
                <a:solidFill>
                  <a:srgbClr val="FFFFFF"/>
                </a:solidFill>
                <a:latin typeface="Arial MT"/>
                <a:cs typeface="Arial MT"/>
              </a:rPr>
              <a:t> </a:t>
            </a:r>
            <a:r>
              <a:rPr sz="2250">
                <a:solidFill>
                  <a:srgbClr val="FFFFFF"/>
                </a:solidFill>
                <a:latin typeface="Arial MT"/>
                <a:cs typeface="Arial MT"/>
              </a:rPr>
              <a:t>some</a:t>
            </a:r>
            <a:r>
              <a:rPr sz="2250" spc="53">
                <a:solidFill>
                  <a:srgbClr val="FFFFFF"/>
                </a:solidFill>
                <a:latin typeface="Arial MT"/>
                <a:cs typeface="Arial MT"/>
              </a:rPr>
              <a:t> </a:t>
            </a:r>
            <a:r>
              <a:rPr sz="2250">
                <a:solidFill>
                  <a:srgbClr val="FFFFFF"/>
                </a:solidFill>
                <a:latin typeface="Arial MT"/>
                <a:cs typeface="Arial MT"/>
              </a:rPr>
              <a:t>minor</a:t>
            </a:r>
            <a:r>
              <a:rPr sz="2250" spc="56">
                <a:solidFill>
                  <a:srgbClr val="FFFFFF"/>
                </a:solidFill>
                <a:latin typeface="Arial MT"/>
                <a:cs typeface="Arial MT"/>
              </a:rPr>
              <a:t> </a:t>
            </a:r>
            <a:r>
              <a:rPr sz="2250" spc="-7">
                <a:solidFill>
                  <a:srgbClr val="FFFFFF"/>
                </a:solidFill>
                <a:latin typeface="Arial MT"/>
                <a:cs typeface="Arial MT"/>
              </a:rPr>
              <a:t>modifications.</a:t>
            </a:r>
            <a:endParaRPr sz="2250">
              <a:latin typeface="Arial MT"/>
              <a:cs typeface="Arial MT"/>
            </a:endParaRPr>
          </a:p>
          <a:p>
            <a:pPr marL="273685" marR="245110" indent="-255905" algn="just">
              <a:lnSpc>
                <a:spcPct val="100000"/>
              </a:lnSpc>
              <a:spcBef>
                <a:spcPts val="2421"/>
              </a:spcBef>
              <a:buClr>
                <a:srgbClr val="FFFFFF"/>
              </a:buClr>
              <a:buSzPct val="146153"/>
              <a:buChar char="•"/>
              <a:tabLst>
                <a:tab pos="274132" algn="l"/>
              </a:tabLst>
            </a:pPr>
            <a:r>
              <a:rPr sz="2250" spc="35">
                <a:solidFill>
                  <a:srgbClr val="FF9300"/>
                </a:solidFill>
                <a:latin typeface="Arial MT"/>
                <a:cs typeface="Arial MT"/>
              </a:rPr>
              <a:t>Modifications</a:t>
            </a:r>
            <a:r>
              <a:rPr sz="2250" spc="70">
                <a:solidFill>
                  <a:srgbClr val="FF9300"/>
                </a:solidFill>
                <a:latin typeface="Arial MT"/>
                <a:cs typeface="Arial MT"/>
              </a:rPr>
              <a:t> </a:t>
            </a:r>
            <a:r>
              <a:rPr sz="2250">
                <a:solidFill>
                  <a:srgbClr val="FFFFFF"/>
                </a:solidFill>
                <a:latin typeface="Arial MT"/>
                <a:cs typeface="Arial MT"/>
              </a:rPr>
              <a:t>can</a:t>
            </a:r>
            <a:r>
              <a:rPr sz="2250" spc="67">
                <a:solidFill>
                  <a:srgbClr val="FFFFFF"/>
                </a:solidFill>
                <a:latin typeface="Arial MT"/>
                <a:cs typeface="Arial MT"/>
              </a:rPr>
              <a:t> </a:t>
            </a:r>
            <a:r>
              <a:rPr sz="2250">
                <a:solidFill>
                  <a:srgbClr val="FFFFFF"/>
                </a:solidFill>
                <a:latin typeface="Arial MT"/>
                <a:cs typeface="Arial MT"/>
              </a:rPr>
              <a:t>be</a:t>
            </a:r>
            <a:r>
              <a:rPr sz="2250" spc="70">
                <a:solidFill>
                  <a:srgbClr val="FFFFFF"/>
                </a:solidFill>
                <a:latin typeface="Arial MT"/>
                <a:cs typeface="Arial MT"/>
              </a:rPr>
              <a:t> </a:t>
            </a:r>
            <a:r>
              <a:rPr sz="2250">
                <a:solidFill>
                  <a:srgbClr val="FFFFFF"/>
                </a:solidFill>
                <a:latin typeface="Arial MT"/>
                <a:cs typeface="Arial MT"/>
              </a:rPr>
              <a:t>difficult,</a:t>
            </a:r>
            <a:r>
              <a:rPr sz="2250" spc="70">
                <a:solidFill>
                  <a:srgbClr val="FFFFFF"/>
                </a:solidFill>
                <a:latin typeface="Arial MT"/>
                <a:cs typeface="Arial MT"/>
              </a:rPr>
              <a:t> </a:t>
            </a:r>
            <a:r>
              <a:rPr sz="2250">
                <a:solidFill>
                  <a:srgbClr val="FFFFFF"/>
                </a:solidFill>
                <a:latin typeface="Arial MT"/>
                <a:cs typeface="Arial MT"/>
              </a:rPr>
              <a:t>because</a:t>
            </a:r>
            <a:r>
              <a:rPr sz="2250" spc="70">
                <a:solidFill>
                  <a:srgbClr val="FFFFFF"/>
                </a:solidFill>
                <a:latin typeface="Arial MT"/>
                <a:cs typeface="Arial MT"/>
              </a:rPr>
              <a:t> </a:t>
            </a:r>
            <a:r>
              <a:rPr sz="2250">
                <a:solidFill>
                  <a:srgbClr val="FFFFFF"/>
                </a:solidFill>
                <a:latin typeface="Arial MT"/>
                <a:cs typeface="Arial MT"/>
              </a:rPr>
              <a:t>they</a:t>
            </a:r>
            <a:r>
              <a:rPr sz="2250" spc="67">
                <a:solidFill>
                  <a:srgbClr val="FFFFFF"/>
                </a:solidFill>
                <a:latin typeface="Arial MT"/>
                <a:cs typeface="Arial MT"/>
              </a:rPr>
              <a:t> </a:t>
            </a:r>
            <a:r>
              <a:rPr sz="2250">
                <a:solidFill>
                  <a:srgbClr val="FFFFFF"/>
                </a:solidFill>
                <a:latin typeface="Arial MT"/>
                <a:cs typeface="Arial MT"/>
              </a:rPr>
              <a:t>require</a:t>
            </a:r>
            <a:r>
              <a:rPr sz="2250" spc="70">
                <a:solidFill>
                  <a:srgbClr val="FFFFFF"/>
                </a:solidFill>
                <a:latin typeface="Arial MT"/>
                <a:cs typeface="Arial MT"/>
              </a:rPr>
              <a:t> </a:t>
            </a:r>
            <a:r>
              <a:rPr sz="2250" spc="-18">
                <a:solidFill>
                  <a:srgbClr val="FFFFFF"/>
                </a:solidFill>
                <a:latin typeface="Arial MT"/>
                <a:cs typeface="Arial MT"/>
              </a:rPr>
              <a:t>the </a:t>
            </a:r>
            <a:r>
              <a:rPr sz="2250">
                <a:solidFill>
                  <a:srgbClr val="FFFFFF"/>
                </a:solidFill>
                <a:latin typeface="Arial MT"/>
                <a:cs typeface="Arial MT"/>
              </a:rPr>
              <a:t>person</a:t>
            </a:r>
            <a:r>
              <a:rPr sz="2250" spc="88">
                <a:solidFill>
                  <a:srgbClr val="FFFFFF"/>
                </a:solidFill>
                <a:latin typeface="Arial MT"/>
                <a:cs typeface="Arial MT"/>
              </a:rPr>
              <a:t> </a:t>
            </a:r>
            <a:r>
              <a:rPr sz="2250">
                <a:solidFill>
                  <a:srgbClr val="FFFFFF"/>
                </a:solidFill>
                <a:latin typeface="Arial MT"/>
                <a:cs typeface="Arial MT"/>
              </a:rPr>
              <a:t>doing</a:t>
            </a:r>
            <a:r>
              <a:rPr sz="2250" spc="95">
                <a:solidFill>
                  <a:srgbClr val="FFFFFF"/>
                </a:solidFill>
                <a:latin typeface="Arial MT"/>
                <a:cs typeface="Arial MT"/>
              </a:rPr>
              <a:t> </a:t>
            </a:r>
            <a:r>
              <a:rPr sz="2250">
                <a:solidFill>
                  <a:srgbClr val="FFFFFF"/>
                </a:solidFill>
                <a:latin typeface="Arial MT"/>
                <a:cs typeface="Arial MT"/>
              </a:rPr>
              <a:t>the</a:t>
            </a:r>
            <a:r>
              <a:rPr sz="2250" spc="95">
                <a:solidFill>
                  <a:srgbClr val="FFFFFF"/>
                </a:solidFill>
                <a:latin typeface="Arial MT"/>
                <a:cs typeface="Arial MT"/>
              </a:rPr>
              <a:t> </a:t>
            </a:r>
            <a:r>
              <a:rPr sz="2250" spc="35">
                <a:solidFill>
                  <a:srgbClr val="FFFFFF"/>
                </a:solidFill>
                <a:latin typeface="Arial MT"/>
                <a:cs typeface="Arial MT"/>
              </a:rPr>
              <a:t>modification</a:t>
            </a:r>
            <a:r>
              <a:rPr sz="2250" spc="91">
                <a:solidFill>
                  <a:srgbClr val="FFFFFF"/>
                </a:solidFill>
                <a:latin typeface="Arial MT"/>
                <a:cs typeface="Arial MT"/>
              </a:rPr>
              <a:t> </a:t>
            </a:r>
            <a:r>
              <a:rPr sz="2250" spc="63">
                <a:solidFill>
                  <a:srgbClr val="FFFFFF"/>
                </a:solidFill>
                <a:latin typeface="Arial MT"/>
                <a:cs typeface="Arial MT"/>
              </a:rPr>
              <a:t>to</a:t>
            </a:r>
            <a:r>
              <a:rPr sz="2250" spc="95">
                <a:solidFill>
                  <a:srgbClr val="FFFFFF"/>
                </a:solidFill>
                <a:latin typeface="Arial MT"/>
                <a:cs typeface="Arial MT"/>
              </a:rPr>
              <a:t> </a:t>
            </a:r>
            <a:r>
              <a:rPr sz="2250">
                <a:solidFill>
                  <a:srgbClr val="FF9300"/>
                </a:solidFill>
                <a:latin typeface="Arial MT"/>
                <a:cs typeface="Arial MT"/>
              </a:rPr>
              <a:t>understand</a:t>
            </a:r>
            <a:r>
              <a:rPr sz="2250" spc="95">
                <a:solidFill>
                  <a:srgbClr val="FF9300"/>
                </a:solidFill>
                <a:latin typeface="Arial MT"/>
                <a:cs typeface="Arial MT"/>
              </a:rPr>
              <a:t> </a:t>
            </a:r>
            <a:r>
              <a:rPr sz="2250">
                <a:solidFill>
                  <a:srgbClr val="FFFFFF"/>
                </a:solidFill>
                <a:latin typeface="Arial MT"/>
                <a:cs typeface="Arial MT"/>
              </a:rPr>
              <a:t>part,</a:t>
            </a:r>
            <a:r>
              <a:rPr sz="2250" spc="95">
                <a:solidFill>
                  <a:srgbClr val="FFFFFF"/>
                </a:solidFill>
                <a:latin typeface="Arial MT"/>
                <a:cs typeface="Arial MT"/>
              </a:rPr>
              <a:t> </a:t>
            </a:r>
            <a:r>
              <a:rPr sz="2250">
                <a:solidFill>
                  <a:srgbClr val="FFFFFF"/>
                </a:solidFill>
                <a:latin typeface="Arial MT"/>
                <a:cs typeface="Arial MT"/>
              </a:rPr>
              <a:t>if</a:t>
            </a:r>
            <a:r>
              <a:rPr sz="2250" spc="95">
                <a:solidFill>
                  <a:srgbClr val="FFFFFF"/>
                </a:solidFill>
                <a:latin typeface="Arial MT"/>
                <a:cs typeface="Arial MT"/>
              </a:rPr>
              <a:t> </a:t>
            </a:r>
            <a:r>
              <a:rPr sz="2250" spc="25">
                <a:solidFill>
                  <a:srgbClr val="FFFFFF"/>
                </a:solidFill>
                <a:latin typeface="Arial MT"/>
                <a:cs typeface="Arial MT"/>
              </a:rPr>
              <a:t>not </a:t>
            </a:r>
            <a:r>
              <a:rPr sz="2250">
                <a:solidFill>
                  <a:srgbClr val="FFFFFF"/>
                </a:solidFill>
                <a:latin typeface="Arial MT"/>
                <a:cs typeface="Arial MT"/>
              </a:rPr>
              <a:t>all,</a:t>
            </a:r>
            <a:r>
              <a:rPr sz="2250" spc="53">
                <a:solidFill>
                  <a:srgbClr val="FFFFFF"/>
                </a:solidFill>
                <a:latin typeface="Arial MT"/>
                <a:cs typeface="Arial MT"/>
              </a:rPr>
              <a:t> </a:t>
            </a:r>
            <a:r>
              <a:rPr sz="2250" spc="46">
                <a:solidFill>
                  <a:srgbClr val="FFFFFF"/>
                </a:solidFill>
                <a:latin typeface="Arial MT"/>
                <a:cs typeface="Arial MT"/>
              </a:rPr>
              <a:t>of</a:t>
            </a:r>
            <a:r>
              <a:rPr sz="2250" spc="53">
                <a:solidFill>
                  <a:srgbClr val="FFFFFF"/>
                </a:solidFill>
                <a:latin typeface="Arial MT"/>
                <a:cs typeface="Arial MT"/>
              </a:rPr>
              <a:t> </a:t>
            </a:r>
            <a:r>
              <a:rPr sz="2250">
                <a:solidFill>
                  <a:srgbClr val="FFFFFF"/>
                </a:solidFill>
                <a:latin typeface="Arial MT"/>
                <a:cs typeface="Arial MT"/>
              </a:rPr>
              <a:t>the</a:t>
            </a:r>
            <a:r>
              <a:rPr sz="2250" spc="49">
                <a:solidFill>
                  <a:srgbClr val="FFFFFF"/>
                </a:solidFill>
                <a:latin typeface="Arial MT"/>
                <a:cs typeface="Arial MT"/>
              </a:rPr>
              <a:t> </a:t>
            </a:r>
            <a:r>
              <a:rPr sz="2250">
                <a:solidFill>
                  <a:srgbClr val="FF9300"/>
                </a:solidFill>
                <a:latin typeface="Arial MT"/>
                <a:cs typeface="Arial MT"/>
              </a:rPr>
              <a:t>existing</a:t>
            </a:r>
            <a:r>
              <a:rPr sz="2250" spc="53">
                <a:solidFill>
                  <a:srgbClr val="FF9300"/>
                </a:solidFill>
                <a:latin typeface="Arial MT"/>
                <a:cs typeface="Arial MT"/>
              </a:rPr>
              <a:t> </a:t>
            </a:r>
            <a:r>
              <a:rPr sz="2250" spc="32">
                <a:solidFill>
                  <a:srgbClr val="FF9300"/>
                </a:solidFill>
                <a:latin typeface="Arial MT"/>
                <a:cs typeface="Arial MT"/>
              </a:rPr>
              <a:t>code</a:t>
            </a:r>
            <a:r>
              <a:rPr sz="2250" spc="32">
                <a:solidFill>
                  <a:srgbClr val="FFFFFF"/>
                </a:solidFill>
                <a:latin typeface="Arial MT"/>
                <a:cs typeface="Arial MT"/>
              </a:rPr>
              <a:t>.</a:t>
            </a:r>
            <a:endParaRPr sz="2250">
              <a:latin typeface="Arial MT"/>
              <a:cs typeface="Arial MT"/>
            </a:endParaRPr>
          </a:p>
          <a:p>
            <a:pPr marL="273685" marR="239395" indent="-255905" algn="just">
              <a:lnSpc>
                <a:spcPct val="100000"/>
              </a:lnSpc>
              <a:spcBef>
                <a:spcPts val="2419"/>
              </a:spcBef>
              <a:buSzPct val="146153"/>
              <a:buChar char="•"/>
              <a:tabLst>
                <a:tab pos="274132" algn="l"/>
              </a:tabLst>
            </a:pPr>
            <a:r>
              <a:rPr sz="2250">
                <a:solidFill>
                  <a:srgbClr val="FFFFFF"/>
                </a:solidFill>
                <a:latin typeface="Arial MT"/>
                <a:cs typeface="Arial MT"/>
              </a:rPr>
              <a:t>In</a:t>
            </a:r>
            <a:r>
              <a:rPr sz="2250" spc="35">
                <a:solidFill>
                  <a:srgbClr val="FFFFFF"/>
                </a:solidFill>
                <a:latin typeface="Arial MT"/>
                <a:cs typeface="Arial MT"/>
              </a:rPr>
              <a:t> </a:t>
            </a:r>
            <a:r>
              <a:rPr sz="2250">
                <a:solidFill>
                  <a:srgbClr val="FFFFFF"/>
                </a:solidFill>
                <a:latin typeface="Arial MT"/>
                <a:cs typeface="Arial MT"/>
              </a:rPr>
              <a:t>many</a:t>
            </a:r>
            <a:r>
              <a:rPr sz="2250" spc="39">
                <a:solidFill>
                  <a:srgbClr val="FFFFFF"/>
                </a:solidFill>
                <a:latin typeface="Arial MT"/>
                <a:cs typeface="Arial MT"/>
              </a:rPr>
              <a:t> </a:t>
            </a:r>
            <a:r>
              <a:rPr sz="2250">
                <a:solidFill>
                  <a:srgbClr val="FFFFFF"/>
                </a:solidFill>
                <a:latin typeface="Arial MT"/>
                <a:cs typeface="Arial MT"/>
              </a:rPr>
              <a:t>cases,</a:t>
            </a:r>
            <a:r>
              <a:rPr sz="2250" spc="42">
                <a:solidFill>
                  <a:srgbClr val="FFFFFF"/>
                </a:solidFill>
                <a:latin typeface="Arial MT"/>
                <a:cs typeface="Arial MT"/>
              </a:rPr>
              <a:t> </a:t>
            </a:r>
            <a:r>
              <a:rPr sz="2250">
                <a:solidFill>
                  <a:srgbClr val="FFFFFF"/>
                </a:solidFill>
                <a:latin typeface="Arial MT"/>
                <a:cs typeface="Arial MT"/>
              </a:rPr>
              <a:t>the</a:t>
            </a:r>
            <a:r>
              <a:rPr sz="2250" spc="39">
                <a:solidFill>
                  <a:srgbClr val="FFFFFF"/>
                </a:solidFill>
                <a:latin typeface="Arial MT"/>
                <a:cs typeface="Arial MT"/>
              </a:rPr>
              <a:t> </a:t>
            </a:r>
            <a:r>
              <a:rPr sz="2250">
                <a:solidFill>
                  <a:srgbClr val="FFFFFF"/>
                </a:solidFill>
                <a:latin typeface="Arial MT"/>
                <a:cs typeface="Arial MT"/>
              </a:rPr>
              <a:t>person</a:t>
            </a:r>
            <a:r>
              <a:rPr sz="2250" spc="42">
                <a:solidFill>
                  <a:srgbClr val="FFFFFF"/>
                </a:solidFill>
                <a:latin typeface="Arial MT"/>
                <a:cs typeface="Arial MT"/>
              </a:rPr>
              <a:t> </a:t>
            </a:r>
            <a:r>
              <a:rPr sz="2250">
                <a:solidFill>
                  <a:srgbClr val="FFFFFF"/>
                </a:solidFill>
                <a:latin typeface="Arial MT"/>
                <a:cs typeface="Arial MT"/>
              </a:rPr>
              <a:t>doing</a:t>
            </a:r>
            <a:r>
              <a:rPr sz="2250" spc="39">
                <a:solidFill>
                  <a:srgbClr val="FFFFFF"/>
                </a:solidFill>
                <a:latin typeface="Arial MT"/>
                <a:cs typeface="Arial MT"/>
              </a:rPr>
              <a:t> </a:t>
            </a:r>
            <a:r>
              <a:rPr sz="2250">
                <a:solidFill>
                  <a:srgbClr val="FFFFFF"/>
                </a:solidFill>
                <a:latin typeface="Arial MT"/>
                <a:cs typeface="Arial MT"/>
              </a:rPr>
              <a:t>the</a:t>
            </a:r>
            <a:r>
              <a:rPr sz="2250" spc="42">
                <a:solidFill>
                  <a:srgbClr val="FFFFFF"/>
                </a:solidFill>
                <a:latin typeface="Arial MT"/>
                <a:cs typeface="Arial MT"/>
              </a:rPr>
              <a:t> </a:t>
            </a:r>
            <a:r>
              <a:rPr sz="2250" spc="35">
                <a:solidFill>
                  <a:srgbClr val="FFFFFF"/>
                </a:solidFill>
                <a:latin typeface="Arial MT"/>
                <a:cs typeface="Arial MT"/>
              </a:rPr>
              <a:t>modification</a:t>
            </a:r>
            <a:r>
              <a:rPr sz="2250" spc="39">
                <a:solidFill>
                  <a:srgbClr val="FFFFFF"/>
                </a:solidFill>
                <a:latin typeface="Arial MT"/>
                <a:cs typeface="Arial MT"/>
              </a:rPr>
              <a:t> </a:t>
            </a:r>
            <a:r>
              <a:rPr sz="2250">
                <a:solidFill>
                  <a:srgbClr val="FFFFFF"/>
                </a:solidFill>
                <a:latin typeface="Arial MT"/>
                <a:cs typeface="Arial MT"/>
              </a:rPr>
              <a:t>is</a:t>
            </a:r>
            <a:r>
              <a:rPr sz="2250" spc="42">
                <a:solidFill>
                  <a:srgbClr val="FFFFFF"/>
                </a:solidFill>
                <a:latin typeface="Arial MT"/>
                <a:cs typeface="Arial MT"/>
              </a:rPr>
              <a:t> </a:t>
            </a:r>
            <a:r>
              <a:rPr sz="2250" spc="25">
                <a:solidFill>
                  <a:srgbClr val="FF9300"/>
                </a:solidFill>
                <a:latin typeface="Arial MT"/>
                <a:cs typeface="Arial MT"/>
              </a:rPr>
              <a:t>not </a:t>
            </a:r>
            <a:r>
              <a:rPr sz="2250">
                <a:solidFill>
                  <a:srgbClr val="FF9300"/>
                </a:solidFill>
                <a:latin typeface="Arial MT"/>
                <a:cs typeface="Arial MT"/>
              </a:rPr>
              <a:t>the</a:t>
            </a:r>
            <a:r>
              <a:rPr sz="2250" spc="70">
                <a:solidFill>
                  <a:srgbClr val="FF9300"/>
                </a:solidFill>
                <a:latin typeface="Arial MT"/>
                <a:cs typeface="Arial MT"/>
              </a:rPr>
              <a:t> </a:t>
            </a:r>
            <a:r>
              <a:rPr sz="2250">
                <a:solidFill>
                  <a:srgbClr val="FF9300"/>
                </a:solidFill>
                <a:latin typeface="Arial MT"/>
                <a:cs typeface="Arial MT"/>
              </a:rPr>
              <a:t>program’s</a:t>
            </a:r>
            <a:r>
              <a:rPr sz="2250" spc="67">
                <a:solidFill>
                  <a:srgbClr val="FF9300"/>
                </a:solidFill>
                <a:latin typeface="Arial MT"/>
                <a:cs typeface="Arial MT"/>
              </a:rPr>
              <a:t> </a:t>
            </a:r>
            <a:r>
              <a:rPr sz="2250">
                <a:solidFill>
                  <a:srgbClr val="FF9300"/>
                </a:solidFill>
                <a:latin typeface="Arial MT"/>
                <a:cs typeface="Arial MT"/>
              </a:rPr>
              <a:t>original</a:t>
            </a:r>
            <a:r>
              <a:rPr sz="2250" spc="70">
                <a:solidFill>
                  <a:srgbClr val="FF9300"/>
                </a:solidFill>
                <a:latin typeface="Arial MT"/>
                <a:cs typeface="Arial MT"/>
              </a:rPr>
              <a:t> </a:t>
            </a:r>
            <a:r>
              <a:rPr sz="2250" spc="-7">
                <a:solidFill>
                  <a:srgbClr val="FF9300"/>
                </a:solidFill>
                <a:latin typeface="Arial MT"/>
                <a:cs typeface="Arial MT"/>
              </a:rPr>
              <a:t>author</a:t>
            </a:r>
            <a:r>
              <a:rPr sz="2250" spc="-7">
                <a:solidFill>
                  <a:srgbClr val="FFFFFF"/>
                </a:solidFill>
                <a:latin typeface="Arial MT"/>
                <a:cs typeface="Arial MT"/>
              </a:rPr>
              <a:t>.</a:t>
            </a:r>
            <a:endParaRPr sz="2250">
              <a:latin typeface="Arial MT"/>
              <a:cs typeface="Arial MT"/>
            </a:endParaRPr>
          </a:p>
          <a:p>
            <a:pPr marL="273685" marR="168910" indent="-255905">
              <a:lnSpc>
                <a:spcPct val="100000"/>
              </a:lnSpc>
              <a:spcBef>
                <a:spcPts val="2422"/>
              </a:spcBef>
              <a:buSzPct val="146153"/>
              <a:buChar char="•"/>
              <a:tabLst>
                <a:tab pos="274132" algn="l"/>
              </a:tabLst>
            </a:pPr>
            <a:r>
              <a:rPr sz="2250">
                <a:solidFill>
                  <a:srgbClr val="FFFFFF"/>
                </a:solidFill>
                <a:latin typeface="Arial MT"/>
                <a:cs typeface="Arial MT"/>
              </a:rPr>
              <a:t>Another</a:t>
            </a:r>
            <a:r>
              <a:rPr sz="2250" spc="127">
                <a:solidFill>
                  <a:srgbClr val="FFFFFF"/>
                </a:solidFill>
                <a:latin typeface="Arial MT"/>
                <a:cs typeface="Arial MT"/>
              </a:rPr>
              <a:t> </a:t>
            </a:r>
            <a:r>
              <a:rPr sz="2250">
                <a:solidFill>
                  <a:srgbClr val="FF9300"/>
                </a:solidFill>
                <a:latin typeface="Arial MT"/>
                <a:cs typeface="Arial MT"/>
              </a:rPr>
              <a:t>problem</a:t>
            </a:r>
            <a:r>
              <a:rPr sz="2250" spc="130">
                <a:solidFill>
                  <a:srgbClr val="FF9300"/>
                </a:solidFill>
                <a:latin typeface="Arial MT"/>
                <a:cs typeface="Arial MT"/>
              </a:rPr>
              <a:t> </a:t>
            </a:r>
            <a:r>
              <a:rPr sz="2250" spc="39">
                <a:solidFill>
                  <a:srgbClr val="FFFFFF"/>
                </a:solidFill>
                <a:latin typeface="Arial MT"/>
                <a:cs typeface="Arial MT"/>
              </a:rPr>
              <a:t>with</a:t>
            </a:r>
            <a:r>
              <a:rPr sz="2250" spc="134">
                <a:solidFill>
                  <a:srgbClr val="FFFFFF"/>
                </a:solidFill>
                <a:latin typeface="Arial MT"/>
                <a:cs typeface="Arial MT"/>
              </a:rPr>
              <a:t> </a:t>
            </a:r>
            <a:r>
              <a:rPr sz="2250">
                <a:solidFill>
                  <a:srgbClr val="FFFFFF"/>
                </a:solidFill>
                <a:latin typeface="Arial MT"/>
                <a:cs typeface="Arial MT"/>
              </a:rPr>
              <a:t>programming</a:t>
            </a:r>
            <a:r>
              <a:rPr sz="2250" spc="134">
                <a:solidFill>
                  <a:srgbClr val="FFFFFF"/>
                </a:solidFill>
                <a:latin typeface="Arial MT"/>
                <a:cs typeface="Arial MT"/>
              </a:rPr>
              <a:t> </a:t>
            </a:r>
            <a:r>
              <a:rPr sz="2250" spc="39">
                <a:solidFill>
                  <a:srgbClr val="FFFFFF"/>
                </a:solidFill>
                <a:latin typeface="Arial MT"/>
                <a:cs typeface="Arial MT"/>
              </a:rPr>
              <a:t>with</a:t>
            </a:r>
            <a:r>
              <a:rPr sz="2250" spc="130">
                <a:solidFill>
                  <a:srgbClr val="FFFFFF"/>
                </a:solidFill>
                <a:latin typeface="Arial MT"/>
                <a:cs typeface="Arial MT"/>
              </a:rPr>
              <a:t> </a:t>
            </a:r>
            <a:r>
              <a:rPr sz="2250">
                <a:solidFill>
                  <a:srgbClr val="FF9300"/>
                </a:solidFill>
                <a:latin typeface="Arial MT"/>
                <a:cs typeface="Arial MT"/>
              </a:rPr>
              <a:t>abstract</a:t>
            </a:r>
            <a:r>
              <a:rPr sz="2250" spc="134">
                <a:solidFill>
                  <a:srgbClr val="FF9300"/>
                </a:solidFill>
                <a:latin typeface="Arial MT"/>
                <a:cs typeface="Arial MT"/>
              </a:rPr>
              <a:t> </a:t>
            </a:r>
            <a:r>
              <a:rPr sz="2250" spc="-14">
                <a:solidFill>
                  <a:srgbClr val="FF9300"/>
                </a:solidFill>
                <a:latin typeface="Arial MT"/>
                <a:cs typeface="Arial MT"/>
              </a:rPr>
              <a:t>data </a:t>
            </a:r>
            <a:r>
              <a:rPr sz="2250">
                <a:solidFill>
                  <a:srgbClr val="FF9300"/>
                </a:solidFill>
                <a:latin typeface="Arial MT"/>
                <a:cs typeface="Arial MT"/>
              </a:rPr>
              <a:t>types</a:t>
            </a:r>
            <a:r>
              <a:rPr sz="2250" spc="80">
                <a:solidFill>
                  <a:srgbClr val="FF9300"/>
                </a:solidFill>
                <a:latin typeface="Arial MT"/>
                <a:cs typeface="Arial MT"/>
              </a:rPr>
              <a:t> </a:t>
            </a:r>
            <a:r>
              <a:rPr sz="2250">
                <a:solidFill>
                  <a:srgbClr val="FFFFFF"/>
                </a:solidFill>
                <a:latin typeface="Arial MT"/>
                <a:cs typeface="Arial MT"/>
              </a:rPr>
              <a:t>is</a:t>
            </a:r>
            <a:r>
              <a:rPr sz="2250" spc="77">
                <a:solidFill>
                  <a:srgbClr val="FFFFFF"/>
                </a:solidFill>
                <a:latin typeface="Arial MT"/>
                <a:cs typeface="Arial MT"/>
              </a:rPr>
              <a:t> </a:t>
            </a:r>
            <a:r>
              <a:rPr sz="2250" spc="35">
                <a:solidFill>
                  <a:srgbClr val="FFFFFF"/>
                </a:solidFill>
                <a:latin typeface="Arial MT"/>
                <a:cs typeface="Arial MT"/>
              </a:rPr>
              <a:t>that</a:t>
            </a:r>
            <a:r>
              <a:rPr sz="2250" spc="80">
                <a:solidFill>
                  <a:srgbClr val="FFFFFF"/>
                </a:solidFill>
                <a:latin typeface="Arial MT"/>
                <a:cs typeface="Arial MT"/>
              </a:rPr>
              <a:t> </a:t>
            </a:r>
            <a:r>
              <a:rPr sz="2250">
                <a:solidFill>
                  <a:srgbClr val="FFFFFF"/>
                </a:solidFill>
                <a:latin typeface="Arial MT"/>
                <a:cs typeface="Arial MT"/>
              </a:rPr>
              <a:t>the</a:t>
            </a:r>
            <a:r>
              <a:rPr sz="2250" spc="77">
                <a:solidFill>
                  <a:srgbClr val="FFFFFF"/>
                </a:solidFill>
                <a:latin typeface="Arial MT"/>
                <a:cs typeface="Arial MT"/>
              </a:rPr>
              <a:t> </a:t>
            </a:r>
            <a:r>
              <a:rPr sz="2250">
                <a:solidFill>
                  <a:srgbClr val="FF9300"/>
                </a:solidFill>
                <a:latin typeface="Arial MT"/>
                <a:cs typeface="Arial MT"/>
              </a:rPr>
              <a:t>type</a:t>
            </a:r>
            <a:r>
              <a:rPr sz="2250" spc="80">
                <a:solidFill>
                  <a:srgbClr val="FF9300"/>
                </a:solidFill>
                <a:latin typeface="Arial MT"/>
                <a:cs typeface="Arial MT"/>
              </a:rPr>
              <a:t> </a:t>
            </a:r>
            <a:r>
              <a:rPr sz="2250">
                <a:solidFill>
                  <a:srgbClr val="FF9300"/>
                </a:solidFill>
                <a:latin typeface="Arial MT"/>
                <a:cs typeface="Arial MT"/>
              </a:rPr>
              <a:t>definitions</a:t>
            </a:r>
            <a:r>
              <a:rPr sz="2250" spc="80">
                <a:solidFill>
                  <a:srgbClr val="FF9300"/>
                </a:solidFill>
                <a:latin typeface="Arial MT"/>
                <a:cs typeface="Arial MT"/>
              </a:rPr>
              <a:t> </a:t>
            </a:r>
            <a:r>
              <a:rPr sz="2250">
                <a:solidFill>
                  <a:srgbClr val="FFFFFF"/>
                </a:solidFill>
                <a:latin typeface="Arial MT"/>
                <a:cs typeface="Arial MT"/>
              </a:rPr>
              <a:t>are</a:t>
            </a:r>
            <a:r>
              <a:rPr sz="2250" spc="77">
                <a:solidFill>
                  <a:srgbClr val="FFFFFF"/>
                </a:solidFill>
                <a:latin typeface="Arial MT"/>
                <a:cs typeface="Arial MT"/>
              </a:rPr>
              <a:t> </a:t>
            </a:r>
            <a:r>
              <a:rPr sz="2250">
                <a:solidFill>
                  <a:srgbClr val="FFFFFF"/>
                </a:solidFill>
                <a:latin typeface="Arial MT"/>
                <a:cs typeface="Arial MT"/>
              </a:rPr>
              <a:t>all</a:t>
            </a:r>
            <a:r>
              <a:rPr sz="2250" spc="80">
                <a:solidFill>
                  <a:srgbClr val="FFFFFF"/>
                </a:solidFill>
                <a:latin typeface="Arial MT"/>
                <a:cs typeface="Arial MT"/>
              </a:rPr>
              <a:t> </a:t>
            </a:r>
            <a:r>
              <a:rPr sz="2250">
                <a:solidFill>
                  <a:srgbClr val="FF9300"/>
                </a:solidFill>
                <a:latin typeface="Arial MT"/>
                <a:cs typeface="Arial MT"/>
              </a:rPr>
              <a:t>independent</a:t>
            </a:r>
            <a:r>
              <a:rPr sz="2250" spc="77">
                <a:solidFill>
                  <a:srgbClr val="FF9300"/>
                </a:solidFill>
                <a:latin typeface="Arial MT"/>
                <a:cs typeface="Arial MT"/>
              </a:rPr>
              <a:t> </a:t>
            </a:r>
            <a:r>
              <a:rPr sz="2250" spc="-18">
                <a:solidFill>
                  <a:srgbClr val="FFFFFF"/>
                </a:solidFill>
                <a:latin typeface="Arial MT"/>
                <a:cs typeface="Arial MT"/>
              </a:rPr>
              <a:t>and </a:t>
            </a:r>
            <a:r>
              <a:rPr sz="2250">
                <a:solidFill>
                  <a:srgbClr val="FFFFFF"/>
                </a:solidFill>
                <a:latin typeface="Arial MT"/>
                <a:cs typeface="Arial MT"/>
              </a:rPr>
              <a:t>are</a:t>
            </a:r>
            <a:r>
              <a:rPr sz="2250" spc="-11">
                <a:solidFill>
                  <a:srgbClr val="FFFFFF"/>
                </a:solidFill>
                <a:latin typeface="Arial MT"/>
                <a:cs typeface="Arial MT"/>
              </a:rPr>
              <a:t> </a:t>
            </a:r>
            <a:r>
              <a:rPr sz="2250">
                <a:solidFill>
                  <a:srgbClr val="FFFFFF"/>
                </a:solidFill>
                <a:latin typeface="Arial MT"/>
                <a:cs typeface="Arial MT"/>
              </a:rPr>
              <a:t>at</a:t>
            </a:r>
            <a:r>
              <a:rPr sz="2250" spc="-14">
                <a:solidFill>
                  <a:srgbClr val="FFFFFF"/>
                </a:solidFill>
                <a:latin typeface="Arial MT"/>
                <a:cs typeface="Arial MT"/>
              </a:rPr>
              <a:t> </a:t>
            </a:r>
            <a:r>
              <a:rPr sz="2250">
                <a:solidFill>
                  <a:srgbClr val="FFFFFF"/>
                </a:solidFill>
                <a:latin typeface="Arial MT"/>
                <a:cs typeface="Arial MT"/>
              </a:rPr>
              <a:t>the</a:t>
            </a:r>
            <a:r>
              <a:rPr sz="2250" spc="-11">
                <a:solidFill>
                  <a:srgbClr val="FFFFFF"/>
                </a:solidFill>
                <a:latin typeface="Arial MT"/>
                <a:cs typeface="Arial MT"/>
              </a:rPr>
              <a:t> </a:t>
            </a:r>
            <a:r>
              <a:rPr sz="2250">
                <a:solidFill>
                  <a:srgbClr val="FFFFFF"/>
                </a:solidFill>
                <a:latin typeface="Arial MT"/>
                <a:cs typeface="Arial MT"/>
              </a:rPr>
              <a:t>same</a:t>
            </a:r>
            <a:r>
              <a:rPr sz="2250" spc="-11">
                <a:solidFill>
                  <a:srgbClr val="FFFFFF"/>
                </a:solidFill>
                <a:latin typeface="Arial MT"/>
                <a:cs typeface="Arial MT"/>
              </a:rPr>
              <a:t> </a:t>
            </a:r>
            <a:r>
              <a:rPr sz="2250" spc="-7">
                <a:solidFill>
                  <a:srgbClr val="FFFFFF"/>
                </a:solidFill>
                <a:latin typeface="Arial MT"/>
                <a:cs typeface="Arial MT"/>
              </a:rPr>
              <a:t>level.</a:t>
            </a:r>
            <a:endParaRPr sz="2250">
              <a:latin typeface="Arial MT"/>
              <a:cs typeface="Arial MT"/>
            </a:endParaRPr>
          </a:p>
        </p:txBody>
      </p:sp>
      <p:sp>
        <p:nvSpPr>
          <p:cNvPr id="4" name="Footer Placeholder 3">
            <a:extLst>
              <a:ext uri="{FF2B5EF4-FFF2-40B4-BE49-F238E27FC236}">
                <a16:creationId xmlns:a16="http://schemas.microsoft.com/office/drawing/2014/main" id="{A393F782-40E7-4C5C-990A-24807903B786}"/>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EA26B426-77D7-60D8-2C69-39E36137A419}"/>
              </a:ext>
            </a:extLst>
          </p:cNvPr>
          <p:cNvSpPr>
            <a:spLocks noGrp="1"/>
          </p:cNvSpPr>
          <p:nvPr>
            <p:ph type="sldNum" sz="quarter" idx="12"/>
          </p:nvPr>
        </p:nvSpPr>
        <p:spPr/>
        <p:txBody>
          <a:bodyPr/>
          <a:lstStyle/>
          <a:p>
            <a:fld id="{48F63A3B-78C7-47BE-AE5E-E10140E04643}" type="slidenum">
              <a:rPr lang="en-US" dirty="0"/>
              <a:t>15</a:t>
            </a:fld>
            <a:endParaRPr lang="en-US"/>
          </a:p>
        </p:txBody>
      </p:sp>
    </p:spTree>
    <p:extLst>
      <p:ext uri="{BB962C8B-B14F-4D97-AF65-F5344CB8AC3E}">
        <p14:creationId xmlns:p14="http://schemas.microsoft.com/office/powerpoint/2010/main" val="2917164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554514">
              <a:lnSpc>
                <a:spcPct val="100000"/>
              </a:lnSpc>
              <a:spcBef>
                <a:spcPts val="70"/>
              </a:spcBef>
            </a:pPr>
            <a:r>
              <a:rPr spc="74"/>
              <a:t>Software</a:t>
            </a:r>
            <a:r>
              <a:rPr spc="7"/>
              <a:t> </a:t>
            </a:r>
            <a:r>
              <a:t>Reuse</a:t>
            </a:r>
            <a:r>
              <a:rPr spc="11"/>
              <a:t> </a:t>
            </a:r>
            <a:r>
              <a:rPr spc="91"/>
              <a:t>and</a:t>
            </a:r>
            <a:r>
              <a:rPr spc="11"/>
              <a:t> </a:t>
            </a:r>
            <a:r>
              <a:rPr spc="67"/>
              <a:t>Inheritance</a:t>
            </a:r>
          </a:p>
        </p:txBody>
      </p:sp>
      <p:sp>
        <p:nvSpPr>
          <p:cNvPr id="3" name="object 3"/>
          <p:cNvSpPr txBox="1"/>
          <p:nvPr/>
        </p:nvSpPr>
        <p:spPr>
          <a:xfrm>
            <a:off x="835070" y="1884926"/>
            <a:ext cx="10213263" cy="4005176"/>
          </a:xfrm>
          <a:prstGeom prst="rect">
            <a:avLst/>
          </a:prstGeom>
        </p:spPr>
        <p:txBody>
          <a:bodyPr vert="horz" wrap="square" lIns="0" tIns="8930" rIns="0" bIns="0" rtlCol="0">
            <a:spAutoFit/>
          </a:bodyPr>
          <a:lstStyle/>
          <a:p>
            <a:pPr marL="244665" marR="12501" indent="-227252">
              <a:lnSpc>
                <a:spcPct val="100600"/>
              </a:lnSpc>
              <a:spcBef>
                <a:spcPts val="70"/>
              </a:spcBef>
              <a:buClr>
                <a:srgbClr val="FFFFFF"/>
              </a:buClr>
              <a:buSzPct val="144827"/>
              <a:buChar char="•"/>
              <a:tabLst>
                <a:tab pos="245558" algn="l"/>
              </a:tabLst>
            </a:pPr>
            <a:r>
              <a:rPr sz="2039">
                <a:solidFill>
                  <a:srgbClr val="FF9300"/>
                </a:solidFill>
                <a:latin typeface="Arial MT"/>
                <a:cs typeface="Arial MT"/>
              </a:rPr>
              <a:t>Inheritance</a:t>
            </a:r>
            <a:r>
              <a:rPr sz="2039" spc="77">
                <a:solidFill>
                  <a:srgbClr val="FF9300"/>
                </a:solidFill>
                <a:latin typeface="Arial MT"/>
                <a:cs typeface="Arial MT"/>
              </a:rPr>
              <a:t> </a:t>
            </a:r>
            <a:r>
              <a:rPr sz="2039">
                <a:solidFill>
                  <a:srgbClr val="FFFFFF"/>
                </a:solidFill>
                <a:latin typeface="Arial MT"/>
                <a:cs typeface="Arial MT"/>
              </a:rPr>
              <a:t>offers</a:t>
            </a:r>
            <a:r>
              <a:rPr sz="2039" spc="80">
                <a:solidFill>
                  <a:srgbClr val="FFFFFF"/>
                </a:solidFill>
                <a:latin typeface="Arial MT"/>
                <a:cs typeface="Arial MT"/>
              </a:rPr>
              <a:t> </a:t>
            </a:r>
            <a:r>
              <a:rPr sz="2039">
                <a:solidFill>
                  <a:srgbClr val="FFFFFF"/>
                </a:solidFill>
                <a:latin typeface="Arial MT"/>
                <a:cs typeface="Arial MT"/>
              </a:rPr>
              <a:t>a</a:t>
            </a:r>
            <a:r>
              <a:rPr sz="2039" spc="80">
                <a:solidFill>
                  <a:srgbClr val="FFFFFF"/>
                </a:solidFill>
                <a:latin typeface="Arial MT"/>
                <a:cs typeface="Arial MT"/>
              </a:rPr>
              <a:t> </a:t>
            </a:r>
            <a:r>
              <a:rPr sz="2039">
                <a:solidFill>
                  <a:srgbClr val="FF9300"/>
                </a:solidFill>
                <a:latin typeface="Arial MT"/>
                <a:cs typeface="Arial MT"/>
              </a:rPr>
              <a:t>solution</a:t>
            </a:r>
            <a:r>
              <a:rPr sz="2039" spc="80">
                <a:solidFill>
                  <a:srgbClr val="FF9300"/>
                </a:solidFill>
                <a:latin typeface="Arial MT"/>
                <a:cs typeface="Arial MT"/>
              </a:rPr>
              <a:t> </a:t>
            </a:r>
            <a:r>
              <a:rPr sz="2039" spc="56">
                <a:solidFill>
                  <a:srgbClr val="FFFFFF"/>
                </a:solidFill>
                <a:latin typeface="Arial MT"/>
                <a:cs typeface="Arial MT"/>
              </a:rPr>
              <a:t>to</a:t>
            </a:r>
            <a:r>
              <a:rPr sz="2039" spc="80">
                <a:solidFill>
                  <a:srgbClr val="FFFFFF"/>
                </a:solidFill>
                <a:latin typeface="Arial MT"/>
                <a:cs typeface="Arial MT"/>
              </a:rPr>
              <a:t> </a:t>
            </a:r>
            <a:r>
              <a:rPr sz="2039" spc="49">
                <a:solidFill>
                  <a:srgbClr val="FFFFFF"/>
                </a:solidFill>
                <a:latin typeface="Arial MT"/>
                <a:cs typeface="Arial MT"/>
              </a:rPr>
              <a:t>both</a:t>
            </a:r>
            <a:r>
              <a:rPr sz="2039" spc="77">
                <a:solidFill>
                  <a:srgbClr val="FFFFFF"/>
                </a:solidFill>
                <a:latin typeface="Arial MT"/>
                <a:cs typeface="Arial MT"/>
              </a:rPr>
              <a:t> </a:t>
            </a:r>
            <a:r>
              <a:rPr sz="2039">
                <a:solidFill>
                  <a:srgbClr val="FFFFFF"/>
                </a:solidFill>
                <a:latin typeface="Arial MT"/>
                <a:cs typeface="Arial MT"/>
              </a:rPr>
              <a:t>the</a:t>
            </a:r>
            <a:r>
              <a:rPr sz="2039" spc="80">
                <a:solidFill>
                  <a:srgbClr val="FFFFFF"/>
                </a:solidFill>
                <a:latin typeface="Arial MT"/>
                <a:cs typeface="Arial MT"/>
              </a:rPr>
              <a:t> </a:t>
            </a:r>
            <a:r>
              <a:rPr sz="2039">
                <a:solidFill>
                  <a:srgbClr val="FFFFFF"/>
                </a:solidFill>
                <a:latin typeface="Arial MT"/>
                <a:cs typeface="Arial MT"/>
              </a:rPr>
              <a:t>modification</a:t>
            </a:r>
            <a:r>
              <a:rPr sz="2039" spc="80">
                <a:solidFill>
                  <a:srgbClr val="FFFFFF"/>
                </a:solidFill>
                <a:latin typeface="Arial MT"/>
                <a:cs typeface="Arial MT"/>
              </a:rPr>
              <a:t> </a:t>
            </a:r>
            <a:r>
              <a:rPr sz="2039" spc="-7">
                <a:solidFill>
                  <a:srgbClr val="FF9300"/>
                </a:solidFill>
                <a:latin typeface="Arial MT"/>
                <a:cs typeface="Arial MT"/>
              </a:rPr>
              <a:t>problem 	</a:t>
            </a:r>
            <a:r>
              <a:rPr sz="2039">
                <a:solidFill>
                  <a:srgbClr val="FFFFFF"/>
                </a:solidFill>
                <a:latin typeface="Arial MT"/>
                <a:cs typeface="Arial MT"/>
              </a:rPr>
              <a:t>posed</a:t>
            </a:r>
            <a:r>
              <a:rPr sz="2039" spc="80">
                <a:solidFill>
                  <a:srgbClr val="FFFFFF"/>
                </a:solidFill>
                <a:latin typeface="Arial MT"/>
                <a:cs typeface="Arial MT"/>
              </a:rPr>
              <a:t> </a:t>
            </a:r>
            <a:r>
              <a:rPr sz="2039" spc="42">
                <a:solidFill>
                  <a:srgbClr val="FFFFFF"/>
                </a:solidFill>
                <a:latin typeface="Arial MT"/>
                <a:cs typeface="Arial MT"/>
              </a:rPr>
              <a:t>by</a:t>
            </a:r>
            <a:r>
              <a:rPr sz="2039" spc="84">
                <a:solidFill>
                  <a:srgbClr val="FFFFFF"/>
                </a:solidFill>
                <a:latin typeface="Arial MT"/>
                <a:cs typeface="Arial MT"/>
              </a:rPr>
              <a:t> </a:t>
            </a:r>
            <a:r>
              <a:rPr sz="2039">
                <a:solidFill>
                  <a:srgbClr val="FF9300"/>
                </a:solidFill>
                <a:latin typeface="Arial MT"/>
                <a:cs typeface="Arial MT"/>
              </a:rPr>
              <a:t>abstract</a:t>
            </a:r>
            <a:r>
              <a:rPr sz="2039" spc="84">
                <a:solidFill>
                  <a:srgbClr val="FF9300"/>
                </a:solidFill>
                <a:latin typeface="Arial MT"/>
                <a:cs typeface="Arial MT"/>
              </a:rPr>
              <a:t> </a:t>
            </a:r>
            <a:r>
              <a:rPr sz="2039">
                <a:solidFill>
                  <a:srgbClr val="FF9300"/>
                </a:solidFill>
                <a:latin typeface="Arial MT"/>
                <a:cs typeface="Arial MT"/>
              </a:rPr>
              <a:t>data</a:t>
            </a:r>
            <a:r>
              <a:rPr sz="2039" spc="80">
                <a:solidFill>
                  <a:srgbClr val="FF9300"/>
                </a:solidFill>
                <a:latin typeface="Arial MT"/>
                <a:cs typeface="Arial MT"/>
              </a:rPr>
              <a:t> </a:t>
            </a:r>
            <a:r>
              <a:rPr sz="2039">
                <a:solidFill>
                  <a:srgbClr val="FF9300"/>
                </a:solidFill>
                <a:latin typeface="Arial MT"/>
                <a:cs typeface="Arial MT"/>
              </a:rPr>
              <a:t>type</a:t>
            </a:r>
            <a:r>
              <a:rPr sz="2039" spc="84">
                <a:solidFill>
                  <a:srgbClr val="FF9300"/>
                </a:solidFill>
                <a:latin typeface="Arial MT"/>
                <a:cs typeface="Arial MT"/>
              </a:rPr>
              <a:t> </a:t>
            </a:r>
            <a:r>
              <a:rPr sz="2039">
                <a:solidFill>
                  <a:srgbClr val="FF9300"/>
                </a:solidFill>
                <a:latin typeface="Arial MT"/>
                <a:cs typeface="Arial MT"/>
              </a:rPr>
              <a:t>reuse</a:t>
            </a:r>
            <a:r>
              <a:rPr sz="2039" spc="84">
                <a:solidFill>
                  <a:srgbClr val="FF9300"/>
                </a:solidFill>
                <a:latin typeface="Arial MT"/>
                <a:cs typeface="Arial MT"/>
              </a:rPr>
              <a:t> </a:t>
            </a:r>
            <a:r>
              <a:rPr sz="2039">
                <a:solidFill>
                  <a:srgbClr val="FFFFFF"/>
                </a:solidFill>
                <a:latin typeface="Arial MT"/>
                <a:cs typeface="Arial MT"/>
              </a:rPr>
              <a:t>and</a:t>
            </a:r>
            <a:r>
              <a:rPr sz="2039" spc="80">
                <a:solidFill>
                  <a:srgbClr val="FFFFFF"/>
                </a:solidFill>
                <a:latin typeface="Arial MT"/>
                <a:cs typeface="Arial MT"/>
              </a:rPr>
              <a:t> </a:t>
            </a:r>
            <a:r>
              <a:rPr sz="2039">
                <a:solidFill>
                  <a:srgbClr val="FFFFFF"/>
                </a:solidFill>
                <a:latin typeface="Arial MT"/>
                <a:cs typeface="Arial MT"/>
              </a:rPr>
              <a:t>the</a:t>
            </a:r>
            <a:r>
              <a:rPr sz="2039" spc="84">
                <a:solidFill>
                  <a:srgbClr val="FFFFFF"/>
                </a:solidFill>
                <a:latin typeface="Arial MT"/>
                <a:cs typeface="Arial MT"/>
              </a:rPr>
              <a:t> </a:t>
            </a:r>
            <a:r>
              <a:rPr sz="2039">
                <a:solidFill>
                  <a:srgbClr val="FF9300"/>
                </a:solidFill>
                <a:latin typeface="Arial MT"/>
                <a:cs typeface="Arial MT"/>
              </a:rPr>
              <a:t>program</a:t>
            </a:r>
            <a:r>
              <a:rPr sz="2039" spc="84">
                <a:solidFill>
                  <a:srgbClr val="FF9300"/>
                </a:solidFill>
                <a:latin typeface="Arial MT"/>
                <a:cs typeface="Arial MT"/>
              </a:rPr>
              <a:t> </a:t>
            </a:r>
            <a:r>
              <a:rPr sz="2039" spc="-7">
                <a:solidFill>
                  <a:srgbClr val="FF9300"/>
                </a:solidFill>
                <a:latin typeface="Arial MT"/>
                <a:cs typeface="Arial MT"/>
              </a:rPr>
              <a:t>organisation 	</a:t>
            </a:r>
            <a:r>
              <a:rPr sz="2039" spc="-7">
                <a:solidFill>
                  <a:srgbClr val="FFFFFF"/>
                </a:solidFill>
                <a:latin typeface="Arial MT"/>
                <a:cs typeface="Arial MT"/>
              </a:rPr>
              <a:t>problem.</a:t>
            </a:r>
            <a:endParaRPr sz="2039">
              <a:latin typeface="Arial MT"/>
              <a:cs typeface="Arial MT"/>
            </a:endParaRPr>
          </a:p>
          <a:p>
            <a:pPr marL="244665" marR="97330" indent="-227252">
              <a:lnSpc>
                <a:spcPct val="100600"/>
              </a:lnSpc>
              <a:spcBef>
                <a:spcPts val="2155"/>
              </a:spcBef>
              <a:buSzPct val="144827"/>
              <a:buChar char="•"/>
              <a:tabLst>
                <a:tab pos="245558" algn="l"/>
              </a:tabLst>
            </a:pPr>
            <a:r>
              <a:rPr sz="2039">
                <a:solidFill>
                  <a:srgbClr val="FFFFFF"/>
                </a:solidFill>
                <a:latin typeface="Arial MT"/>
                <a:cs typeface="Arial MT"/>
              </a:rPr>
              <a:t>If</a:t>
            </a:r>
            <a:r>
              <a:rPr sz="2039" spc="63">
                <a:solidFill>
                  <a:srgbClr val="FFFFFF"/>
                </a:solidFill>
                <a:latin typeface="Arial MT"/>
                <a:cs typeface="Arial MT"/>
              </a:rPr>
              <a:t> </a:t>
            </a:r>
            <a:r>
              <a:rPr sz="2039">
                <a:solidFill>
                  <a:srgbClr val="FFFFFF"/>
                </a:solidFill>
                <a:latin typeface="Arial MT"/>
                <a:cs typeface="Arial MT"/>
              </a:rPr>
              <a:t>a</a:t>
            </a:r>
            <a:r>
              <a:rPr sz="2039" spc="67">
                <a:solidFill>
                  <a:srgbClr val="FFFFFF"/>
                </a:solidFill>
                <a:latin typeface="Arial MT"/>
                <a:cs typeface="Arial MT"/>
              </a:rPr>
              <a:t> </a:t>
            </a:r>
            <a:r>
              <a:rPr sz="2039">
                <a:solidFill>
                  <a:srgbClr val="FFFFFF"/>
                </a:solidFill>
                <a:latin typeface="Arial MT"/>
                <a:cs typeface="Arial MT"/>
              </a:rPr>
              <a:t>new</a:t>
            </a:r>
            <a:r>
              <a:rPr sz="2039" spc="67">
                <a:solidFill>
                  <a:srgbClr val="FFFFFF"/>
                </a:solidFill>
                <a:latin typeface="Arial MT"/>
                <a:cs typeface="Arial MT"/>
              </a:rPr>
              <a:t> </a:t>
            </a:r>
            <a:r>
              <a:rPr sz="2039">
                <a:solidFill>
                  <a:srgbClr val="FFFFFF"/>
                </a:solidFill>
                <a:latin typeface="Arial MT"/>
                <a:cs typeface="Arial MT"/>
              </a:rPr>
              <a:t>abstract</a:t>
            </a:r>
            <a:r>
              <a:rPr sz="2039" spc="63">
                <a:solidFill>
                  <a:srgbClr val="FFFFFF"/>
                </a:solidFill>
                <a:latin typeface="Arial MT"/>
                <a:cs typeface="Arial MT"/>
              </a:rPr>
              <a:t> </a:t>
            </a:r>
            <a:r>
              <a:rPr sz="2039">
                <a:solidFill>
                  <a:srgbClr val="FFFFFF"/>
                </a:solidFill>
                <a:latin typeface="Arial MT"/>
                <a:cs typeface="Arial MT"/>
              </a:rPr>
              <a:t>data</a:t>
            </a:r>
            <a:r>
              <a:rPr sz="2039" spc="67">
                <a:solidFill>
                  <a:srgbClr val="FFFFFF"/>
                </a:solidFill>
                <a:latin typeface="Arial MT"/>
                <a:cs typeface="Arial MT"/>
              </a:rPr>
              <a:t> </a:t>
            </a:r>
            <a:r>
              <a:rPr sz="2039">
                <a:solidFill>
                  <a:srgbClr val="FFFFFF"/>
                </a:solidFill>
                <a:latin typeface="Arial MT"/>
                <a:cs typeface="Arial MT"/>
              </a:rPr>
              <a:t>type</a:t>
            </a:r>
            <a:r>
              <a:rPr sz="2039" spc="67">
                <a:solidFill>
                  <a:srgbClr val="FFFFFF"/>
                </a:solidFill>
                <a:latin typeface="Arial MT"/>
                <a:cs typeface="Arial MT"/>
              </a:rPr>
              <a:t> </a:t>
            </a:r>
            <a:r>
              <a:rPr sz="2039">
                <a:solidFill>
                  <a:srgbClr val="FFFFFF"/>
                </a:solidFill>
                <a:latin typeface="Arial MT"/>
                <a:cs typeface="Arial MT"/>
              </a:rPr>
              <a:t>can</a:t>
            </a:r>
            <a:r>
              <a:rPr sz="2039" spc="67">
                <a:solidFill>
                  <a:srgbClr val="FFFFFF"/>
                </a:solidFill>
                <a:latin typeface="Arial MT"/>
                <a:cs typeface="Arial MT"/>
              </a:rPr>
              <a:t> </a:t>
            </a:r>
            <a:r>
              <a:rPr sz="2039">
                <a:solidFill>
                  <a:srgbClr val="FF9300"/>
                </a:solidFill>
                <a:latin typeface="Arial MT"/>
                <a:cs typeface="Arial MT"/>
              </a:rPr>
              <a:t>inherit</a:t>
            </a:r>
            <a:r>
              <a:rPr sz="2039" spc="63">
                <a:solidFill>
                  <a:srgbClr val="FF9300"/>
                </a:solidFill>
                <a:latin typeface="Arial MT"/>
                <a:cs typeface="Arial MT"/>
              </a:rPr>
              <a:t> </a:t>
            </a:r>
            <a:r>
              <a:rPr sz="2039">
                <a:solidFill>
                  <a:srgbClr val="FF9300"/>
                </a:solidFill>
                <a:latin typeface="Arial MT"/>
                <a:cs typeface="Arial MT"/>
              </a:rPr>
              <a:t>the</a:t>
            </a:r>
            <a:r>
              <a:rPr sz="2039" spc="67">
                <a:solidFill>
                  <a:srgbClr val="FF9300"/>
                </a:solidFill>
                <a:latin typeface="Arial MT"/>
                <a:cs typeface="Arial MT"/>
              </a:rPr>
              <a:t> </a:t>
            </a:r>
            <a:r>
              <a:rPr sz="2039">
                <a:solidFill>
                  <a:srgbClr val="FF9300"/>
                </a:solidFill>
                <a:latin typeface="Arial MT"/>
                <a:cs typeface="Arial MT"/>
              </a:rPr>
              <a:t>data</a:t>
            </a:r>
            <a:r>
              <a:rPr sz="2039" spc="67">
                <a:solidFill>
                  <a:srgbClr val="FF9300"/>
                </a:solidFill>
                <a:latin typeface="Arial MT"/>
                <a:cs typeface="Arial MT"/>
              </a:rPr>
              <a:t> </a:t>
            </a:r>
            <a:r>
              <a:rPr sz="2039">
                <a:solidFill>
                  <a:srgbClr val="FF9300"/>
                </a:solidFill>
                <a:latin typeface="Arial MT"/>
                <a:cs typeface="Arial MT"/>
              </a:rPr>
              <a:t>and</a:t>
            </a:r>
            <a:r>
              <a:rPr sz="2039" spc="63">
                <a:solidFill>
                  <a:srgbClr val="FF9300"/>
                </a:solidFill>
                <a:latin typeface="Arial MT"/>
                <a:cs typeface="Arial MT"/>
              </a:rPr>
              <a:t> </a:t>
            </a:r>
            <a:r>
              <a:rPr sz="2039" spc="-7">
                <a:solidFill>
                  <a:srgbClr val="FF9300"/>
                </a:solidFill>
                <a:latin typeface="Arial MT"/>
                <a:cs typeface="Arial MT"/>
              </a:rPr>
              <a:t>functionality 	</a:t>
            </a:r>
            <a:r>
              <a:rPr sz="2039" spc="42">
                <a:solidFill>
                  <a:srgbClr val="FFFFFF"/>
                </a:solidFill>
                <a:latin typeface="Arial MT"/>
                <a:cs typeface="Arial MT"/>
              </a:rPr>
              <a:t>of</a:t>
            </a:r>
            <a:r>
              <a:rPr sz="2039" spc="67">
                <a:solidFill>
                  <a:srgbClr val="FFFFFF"/>
                </a:solidFill>
                <a:latin typeface="Arial MT"/>
                <a:cs typeface="Arial MT"/>
              </a:rPr>
              <a:t> </a:t>
            </a:r>
            <a:r>
              <a:rPr sz="2039">
                <a:solidFill>
                  <a:srgbClr val="FFFFFF"/>
                </a:solidFill>
                <a:latin typeface="Arial MT"/>
                <a:cs typeface="Arial MT"/>
              </a:rPr>
              <a:t>some</a:t>
            </a:r>
            <a:r>
              <a:rPr sz="2039" spc="67">
                <a:solidFill>
                  <a:srgbClr val="FFFFFF"/>
                </a:solidFill>
                <a:latin typeface="Arial MT"/>
                <a:cs typeface="Arial MT"/>
              </a:rPr>
              <a:t> </a:t>
            </a:r>
            <a:r>
              <a:rPr sz="2039">
                <a:solidFill>
                  <a:srgbClr val="FF9300"/>
                </a:solidFill>
                <a:latin typeface="Arial MT"/>
                <a:cs typeface="Arial MT"/>
              </a:rPr>
              <a:t>existing</a:t>
            </a:r>
            <a:r>
              <a:rPr sz="2039" spc="70">
                <a:solidFill>
                  <a:srgbClr val="FF9300"/>
                </a:solidFill>
                <a:latin typeface="Arial MT"/>
                <a:cs typeface="Arial MT"/>
              </a:rPr>
              <a:t> </a:t>
            </a:r>
            <a:r>
              <a:rPr sz="2039">
                <a:solidFill>
                  <a:srgbClr val="FF9300"/>
                </a:solidFill>
                <a:latin typeface="Arial MT"/>
                <a:cs typeface="Arial MT"/>
              </a:rPr>
              <a:t>type</a:t>
            </a:r>
            <a:r>
              <a:rPr sz="2039" spc="67">
                <a:solidFill>
                  <a:srgbClr val="FF9300"/>
                </a:solidFill>
                <a:latin typeface="Arial MT"/>
                <a:cs typeface="Arial MT"/>
              </a:rPr>
              <a:t> </a:t>
            </a:r>
            <a:r>
              <a:rPr sz="2039">
                <a:solidFill>
                  <a:srgbClr val="FFFFFF"/>
                </a:solidFill>
                <a:latin typeface="Arial MT"/>
                <a:cs typeface="Arial MT"/>
              </a:rPr>
              <a:t>and</a:t>
            </a:r>
            <a:r>
              <a:rPr sz="2039" spc="70">
                <a:solidFill>
                  <a:srgbClr val="FFFFFF"/>
                </a:solidFill>
                <a:latin typeface="Arial MT"/>
                <a:cs typeface="Arial MT"/>
              </a:rPr>
              <a:t> </a:t>
            </a:r>
            <a:r>
              <a:rPr sz="2039">
                <a:solidFill>
                  <a:srgbClr val="FFFFFF"/>
                </a:solidFill>
                <a:latin typeface="Arial MT"/>
                <a:cs typeface="Arial MT"/>
              </a:rPr>
              <a:t>is</a:t>
            </a:r>
            <a:r>
              <a:rPr sz="2039" spc="67">
                <a:solidFill>
                  <a:srgbClr val="FFFFFF"/>
                </a:solidFill>
                <a:latin typeface="Arial MT"/>
                <a:cs typeface="Arial MT"/>
              </a:rPr>
              <a:t> </a:t>
            </a:r>
            <a:r>
              <a:rPr sz="2039">
                <a:solidFill>
                  <a:srgbClr val="FFFFFF"/>
                </a:solidFill>
                <a:latin typeface="Arial MT"/>
                <a:cs typeface="Arial MT"/>
              </a:rPr>
              <a:t>also</a:t>
            </a:r>
            <a:r>
              <a:rPr sz="2039" spc="70">
                <a:solidFill>
                  <a:srgbClr val="FFFFFF"/>
                </a:solidFill>
                <a:latin typeface="Arial MT"/>
                <a:cs typeface="Arial MT"/>
              </a:rPr>
              <a:t> </a:t>
            </a:r>
            <a:r>
              <a:rPr sz="2039">
                <a:solidFill>
                  <a:srgbClr val="FFFFFF"/>
                </a:solidFill>
                <a:latin typeface="Arial MT"/>
                <a:cs typeface="Arial MT"/>
              </a:rPr>
              <a:t>allowed</a:t>
            </a:r>
            <a:r>
              <a:rPr sz="2039" spc="67">
                <a:solidFill>
                  <a:srgbClr val="FFFFFF"/>
                </a:solidFill>
                <a:latin typeface="Arial MT"/>
                <a:cs typeface="Arial MT"/>
              </a:rPr>
              <a:t> </a:t>
            </a:r>
            <a:r>
              <a:rPr sz="2039" spc="56">
                <a:solidFill>
                  <a:srgbClr val="FFFFFF"/>
                </a:solidFill>
                <a:latin typeface="Arial MT"/>
                <a:cs typeface="Arial MT"/>
              </a:rPr>
              <a:t>to</a:t>
            </a:r>
            <a:r>
              <a:rPr sz="2039" spc="67">
                <a:solidFill>
                  <a:srgbClr val="FFFFFF"/>
                </a:solidFill>
                <a:latin typeface="Arial MT"/>
                <a:cs typeface="Arial MT"/>
              </a:rPr>
              <a:t> </a:t>
            </a:r>
            <a:r>
              <a:rPr sz="2039">
                <a:solidFill>
                  <a:srgbClr val="FF9300"/>
                </a:solidFill>
                <a:latin typeface="Arial MT"/>
                <a:cs typeface="Arial MT"/>
              </a:rPr>
              <a:t>modify</a:t>
            </a:r>
            <a:r>
              <a:rPr sz="2039" spc="70">
                <a:solidFill>
                  <a:srgbClr val="FF9300"/>
                </a:solidFill>
                <a:latin typeface="Arial MT"/>
                <a:cs typeface="Arial MT"/>
              </a:rPr>
              <a:t> </a:t>
            </a:r>
            <a:r>
              <a:rPr sz="2039">
                <a:solidFill>
                  <a:srgbClr val="FFFFFF"/>
                </a:solidFill>
                <a:latin typeface="Arial MT"/>
                <a:cs typeface="Arial MT"/>
              </a:rPr>
              <a:t>some</a:t>
            </a:r>
            <a:r>
              <a:rPr sz="2039" spc="67">
                <a:solidFill>
                  <a:srgbClr val="FFFFFF"/>
                </a:solidFill>
                <a:latin typeface="Arial MT"/>
                <a:cs typeface="Arial MT"/>
              </a:rPr>
              <a:t> </a:t>
            </a:r>
            <a:r>
              <a:rPr sz="2039" spc="25">
                <a:solidFill>
                  <a:srgbClr val="FFFFFF"/>
                </a:solidFill>
                <a:latin typeface="Arial MT"/>
                <a:cs typeface="Arial MT"/>
              </a:rPr>
              <a:t>of 	</a:t>
            </a:r>
            <a:r>
              <a:rPr sz="2039">
                <a:solidFill>
                  <a:srgbClr val="FFFFFF"/>
                </a:solidFill>
                <a:latin typeface="Arial MT"/>
                <a:cs typeface="Arial MT"/>
              </a:rPr>
              <a:t>those</a:t>
            </a:r>
            <a:r>
              <a:rPr sz="2039" spc="25">
                <a:solidFill>
                  <a:srgbClr val="FFFFFF"/>
                </a:solidFill>
                <a:latin typeface="Arial MT"/>
                <a:cs typeface="Arial MT"/>
              </a:rPr>
              <a:t> </a:t>
            </a:r>
            <a:r>
              <a:rPr sz="2039">
                <a:solidFill>
                  <a:srgbClr val="FFFFFF"/>
                </a:solidFill>
                <a:latin typeface="Arial MT"/>
                <a:cs typeface="Arial MT"/>
              </a:rPr>
              <a:t>entities</a:t>
            </a:r>
            <a:r>
              <a:rPr sz="2039" spc="25">
                <a:solidFill>
                  <a:srgbClr val="FFFFFF"/>
                </a:solidFill>
                <a:latin typeface="Arial MT"/>
                <a:cs typeface="Arial MT"/>
              </a:rPr>
              <a:t> </a:t>
            </a:r>
            <a:r>
              <a:rPr sz="2039">
                <a:solidFill>
                  <a:srgbClr val="FFFFFF"/>
                </a:solidFill>
                <a:latin typeface="Arial MT"/>
                <a:cs typeface="Arial MT"/>
              </a:rPr>
              <a:t>and</a:t>
            </a:r>
            <a:r>
              <a:rPr sz="2039" spc="25">
                <a:solidFill>
                  <a:srgbClr val="FFFFFF"/>
                </a:solidFill>
                <a:latin typeface="Arial MT"/>
                <a:cs typeface="Arial MT"/>
              </a:rPr>
              <a:t> </a:t>
            </a:r>
            <a:r>
              <a:rPr sz="2039" spc="42">
                <a:solidFill>
                  <a:srgbClr val="FF9300"/>
                </a:solidFill>
                <a:latin typeface="Arial MT"/>
                <a:cs typeface="Arial MT"/>
              </a:rPr>
              <a:t>add</a:t>
            </a:r>
            <a:r>
              <a:rPr sz="2039" spc="25">
                <a:solidFill>
                  <a:srgbClr val="FF9300"/>
                </a:solidFill>
                <a:latin typeface="Arial MT"/>
                <a:cs typeface="Arial MT"/>
              </a:rPr>
              <a:t> </a:t>
            </a:r>
            <a:r>
              <a:rPr sz="2039">
                <a:solidFill>
                  <a:srgbClr val="FFFFFF"/>
                </a:solidFill>
                <a:latin typeface="Arial MT"/>
                <a:cs typeface="Arial MT"/>
              </a:rPr>
              <a:t>new</a:t>
            </a:r>
            <a:r>
              <a:rPr sz="2039" spc="25">
                <a:solidFill>
                  <a:srgbClr val="FFFFFF"/>
                </a:solidFill>
                <a:latin typeface="Arial MT"/>
                <a:cs typeface="Arial MT"/>
              </a:rPr>
              <a:t> </a:t>
            </a:r>
            <a:r>
              <a:rPr sz="2039">
                <a:solidFill>
                  <a:srgbClr val="FFFFFF"/>
                </a:solidFill>
                <a:latin typeface="Arial MT"/>
                <a:cs typeface="Arial MT"/>
              </a:rPr>
              <a:t>entities,</a:t>
            </a:r>
            <a:r>
              <a:rPr sz="2039" spc="25">
                <a:solidFill>
                  <a:srgbClr val="FFFFFF"/>
                </a:solidFill>
                <a:latin typeface="Arial MT"/>
                <a:cs typeface="Arial MT"/>
              </a:rPr>
              <a:t> </a:t>
            </a:r>
            <a:r>
              <a:rPr sz="2039">
                <a:solidFill>
                  <a:srgbClr val="FF9300"/>
                </a:solidFill>
                <a:latin typeface="Arial MT"/>
                <a:cs typeface="Arial MT"/>
              </a:rPr>
              <a:t>reuse</a:t>
            </a:r>
            <a:r>
              <a:rPr sz="2039" spc="25">
                <a:solidFill>
                  <a:srgbClr val="FF9300"/>
                </a:solidFill>
                <a:latin typeface="Arial MT"/>
                <a:cs typeface="Arial MT"/>
              </a:rPr>
              <a:t> </a:t>
            </a:r>
            <a:r>
              <a:rPr sz="2039">
                <a:solidFill>
                  <a:srgbClr val="FFFFFF"/>
                </a:solidFill>
                <a:latin typeface="Arial MT"/>
                <a:cs typeface="Arial MT"/>
              </a:rPr>
              <a:t>is</a:t>
            </a:r>
            <a:r>
              <a:rPr sz="2039" spc="25">
                <a:solidFill>
                  <a:srgbClr val="FFFFFF"/>
                </a:solidFill>
                <a:latin typeface="Arial MT"/>
                <a:cs typeface="Arial MT"/>
              </a:rPr>
              <a:t> </a:t>
            </a:r>
            <a:r>
              <a:rPr sz="2039">
                <a:solidFill>
                  <a:srgbClr val="FFFFFF"/>
                </a:solidFill>
                <a:latin typeface="Arial MT"/>
                <a:cs typeface="Arial MT"/>
              </a:rPr>
              <a:t>greatly</a:t>
            </a:r>
            <a:r>
              <a:rPr sz="2039" spc="25">
                <a:solidFill>
                  <a:srgbClr val="FFFFFF"/>
                </a:solidFill>
                <a:latin typeface="Arial MT"/>
                <a:cs typeface="Arial MT"/>
              </a:rPr>
              <a:t> </a:t>
            </a:r>
            <a:r>
              <a:rPr sz="2039" spc="-7">
                <a:solidFill>
                  <a:srgbClr val="FFFFFF"/>
                </a:solidFill>
                <a:latin typeface="Arial MT"/>
                <a:cs typeface="Arial MT"/>
              </a:rPr>
              <a:t>facilitated 	</a:t>
            </a:r>
            <a:r>
              <a:rPr sz="2039" spc="35">
                <a:solidFill>
                  <a:srgbClr val="FFFFFF"/>
                </a:solidFill>
                <a:latin typeface="Arial MT"/>
                <a:cs typeface="Arial MT"/>
              </a:rPr>
              <a:t>without</a:t>
            </a:r>
            <a:r>
              <a:rPr sz="2039" spc="60">
                <a:solidFill>
                  <a:srgbClr val="FFFFFF"/>
                </a:solidFill>
                <a:latin typeface="Arial MT"/>
                <a:cs typeface="Arial MT"/>
              </a:rPr>
              <a:t> </a:t>
            </a:r>
            <a:r>
              <a:rPr sz="2039">
                <a:solidFill>
                  <a:srgbClr val="FFFFFF"/>
                </a:solidFill>
                <a:latin typeface="Arial MT"/>
                <a:cs typeface="Arial MT"/>
              </a:rPr>
              <a:t>requiring</a:t>
            </a:r>
            <a:r>
              <a:rPr sz="2039" spc="60">
                <a:solidFill>
                  <a:srgbClr val="FFFFFF"/>
                </a:solidFill>
                <a:latin typeface="Arial MT"/>
                <a:cs typeface="Arial MT"/>
              </a:rPr>
              <a:t> </a:t>
            </a:r>
            <a:r>
              <a:rPr sz="2039">
                <a:solidFill>
                  <a:srgbClr val="FFFFFF"/>
                </a:solidFill>
                <a:latin typeface="Arial MT"/>
                <a:cs typeface="Arial MT"/>
              </a:rPr>
              <a:t>changes</a:t>
            </a:r>
            <a:r>
              <a:rPr sz="2039" spc="60">
                <a:solidFill>
                  <a:srgbClr val="FFFFFF"/>
                </a:solidFill>
                <a:latin typeface="Arial MT"/>
                <a:cs typeface="Arial MT"/>
              </a:rPr>
              <a:t> </a:t>
            </a:r>
            <a:r>
              <a:rPr sz="2039" spc="56">
                <a:solidFill>
                  <a:srgbClr val="FFFFFF"/>
                </a:solidFill>
                <a:latin typeface="Arial MT"/>
                <a:cs typeface="Arial MT"/>
              </a:rPr>
              <a:t>to</a:t>
            </a:r>
            <a:r>
              <a:rPr sz="2039" spc="63">
                <a:solidFill>
                  <a:srgbClr val="FFFFFF"/>
                </a:solidFill>
                <a:latin typeface="Arial MT"/>
                <a:cs typeface="Arial MT"/>
              </a:rPr>
              <a:t> </a:t>
            </a:r>
            <a:r>
              <a:rPr sz="2039">
                <a:solidFill>
                  <a:srgbClr val="FFFFFF"/>
                </a:solidFill>
                <a:latin typeface="Arial MT"/>
                <a:cs typeface="Arial MT"/>
              </a:rPr>
              <a:t>the</a:t>
            </a:r>
            <a:r>
              <a:rPr sz="2039" spc="60">
                <a:solidFill>
                  <a:srgbClr val="FFFFFF"/>
                </a:solidFill>
                <a:latin typeface="Arial MT"/>
                <a:cs typeface="Arial MT"/>
              </a:rPr>
              <a:t> </a:t>
            </a:r>
            <a:r>
              <a:rPr sz="2039">
                <a:solidFill>
                  <a:srgbClr val="FFFFFF"/>
                </a:solidFill>
                <a:latin typeface="Arial MT"/>
                <a:cs typeface="Arial MT"/>
              </a:rPr>
              <a:t>reused</a:t>
            </a:r>
            <a:r>
              <a:rPr sz="2039" spc="60">
                <a:solidFill>
                  <a:srgbClr val="FFFFFF"/>
                </a:solidFill>
                <a:latin typeface="Arial MT"/>
                <a:cs typeface="Arial MT"/>
              </a:rPr>
              <a:t> </a:t>
            </a:r>
            <a:r>
              <a:rPr sz="2039">
                <a:solidFill>
                  <a:srgbClr val="FFFFFF"/>
                </a:solidFill>
                <a:latin typeface="Arial MT"/>
                <a:cs typeface="Arial MT"/>
              </a:rPr>
              <a:t>abstract</a:t>
            </a:r>
            <a:r>
              <a:rPr sz="2039" spc="60">
                <a:solidFill>
                  <a:srgbClr val="FFFFFF"/>
                </a:solidFill>
                <a:latin typeface="Arial MT"/>
                <a:cs typeface="Arial MT"/>
              </a:rPr>
              <a:t> </a:t>
            </a:r>
            <a:r>
              <a:rPr sz="2039">
                <a:solidFill>
                  <a:srgbClr val="FFFFFF"/>
                </a:solidFill>
                <a:latin typeface="Arial MT"/>
                <a:cs typeface="Arial MT"/>
              </a:rPr>
              <a:t>data</a:t>
            </a:r>
            <a:r>
              <a:rPr sz="2039" spc="63">
                <a:solidFill>
                  <a:srgbClr val="FFFFFF"/>
                </a:solidFill>
                <a:latin typeface="Arial MT"/>
                <a:cs typeface="Arial MT"/>
              </a:rPr>
              <a:t> </a:t>
            </a:r>
            <a:r>
              <a:rPr sz="2039" spc="-7">
                <a:solidFill>
                  <a:srgbClr val="FFFFFF"/>
                </a:solidFill>
                <a:latin typeface="Arial MT"/>
                <a:cs typeface="Arial MT"/>
              </a:rPr>
              <a:t>type.</a:t>
            </a:r>
            <a:endParaRPr sz="2039">
              <a:latin typeface="Arial MT"/>
              <a:cs typeface="Arial MT"/>
            </a:endParaRPr>
          </a:p>
          <a:p>
            <a:pPr marL="244665" marR="126351" indent="-227252">
              <a:lnSpc>
                <a:spcPct val="100600"/>
              </a:lnSpc>
              <a:spcBef>
                <a:spcPts val="2155"/>
              </a:spcBef>
              <a:buSzPct val="144827"/>
              <a:buChar char="•"/>
              <a:tabLst>
                <a:tab pos="245558" algn="l"/>
              </a:tabLst>
            </a:pPr>
            <a:r>
              <a:rPr sz="2039">
                <a:solidFill>
                  <a:srgbClr val="FFFFFF"/>
                </a:solidFill>
                <a:latin typeface="Arial MT"/>
                <a:cs typeface="Arial MT"/>
              </a:rPr>
              <a:t>Programmers</a:t>
            </a:r>
            <a:r>
              <a:rPr sz="2039" spc="77">
                <a:solidFill>
                  <a:srgbClr val="FFFFFF"/>
                </a:solidFill>
                <a:latin typeface="Arial MT"/>
                <a:cs typeface="Arial MT"/>
              </a:rPr>
              <a:t> </a:t>
            </a:r>
            <a:r>
              <a:rPr sz="2039">
                <a:solidFill>
                  <a:srgbClr val="FFFFFF"/>
                </a:solidFill>
                <a:latin typeface="Arial MT"/>
                <a:cs typeface="Arial MT"/>
              </a:rPr>
              <a:t>can</a:t>
            </a:r>
            <a:r>
              <a:rPr sz="2039" spc="77">
                <a:solidFill>
                  <a:srgbClr val="FFFFFF"/>
                </a:solidFill>
                <a:latin typeface="Arial MT"/>
                <a:cs typeface="Arial MT"/>
              </a:rPr>
              <a:t> </a:t>
            </a:r>
            <a:r>
              <a:rPr sz="2039">
                <a:solidFill>
                  <a:srgbClr val="FF9300"/>
                </a:solidFill>
                <a:latin typeface="Arial MT"/>
                <a:cs typeface="Arial MT"/>
              </a:rPr>
              <a:t>begin</a:t>
            </a:r>
            <a:r>
              <a:rPr sz="2039" spc="77">
                <a:solidFill>
                  <a:srgbClr val="FF9300"/>
                </a:solidFill>
                <a:latin typeface="Arial MT"/>
                <a:cs typeface="Arial MT"/>
              </a:rPr>
              <a:t> </a:t>
            </a:r>
            <a:r>
              <a:rPr sz="2039" spc="35">
                <a:solidFill>
                  <a:srgbClr val="FFFFFF"/>
                </a:solidFill>
                <a:latin typeface="Arial MT"/>
                <a:cs typeface="Arial MT"/>
              </a:rPr>
              <a:t>with</a:t>
            </a:r>
            <a:r>
              <a:rPr sz="2039" spc="77">
                <a:solidFill>
                  <a:srgbClr val="FFFFFF"/>
                </a:solidFill>
                <a:latin typeface="Arial MT"/>
                <a:cs typeface="Arial MT"/>
              </a:rPr>
              <a:t> </a:t>
            </a:r>
            <a:r>
              <a:rPr sz="2039">
                <a:solidFill>
                  <a:srgbClr val="FFFFFF"/>
                </a:solidFill>
                <a:latin typeface="Arial MT"/>
                <a:cs typeface="Arial MT"/>
              </a:rPr>
              <a:t>an</a:t>
            </a:r>
            <a:r>
              <a:rPr sz="2039" spc="77">
                <a:solidFill>
                  <a:srgbClr val="FFFFFF"/>
                </a:solidFill>
                <a:latin typeface="Arial MT"/>
                <a:cs typeface="Arial MT"/>
              </a:rPr>
              <a:t> </a:t>
            </a:r>
            <a:r>
              <a:rPr sz="2039">
                <a:solidFill>
                  <a:srgbClr val="FF9300"/>
                </a:solidFill>
                <a:latin typeface="Arial MT"/>
                <a:cs typeface="Arial MT"/>
              </a:rPr>
              <a:t>existing</a:t>
            </a:r>
            <a:r>
              <a:rPr sz="2039" spc="77">
                <a:solidFill>
                  <a:srgbClr val="FF9300"/>
                </a:solidFill>
                <a:latin typeface="Arial MT"/>
                <a:cs typeface="Arial MT"/>
              </a:rPr>
              <a:t> </a:t>
            </a:r>
            <a:r>
              <a:rPr sz="2039">
                <a:solidFill>
                  <a:srgbClr val="FFFFFF"/>
                </a:solidFill>
                <a:latin typeface="Arial MT"/>
                <a:cs typeface="Arial MT"/>
              </a:rPr>
              <a:t>abstract</a:t>
            </a:r>
            <a:r>
              <a:rPr sz="2039" spc="77">
                <a:solidFill>
                  <a:srgbClr val="FFFFFF"/>
                </a:solidFill>
                <a:latin typeface="Arial MT"/>
                <a:cs typeface="Arial MT"/>
              </a:rPr>
              <a:t> </a:t>
            </a:r>
            <a:r>
              <a:rPr sz="2039">
                <a:solidFill>
                  <a:srgbClr val="FFFFFF"/>
                </a:solidFill>
                <a:latin typeface="Arial MT"/>
                <a:cs typeface="Arial MT"/>
              </a:rPr>
              <a:t>data</a:t>
            </a:r>
            <a:r>
              <a:rPr sz="2039" spc="77">
                <a:solidFill>
                  <a:srgbClr val="FFFFFF"/>
                </a:solidFill>
                <a:latin typeface="Arial MT"/>
                <a:cs typeface="Arial MT"/>
              </a:rPr>
              <a:t> </a:t>
            </a:r>
            <a:r>
              <a:rPr sz="2039">
                <a:solidFill>
                  <a:srgbClr val="FFFFFF"/>
                </a:solidFill>
                <a:latin typeface="Arial MT"/>
                <a:cs typeface="Arial MT"/>
              </a:rPr>
              <a:t>type</a:t>
            </a:r>
            <a:r>
              <a:rPr sz="2039" spc="77">
                <a:solidFill>
                  <a:srgbClr val="FFFFFF"/>
                </a:solidFill>
                <a:latin typeface="Arial MT"/>
                <a:cs typeface="Arial MT"/>
              </a:rPr>
              <a:t> </a:t>
            </a:r>
            <a:r>
              <a:rPr sz="2039" spc="-18">
                <a:solidFill>
                  <a:srgbClr val="FFFFFF"/>
                </a:solidFill>
                <a:latin typeface="Arial MT"/>
                <a:cs typeface="Arial MT"/>
              </a:rPr>
              <a:t>and 	</a:t>
            </a:r>
            <a:r>
              <a:rPr sz="2039">
                <a:solidFill>
                  <a:srgbClr val="FFFFFF"/>
                </a:solidFill>
                <a:latin typeface="Arial MT"/>
                <a:cs typeface="Arial MT"/>
              </a:rPr>
              <a:t>design</a:t>
            </a:r>
            <a:r>
              <a:rPr sz="2039" spc="53">
                <a:solidFill>
                  <a:srgbClr val="FFFFFF"/>
                </a:solidFill>
                <a:latin typeface="Arial MT"/>
                <a:cs typeface="Arial MT"/>
              </a:rPr>
              <a:t> </a:t>
            </a:r>
            <a:r>
              <a:rPr sz="2039">
                <a:solidFill>
                  <a:srgbClr val="FFFFFF"/>
                </a:solidFill>
                <a:latin typeface="Arial MT"/>
                <a:cs typeface="Arial MT"/>
              </a:rPr>
              <a:t>a</a:t>
            </a:r>
            <a:r>
              <a:rPr sz="2039" spc="56">
                <a:solidFill>
                  <a:srgbClr val="FFFFFF"/>
                </a:solidFill>
                <a:latin typeface="Arial MT"/>
                <a:cs typeface="Arial MT"/>
              </a:rPr>
              <a:t> </a:t>
            </a:r>
            <a:r>
              <a:rPr sz="2039">
                <a:solidFill>
                  <a:srgbClr val="FF9300"/>
                </a:solidFill>
                <a:latin typeface="Arial MT"/>
                <a:cs typeface="Arial MT"/>
              </a:rPr>
              <a:t>modified</a:t>
            </a:r>
            <a:r>
              <a:rPr sz="2039" spc="56">
                <a:solidFill>
                  <a:srgbClr val="FF9300"/>
                </a:solidFill>
                <a:latin typeface="Arial MT"/>
                <a:cs typeface="Arial MT"/>
              </a:rPr>
              <a:t> </a:t>
            </a:r>
            <a:r>
              <a:rPr sz="2039">
                <a:solidFill>
                  <a:srgbClr val="FF9300"/>
                </a:solidFill>
                <a:latin typeface="Arial MT"/>
                <a:cs typeface="Arial MT"/>
              </a:rPr>
              <a:t>descendant</a:t>
            </a:r>
            <a:r>
              <a:rPr sz="2039" spc="53">
                <a:solidFill>
                  <a:srgbClr val="FF9300"/>
                </a:solidFill>
                <a:latin typeface="Arial MT"/>
                <a:cs typeface="Arial MT"/>
              </a:rPr>
              <a:t> </a:t>
            </a:r>
            <a:r>
              <a:rPr sz="2039" spc="42">
                <a:solidFill>
                  <a:srgbClr val="FFFFFF"/>
                </a:solidFill>
                <a:latin typeface="Arial MT"/>
                <a:cs typeface="Arial MT"/>
              </a:rPr>
              <a:t>of</a:t>
            </a:r>
            <a:r>
              <a:rPr sz="2039" spc="56">
                <a:solidFill>
                  <a:srgbClr val="FFFFFF"/>
                </a:solidFill>
                <a:latin typeface="Arial MT"/>
                <a:cs typeface="Arial MT"/>
              </a:rPr>
              <a:t> </a:t>
            </a:r>
            <a:r>
              <a:rPr sz="2039" spc="39">
                <a:solidFill>
                  <a:srgbClr val="FFFFFF"/>
                </a:solidFill>
                <a:latin typeface="Arial MT"/>
                <a:cs typeface="Arial MT"/>
              </a:rPr>
              <a:t>it</a:t>
            </a:r>
            <a:r>
              <a:rPr sz="2039" spc="56">
                <a:solidFill>
                  <a:srgbClr val="FFFFFF"/>
                </a:solidFill>
                <a:latin typeface="Arial MT"/>
                <a:cs typeface="Arial MT"/>
              </a:rPr>
              <a:t> to </a:t>
            </a:r>
            <a:r>
              <a:rPr sz="2039" spc="39">
                <a:solidFill>
                  <a:srgbClr val="FFFFFF"/>
                </a:solidFill>
                <a:latin typeface="Arial MT"/>
                <a:cs typeface="Arial MT"/>
              </a:rPr>
              <a:t>fit</a:t>
            </a:r>
            <a:r>
              <a:rPr sz="2039" spc="53">
                <a:solidFill>
                  <a:srgbClr val="FFFFFF"/>
                </a:solidFill>
                <a:latin typeface="Arial MT"/>
                <a:cs typeface="Arial MT"/>
              </a:rPr>
              <a:t> </a:t>
            </a:r>
            <a:r>
              <a:rPr sz="2039">
                <a:solidFill>
                  <a:srgbClr val="FFFFFF"/>
                </a:solidFill>
                <a:latin typeface="Arial MT"/>
                <a:cs typeface="Arial MT"/>
              </a:rPr>
              <a:t>a</a:t>
            </a:r>
            <a:r>
              <a:rPr sz="2039" spc="56">
                <a:solidFill>
                  <a:srgbClr val="FFFFFF"/>
                </a:solidFill>
                <a:latin typeface="Arial MT"/>
                <a:cs typeface="Arial MT"/>
              </a:rPr>
              <a:t> </a:t>
            </a:r>
            <a:r>
              <a:rPr sz="2039">
                <a:solidFill>
                  <a:srgbClr val="FFFFFF"/>
                </a:solidFill>
                <a:latin typeface="Arial MT"/>
                <a:cs typeface="Arial MT"/>
              </a:rPr>
              <a:t>new</a:t>
            </a:r>
            <a:r>
              <a:rPr sz="2039" spc="56">
                <a:solidFill>
                  <a:srgbClr val="FFFFFF"/>
                </a:solidFill>
                <a:latin typeface="Arial MT"/>
                <a:cs typeface="Arial MT"/>
              </a:rPr>
              <a:t> </a:t>
            </a:r>
            <a:r>
              <a:rPr sz="2039" spc="-7">
                <a:solidFill>
                  <a:srgbClr val="FFFFFF"/>
                </a:solidFill>
                <a:latin typeface="Arial MT"/>
                <a:cs typeface="Arial MT"/>
              </a:rPr>
              <a:t>problem 	requirement.</a:t>
            </a:r>
            <a:endParaRPr sz="2039">
              <a:latin typeface="Arial MT"/>
              <a:cs typeface="Arial MT"/>
            </a:endParaRPr>
          </a:p>
          <a:p>
            <a:pPr marL="244665" marR="30360" indent="-227252">
              <a:lnSpc>
                <a:spcPct val="100600"/>
              </a:lnSpc>
              <a:spcBef>
                <a:spcPts val="2155"/>
              </a:spcBef>
              <a:buSzPct val="144827"/>
              <a:buChar char="•"/>
              <a:tabLst>
                <a:tab pos="245558" algn="l"/>
              </a:tabLst>
            </a:pPr>
            <a:r>
              <a:rPr sz="2039">
                <a:solidFill>
                  <a:srgbClr val="FFFFFF"/>
                </a:solidFill>
                <a:latin typeface="Arial MT"/>
                <a:cs typeface="Arial MT"/>
              </a:rPr>
              <a:t>Inheritance</a:t>
            </a:r>
            <a:r>
              <a:rPr sz="2039" spc="77">
                <a:solidFill>
                  <a:srgbClr val="FFFFFF"/>
                </a:solidFill>
                <a:latin typeface="Arial MT"/>
                <a:cs typeface="Arial MT"/>
              </a:rPr>
              <a:t> </a:t>
            </a:r>
            <a:r>
              <a:rPr sz="2039">
                <a:solidFill>
                  <a:srgbClr val="FFFFFF"/>
                </a:solidFill>
                <a:latin typeface="Arial MT"/>
                <a:cs typeface="Arial MT"/>
              </a:rPr>
              <a:t>provides</a:t>
            </a:r>
            <a:r>
              <a:rPr sz="2039" spc="77">
                <a:solidFill>
                  <a:srgbClr val="FFFFFF"/>
                </a:solidFill>
                <a:latin typeface="Arial MT"/>
                <a:cs typeface="Arial MT"/>
              </a:rPr>
              <a:t> </a:t>
            </a:r>
            <a:r>
              <a:rPr sz="2039">
                <a:solidFill>
                  <a:srgbClr val="FFFFFF"/>
                </a:solidFill>
                <a:latin typeface="Arial MT"/>
                <a:cs typeface="Arial MT"/>
              </a:rPr>
              <a:t>a</a:t>
            </a:r>
            <a:r>
              <a:rPr sz="2039" spc="80">
                <a:solidFill>
                  <a:srgbClr val="FFFFFF"/>
                </a:solidFill>
                <a:latin typeface="Arial MT"/>
                <a:cs typeface="Arial MT"/>
              </a:rPr>
              <a:t> </a:t>
            </a:r>
            <a:r>
              <a:rPr sz="2039">
                <a:solidFill>
                  <a:srgbClr val="FF9300"/>
                </a:solidFill>
                <a:latin typeface="Arial MT"/>
                <a:cs typeface="Arial MT"/>
              </a:rPr>
              <a:t>framework</a:t>
            </a:r>
            <a:r>
              <a:rPr sz="2039" spc="77">
                <a:solidFill>
                  <a:srgbClr val="FF9300"/>
                </a:solidFill>
                <a:latin typeface="Arial MT"/>
                <a:cs typeface="Arial MT"/>
              </a:rPr>
              <a:t> </a:t>
            </a:r>
            <a:r>
              <a:rPr sz="2039">
                <a:solidFill>
                  <a:srgbClr val="FFFFFF"/>
                </a:solidFill>
                <a:latin typeface="Arial MT"/>
                <a:cs typeface="Arial MT"/>
              </a:rPr>
              <a:t>for</a:t>
            </a:r>
            <a:r>
              <a:rPr sz="2039" spc="80">
                <a:solidFill>
                  <a:srgbClr val="FFFFFF"/>
                </a:solidFill>
                <a:latin typeface="Arial MT"/>
                <a:cs typeface="Arial MT"/>
              </a:rPr>
              <a:t> </a:t>
            </a:r>
            <a:r>
              <a:rPr sz="2039">
                <a:solidFill>
                  <a:srgbClr val="FFFFFF"/>
                </a:solidFill>
                <a:latin typeface="Arial MT"/>
                <a:cs typeface="Arial MT"/>
              </a:rPr>
              <a:t>the</a:t>
            </a:r>
            <a:r>
              <a:rPr sz="2039" spc="77">
                <a:solidFill>
                  <a:srgbClr val="FFFFFF"/>
                </a:solidFill>
                <a:latin typeface="Arial MT"/>
                <a:cs typeface="Arial MT"/>
              </a:rPr>
              <a:t> </a:t>
            </a:r>
            <a:r>
              <a:rPr sz="2039">
                <a:solidFill>
                  <a:srgbClr val="FF9300"/>
                </a:solidFill>
                <a:latin typeface="Arial MT"/>
                <a:cs typeface="Arial MT"/>
              </a:rPr>
              <a:t>definition</a:t>
            </a:r>
            <a:r>
              <a:rPr sz="2039" spc="80">
                <a:solidFill>
                  <a:srgbClr val="FF9300"/>
                </a:solidFill>
                <a:latin typeface="Arial MT"/>
                <a:cs typeface="Arial MT"/>
              </a:rPr>
              <a:t> </a:t>
            </a:r>
            <a:r>
              <a:rPr sz="2039" spc="42">
                <a:solidFill>
                  <a:srgbClr val="FF9300"/>
                </a:solidFill>
                <a:latin typeface="Arial MT"/>
                <a:cs typeface="Arial MT"/>
              </a:rPr>
              <a:t>of</a:t>
            </a:r>
            <a:r>
              <a:rPr sz="2039" spc="77">
                <a:solidFill>
                  <a:srgbClr val="FF9300"/>
                </a:solidFill>
                <a:latin typeface="Arial MT"/>
                <a:cs typeface="Arial MT"/>
              </a:rPr>
              <a:t> </a:t>
            </a:r>
            <a:r>
              <a:rPr sz="2039" spc="-7">
                <a:solidFill>
                  <a:srgbClr val="FF9300"/>
                </a:solidFill>
                <a:latin typeface="Arial MT"/>
                <a:cs typeface="Arial MT"/>
              </a:rPr>
              <a:t>hierarchies 	</a:t>
            </a:r>
            <a:r>
              <a:rPr sz="2039" spc="42">
                <a:solidFill>
                  <a:srgbClr val="FF9300"/>
                </a:solidFill>
                <a:latin typeface="Arial MT"/>
                <a:cs typeface="Arial MT"/>
              </a:rPr>
              <a:t>of</a:t>
            </a:r>
            <a:r>
              <a:rPr sz="2039" spc="74">
                <a:solidFill>
                  <a:srgbClr val="FF9300"/>
                </a:solidFill>
                <a:latin typeface="Arial MT"/>
                <a:cs typeface="Arial MT"/>
              </a:rPr>
              <a:t> </a:t>
            </a:r>
            <a:r>
              <a:rPr sz="2039">
                <a:solidFill>
                  <a:srgbClr val="FF9300"/>
                </a:solidFill>
                <a:latin typeface="Arial MT"/>
                <a:cs typeface="Arial MT"/>
              </a:rPr>
              <a:t>related</a:t>
            </a:r>
            <a:r>
              <a:rPr sz="2039" spc="74">
                <a:solidFill>
                  <a:srgbClr val="FF9300"/>
                </a:solidFill>
                <a:latin typeface="Arial MT"/>
                <a:cs typeface="Arial MT"/>
              </a:rPr>
              <a:t> </a:t>
            </a:r>
            <a:r>
              <a:rPr sz="2039">
                <a:solidFill>
                  <a:srgbClr val="FF9300"/>
                </a:solidFill>
                <a:latin typeface="Arial MT"/>
                <a:cs typeface="Arial MT"/>
              </a:rPr>
              <a:t>classes</a:t>
            </a:r>
            <a:r>
              <a:rPr sz="2039" spc="74">
                <a:solidFill>
                  <a:srgbClr val="FF9300"/>
                </a:solidFill>
                <a:latin typeface="Arial MT"/>
                <a:cs typeface="Arial MT"/>
              </a:rPr>
              <a:t> </a:t>
            </a:r>
            <a:r>
              <a:rPr sz="2039">
                <a:solidFill>
                  <a:srgbClr val="FFFFFF"/>
                </a:solidFill>
                <a:latin typeface="Arial MT"/>
                <a:cs typeface="Arial MT"/>
              </a:rPr>
              <a:t>that</a:t>
            </a:r>
            <a:r>
              <a:rPr sz="2039" spc="77">
                <a:solidFill>
                  <a:srgbClr val="FFFFFF"/>
                </a:solidFill>
                <a:latin typeface="Arial MT"/>
                <a:cs typeface="Arial MT"/>
              </a:rPr>
              <a:t> </a:t>
            </a:r>
            <a:r>
              <a:rPr sz="2039">
                <a:solidFill>
                  <a:srgbClr val="FFFFFF"/>
                </a:solidFill>
                <a:latin typeface="Arial MT"/>
                <a:cs typeface="Arial MT"/>
              </a:rPr>
              <a:t>can</a:t>
            </a:r>
            <a:r>
              <a:rPr sz="2039" spc="74">
                <a:solidFill>
                  <a:srgbClr val="FFFFFF"/>
                </a:solidFill>
                <a:latin typeface="Arial MT"/>
                <a:cs typeface="Arial MT"/>
              </a:rPr>
              <a:t> </a:t>
            </a:r>
            <a:r>
              <a:rPr sz="2039">
                <a:solidFill>
                  <a:srgbClr val="FFFFFF"/>
                </a:solidFill>
                <a:latin typeface="Arial MT"/>
                <a:cs typeface="Arial MT"/>
              </a:rPr>
              <a:t>reflect</a:t>
            </a:r>
            <a:r>
              <a:rPr sz="2039" spc="74">
                <a:solidFill>
                  <a:srgbClr val="FFFFFF"/>
                </a:solidFill>
                <a:latin typeface="Arial MT"/>
                <a:cs typeface="Arial MT"/>
              </a:rPr>
              <a:t> </a:t>
            </a:r>
            <a:r>
              <a:rPr sz="2039">
                <a:solidFill>
                  <a:srgbClr val="FFFFFF"/>
                </a:solidFill>
                <a:latin typeface="Arial MT"/>
                <a:cs typeface="Arial MT"/>
              </a:rPr>
              <a:t>the</a:t>
            </a:r>
            <a:r>
              <a:rPr sz="2039" spc="77">
                <a:solidFill>
                  <a:srgbClr val="FFFFFF"/>
                </a:solidFill>
                <a:latin typeface="Arial MT"/>
                <a:cs typeface="Arial MT"/>
              </a:rPr>
              <a:t> </a:t>
            </a:r>
            <a:r>
              <a:rPr sz="2039">
                <a:solidFill>
                  <a:srgbClr val="FF9300"/>
                </a:solidFill>
                <a:latin typeface="Arial MT"/>
                <a:cs typeface="Arial MT"/>
              </a:rPr>
              <a:t>descendant</a:t>
            </a:r>
            <a:r>
              <a:rPr sz="2039" spc="74">
                <a:solidFill>
                  <a:srgbClr val="FF9300"/>
                </a:solidFill>
                <a:latin typeface="Arial MT"/>
                <a:cs typeface="Arial MT"/>
              </a:rPr>
              <a:t> </a:t>
            </a:r>
            <a:r>
              <a:rPr sz="2039" spc="-7">
                <a:solidFill>
                  <a:srgbClr val="FF9300"/>
                </a:solidFill>
                <a:latin typeface="Arial MT"/>
                <a:cs typeface="Arial MT"/>
              </a:rPr>
              <a:t>relationships</a:t>
            </a:r>
            <a:r>
              <a:rPr sz="2039" spc="510">
                <a:solidFill>
                  <a:srgbClr val="FF9300"/>
                </a:solidFill>
                <a:latin typeface="Arial MT"/>
                <a:cs typeface="Arial MT"/>
              </a:rPr>
              <a:t> 	</a:t>
            </a:r>
            <a:r>
              <a:rPr sz="2039">
                <a:solidFill>
                  <a:srgbClr val="FFFFFF"/>
                </a:solidFill>
                <a:latin typeface="Arial MT"/>
                <a:cs typeface="Arial MT"/>
              </a:rPr>
              <a:t>in</a:t>
            </a:r>
            <a:r>
              <a:rPr sz="2039" spc="74">
                <a:solidFill>
                  <a:srgbClr val="FFFFFF"/>
                </a:solidFill>
                <a:latin typeface="Arial MT"/>
                <a:cs typeface="Arial MT"/>
              </a:rPr>
              <a:t> </a:t>
            </a:r>
            <a:r>
              <a:rPr sz="2039">
                <a:solidFill>
                  <a:srgbClr val="FFFFFF"/>
                </a:solidFill>
                <a:latin typeface="Arial MT"/>
                <a:cs typeface="Arial MT"/>
              </a:rPr>
              <a:t>the</a:t>
            </a:r>
            <a:r>
              <a:rPr sz="2039" spc="77">
                <a:solidFill>
                  <a:srgbClr val="FFFFFF"/>
                </a:solidFill>
                <a:latin typeface="Arial MT"/>
                <a:cs typeface="Arial MT"/>
              </a:rPr>
              <a:t> </a:t>
            </a:r>
            <a:r>
              <a:rPr sz="2039">
                <a:solidFill>
                  <a:srgbClr val="FFFFFF"/>
                </a:solidFill>
                <a:latin typeface="Arial MT"/>
                <a:cs typeface="Arial MT"/>
              </a:rPr>
              <a:t>problem</a:t>
            </a:r>
            <a:r>
              <a:rPr sz="2039" spc="77">
                <a:solidFill>
                  <a:srgbClr val="FFFFFF"/>
                </a:solidFill>
                <a:latin typeface="Arial MT"/>
                <a:cs typeface="Arial MT"/>
              </a:rPr>
              <a:t> </a:t>
            </a:r>
            <a:r>
              <a:rPr sz="2039" spc="-7">
                <a:solidFill>
                  <a:srgbClr val="FFFFFF"/>
                </a:solidFill>
                <a:latin typeface="Arial MT"/>
                <a:cs typeface="Arial MT"/>
              </a:rPr>
              <a:t>space.</a:t>
            </a:r>
            <a:endParaRPr sz="2039">
              <a:latin typeface="Arial MT"/>
              <a:cs typeface="Arial MT"/>
            </a:endParaRPr>
          </a:p>
        </p:txBody>
      </p:sp>
      <p:sp>
        <p:nvSpPr>
          <p:cNvPr id="4" name="Footer Placeholder 3">
            <a:extLst>
              <a:ext uri="{FF2B5EF4-FFF2-40B4-BE49-F238E27FC236}">
                <a16:creationId xmlns:a16="http://schemas.microsoft.com/office/drawing/2014/main" id="{0FA5CE12-92BE-AEBE-3AF1-315BBB360BF6}"/>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E4357269-F2A7-F7D5-D423-A7D9CDE23891}"/>
              </a:ext>
            </a:extLst>
          </p:cNvPr>
          <p:cNvSpPr>
            <a:spLocks noGrp="1"/>
          </p:cNvSpPr>
          <p:nvPr>
            <p:ph type="sldNum" sz="quarter" idx="12"/>
          </p:nvPr>
        </p:nvSpPr>
        <p:spPr/>
        <p:txBody>
          <a:bodyPr/>
          <a:lstStyle/>
          <a:p>
            <a:fld id="{48F63A3B-78C7-47BE-AE5E-E10140E04643}" type="slidenum">
              <a:rPr lang="en-US" dirty="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rgbClr val="FF7B00"/>
                </a:solidFill>
              </a:rPr>
              <a:t>Abstraction</a:t>
            </a:r>
          </a:p>
        </p:txBody>
      </p:sp>
      <p:sp>
        <p:nvSpPr>
          <p:cNvPr id="3" name="Content Placeholder 2"/>
          <p:cNvSpPr>
            <a:spLocks noGrp="1"/>
          </p:cNvSpPr>
          <p:nvPr>
            <p:ph idx="1"/>
          </p:nvPr>
        </p:nvSpPr>
        <p:spPr/>
        <p:txBody>
          <a:bodyPr/>
          <a:lstStyle/>
          <a:p>
            <a:r>
              <a:rPr lang="en-US"/>
              <a:t>Abstraction is one of the four fundamental principles of object-oriented programming (OOP) and involves simplifying complex systems by modeling classes based on the essential properties and behaviors relevant to the problem at hand. </a:t>
            </a:r>
          </a:p>
        </p:txBody>
      </p:sp>
      <p:sp>
        <p:nvSpPr>
          <p:cNvPr id="4" name="Footer Placeholder 3">
            <a:extLst>
              <a:ext uri="{FF2B5EF4-FFF2-40B4-BE49-F238E27FC236}">
                <a16:creationId xmlns:a16="http://schemas.microsoft.com/office/drawing/2014/main" id="{FF0AA1D7-85BC-D987-F93F-8177F75FA664}"/>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C1024904-52D5-905D-6E10-4329187EF8C8}"/>
              </a:ext>
            </a:extLst>
          </p:cNvPr>
          <p:cNvSpPr>
            <a:spLocks noGrp="1"/>
          </p:cNvSpPr>
          <p:nvPr>
            <p:ph type="sldNum" sz="quarter" idx="12"/>
          </p:nvPr>
        </p:nvSpPr>
        <p:spPr/>
        <p:txBody>
          <a:bodyPr/>
          <a:lstStyle/>
          <a:p>
            <a:fld id="{48F63A3B-78C7-47BE-AE5E-E10140E04643}" type="slidenum">
              <a:rPr lang="en-US" dirty="0"/>
              <a:t>17</a:t>
            </a:fld>
            <a:endParaRPr lang="en-US"/>
          </a:p>
        </p:txBody>
      </p:sp>
    </p:spTree>
    <p:extLst>
      <p:ext uri="{BB962C8B-B14F-4D97-AF65-F5344CB8AC3E}">
        <p14:creationId xmlns:p14="http://schemas.microsoft.com/office/powerpoint/2010/main" val="224990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17577" y="1714444"/>
            <a:ext cx="5311600" cy="3863675"/>
          </a:xfrm>
          <a:prstGeom prst="rect">
            <a:avLst/>
          </a:prstGeom>
        </p:spPr>
      </p:pic>
      <p:pic>
        <p:nvPicPr>
          <p:cNvPr id="5" name="Picture 4"/>
          <p:cNvPicPr>
            <a:picLocks noChangeAspect="1"/>
          </p:cNvPicPr>
          <p:nvPr/>
        </p:nvPicPr>
        <p:blipFill rotWithShape="1">
          <a:blip r:embed="rId3"/>
          <a:srcRect b="20629"/>
          <a:stretch/>
        </p:blipFill>
        <p:spPr>
          <a:xfrm>
            <a:off x="5423174" y="1704874"/>
            <a:ext cx="6561389" cy="3871117"/>
          </a:xfrm>
          <a:prstGeom prst="rect">
            <a:avLst/>
          </a:prstGeom>
        </p:spPr>
      </p:pic>
      <p:sp>
        <p:nvSpPr>
          <p:cNvPr id="6" name="Footer Placeholder 5">
            <a:extLst>
              <a:ext uri="{FF2B5EF4-FFF2-40B4-BE49-F238E27FC236}">
                <a16:creationId xmlns:a16="http://schemas.microsoft.com/office/drawing/2014/main" id="{B0B4258B-10DB-1416-FB10-0241E8019BD2}"/>
              </a:ext>
            </a:extLst>
          </p:cNvPr>
          <p:cNvSpPr>
            <a:spLocks noGrp="1"/>
          </p:cNvSpPr>
          <p:nvPr>
            <p:ph type="ftr" sz="quarter" idx="11"/>
          </p:nvPr>
        </p:nvSpPr>
        <p:spPr/>
        <p:txBody>
          <a:bodyPr/>
          <a:lstStyle/>
          <a:p>
            <a:r>
              <a:rPr lang="en-US"/>
              <a:t>Ms. ALF. Sajeetha</a:t>
            </a:r>
          </a:p>
        </p:txBody>
      </p:sp>
      <p:sp>
        <p:nvSpPr>
          <p:cNvPr id="7" name="Slide Number Placeholder 6">
            <a:extLst>
              <a:ext uri="{FF2B5EF4-FFF2-40B4-BE49-F238E27FC236}">
                <a16:creationId xmlns:a16="http://schemas.microsoft.com/office/drawing/2014/main" id="{FBF137D4-3FC5-D99F-72DA-DF8EA8B75C67}"/>
              </a:ext>
            </a:extLst>
          </p:cNvPr>
          <p:cNvSpPr>
            <a:spLocks noGrp="1"/>
          </p:cNvSpPr>
          <p:nvPr>
            <p:ph type="sldNum" sz="quarter" idx="12"/>
          </p:nvPr>
        </p:nvSpPr>
        <p:spPr/>
        <p:txBody>
          <a:bodyPr/>
          <a:lstStyle/>
          <a:p>
            <a:fld id="{48F63A3B-78C7-47BE-AE5E-E10140E04643}" type="slidenum">
              <a:rPr lang="en-US" dirty="0"/>
              <a:t>18</a:t>
            </a:fld>
            <a:endParaRPr lang="en-US"/>
          </a:p>
        </p:txBody>
      </p:sp>
    </p:spTree>
    <p:extLst>
      <p:ext uri="{BB962C8B-B14F-4D97-AF65-F5344CB8AC3E}">
        <p14:creationId xmlns:p14="http://schemas.microsoft.com/office/powerpoint/2010/main" val="986998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008890" y="1104623"/>
            <a:ext cx="9695232" cy="3025193"/>
          </a:xfrm>
          <a:prstGeom prst="rect">
            <a:avLst/>
          </a:prstGeom>
        </p:spPr>
      </p:pic>
      <p:sp>
        <p:nvSpPr>
          <p:cNvPr id="5" name="Footer Placeholder 4">
            <a:extLst>
              <a:ext uri="{FF2B5EF4-FFF2-40B4-BE49-F238E27FC236}">
                <a16:creationId xmlns:a16="http://schemas.microsoft.com/office/drawing/2014/main" id="{90C76A57-6FF0-6D7E-EC72-400C984F842B}"/>
              </a:ext>
            </a:extLst>
          </p:cNvPr>
          <p:cNvSpPr>
            <a:spLocks noGrp="1"/>
          </p:cNvSpPr>
          <p:nvPr>
            <p:ph type="ftr" sz="quarter" idx="11"/>
          </p:nvPr>
        </p:nvSpPr>
        <p:spPr/>
        <p:txBody>
          <a:bodyPr/>
          <a:lstStyle/>
          <a:p>
            <a:r>
              <a:rPr lang="en-US"/>
              <a:t>Ms. ALF. Sajeetha</a:t>
            </a:r>
          </a:p>
        </p:txBody>
      </p:sp>
      <p:sp>
        <p:nvSpPr>
          <p:cNvPr id="6" name="Slide Number Placeholder 5">
            <a:extLst>
              <a:ext uri="{FF2B5EF4-FFF2-40B4-BE49-F238E27FC236}">
                <a16:creationId xmlns:a16="http://schemas.microsoft.com/office/drawing/2014/main" id="{E52A7648-829C-F5B8-FC96-2F59B7504306}"/>
              </a:ext>
            </a:extLst>
          </p:cNvPr>
          <p:cNvSpPr>
            <a:spLocks noGrp="1"/>
          </p:cNvSpPr>
          <p:nvPr>
            <p:ph type="sldNum" sz="quarter" idx="12"/>
          </p:nvPr>
        </p:nvSpPr>
        <p:spPr/>
        <p:txBody>
          <a:bodyPr/>
          <a:lstStyle/>
          <a:p>
            <a:fld id="{48F63A3B-78C7-47BE-AE5E-E10140E04643}" type="slidenum">
              <a:rPr lang="en-US" dirty="0"/>
              <a:t>19</a:t>
            </a:fld>
            <a:endParaRPr lang="en-US"/>
          </a:p>
        </p:txBody>
      </p:sp>
    </p:spTree>
    <p:extLst>
      <p:ext uri="{BB962C8B-B14F-4D97-AF65-F5344CB8AC3E}">
        <p14:creationId xmlns:p14="http://schemas.microsoft.com/office/powerpoint/2010/main" val="390199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4E7FF-E013-FD3C-5114-AB2CE74610B3}"/>
              </a:ext>
            </a:extLst>
          </p:cNvPr>
          <p:cNvSpPr>
            <a:spLocks noGrp="1"/>
          </p:cNvSpPr>
          <p:nvPr>
            <p:ph type="title"/>
          </p:nvPr>
        </p:nvSpPr>
        <p:spPr/>
        <p:txBody>
          <a:bodyPr/>
          <a:lstStyle/>
          <a:p>
            <a:r>
              <a:rPr lang="en-US" b="1">
                <a:solidFill>
                  <a:srgbClr val="FF7B00"/>
                </a:solidFill>
              </a:rPr>
              <a:t>Abstract Classes</a:t>
            </a:r>
          </a:p>
        </p:txBody>
      </p:sp>
      <p:sp>
        <p:nvSpPr>
          <p:cNvPr id="3" name="Content Placeholder 2">
            <a:extLst>
              <a:ext uri="{FF2B5EF4-FFF2-40B4-BE49-F238E27FC236}">
                <a16:creationId xmlns:a16="http://schemas.microsoft.com/office/drawing/2014/main" id="{A93815CC-B489-D09D-84AD-937EA033F100}"/>
              </a:ext>
            </a:extLst>
          </p:cNvPr>
          <p:cNvSpPr>
            <a:spLocks noGrp="1"/>
          </p:cNvSpPr>
          <p:nvPr>
            <p:ph idx="1"/>
          </p:nvPr>
        </p:nvSpPr>
        <p:spPr/>
        <p:txBody>
          <a:bodyPr vert="horz" lIns="91440" tIns="45720" rIns="91440" bIns="45720" rtlCol="0" anchor="t">
            <a:normAutofit/>
          </a:bodyPr>
          <a:lstStyle/>
          <a:p>
            <a:r>
              <a:rPr lang="en-US"/>
              <a:t>A blueprint for other classes might be thought of as an abstract class. You may use it to define a collection of methods that are required for all subclasses derived from the abstract class. </a:t>
            </a:r>
          </a:p>
          <a:p>
            <a:r>
              <a:rPr lang="en-US"/>
              <a:t>An abstract class is one that includes one or more abstract methods. </a:t>
            </a:r>
          </a:p>
          <a:p>
            <a:r>
              <a:rPr lang="en-US"/>
              <a:t>A method that has a declaration, but no implementation is said to be abstract. </a:t>
            </a:r>
          </a:p>
          <a:p>
            <a:r>
              <a:rPr lang="en-US"/>
              <a:t>We use an abstract class for creating huge functional units. An abstract class is used to offer a standard interface for various implementations of a component.</a:t>
            </a:r>
          </a:p>
        </p:txBody>
      </p:sp>
      <p:sp>
        <p:nvSpPr>
          <p:cNvPr id="4" name="Footer Placeholder 3">
            <a:extLst>
              <a:ext uri="{FF2B5EF4-FFF2-40B4-BE49-F238E27FC236}">
                <a16:creationId xmlns:a16="http://schemas.microsoft.com/office/drawing/2014/main" id="{54A1502C-4794-6E0E-5B66-8787FC51B36D}"/>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18F4DDAD-C75A-44CA-6AEE-D518E92C24C0}"/>
              </a:ext>
            </a:extLst>
          </p:cNvPr>
          <p:cNvSpPr>
            <a:spLocks noGrp="1"/>
          </p:cNvSpPr>
          <p:nvPr>
            <p:ph type="sldNum" sz="quarter" idx="12"/>
          </p:nvPr>
        </p:nvSpPr>
        <p:spPr/>
        <p:txBody>
          <a:bodyPr/>
          <a:lstStyle/>
          <a:p>
            <a:fld id="{48F63A3B-78C7-47BE-AE5E-E10140E04643}" type="slidenum">
              <a:rPr lang="en-US" dirty="0"/>
              <a:t>20</a:t>
            </a:fld>
            <a:endParaRPr lang="en-US"/>
          </a:p>
        </p:txBody>
      </p:sp>
    </p:spTree>
    <p:extLst>
      <p:ext uri="{BB962C8B-B14F-4D97-AF65-F5344CB8AC3E}">
        <p14:creationId xmlns:p14="http://schemas.microsoft.com/office/powerpoint/2010/main" val="11428862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05E67-254A-932B-7A6D-31862A00C5BD}"/>
              </a:ext>
            </a:extLst>
          </p:cNvPr>
          <p:cNvSpPr>
            <a:spLocks noGrp="1"/>
          </p:cNvSpPr>
          <p:nvPr>
            <p:ph type="ctrTitle"/>
          </p:nvPr>
        </p:nvSpPr>
        <p:spPr/>
        <p:txBody>
          <a:bodyPr>
            <a:normAutofit/>
          </a:bodyPr>
          <a:lstStyle/>
          <a:p>
            <a:pPr algn="l"/>
            <a:r>
              <a:rPr lang="en-US" sz="5400">
                <a:solidFill>
                  <a:srgbClr val="FF7B00"/>
                </a:solidFill>
              </a:rPr>
              <a:t>Encapsulation</a:t>
            </a:r>
          </a:p>
        </p:txBody>
      </p:sp>
      <p:sp>
        <p:nvSpPr>
          <p:cNvPr id="3" name="Content Placeholder 2">
            <a:extLst>
              <a:ext uri="{FF2B5EF4-FFF2-40B4-BE49-F238E27FC236}">
                <a16:creationId xmlns:a16="http://schemas.microsoft.com/office/drawing/2014/main" id="{046F0BF8-F80E-0E6D-6D8E-2C150CC05A9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86022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0B9F2-D283-6712-C76F-DA83B5AFA989}"/>
              </a:ext>
            </a:extLst>
          </p:cNvPr>
          <p:cNvSpPr>
            <a:spLocks noGrp="1"/>
          </p:cNvSpPr>
          <p:nvPr>
            <p:ph type="title"/>
          </p:nvPr>
        </p:nvSpPr>
        <p:spPr/>
        <p:txBody>
          <a:bodyPr/>
          <a:lstStyle/>
          <a:p>
            <a:r>
              <a:rPr lang="en-US" b="1">
                <a:solidFill>
                  <a:srgbClr val="FF7B00"/>
                </a:solidFill>
              </a:rPr>
              <a:t>Encapsulation</a:t>
            </a:r>
          </a:p>
        </p:txBody>
      </p:sp>
      <p:sp>
        <p:nvSpPr>
          <p:cNvPr id="3" name="Content Placeholder 2">
            <a:extLst>
              <a:ext uri="{FF2B5EF4-FFF2-40B4-BE49-F238E27FC236}">
                <a16:creationId xmlns:a16="http://schemas.microsoft.com/office/drawing/2014/main" id="{AE7CE52B-D6E0-1BA1-90B1-92724423C7C3}"/>
              </a:ext>
            </a:extLst>
          </p:cNvPr>
          <p:cNvSpPr>
            <a:spLocks noGrp="1"/>
          </p:cNvSpPr>
          <p:nvPr>
            <p:ph idx="1"/>
          </p:nvPr>
        </p:nvSpPr>
        <p:spPr/>
        <p:txBody>
          <a:bodyPr vert="horz" lIns="91440" tIns="45720" rIns="91440" bIns="45720" rtlCol="0" anchor="t">
            <a:normAutofit fontScale="92500" lnSpcReduction="10000"/>
          </a:bodyPr>
          <a:lstStyle/>
          <a:p>
            <a:r>
              <a:rPr lang="en-US">
                <a:ea typeface="+mn-lt"/>
                <a:cs typeface="+mn-lt"/>
              </a:rPr>
              <a:t>Encapsulation is one of the fundamental concepts in object-oriented programming (OOP). It describes the idea of wrapping data and the methods that work on data within one unit. This puts restrictions on accessing variables and methods directly and can prevent the accidental modification of data. </a:t>
            </a:r>
          </a:p>
          <a:p>
            <a:r>
              <a:rPr lang="en-US">
                <a:ea typeface="+mn-lt"/>
                <a:cs typeface="+mn-lt"/>
              </a:rPr>
              <a:t>To prevent accidental change, an object’s variable can only be changed by an object’s method. Those types of variables are known as </a:t>
            </a:r>
            <a:r>
              <a:rPr lang="en-US" b="1">
                <a:ea typeface="+mn-lt"/>
                <a:cs typeface="+mn-lt"/>
              </a:rPr>
              <a:t>private variables.</a:t>
            </a:r>
          </a:p>
          <a:p>
            <a:r>
              <a:rPr lang="en-US">
                <a:ea typeface="+mn-lt"/>
                <a:cs typeface="+mn-lt"/>
              </a:rPr>
              <a:t>A class is an example of encapsulation as it encapsulates all the data that is member functions, variables, etc. The goal of information hiding is to ensure that an object’s state is always valid by controlling access to attributes that are hidden from the outside world.</a:t>
            </a:r>
            <a:endParaRPr lang="en-US" b="1"/>
          </a:p>
        </p:txBody>
      </p:sp>
      <p:sp>
        <p:nvSpPr>
          <p:cNvPr id="4" name="Footer Placeholder 3">
            <a:extLst>
              <a:ext uri="{FF2B5EF4-FFF2-40B4-BE49-F238E27FC236}">
                <a16:creationId xmlns:a16="http://schemas.microsoft.com/office/drawing/2014/main" id="{94BBBEA2-8A5D-2C89-C446-8B7F2C87ECE9}"/>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5A92756A-3422-A905-0D02-B13BEB2F2822}"/>
              </a:ext>
            </a:extLst>
          </p:cNvPr>
          <p:cNvSpPr>
            <a:spLocks noGrp="1"/>
          </p:cNvSpPr>
          <p:nvPr>
            <p:ph type="sldNum" sz="quarter" idx="12"/>
          </p:nvPr>
        </p:nvSpPr>
        <p:spPr/>
        <p:txBody>
          <a:bodyPr/>
          <a:lstStyle/>
          <a:p>
            <a:fld id="{48F63A3B-78C7-47BE-AE5E-E10140E04643}" type="slidenum">
              <a:rPr lang="en-US" dirty="0"/>
              <a:t>22</a:t>
            </a:fld>
            <a:endParaRPr lang="en-US"/>
          </a:p>
        </p:txBody>
      </p:sp>
    </p:spTree>
    <p:extLst>
      <p:ext uri="{BB962C8B-B14F-4D97-AF65-F5344CB8AC3E}">
        <p14:creationId xmlns:p14="http://schemas.microsoft.com/office/powerpoint/2010/main" val="2234875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FF7B00"/>
                </a:solidFill>
              </a:rPr>
              <a:t>Encapsulation</a:t>
            </a:r>
          </a:p>
        </p:txBody>
      </p:sp>
      <p:sp>
        <p:nvSpPr>
          <p:cNvPr id="3" name="Content Placeholder 2"/>
          <p:cNvSpPr>
            <a:spLocks noGrp="1"/>
          </p:cNvSpPr>
          <p:nvPr>
            <p:ph idx="1"/>
          </p:nvPr>
        </p:nvSpPr>
        <p:spPr>
          <a:xfrm>
            <a:off x="435634" y="1825625"/>
            <a:ext cx="10918166" cy="4351338"/>
          </a:xfrm>
        </p:spPr>
        <p:txBody>
          <a:bodyPr>
            <a:normAutofit fontScale="85000" lnSpcReduction="20000"/>
          </a:bodyPr>
          <a:lstStyle/>
          <a:p>
            <a:pPr algn="just"/>
            <a:r>
              <a:rPr lang="en-US"/>
              <a:t>Encapsulation is one of the four fundamental principles of object-oriented programming (OOP) and involves bundling the data (attributes) and the methods (functions) that operate on the data into a single unit known as a class. </a:t>
            </a:r>
          </a:p>
          <a:p>
            <a:pPr algn="just"/>
            <a:r>
              <a:rPr lang="en-US"/>
              <a:t>Access to the data is restricted, and it can only be accessed and modified through the methods, ensuring that the internal representation of an object is hidden from the outside world.</a:t>
            </a:r>
          </a:p>
          <a:p>
            <a:pPr algn="just"/>
            <a:r>
              <a:rPr lang="en-US"/>
              <a:t>It refers as an object surrounding all of its properties, methods, and events into a single well-protected package. The protection comes from the object ability to hide these internal attributes and methods from outside classes.</a:t>
            </a:r>
          </a:p>
          <a:p>
            <a:pPr algn="just"/>
            <a:r>
              <a:rPr lang="en-US"/>
              <a:t>Outside classes should not be able to manipulate internal attributes, methods, or events with a protected object. </a:t>
            </a:r>
          </a:p>
          <a:p>
            <a:pPr algn="just"/>
            <a:r>
              <a:rPr lang="en-US"/>
              <a:t>Outside objects can make requests of an object but it is up to the internal methods of the object to determine whether the request is appropriate.</a:t>
            </a:r>
          </a:p>
        </p:txBody>
      </p:sp>
      <p:sp>
        <p:nvSpPr>
          <p:cNvPr id="4" name="Footer Placeholder 3">
            <a:extLst>
              <a:ext uri="{FF2B5EF4-FFF2-40B4-BE49-F238E27FC236}">
                <a16:creationId xmlns:a16="http://schemas.microsoft.com/office/drawing/2014/main" id="{EAB03467-5A0E-98AA-338C-64249167B892}"/>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D49D1F48-382C-169D-53CD-37CEBE9EB8F8}"/>
              </a:ext>
            </a:extLst>
          </p:cNvPr>
          <p:cNvSpPr>
            <a:spLocks noGrp="1"/>
          </p:cNvSpPr>
          <p:nvPr>
            <p:ph type="sldNum" sz="quarter" idx="12"/>
          </p:nvPr>
        </p:nvSpPr>
        <p:spPr/>
        <p:txBody>
          <a:bodyPr/>
          <a:lstStyle/>
          <a:p>
            <a:fld id="{48F63A3B-78C7-47BE-AE5E-E10140E04643}" type="slidenum">
              <a:rPr lang="en-US" dirty="0"/>
              <a:t>23</a:t>
            </a:fld>
            <a:endParaRPr lang="en-US"/>
          </a:p>
        </p:txBody>
      </p:sp>
    </p:spTree>
    <p:extLst>
      <p:ext uri="{BB962C8B-B14F-4D97-AF65-F5344CB8AC3E}">
        <p14:creationId xmlns:p14="http://schemas.microsoft.com/office/powerpoint/2010/main" val="30941701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39A05-BE79-CDD5-6500-4E579E7F8292}"/>
              </a:ext>
            </a:extLst>
          </p:cNvPr>
          <p:cNvSpPr>
            <a:spLocks noGrp="1"/>
          </p:cNvSpPr>
          <p:nvPr>
            <p:ph type="title"/>
          </p:nvPr>
        </p:nvSpPr>
        <p:spPr/>
        <p:txBody>
          <a:bodyPr>
            <a:normAutofit/>
          </a:bodyPr>
          <a:lstStyle/>
          <a:p>
            <a:r>
              <a:rPr lang="en-US" b="1">
                <a:ea typeface="+mj-lt"/>
                <a:cs typeface="+mj-lt"/>
              </a:rPr>
              <a:t> </a:t>
            </a:r>
            <a:r>
              <a:rPr lang="en-US" b="1">
                <a:solidFill>
                  <a:srgbClr val="FF7B00"/>
                </a:solidFill>
                <a:ea typeface="+mj-lt"/>
                <a:cs typeface="+mj-lt"/>
              </a:rPr>
              <a:t>Encapsulation</a:t>
            </a:r>
            <a:endParaRPr lang="en-US" b="1">
              <a:solidFill>
                <a:srgbClr val="FF7B00"/>
              </a:solidFill>
            </a:endParaRPr>
          </a:p>
        </p:txBody>
      </p:sp>
      <p:sp>
        <p:nvSpPr>
          <p:cNvPr id="3" name="Content Placeholder 2">
            <a:extLst>
              <a:ext uri="{FF2B5EF4-FFF2-40B4-BE49-F238E27FC236}">
                <a16:creationId xmlns:a16="http://schemas.microsoft.com/office/drawing/2014/main" id="{342EA409-A1FD-1BBA-E387-A4B86EE8EDA1}"/>
              </a:ext>
            </a:extLst>
          </p:cNvPr>
          <p:cNvSpPr>
            <a:spLocks noGrp="1"/>
          </p:cNvSpPr>
          <p:nvPr>
            <p:ph idx="1"/>
          </p:nvPr>
        </p:nvSpPr>
        <p:spPr/>
        <p:txBody>
          <a:bodyPr vert="horz" lIns="91440" tIns="45720" rIns="91440" bIns="45720" rtlCol="0" anchor="t">
            <a:normAutofit fontScale="70000" lnSpcReduction="20000"/>
          </a:bodyPr>
          <a:lstStyle/>
          <a:p>
            <a:r>
              <a:rPr lang="en-US"/>
              <a:t>Encapsulation is a method of wrapping data and functions into a single entity. For example, A class encapsulates all the data (methods and variables). Encapsulation means the internal representation of an object is generally hidden from outside of the object’s definition.</a:t>
            </a:r>
          </a:p>
          <a:p>
            <a:r>
              <a:rPr lang="en-US"/>
              <a:t>Using OOP in Python, we can restrict access to methods and variables. This prevents data from direct modification which is called encapsulation. In Python, we denote private attributes using underscore as the prefix </a:t>
            </a:r>
            <a:r>
              <a:rPr lang="en-US" err="1"/>
              <a:t>i.e</a:t>
            </a:r>
            <a:r>
              <a:rPr lang="en-US"/>
              <a:t> single _ or double __.</a:t>
            </a:r>
          </a:p>
          <a:p>
            <a:pPr marL="0" indent="0">
              <a:buNone/>
            </a:pPr>
            <a:r>
              <a:rPr lang="en-US" b="1"/>
              <a:t>    Need of Encapsulation</a:t>
            </a:r>
          </a:p>
          <a:p>
            <a:r>
              <a:rPr lang="en-US"/>
              <a:t>Encapsulation acts as a protective layer. We can restrict access to methods and variables from outside, and It can prevent the data from being modified by accidental or unauthorized modification. Encapsulation provides security by hiding the data from the outside world.</a:t>
            </a:r>
          </a:p>
          <a:p>
            <a:r>
              <a:rPr lang="en-US"/>
              <a:t>In Python, we do not have access modifiers directly, such as public, private, and protected. But we can achieve encapsulation by using single prefix underscore and double underscore to control access of variable and method within the Python program.</a:t>
            </a:r>
          </a:p>
          <a:p>
            <a:endParaRPr lang="en-US"/>
          </a:p>
        </p:txBody>
      </p:sp>
      <p:sp>
        <p:nvSpPr>
          <p:cNvPr id="4" name="Footer Placeholder 3">
            <a:extLst>
              <a:ext uri="{FF2B5EF4-FFF2-40B4-BE49-F238E27FC236}">
                <a16:creationId xmlns:a16="http://schemas.microsoft.com/office/drawing/2014/main" id="{9403E310-66F3-9F85-10DC-3FAAAC35197C}"/>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C56B184A-BD88-75A3-DBD2-12B78F49BE21}"/>
              </a:ext>
            </a:extLst>
          </p:cNvPr>
          <p:cNvSpPr>
            <a:spLocks noGrp="1"/>
          </p:cNvSpPr>
          <p:nvPr>
            <p:ph type="sldNum" sz="quarter" idx="12"/>
          </p:nvPr>
        </p:nvSpPr>
        <p:spPr/>
        <p:txBody>
          <a:bodyPr/>
          <a:lstStyle/>
          <a:p>
            <a:fld id="{48F63A3B-78C7-47BE-AE5E-E10140E04643}" type="slidenum">
              <a:rPr lang="en-US" dirty="0"/>
              <a:t>24</a:t>
            </a:fld>
            <a:endParaRPr lang="en-US"/>
          </a:p>
        </p:txBody>
      </p:sp>
    </p:spTree>
    <p:extLst>
      <p:ext uri="{BB962C8B-B14F-4D97-AF65-F5344CB8AC3E}">
        <p14:creationId xmlns:p14="http://schemas.microsoft.com/office/powerpoint/2010/main" val="28878937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34205-C73A-663F-5012-6A0357661735}"/>
              </a:ext>
            </a:extLst>
          </p:cNvPr>
          <p:cNvSpPr>
            <a:spLocks noGrp="1"/>
          </p:cNvSpPr>
          <p:nvPr>
            <p:ph type="title"/>
          </p:nvPr>
        </p:nvSpPr>
        <p:spPr/>
        <p:txBody>
          <a:bodyPr>
            <a:normAutofit/>
          </a:bodyPr>
          <a:lstStyle/>
          <a:p>
            <a:r>
              <a:rPr lang="en-US">
                <a:solidFill>
                  <a:srgbClr val="FF7B00"/>
                </a:solidFill>
                <a:ea typeface="+mj-lt"/>
                <a:cs typeface="+mj-lt"/>
              </a:rPr>
              <a:t>Consider a real-life example of encapsulation</a:t>
            </a:r>
            <a:endParaRPr lang="en-US">
              <a:solidFill>
                <a:srgbClr val="FF7B00"/>
              </a:solidFill>
            </a:endParaRPr>
          </a:p>
        </p:txBody>
      </p:sp>
      <p:sp>
        <p:nvSpPr>
          <p:cNvPr id="3" name="Content Placeholder 2">
            <a:extLst>
              <a:ext uri="{FF2B5EF4-FFF2-40B4-BE49-F238E27FC236}">
                <a16:creationId xmlns:a16="http://schemas.microsoft.com/office/drawing/2014/main" id="{5553A567-F330-C90E-8D81-C23C4C91DF52}"/>
              </a:ext>
            </a:extLst>
          </p:cNvPr>
          <p:cNvSpPr>
            <a:spLocks noGrp="1"/>
          </p:cNvSpPr>
          <p:nvPr>
            <p:ph idx="1"/>
          </p:nvPr>
        </p:nvSpPr>
        <p:spPr/>
        <p:txBody>
          <a:bodyPr vert="horz" lIns="91440" tIns="45720" rIns="91440" bIns="45720" rtlCol="0" anchor="t">
            <a:normAutofit fontScale="85000" lnSpcReduction="10000"/>
          </a:bodyPr>
          <a:lstStyle/>
          <a:p>
            <a:r>
              <a:rPr lang="en-US">
                <a:ea typeface="+mn-lt"/>
                <a:cs typeface="+mn-lt"/>
              </a:rPr>
              <a:t>In a company, there are different sections like the accounts section, finance section, sales section etc. The finance section handles all the financial transactions and keeps records of all the data related to finance. Similarly, the sales section handles all the sales-related activities and keeps records of all the sales. Now there may arise a situation when due to some reason an official from the finance section needs all the data about sales in a particular month. In this case, he is not allowed to directly access the data of the sales section. </a:t>
            </a:r>
          </a:p>
          <a:p>
            <a:r>
              <a:rPr lang="en-US">
                <a:ea typeface="+mn-lt"/>
                <a:cs typeface="+mn-lt"/>
              </a:rPr>
              <a:t>He will first have to contact some other officer in the sales section and then request him to give the particular data. This is what encapsulation is. Here the data of the sales section and the employees that can manipulate them are wrapped under a single name “sales section”. Using encapsulation also hides the data. In this example, the data of the sections like sales, finance, or accounts are hidden from any other section.</a:t>
            </a:r>
            <a:endParaRPr lang="en-US"/>
          </a:p>
        </p:txBody>
      </p:sp>
      <p:sp>
        <p:nvSpPr>
          <p:cNvPr id="4" name="Footer Placeholder 3">
            <a:extLst>
              <a:ext uri="{FF2B5EF4-FFF2-40B4-BE49-F238E27FC236}">
                <a16:creationId xmlns:a16="http://schemas.microsoft.com/office/drawing/2014/main" id="{324063DF-2F27-1BDE-E6BB-03034F1435E9}"/>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AB7B0A77-97A9-454D-BFDE-992E70B1B077}"/>
              </a:ext>
            </a:extLst>
          </p:cNvPr>
          <p:cNvSpPr>
            <a:spLocks noGrp="1"/>
          </p:cNvSpPr>
          <p:nvPr>
            <p:ph type="sldNum" sz="quarter" idx="12"/>
          </p:nvPr>
        </p:nvSpPr>
        <p:spPr/>
        <p:txBody>
          <a:bodyPr/>
          <a:lstStyle/>
          <a:p>
            <a:fld id="{48F63A3B-78C7-47BE-AE5E-E10140E04643}" type="slidenum">
              <a:rPr lang="en-US" dirty="0"/>
              <a:t>25</a:t>
            </a:fld>
            <a:endParaRPr lang="en-US"/>
          </a:p>
        </p:txBody>
      </p:sp>
    </p:spTree>
    <p:extLst>
      <p:ext uri="{BB962C8B-B14F-4D97-AF65-F5344CB8AC3E}">
        <p14:creationId xmlns:p14="http://schemas.microsoft.com/office/powerpoint/2010/main" val="1157636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80C63-4723-67AD-62FE-41D8DD8DC986}"/>
              </a:ext>
            </a:extLst>
          </p:cNvPr>
          <p:cNvSpPr>
            <a:spLocks noGrp="1"/>
          </p:cNvSpPr>
          <p:nvPr>
            <p:ph type="title"/>
          </p:nvPr>
        </p:nvSpPr>
        <p:spPr/>
        <p:txBody>
          <a:bodyPr/>
          <a:lstStyle/>
          <a:p>
            <a:r>
              <a:rPr lang="en-US">
                <a:solidFill>
                  <a:srgbClr val="FF7B00"/>
                </a:solidFill>
                <a:ea typeface="+mj-lt"/>
                <a:cs typeface="+mj-lt"/>
              </a:rPr>
              <a:t>Protected members</a:t>
            </a:r>
            <a:endParaRPr lang="en-US">
              <a:solidFill>
                <a:srgbClr val="FF7B00"/>
              </a:solidFill>
            </a:endParaRPr>
          </a:p>
        </p:txBody>
      </p:sp>
      <p:sp>
        <p:nvSpPr>
          <p:cNvPr id="3" name="Content Placeholder 2">
            <a:extLst>
              <a:ext uri="{FF2B5EF4-FFF2-40B4-BE49-F238E27FC236}">
                <a16:creationId xmlns:a16="http://schemas.microsoft.com/office/drawing/2014/main" id="{517E7CA8-1137-7328-DE10-5736EC64C2A6}"/>
              </a:ext>
            </a:extLst>
          </p:cNvPr>
          <p:cNvSpPr>
            <a:spLocks noGrp="1"/>
          </p:cNvSpPr>
          <p:nvPr>
            <p:ph idx="1"/>
          </p:nvPr>
        </p:nvSpPr>
        <p:spPr/>
        <p:txBody>
          <a:bodyPr vert="horz" lIns="91440" tIns="45720" rIns="91440" bIns="45720" rtlCol="0" anchor="t">
            <a:normAutofit lnSpcReduction="10000"/>
          </a:bodyPr>
          <a:lstStyle/>
          <a:p>
            <a:r>
              <a:rPr lang="en-US">
                <a:ea typeface="+mn-lt"/>
                <a:cs typeface="+mn-lt"/>
              </a:rPr>
              <a:t>Protected members (in C++ and JAVA) are those members of the class that cannot be accessed outside the class but can be accessed from within the class and its subclasses. </a:t>
            </a:r>
            <a:endParaRPr lang="en-US"/>
          </a:p>
          <a:p>
            <a:r>
              <a:rPr lang="en-US">
                <a:ea typeface="+mn-lt"/>
                <a:cs typeface="+mn-lt"/>
              </a:rPr>
              <a:t>To accomplish this in Python, just follow the convention by prefixing the name of the member by a single underscore “_”.</a:t>
            </a:r>
            <a:endParaRPr lang="en-US"/>
          </a:p>
          <a:p>
            <a:r>
              <a:rPr lang="en-US">
                <a:ea typeface="+mn-lt"/>
                <a:cs typeface="+mn-lt"/>
              </a:rPr>
              <a:t>Although the protected variable can be accessed out of the class as well as in the derived class (modified too in derived class), it is customary(convention not a rule) to not access the protected out the class body.</a:t>
            </a:r>
            <a:endParaRPr lang="en-US"/>
          </a:p>
          <a:p>
            <a:r>
              <a:rPr lang="en-US">
                <a:ea typeface="+mn-lt"/>
                <a:cs typeface="+mn-lt"/>
              </a:rPr>
              <a:t>Example: The __</a:t>
            </a:r>
            <a:r>
              <a:rPr lang="en-US" err="1">
                <a:ea typeface="+mn-lt"/>
                <a:cs typeface="+mn-lt"/>
              </a:rPr>
              <a:t>init</a:t>
            </a:r>
            <a:r>
              <a:rPr lang="en-US">
                <a:ea typeface="+mn-lt"/>
                <a:cs typeface="+mn-lt"/>
              </a:rPr>
              <a:t>__ method is a constructor and runs as soon as an object of a class is instantiated.  </a:t>
            </a:r>
            <a:endParaRPr lang="en-US"/>
          </a:p>
        </p:txBody>
      </p:sp>
      <p:sp>
        <p:nvSpPr>
          <p:cNvPr id="4" name="Footer Placeholder 3">
            <a:extLst>
              <a:ext uri="{FF2B5EF4-FFF2-40B4-BE49-F238E27FC236}">
                <a16:creationId xmlns:a16="http://schemas.microsoft.com/office/drawing/2014/main" id="{0F5DE626-7FA6-519E-83FA-A0A8FF4790F4}"/>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DF3BB9CE-51EB-3D5E-4BDB-72F69FA90605}"/>
              </a:ext>
            </a:extLst>
          </p:cNvPr>
          <p:cNvSpPr>
            <a:spLocks noGrp="1"/>
          </p:cNvSpPr>
          <p:nvPr>
            <p:ph type="sldNum" sz="quarter" idx="12"/>
          </p:nvPr>
        </p:nvSpPr>
        <p:spPr/>
        <p:txBody>
          <a:bodyPr/>
          <a:lstStyle/>
          <a:p>
            <a:fld id="{48F63A3B-78C7-47BE-AE5E-E10140E04643}" type="slidenum">
              <a:rPr lang="en-US" dirty="0"/>
              <a:t>26</a:t>
            </a:fld>
            <a:endParaRPr lang="en-US"/>
          </a:p>
        </p:txBody>
      </p:sp>
    </p:spTree>
    <p:extLst>
      <p:ext uri="{BB962C8B-B14F-4D97-AF65-F5344CB8AC3E}">
        <p14:creationId xmlns:p14="http://schemas.microsoft.com/office/powerpoint/2010/main" val="13923146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B2C0A-FA5B-D55F-B848-22B216656A82}"/>
              </a:ext>
            </a:extLst>
          </p:cNvPr>
          <p:cNvSpPr>
            <a:spLocks noGrp="1"/>
          </p:cNvSpPr>
          <p:nvPr>
            <p:ph type="title"/>
          </p:nvPr>
        </p:nvSpPr>
        <p:spPr/>
        <p:txBody>
          <a:bodyPr/>
          <a:lstStyle/>
          <a:p>
            <a:endParaRPr lang="en-US"/>
          </a:p>
        </p:txBody>
      </p:sp>
      <p:pic>
        <p:nvPicPr>
          <p:cNvPr id="4" name="Content Placeholder 3" descr="A screenshot of a computer program&#10;&#10;Description automatically generated">
            <a:extLst>
              <a:ext uri="{FF2B5EF4-FFF2-40B4-BE49-F238E27FC236}">
                <a16:creationId xmlns:a16="http://schemas.microsoft.com/office/drawing/2014/main" id="{9104012B-3D60-C954-E4DD-9207FE52DDE0}"/>
              </a:ext>
            </a:extLst>
          </p:cNvPr>
          <p:cNvPicPr>
            <a:picLocks noGrp="1" noChangeAspect="1"/>
          </p:cNvPicPr>
          <p:nvPr>
            <p:ph idx="1"/>
          </p:nvPr>
        </p:nvPicPr>
        <p:blipFill>
          <a:blip r:embed="rId2"/>
          <a:stretch>
            <a:fillRect/>
          </a:stretch>
        </p:blipFill>
        <p:spPr>
          <a:xfrm>
            <a:off x="840197" y="-299"/>
            <a:ext cx="5393266" cy="6680470"/>
          </a:xfrm>
        </p:spPr>
      </p:pic>
      <p:sp>
        <p:nvSpPr>
          <p:cNvPr id="3" name="Footer Placeholder 2">
            <a:extLst>
              <a:ext uri="{FF2B5EF4-FFF2-40B4-BE49-F238E27FC236}">
                <a16:creationId xmlns:a16="http://schemas.microsoft.com/office/drawing/2014/main" id="{A989A0A3-5111-BCCD-7577-DE4ACA862600}"/>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F2F8D84A-CEFF-11AC-2D9C-E037281779EB}"/>
              </a:ext>
            </a:extLst>
          </p:cNvPr>
          <p:cNvSpPr>
            <a:spLocks noGrp="1"/>
          </p:cNvSpPr>
          <p:nvPr>
            <p:ph type="sldNum" sz="quarter" idx="12"/>
          </p:nvPr>
        </p:nvSpPr>
        <p:spPr/>
        <p:txBody>
          <a:bodyPr/>
          <a:lstStyle/>
          <a:p>
            <a:fld id="{48F63A3B-78C7-47BE-AE5E-E10140E04643}" type="slidenum">
              <a:rPr lang="en-US" dirty="0"/>
              <a:t>27</a:t>
            </a:fld>
            <a:endParaRPr lang="en-US"/>
          </a:p>
        </p:txBody>
      </p:sp>
    </p:spTree>
    <p:extLst>
      <p:ext uri="{BB962C8B-B14F-4D97-AF65-F5344CB8AC3E}">
        <p14:creationId xmlns:p14="http://schemas.microsoft.com/office/powerpoint/2010/main" val="33276175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99942-E904-B1C5-0228-BD37C83214DA}"/>
              </a:ext>
            </a:extLst>
          </p:cNvPr>
          <p:cNvSpPr>
            <a:spLocks noGrp="1"/>
          </p:cNvSpPr>
          <p:nvPr>
            <p:ph type="title"/>
          </p:nvPr>
        </p:nvSpPr>
        <p:spPr/>
        <p:txBody>
          <a:bodyPr>
            <a:normAutofit/>
          </a:bodyPr>
          <a:lstStyle/>
          <a:p>
            <a:r>
              <a:rPr lang="en-US" sz="4000" b="1">
                <a:solidFill>
                  <a:srgbClr val="FF7B00"/>
                </a:solidFill>
                <a:ea typeface="+mj-lt"/>
                <a:cs typeface="+mj-lt"/>
              </a:rPr>
              <a:t>Private members</a:t>
            </a:r>
            <a:endParaRPr lang="en-US" b="1">
              <a:solidFill>
                <a:srgbClr val="FFFFFF"/>
              </a:solidFill>
            </a:endParaRPr>
          </a:p>
        </p:txBody>
      </p:sp>
      <p:sp>
        <p:nvSpPr>
          <p:cNvPr id="3" name="Content Placeholder 2">
            <a:extLst>
              <a:ext uri="{FF2B5EF4-FFF2-40B4-BE49-F238E27FC236}">
                <a16:creationId xmlns:a16="http://schemas.microsoft.com/office/drawing/2014/main" id="{F41EA96D-2851-B851-037D-79A9D00BE08E}"/>
              </a:ext>
            </a:extLst>
          </p:cNvPr>
          <p:cNvSpPr>
            <a:spLocks noGrp="1"/>
          </p:cNvSpPr>
          <p:nvPr>
            <p:ph idx="1"/>
          </p:nvPr>
        </p:nvSpPr>
        <p:spPr>
          <a:xfrm>
            <a:off x="838200" y="1379927"/>
            <a:ext cx="10515600" cy="4797036"/>
          </a:xfrm>
        </p:spPr>
        <p:txBody>
          <a:bodyPr vert="horz" lIns="91440" tIns="45720" rIns="91440" bIns="45720" rtlCol="0" anchor="t">
            <a:normAutofit/>
          </a:bodyPr>
          <a:lstStyle/>
          <a:p>
            <a:endParaRPr lang="en-US"/>
          </a:p>
          <a:p>
            <a:r>
              <a:rPr lang="en-US">
                <a:ea typeface="+mn-lt"/>
                <a:cs typeface="+mn-lt"/>
              </a:rPr>
              <a:t>Private members are similar to protected members, the difference is that the class members declared private should neither be accessed outside the class nor by any base class. </a:t>
            </a:r>
          </a:p>
          <a:p>
            <a:r>
              <a:rPr lang="en-US">
                <a:ea typeface="+mn-lt"/>
                <a:cs typeface="+mn-lt"/>
              </a:rPr>
              <a:t>In Python, there is no existence of Private instance variables that cannot be accessed except inside a class.</a:t>
            </a:r>
            <a:endParaRPr lang="en-US"/>
          </a:p>
          <a:p>
            <a:r>
              <a:rPr lang="en-US">
                <a:ea typeface="+mn-lt"/>
                <a:cs typeface="+mn-lt"/>
              </a:rPr>
              <a:t>However, to define a private member prefix the member name with double underscore “__”.</a:t>
            </a:r>
            <a:endParaRPr lang="en-US"/>
          </a:p>
          <a:p>
            <a:r>
              <a:rPr lang="en-US">
                <a:ea typeface="+mn-lt"/>
                <a:cs typeface="+mn-lt"/>
              </a:rPr>
              <a:t>Note: Python’s private and protected members can be accessed outside the class through python name mangling. </a:t>
            </a:r>
            <a:endParaRPr lang="en-US"/>
          </a:p>
        </p:txBody>
      </p:sp>
      <p:sp>
        <p:nvSpPr>
          <p:cNvPr id="4" name="Footer Placeholder 3">
            <a:extLst>
              <a:ext uri="{FF2B5EF4-FFF2-40B4-BE49-F238E27FC236}">
                <a16:creationId xmlns:a16="http://schemas.microsoft.com/office/drawing/2014/main" id="{C89A8151-2812-1F43-ED41-37989A463EBF}"/>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CFC7EDCE-E27D-2CC5-2B00-A27F679A24E9}"/>
              </a:ext>
            </a:extLst>
          </p:cNvPr>
          <p:cNvSpPr>
            <a:spLocks noGrp="1"/>
          </p:cNvSpPr>
          <p:nvPr>
            <p:ph type="sldNum" sz="quarter" idx="12"/>
          </p:nvPr>
        </p:nvSpPr>
        <p:spPr/>
        <p:txBody>
          <a:bodyPr/>
          <a:lstStyle/>
          <a:p>
            <a:fld id="{48F63A3B-78C7-47BE-AE5E-E10140E04643}" type="slidenum">
              <a:rPr lang="en-US" dirty="0"/>
              <a:t>28</a:t>
            </a:fld>
            <a:endParaRPr lang="en-US"/>
          </a:p>
        </p:txBody>
      </p:sp>
    </p:spTree>
    <p:extLst>
      <p:ext uri="{BB962C8B-B14F-4D97-AF65-F5344CB8AC3E}">
        <p14:creationId xmlns:p14="http://schemas.microsoft.com/office/powerpoint/2010/main" val="12428846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2232E9-9E19-5DD3-F300-E695B7B93E0E}"/>
              </a:ext>
            </a:extLst>
          </p:cNvPr>
          <p:cNvSpPr>
            <a:spLocks noGrp="1"/>
          </p:cNvSpPr>
          <p:nvPr>
            <p:ph idx="1"/>
          </p:nvPr>
        </p:nvSpPr>
        <p:spPr>
          <a:xfrm>
            <a:off x="838200" y="143475"/>
            <a:ext cx="10515600" cy="6579827"/>
          </a:xfrm>
        </p:spPr>
        <p:txBody>
          <a:bodyPr vert="horz" lIns="91440" tIns="45720" rIns="91440" bIns="45720" rtlCol="0" anchor="t">
            <a:normAutofit fontScale="70000" lnSpcReduction="20000"/>
          </a:bodyPr>
          <a:lstStyle/>
          <a:p>
            <a:pPr marL="0" indent="0">
              <a:buNone/>
            </a:pPr>
            <a:r>
              <a:rPr lang="en-US">
                <a:ea typeface="+mn-lt"/>
                <a:cs typeface="+mn-lt"/>
              </a:rPr>
              <a:t># Python program to demonstrate private members </a:t>
            </a:r>
            <a:endParaRPr lang="en-US"/>
          </a:p>
          <a:p>
            <a:pPr marL="0" indent="0">
              <a:buNone/>
            </a:pPr>
            <a:r>
              <a:rPr lang="en-US">
                <a:ea typeface="+mn-lt"/>
                <a:cs typeface="+mn-lt"/>
              </a:rPr>
              <a:t># Creating a Base class </a:t>
            </a:r>
            <a:endParaRPr lang="en-US"/>
          </a:p>
          <a:p>
            <a:pPr marL="0" indent="0">
              <a:buNone/>
            </a:pPr>
            <a:r>
              <a:rPr lang="en-US">
                <a:ea typeface="+mn-lt"/>
                <a:cs typeface="+mn-lt"/>
              </a:rPr>
              <a:t>class Base: </a:t>
            </a:r>
            <a:endParaRPr lang="en-US"/>
          </a:p>
          <a:p>
            <a:pPr marL="0" indent="0">
              <a:buNone/>
            </a:pPr>
            <a:r>
              <a:rPr lang="en-US">
                <a:ea typeface="+mn-lt"/>
                <a:cs typeface="+mn-lt"/>
              </a:rPr>
              <a:t>    def __</a:t>
            </a:r>
            <a:r>
              <a:rPr lang="en-US" err="1">
                <a:ea typeface="+mn-lt"/>
                <a:cs typeface="+mn-lt"/>
              </a:rPr>
              <a:t>init</a:t>
            </a:r>
            <a:r>
              <a:rPr lang="en-US">
                <a:ea typeface="+mn-lt"/>
                <a:cs typeface="+mn-lt"/>
              </a:rPr>
              <a:t>__(self): </a:t>
            </a:r>
            <a:endParaRPr lang="en-US"/>
          </a:p>
          <a:p>
            <a:pPr marL="0" indent="0">
              <a:buNone/>
            </a:pPr>
            <a:r>
              <a:rPr lang="en-US">
                <a:ea typeface="+mn-lt"/>
                <a:cs typeface="+mn-lt"/>
              </a:rPr>
              <a:t>        </a:t>
            </a:r>
            <a:r>
              <a:rPr lang="en-US" err="1">
                <a:ea typeface="+mn-lt"/>
                <a:cs typeface="+mn-lt"/>
              </a:rPr>
              <a:t>self.a</a:t>
            </a:r>
            <a:r>
              <a:rPr lang="en-US">
                <a:ea typeface="+mn-lt"/>
                <a:cs typeface="+mn-lt"/>
              </a:rPr>
              <a:t> = "Amal"</a:t>
            </a:r>
            <a:endParaRPr lang="en-US"/>
          </a:p>
          <a:p>
            <a:pPr marL="0" indent="0">
              <a:buNone/>
            </a:pPr>
            <a:r>
              <a:rPr lang="en-US">
                <a:ea typeface="+mn-lt"/>
                <a:cs typeface="+mn-lt"/>
              </a:rPr>
              <a:t>        </a:t>
            </a:r>
            <a:r>
              <a:rPr lang="en-US" err="1">
                <a:ea typeface="+mn-lt"/>
                <a:cs typeface="+mn-lt"/>
              </a:rPr>
              <a:t>self.__c</a:t>
            </a:r>
            <a:r>
              <a:rPr lang="en-US">
                <a:ea typeface="+mn-lt"/>
                <a:cs typeface="+mn-lt"/>
              </a:rPr>
              <a:t> = "Amal"</a:t>
            </a:r>
            <a:endParaRPr lang="en-US"/>
          </a:p>
          <a:p>
            <a:pPr marL="0" indent="0">
              <a:buNone/>
            </a:pPr>
            <a:r>
              <a:rPr lang="en-US">
                <a:ea typeface="+mn-lt"/>
                <a:cs typeface="+mn-lt"/>
              </a:rPr>
              <a:t># Creating a derived class </a:t>
            </a:r>
            <a:endParaRPr lang="en-US"/>
          </a:p>
          <a:p>
            <a:pPr marL="0" indent="0">
              <a:buNone/>
            </a:pPr>
            <a:r>
              <a:rPr lang="en-US">
                <a:ea typeface="+mn-lt"/>
                <a:cs typeface="+mn-lt"/>
              </a:rPr>
              <a:t>class Derived(Base): </a:t>
            </a:r>
            <a:endParaRPr lang="en-US"/>
          </a:p>
          <a:p>
            <a:pPr marL="0" indent="0">
              <a:buNone/>
            </a:pPr>
            <a:r>
              <a:rPr lang="en-US">
                <a:ea typeface="+mn-lt"/>
                <a:cs typeface="+mn-lt"/>
              </a:rPr>
              <a:t>    def __</a:t>
            </a:r>
            <a:r>
              <a:rPr lang="en-US" err="1">
                <a:ea typeface="+mn-lt"/>
                <a:cs typeface="+mn-lt"/>
              </a:rPr>
              <a:t>init</a:t>
            </a:r>
            <a:r>
              <a:rPr lang="en-US">
                <a:ea typeface="+mn-lt"/>
                <a:cs typeface="+mn-lt"/>
              </a:rPr>
              <a:t>__(self): </a:t>
            </a:r>
            <a:endParaRPr lang="en-US"/>
          </a:p>
          <a:p>
            <a:pPr marL="0" indent="0">
              <a:buNone/>
            </a:pPr>
            <a:r>
              <a:rPr lang="en-US">
                <a:ea typeface="+mn-lt"/>
                <a:cs typeface="+mn-lt"/>
              </a:rPr>
              <a:t>        # Calling constructor of Base class </a:t>
            </a:r>
            <a:endParaRPr lang="en-US"/>
          </a:p>
          <a:p>
            <a:pPr marL="0" indent="0">
              <a:buNone/>
            </a:pPr>
            <a:r>
              <a:rPr lang="en-US">
                <a:ea typeface="+mn-lt"/>
                <a:cs typeface="+mn-lt"/>
              </a:rPr>
              <a:t>        Base.__</a:t>
            </a:r>
            <a:r>
              <a:rPr lang="en-US" err="1">
                <a:ea typeface="+mn-lt"/>
                <a:cs typeface="+mn-lt"/>
              </a:rPr>
              <a:t>init</a:t>
            </a:r>
            <a:r>
              <a:rPr lang="en-US">
                <a:ea typeface="+mn-lt"/>
                <a:cs typeface="+mn-lt"/>
              </a:rPr>
              <a:t>__(self) </a:t>
            </a:r>
            <a:endParaRPr lang="en-US"/>
          </a:p>
          <a:p>
            <a:pPr marL="0" indent="0">
              <a:buNone/>
            </a:pPr>
            <a:r>
              <a:rPr lang="en-US">
                <a:ea typeface="+mn-lt"/>
                <a:cs typeface="+mn-lt"/>
              </a:rPr>
              <a:t>        print("Calling private member of base class: ") </a:t>
            </a:r>
            <a:endParaRPr lang="en-US"/>
          </a:p>
          <a:p>
            <a:pPr marL="0" indent="0">
              <a:buNone/>
            </a:pPr>
            <a:r>
              <a:rPr lang="en-US">
                <a:ea typeface="+mn-lt"/>
                <a:cs typeface="+mn-lt"/>
              </a:rPr>
              <a:t>        print(</a:t>
            </a:r>
            <a:r>
              <a:rPr lang="en-US" err="1">
                <a:ea typeface="+mn-lt"/>
                <a:cs typeface="+mn-lt"/>
              </a:rPr>
              <a:t>self.__c</a:t>
            </a:r>
            <a:r>
              <a:rPr lang="en-US">
                <a:ea typeface="+mn-lt"/>
                <a:cs typeface="+mn-lt"/>
              </a:rPr>
              <a:t>) </a:t>
            </a:r>
            <a:endParaRPr lang="en-US"/>
          </a:p>
          <a:p>
            <a:pPr marL="0" indent="0">
              <a:buNone/>
            </a:pPr>
            <a:r>
              <a:rPr lang="en-US">
                <a:ea typeface="+mn-lt"/>
                <a:cs typeface="+mn-lt"/>
              </a:rPr>
              <a:t># Driver code </a:t>
            </a:r>
            <a:endParaRPr lang="en-US"/>
          </a:p>
          <a:p>
            <a:pPr marL="0" indent="0">
              <a:buNone/>
            </a:pPr>
            <a:r>
              <a:rPr lang="en-US">
                <a:ea typeface="+mn-lt"/>
                <a:cs typeface="+mn-lt"/>
              </a:rPr>
              <a:t>obj1 = Base() </a:t>
            </a:r>
            <a:endParaRPr lang="en-US"/>
          </a:p>
          <a:p>
            <a:pPr marL="0" indent="0">
              <a:buNone/>
            </a:pPr>
            <a:r>
              <a:rPr lang="en-US">
                <a:ea typeface="+mn-lt"/>
                <a:cs typeface="+mn-lt"/>
              </a:rPr>
              <a:t>print(obj1.a) </a:t>
            </a:r>
            <a:endParaRPr lang="en-US"/>
          </a:p>
          <a:p>
            <a:pPr marL="0" indent="0">
              <a:buNone/>
            </a:pPr>
            <a:r>
              <a:rPr lang="en-US">
                <a:ea typeface="+mn-lt"/>
                <a:cs typeface="+mn-lt"/>
              </a:rPr>
              <a:t># Uncommenting print(obj1.c) will  raise an </a:t>
            </a:r>
            <a:r>
              <a:rPr lang="en-US" err="1">
                <a:ea typeface="+mn-lt"/>
                <a:cs typeface="+mn-lt"/>
              </a:rPr>
              <a:t>AttributeError</a:t>
            </a:r>
            <a:r>
              <a:rPr lang="en-US">
                <a:ea typeface="+mn-lt"/>
                <a:cs typeface="+mn-lt"/>
              </a:rPr>
              <a:t> </a:t>
            </a:r>
            <a:endParaRPr lang="en-US"/>
          </a:p>
          <a:p>
            <a:pPr marL="0" indent="0">
              <a:buNone/>
            </a:pPr>
            <a:r>
              <a:rPr lang="en-US">
                <a:ea typeface="+mn-lt"/>
                <a:cs typeface="+mn-lt"/>
              </a:rPr>
              <a:t># Uncommenting obj2 = Derived() will  also raise an </a:t>
            </a:r>
            <a:r>
              <a:rPr lang="en-US" err="1">
                <a:ea typeface="+mn-lt"/>
                <a:cs typeface="+mn-lt"/>
              </a:rPr>
              <a:t>AttributeError</a:t>
            </a:r>
            <a:r>
              <a:rPr lang="en-US">
                <a:ea typeface="+mn-lt"/>
                <a:cs typeface="+mn-lt"/>
              </a:rPr>
              <a:t> as  private member of base class is called inside derived class </a:t>
            </a:r>
            <a:endParaRPr lang="en-US"/>
          </a:p>
          <a:p>
            <a:endParaRPr lang="en-US"/>
          </a:p>
        </p:txBody>
      </p:sp>
      <p:sp>
        <p:nvSpPr>
          <p:cNvPr id="2" name="Footer Placeholder 1">
            <a:extLst>
              <a:ext uri="{FF2B5EF4-FFF2-40B4-BE49-F238E27FC236}">
                <a16:creationId xmlns:a16="http://schemas.microsoft.com/office/drawing/2014/main" id="{96F05453-5025-0D4C-B171-83DC5875689F}"/>
              </a:ext>
            </a:extLst>
          </p:cNvPr>
          <p:cNvSpPr>
            <a:spLocks noGrp="1"/>
          </p:cNvSpPr>
          <p:nvPr>
            <p:ph type="ftr" sz="quarter" idx="11"/>
          </p:nvPr>
        </p:nvSpPr>
        <p:spPr/>
        <p:txBody>
          <a:bodyPr/>
          <a:lstStyle/>
          <a:p>
            <a:r>
              <a:rPr lang="en-US"/>
              <a:t>Ms. ALF. Sajeetha</a:t>
            </a:r>
          </a:p>
        </p:txBody>
      </p:sp>
      <p:sp>
        <p:nvSpPr>
          <p:cNvPr id="4" name="Slide Number Placeholder 3">
            <a:extLst>
              <a:ext uri="{FF2B5EF4-FFF2-40B4-BE49-F238E27FC236}">
                <a16:creationId xmlns:a16="http://schemas.microsoft.com/office/drawing/2014/main" id="{BA764E51-B711-A373-6763-312FE9FF7657}"/>
              </a:ext>
            </a:extLst>
          </p:cNvPr>
          <p:cNvSpPr>
            <a:spLocks noGrp="1"/>
          </p:cNvSpPr>
          <p:nvPr>
            <p:ph type="sldNum" sz="quarter" idx="12"/>
          </p:nvPr>
        </p:nvSpPr>
        <p:spPr/>
        <p:txBody>
          <a:bodyPr/>
          <a:lstStyle/>
          <a:p>
            <a:fld id="{48F63A3B-78C7-47BE-AE5E-E10140E04643}" type="slidenum">
              <a:rPr lang="en-US" dirty="0"/>
              <a:t>29</a:t>
            </a:fld>
            <a:endParaRPr lang="en-US"/>
          </a:p>
        </p:txBody>
      </p:sp>
    </p:spTree>
    <p:extLst>
      <p:ext uri="{BB962C8B-B14F-4D97-AF65-F5344CB8AC3E}">
        <p14:creationId xmlns:p14="http://schemas.microsoft.com/office/powerpoint/2010/main" val="29131687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4222A-F3BB-F6E8-7097-A44B0B13EF21}"/>
              </a:ext>
            </a:extLst>
          </p:cNvPr>
          <p:cNvSpPr>
            <a:spLocks noGrp="1"/>
          </p:cNvSpPr>
          <p:nvPr>
            <p:ph type="title"/>
          </p:nvPr>
        </p:nvSpPr>
        <p:spPr/>
        <p:txBody>
          <a:bodyPr/>
          <a:lstStyle/>
          <a:p>
            <a:endParaRPr lang="en-US"/>
          </a:p>
        </p:txBody>
      </p:sp>
      <p:pic>
        <p:nvPicPr>
          <p:cNvPr id="4" name="Content Placeholder 3" descr="A screenshot of a computer program&#10;&#10;Description automatically generated">
            <a:extLst>
              <a:ext uri="{FF2B5EF4-FFF2-40B4-BE49-F238E27FC236}">
                <a16:creationId xmlns:a16="http://schemas.microsoft.com/office/drawing/2014/main" id="{48E273ED-9EE0-09B4-0B99-F96A29669898}"/>
              </a:ext>
            </a:extLst>
          </p:cNvPr>
          <p:cNvPicPr>
            <a:picLocks noGrp="1" noChangeAspect="1"/>
          </p:cNvPicPr>
          <p:nvPr>
            <p:ph idx="1"/>
          </p:nvPr>
        </p:nvPicPr>
        <p:blipFill>
          <a:blip r:embed="rId2"/>
          <a:stretch>
            <a:fillRect/>
          </a:stretch>
        </p:blipFill>
        <p:spPr>
          <a:xfrm>
            <a:off x="833803" y="183569"/>
            <a:ext cx="6530364" cy="6256338"/>
          </a:xfrm>
        </p:spPr>
      </p:pic>
      <p:sp>
        <p:nvSpPr>
          <p:cNvPr id="3" name="Footer Placeholder 2">
            <a:extLst>
              <a:ext uri="{FF2B5EF4-FFF2-40B4-BE49-F238E27FC236}">
                <a16:creationId xmlns:a16="http://schemas.microsoft.com/office/drawing/2014/main" id="{ADBDAE46-9CDC-5DAD-B400-6FC58C25F579}"/>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AA924A79-4AF1-790C-3417-B03E9544DF80}"/>
              </a:ext>
            </a:extLst>
          </p:cNvPr>
          <p:cNvSpPr>
            <a:spLocks noGrp="1"/>
          </p:cNvSpPr>
          <p:nvPr>
            <p:ph type="sldNum" sz="quarter" idx="12"/>
          </p:nvPr>
        </p:nvSpPr>
        <p:spPr/>
        <p:txBody>
          <a:bodyPr/>
          <a:lstStyle/>
          <a:p>
            <a:fld id="{48F63A3B-78C7-47BE-AE5E-E10140E04643}" type="slidenum">
              <a:rPr lang="en-US" dirty="0"/>
              <a:t>30</a:t>
            </a:fld>
            <a:endParaRPr lang="en-US"/>
          </a:p>
        </p:txBody>
      </p:sp>
    </p:spTree>
    <p:extLst>
      <p:ext uri="{BB962C8B-B14F-4D97-AF65-F5344CB8AC3E}">
        <p14:creationId xmlns:p14="http://schemas.microsoft.com/office/powerpoint/2010/main" val="7110375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0C9B3-3DDA-8D7F-3D07-6FB67D8DF81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A6216A4-5EC9-34C8-95A8-CE8B55044E07}"/>
              </a:ext>
            </a:extLst>
          </p:cNvPr>
          <p:cNvSpPr>
            <a:spLocks noGrp="1"/>
          </p:cNvSpPr>
          <p:nvPr>
            <p:ph idx="1"/>
          </p:nvPr>
        </p:nvSpPr>
        <p:spPr/>
        <p:txBody>
          <a:bodyPr vert="horz" lIns="91440" tIns="45720" rIns="91440" bIns="45720" rtlCol="0" anchor="t">
            <a:normAutofit/>
          </a:bodyPr>
          <a:lstStyle/>
          <a:p>
            <a:endParaRPr lang="en-US"/>
          </a:p>
          <a:p>
            <a:r>
              <a:rPr lang="en-US"/>
              <a:t>We used __</a:t>
            </a:r>
            <a:r>
              <a:rPr lang="en-US" err="1"/>
              <a:t>init</a:t>
            </a:r>
            <a:r>
              <a:rPr lang="en-US"/>
              <a:t>__() method to store the maximum selling price of Computer. We tried to modify the price. However, we can't change it because Python treats the __</a:t>
            </a:r>
            <a:r>
              <a:rPr lang="en-US" err="1"/>
              <a:t>maxprice</a:t>
            </a:r>
            <a:r>
              <a:rPr lang="en-US"/>
              <a:t> as private attributes.</a:t>
            </a:r>
          </a:p>
          <a:p>
            <a:r>
              <a:rPr lang="en-US"/>
              <a:t>As shown, to change the value, we have to use a setter function </a:t>
            </a:r>
            <a:r>
              <a:rPr lang="en-US" err="1"/>
              <a:t>i.e</a:t>
            </a:r>
            <a:r>
              <a:rPr lang="en-US"/>
              <a:t> </a:t>
            </a:r>
            <a:r>
              <a:rPr lang="en-US" err="1"/>
              <a:t>setMaxPrice</a:t>
            </a:r>
            <a:r>
              <a:rPr lang="en-US"/>
              <a:t>() which takes price as a parameter.</a:t>
            </a:r>
          </a:p>
          <a:p>
            <a:endParaRPr lang="en-US"/>
          </a:p>
        </p:txBody>
      </p:sp>
      <p:sp>
        <p:nvSpPr>
          <p:cNvPr id="4" name="Footer Placeholder 3">
            <a:extLst>
              <a:ext uri="{FF2B5EF4-FFF2-40B4-BE49-F238E27FC236}">
                <a16:creationId xmlns:a16="http://schemas.microsoft.com/office/drawing/2014/main" id="{B84CA100-2ED8-6FAD-37A9-541121F0B58F}"/>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0AB6B684-48E2-EB67-D848-E6CE8962FB72}"/>
              </a:ext>
            </a:extLst>
          </p:cNvPr>
          <p:cNvSpPr>
            <a:spLocks noGrp="1"/>
          </p:cNvSpPr>
          <p:nvPr>
            <p:ph type="sldNum" sz="quarter" idx="12"/>
          </p:nvPr>
        </p:nvSpPr>
        <p:spPr/>
        <p:txBody>
          <a:bodyPr/>
          <a:lstStyle/>
          <a:p>
            <a:fld id="{48F63A3B-78C7-47BE-AE5E-E10140E04643}" type="slidenum">
              <a:rPr lang="en-US" dirty="0"/>
              <a:t>31</a:t>
            </a:fld>
            <a:endParaRPr lang="en-US"/>
          </a:p>
        </p:txBody>
      </p:sp>
    </p:spTree>
    <p:extLst>
      <p:ext uri="{BB962C8B-B14F-4D97-AF65-F5344CB8AC3E}">
        <p14:creationId xmlns:p14="http://schemas.microsoft.com/office/powerpoint/2010/main" val="37448536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52822-191E-5D4B-56EB-15922397E546}"/>
              </a:ext>
            </a:extLst>
          </p:cNvPr>
          <p:cNvSpPr>
            <a:spLocks noGrp="1"/>
          </p:cNvSpPr>
          <p:nvPr>
            <p:ph type="title"/>
          </p:nvPr>
        </p:nvSpPr>
        <p:spPr/>
        <p:txBody>
          <a:bodyPr/>
          <a:lstStyle/>
          <a:p>
            <a:endParaRPr lang="en-US"/>
          </a:p>
        </p:txBody>
      </p:sp>
      <p:pic>
        <p:nvPicPr>
          <p:cNvPr id="4" name="Content Placeholder 3" descr="A screenshot of a computer program&#10;&#10;Description automatically generated">
            <a:extLst>
              <a:ext uri="{FF2B5EF4-FFF2-40B4-BE49-F238E27FC236}">
                <a16:creationId xmlns:a16="http://schemas.microsoft.com/office/drawing/2014/main" id="{8F676FD5-E0E4-16B1-EE5B-85174986366E}"/>
              </a:ext>
            </a:extLst>
          </p:cNvPr>
          <p:cNvPicPr>
            <a:picLocks noGrp="1" noChangeAspect="1"/>
          </p:cNvPicPr>
          <p:nvPr>
            <p:ph idx="1"/>
          </p:nvPr>
        </p:nvPicPr>
        <p:blipFill>
          <a:blip r:embed="rId3"/>
          <a:stretch>
            <a:fillRect/>
          </a:stretch>
        </p:blipFill>
        <p:spPr>
          <a:xfrm>
            <a:off x="980161" y="178360"/>
            <a:ext cx="7889648" cy="6323573"/>
          </a:xfrm>
        </p:spPr>
      </p:pic>
      <p:sp>
        <p:nvSpPr>
          <p:cNvPr id="3" name="Footer Placeholder 2">
            <a:extLst>
              <a:ext uri="{FF2B5EF4-FFF2-40B4-BE49-F238E27FC236}">
                <a16:creationId xmlns:a16="http://schemas.microsoft.com/office/drawing/2014/main" id="{A675E612-9F87-8054-0E32-37C7C14A3CC8}"/>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7833A138-CF56-F037-C0ED-2D0B0A0ADACC}"/>
              </a:ext>
            </a:extLst>
          </p:cNvPr>
          <p:cNvSpPr>
            <a:spLocks noGrp="1"/>
          </p:cNvSpPr>
          <p:nvPr>
            <p:ph type="sldNum" sz="quarter" idx="12"/>
          </p:nvPr>
        </p:nvSpPr>
        <p:spPr/>
        <p:txBody>
          <a:bodyPr/>
          <a:lstStyle/>
          <a:p>
            <a:fld id="{48F63A3B-78C7-47BE-AE5E-E10140E04643}" type="slidenum">
              <a:rPr lang="en-US" dirty="0"/>
              <a:t>32</a:t>
            </a:fld>
            <a:endParaRPr lang="en-US"/>
          </a:p>
        </p:txBody>
      </p:sp>
    </p:spTree>
    <p:extLst>
      <p:ext uri="{BB962C8B-B14F-4D97-AF65-F5344CB8AC3E}">
        <p14:creationId xmlns:p14="http://schemas.microsoft.com/office/powerpoint/2010/main" val="28777745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63583" y="1477685"/>
            <a:ext cx="4640923" cy="4732992"/>
          </a:xfrm>
          <a:prstGeom prst="rect">
            <a:avLst/>
          </a:prstGeom>
        </p:spPr>
      </p:pic>
      <p:pic>
        <p:nvPicPr>
          <p:cNvPr id="5" name="Picture 4"/>
          <p:cNvPicPr>
            <a:picLocks noChangeAspect="1"/>
          </p:cNvPicPr>
          <p:nvPr/>
        </p:nvPicPr>
        <p:blipFill>
          <a:blip r:embed="rId3"/>
          <a:stretch>
            <a:fillRect/>
          </a:stretch>
        </p:blipFill>
        <p:spPr>
          <a:xfrm>
            <a:off x="5727340" y="1479116"/>
            <a:ext cx="5544223" cy="4722507"/>
          </a:xfrm>
          <a:prstGeom prst="rect">
            <a:avLst/>
          </a:prstGeom>
        </p:spPr>
      </p:pic>
      <p:sp>
        <p:nvSpPr>
          <p:cNvPr id="6" name="Footer Placeholder 5">
            <a:extLst>
              <a:ext uri="{FF2B5EF4-FFF2-40B4-BE49-F238E27FC236}">
                <a16:creationId xmlns:a16="http://schemas.microsoft.com/office/drawing/2014/main" id="{3A5C2FFE-D191-9D45-00C4-BB2AEE974598}"/>
              </a:ext>
            </a:extLst>
          </p:cNvPr>
          <p:cNvSpPr>
            <a:spLocks noGrp="1"/>
          </p:cNvSpPr>
          <p:nvPr>
            <p:ph type="ftr" sz="quarter" idx="11"/>
          </p:nvPr>
        </p:nvSpPr>
        <p:spPr/>
        <p:txBody>
          <a:bodyPr/>
          <a:lstStyle/>
          <a:p>
            <a:r>
              <a:rPr lang="en-US"/>
              <a:t>Ms. ALF. Sajeetha</a:t>
            </a:r>
          </a:p>
        </p:txBody>
      </p:sp>
      <p:sp>
        <p:nvSpPr>
          <p:cNvPr id="7" name="Slide Number Placeholder 6">
            <a:extLst>
              <a:ext uri="{FF2B5EF4-FFF2-40B4-BE49-F238E27FC236}">
                <a16:creationId xmlns:a16="http://schemas.microsoft.com/office/drawing/2014/main" id="{ADA7DD10-1B9C-586F-374F-2730AB70F4AA}"/>
              </a:ext>
            </a:extLst>
          </p:cNvPr>
          <p:cNvSpPr>
            <a:spLocks noGrp="1"/>
          </p:cNvSpPr>
          <p:nvPr>
            <p:ph type="sldNum" sz="quarter" idx="12"/>
          </p:nvPr>
        </p:nvSpPr>
        <p:spPr/>
        <p:txBody>
          <a:bodyPr/>
          <a:lstStyle/>
          <a:p>
            <a:fld id="{48F63A3B-78C7-47BE-AE5E-E10140E04643}" type="slidenum">
              <a:rPr lang="en-US" dirty="0"/>
              <a:t>33</a:t>
            </a:fld>
            <a:endParaRPr lang="en-US"/>
          </a:p>
        </p:txBody>
      </p:sp>
    </p:spTree>
    <p:extLst>
      <p:ext uri="{BB962C8B-B14F-4D97-AF65-F5344CB8AC3E}">
        <p14:creationId xmlns:p14="http://schemas.microsoft.com/office/powerpoint/2010/main" val="39862450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5219" y="3086255"/>
            <a:ext cx="5674816" cy="686126"/>
          </a:xfrm>
          <a:prstGeom prst="rect">
            <a:avLst/>
          </a:prstGeom>
        </p:spPr>
        <p:txBody>
          <a:bodyPr vert="horz" wrap="square" lIns="0" tIns="8930" rIns="0" bIns="0" rtlCol="0">
            <a:spAutoFit/>
          </a:bodyPr>
          <a:lstStyle/>
          <a:p>
            <a:pPr marL="8890">
              <a:lnSpc>
                <a:spcPct val="100000"/>
              </a:lnSpc>
              <a:spcBef>
                <a:spcPts val="70"/>
              </a:spcBef>
            </a:pPr>
            <a:r>
              <a:rPr>
                <a:solidFill>
                  <a:srgbClr val="FF7B00"/>
                </a:solidFill>
              </a:rPr>
              <a:t>Naming </a:t>
            </a:r>
            <a:r>
              <a:rPr spc="-7">
                <a:solidFill>
                  <a:srgbClr val="FF7B00"/>
                </a:solidFill>
              </a:rPr>
              <a:t>Encapsulations</a:t>
            </a:r>
            <a:endParaRPr lang="en-US">
              <a:solidFill>
                <a:srgbClr val="FF7B00"/>
              </a:solidFill>
            </a:endParaRPr>
          </a:p>
        </p:txBody>
      </p:sp>
      <p:sp>
        <p:nvSpPr>
          <p:cNvPr id="3" name="Footer Placeholder 2">
            <a:extLst>
              <a:ext uri="{FF2B5EF4-FFF2-40B4-BE49-F238E27FC236}">
                <a16:creationId xmlns:a16="http://schemas.microsoft.com/office/drawing/2014/main" id="{8017448C-0FCC-5E02-2690-B4656249FAE6}"/>
              </a:ext>
            </a:extLst>
          </p:cNvPr>
          <p:cNvSpPr>
            <a:spLocks noGrp="1"/>
          </p:cNvSpPr>
          <p:nvPr>
            <p:ph type="ftr" sz="quarter" idx="11"/>
          </p:nvPr>
        </p:nvSpPr>
        <p:spPr/>
        <p:txBody>
          <a:bodyPr/>
          <a:lstStyle/>
          <a:p>
            <a:r>
              <a:rPr lang="en-US"/>
              <a:t>Ms. ALF. Sajeetha</a:t>
            </a:r>
          </a:p>
        </p:txBody>
      </p:sp>
      <p:sp>
        <p:nvSpPr>
          <p:cNvPr id="4" name="Slide Number Placeholder 3">
            <a:extLst>
              <a:ext uri="{FF2B5EF4-FFF2-40B4-BE49-F238E27FC236}">
                <a16:creationId xmlns:a16="http://schemas.microsoft.com/office/drawing/2014/main" id="{5F16F0D6-DC9B-991A-F9AE-0859C0A31133}"/>
              </a:ext>
            </a:extLst>
          </p:cNvPr>
          <p:cNvSpPr>
            <a:spLocks noGrp="1"/>
          </p:cNvSpPr>
          <p:nvPr>
            <p:ph type="sldNum" sz="quarter" idx="12"/>
          </p:nvPr>
        </p:nvSpPr>
        <p:spPr/>
        <p:txBody>
          <a:bodyPr/>
          <a:lstStyle/>
          <a:p>
            <a:fld id="{48F63A3B-78C7-47BE-AE5E-E10140E04643}" type="slidenum">
              <a:rPr lang="en-US" dirty="0"/>
              <a:t>34</a:t>
            </a:fld>
            <a:endParaRPr lang="en-US"/>
          </a:p>
        </p:txBody>
      </p:sp>
    </p:spTree>
    <p:extLst>
      <p:ext uri="{BB962C8B-B14F-4D97-AF65-F5344CB8AC3E}">
        <p14:creationId xmlns:p14="http://schemas.microsoft.com/office/powerpoint/2010/main" val="35043251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684843"/>
            <a:ext cx="10515600" cy="686126"/>
          </a:xfrm>
          <a:prstGeom prst="rect">
            <a:avLst/>
          </a:prstGeom>
        </p:spPr>
        <p:txBody>
          <a:bodyPr vert="horz" wrap="square" lIns="0" tIns="8930" rIns="0" bIns="0" rtlCol="0">
            <a:spAutoFit/>
          </a:bodyPr>
          <a:lstStyle/>
          <a:p>
            <a:pPr marL="1581785">
              <a:lnSpc>
                <a:spcPct val="100000"/>
              </a:lnSpc>
              <a:spcBef>
                <a:spcPts val="70"/>
              </a:spcBef>
            </a:pPr>
            <a:r>
              <a:rPr b="1" spc="70"/>
              <a:t>Naming</a:t>
            </a:r>
            <a:r>
              <a:rPr b="1" spc="14"/>
              <a:t> </a:t>
            </a:r>
            <a:r>
              <a:rPr b="1" spc="74"/>
              <a:t>Encapsulations</a:t>
            </a:r>
            <a:endParaRPr lang="en-US"/>
          </a:p>
        </p:txBody>
      </p:sp>
      <p:sp>
        <p:nvSpPr>
          <p:cNvPr id="3" name="object 3"/>
          <p:cNvSpPr txBox="1"/>
          <p:nvPr/>
        </p:nvSpPr>
        <p:spPr>
          <a:xfrm>
            <a:off x="1166909" y="1696396"/>
            <a:ext cx="10022469" cy="4451399"/>
          </a:xfrm>
          <a:prstGeom prst="rect">
            <a:avLst/>
          </a:prstGeom>
        </p:spPr>
        <p:txBody>
          <a:bodyPr vert="horz" wrap="square" lIns="0" tIns="11609" rIns="0" bIns="0" rtlCol="0">
            <a:spAutoFit/>
          </a:bodyPr>
          <a:lstStyle/>
          <a:p>
            <a:pPr marL="274132" marR="163854" indent="-256273">
              <a:lnSpc>
                <a:spcPct val="100000"/>
              </a:lnSpc>
              <a:spcBef>
                <a:spcPts val="91"/>
              </a:spcBef>
              <a:buSzPct val="146153"/>
              <a:buChar char="•"/>
              <a:tabLst>
                <a:tab pos="274132" algn="l"/>
              </a:tabLst>
            </a:pPr>
            <a:r>
              <a:rPr sz="2285" spc="-18">
                <a:solidFill>
                  <a:srgbClr val="FFFFFF"/>
                </a:solidFill>
                <a:latin typeface="Arial MT"/>
                <a:cs typeface="Arial MT"/>
              </a:rPr>
              <a:t>There</a:t>
            </a:r>
            <a:r>
              <a:rPr sz="2285" spc="25">
                <a:solidFill>
                  <a:srgbClr val="FFFFFF"/>
                </a:solidFill>
                <a:latin typeface="Arial MT"/>
                <a:cs typeface="Arial MT"/>
              </a:rPr>
              <a:t> </a:t>
            </a:r>
            <a:r>
              <a:rPr sz="2285">
                <a:solidFill>
                  <a:srgbClr val="FFFFFF"/>
                </a:solidFill>
                <a:latin typeface="Arial MT"/>
                <a:cs typeface="Arial MT"/>
              </a:rPr>
              <a:t>is</a:t>
            </a:r>
            <a:r>
              <a:rPr sz="2285" spc="32">
                <a:solidFill>
                  <a:srgbClr val="FFFFFF"/>
                </a:solidFill>
                <a:latin typeface="Arial MT"/>
                <a:cs typeface="Arial MT"/>
              </a:rPr>
              <a:t> </a:t>
            </a:r>
            <a:r>
              <a:rPr sz="2285">
                <a:solidFill>
                  <a:srgbClr val="FFFFFF"/>
                </a:solidFill>
                <a:latin typeface="Arial MT"/>
                <a:cs typeface="Arial MT"/>
              </a:rPr>
              <a:t>another</a:t>
            </a:r>
            <a:r>
              <a:rPr sz="2285" spc="32">
                <a:solidFill>
                  <a:srgbClr val="FFFFFF"/>
                </a:solidFill>
                <a:latin typeface="Arial MT"/>
                <a:cs typeface="Arial MT"/>
              </a:rPr>
              <a:t> </a:t>
            </a:r>
            <a:r>
              <a:rPr sz="2285">
                <a:solidFill>
                  <a:srgbClr val="FFFFFF"/>
                </a:solidFill>
                <a:latin typeface="Arial MT"/>
                <a:cs typeface="Arial MT"/>
              </a:rPr>
              <a:t>kind</a:t>
            </a:r>
            <a:r>
              <a:rPr sz="2285" spc="32">
                <a:solidFill>
                  <a:srgbClr val="FFFFFF"/>
                </a:solidFill>
                <a:latin typeface="Arial MT"/>
                <a:cs typeface="Arial MT"/>
              </a:rPr>
              <a:t> </a:t>
            </a:r>
            <a:r>
              <a:rPr sz="2285" spc="46">
                <a:solidFill>
                  <a:srgbClr val="FFFFFF"/>
                </a:solidFill>
                <a:latin typeface="Arial MT"/>
                <a:cs typeface="Arial MT"/>
              </a:rPr>
              <a:t>of</a:t>
            </a:r>
            <a:r>
              <a:rPr sz="2285" spc="32">
                <a:solidFill>
                  <a:srgbClr val="FFFFFF"/>
                </a:solidFill>
                <a:latin typeface="Arial MT"/>
                <a:cs typeface="Arial MT"/>
              </a:rPr>
              <a:t> </a:t>
            </a:r>
            <a:r>
              <a:rPr sz="2285">
                <a:solidFill>
                  <a:srgbClr val="FFFFFF"/>
                </a:solidFill>
                <a:latin typeface="Arial MT"/>
                <a:cs typeface="Arial MT"/>
              </a:rPr>
              <a:t>encapsulation</a:t>
            </a:r>
            <a:r>
              <a:rPr sz="2285" spc="32">
                <a:solidFill>
                  <a:srgbClr val="FFFFFF"/>
                </a:solidFill>
                <a:latin typeface="Arial MT"/>
                <a:cs typeface="Arial MT"/>
              </a:rPr>
              <a:t> </a:t>
            </a:r>
            <a:r>
              <a:rPr sz="2285" spc="35">
                <a:solidFill>
                  <a:srgbClr val="FFFFFF"/>
                </a:solidFill>
                <a:latin typeface="Arial MT"/>
                <a:cs typeface="Arial MT"/>
              </a:rPr>
              <a:t>that</a:t>
            </a:r>
            <a:r>
              <a:rPr sz="2285" spc="32">
                <a:solidFill>
                  <a:srgbClr val="FFFFFF"/>
                </a:solidFill>
                <a:latin typeface="Arial MT"/>
                <a:cs typeface="Arial MT"/>
              </a:rPr>
              <a:t> </a:t>
            </a:r>
            <a:r>
              <a:rPr sz="2285">
                <a:solidFill>
                  <a:srgbClr val="FFFFFF"/>
                </a:solidFill>
                <a:latin typeface="Arial MT"/>
                <a:cs typeface="Arial MT"/>
              </a:rPr>
              <a:t>is</a:t>
            </a:r>
            <a:r>
              <a:rPr sz="2285" spc="35">
                <a:solidFill>
                  <a:srgbClr val="FFFFFF"/>
                </a:solidFill>
                <a:latin typeface="Arial MT"/>
                <a:cs typeface="Arial MT"/>
              </a:rPr>
              <a:t> </a:t>
            </a:r>
            <a:r>
              <a:rPr sz="2285" spc="-7">
                <a:solidFill>
                  <a:srgbClr val="FFFFFF"/>
                </a:solidFill>
                <a:latin typeface="Arial MT"/>
                <a:cs typeface="Arial MT"/>
              </a:rPr>
              <a:t>necessary </a:t>
            </a:r>
            <a:r>
              <a:rPr sz="2285">
                <a:solidFill>
                  <a:srgbClr val="FFFFFF"/>
                </a:solidFill>
                <a:latin typeface="Arial MT"/>
                <a:cs typeface="Arial MT"/>
              </a:rPr>
              <a:t>for</a:t>
            </a:r>
            <a:r>
              <a:rPr sz="2285" spc="35">
                <a:solidFill>
                  <a:srgbClr val="FFFFFF"/>
                </a:solidFill>
                <a:latin typeface="Arial MT"/>
                <a:cs typeface="Arial MT"/>
              </a:rPr>
              <a:t> </a:t>
            </a:r>
            <a:r>
              <a:rPr sz="2285" spc="39">
                <a:solidFill>
                  <a:srgbClr val="FFFFFF"/>
                </a:solidFill>
                <a:latin typeface="Arial MT"/>
                <a:cs typeface="Arial MT"/>
              </a:rPr>
              <a:t>constructing</a:t>
            </a:r>
            <a:r>
              <a:rPr sz="2285" spc="42">
                <a:solidFill>
                  <a:srgbClr val="FFFFFF"/>
                </a:solidFill>
                <a:latin typeface="Arial MT"/>
                <a:cs typeface="Arial MT"/>
              </a:rPr>
              <a:t> </a:t>
            </a:r>
            <a:r>
              <a:rPr sz="2285">
                <a:solidFill>
                  <a:srgbClr val="FFFFFF"/>
                </a:solidFill>
                <a:latin typeface="Arial MT"/>
                <a:cs typeface="Arial MT"/>
              </a:rPr>
              <a:t>large</a:t>
            </a:r>
            <a:r>
              <a:rPr sz="2285" spc="39">
                <a:solidFill>
                  <a:srgbClr val="FFFFFF"/>
                </a:solidFill>
                <a:latin typeface="Arial MT"/>
                <a:cs typeface="Arial MT"/>
              </a:rPr>
              <a:t> </a:t>
            </a:r>
            <a:r>
              <a:rPr sz="2285">
                <a:solidFill>
                  <a:srgbClr val="FFFFFF"/>
                </a:solidFill>
                <a:latin typeface="Arial MT"/>
                <a:cs typeface="Arial MT"/>
              </a:rPr>
              <a:t>programs:</a:t>
            </a:r>
            <a:r>
              <a:rPr sz="2285" spc="42">
                <a:solidFill>
                  <a:srgbClr val="FFFFFF"/>
                </a:solidFill>
                <a:latin typeface="Arial MT"/>
                <a:cs typeface="Arial MT"/>
              </a:rPr>
              <a:t> </a:t>
            </a:r>
            <a:r>
              <a:rPr sz="2285">
                <a:solidFill>
                  <a:srgbClr val="FF9300"/>
                </a:solidFill>
                <a:latin typeface="Arial MT"/>
                <a:cs typeface="Arial MT"/>
              </a:rPr>
              <a:t>naming</a:t>
            </a:r>
            <a:r>
              <a:rPr sz="2285" spc="42">
                <a:solidFill>
                  <a:srgbClr val="FF9300"/>
                </a:solidFill>
                <a:latin typeface="Arial MT"/>
                <a:cs typeface="Arial MT"/>
              </a:rPr>
              <a:t> </a:t>
            </a:r>
            <a:r>
              <a:rPr sz="2285" spc="-7">
                <a:solidFill>
                  <a:srgbClr val="FF9300"/>
                </a:solidFill>
                <a:latin typeface="Arial MT"/>
                <a:cs typeface="Arial MT"/>
              </a:rPr>
              <a:t>encapsulation</a:t>
            </a:r>
            <a:r>
              <a:rPr sz="2285" spc="-7">
                <a:solidFill>
                  <a:srgbClr val="FFFFFF"/>
                </a:solidFill>
                <a:latin typeface="Arial MT"/>
                <a:cs typeface="Arial MT"/>
              </a:rPr>
              <a:t>.</a:t>
            </a:r>
            <a:endParaRPr sz="2285">
              <a:latin typeface="Arial MT"/>
              <a:cs typeface="Arial MT"/>
            </a:endParaRPr>
          </a:p>
          <a:p>
            <a:pPr marL="274132" marR="291544" indent="-256273">
              <a:lnSpc>
                <a:spcPct val="100000"/>
              </a:lnSpc>
              <a:spcBef>
                <a:spcPts val="2421"/>
              </a:spcBef>
              <a:buSzPct val="146153"/>
              <a:buChar char="•"/>
              <a:tabLst>
                <a:tab pos="274132" algn="l"/>
              </a:tabLst>
            </a:pPr>
            <a:r>
              <a:rPr sz="2285">
                <a:solidFill>
                  <a:srgbClr val="FFFFFF"/>
                </a:solidFill>
                <a:latin typeface="Arial MT"/>
                <a:cs typeface="Arial MT"/>
              </a:rPr>
              <a:t>A</a:t>
            </a:r>
            <a:r>
              <a:rPr sz="2285" spc="18">
                <a:solidFill>
                  <a:srgbClr val="FFFFFF"/>
                </a:solidFill>
                <a:latin typeface="Arial MT"/>
                <a:cs typeface="Arial MT"/>
              </a:rPr>
              <a:t> </a:t>
            </a:r>
            <a:r>
              <a:rPr sz="2285">
                <a:solidFill>
                  <a:srgbClr val="FFFFFF"/>
                </a:solidFill>
                <a:latin typeface="Arial MT"/>
                <a:cs typeface="Arial MT"/>
              </a:rPr>
              <a:t>large</a:t>
            </a:r>
            <a:r>
              <a:rPr sz="2285" spc="25">
                <a:solidFill>
                  <a:srgbClr val="FFFFFF"/>
                </a:solidFill>
                <a:latin typeface="Arial MT"/>
                <a:cs typeface="Arial MT"/>
              </a:rPr>
              <a:t> </a:t>
            </a:r>
            <a:r>
              <a:rPr sz="2285">
                <a:solidFill>
                  <a:srgbClr val="FFFFFF"/>
                </a:solidFill>
                <a:latin typeface="Arial MT"/>
                <a:cs typeface="Arial MT"/>
              </a:rPr>
              <a:t>program</a:t>
            </a:r>
            <a:r>
              <a:rPr sz="2285" spc="21">
                <a:solidFill>
                  <a:srgbClr val="FFFFFF"/>
                </a:solidFill>
                <a:latin typeface="Arial MT"/>
                <a:cs typeface="Arial MT"/>
              </a:rPr>
              <a:t> </a:t>
            </a:r>
            <a:r>
              <a:rPr sz="2285">
                <a:solidFill>
                  <a:srgbClr val="FFFFFF"/>
                </a:solidFill>
                <a:latin typeface="Arial MT"/>
                <a:cs typeface="Arial MT"/>
              </a:rPr>
              <a:t>is</a:t>
            </a:r>
            <a:r>
              <a:rPr sz="2285" spc="25">
                <a:solidFill>
                  <a:srgbClr val="FFFFFF"/>
                </a:solidFill>
                <a:latin typeface="Arial MT"/>
                <a:cs typeface="Arial MT"/>
              </a:rPr>
              <a:t> </a:t>
            </a:r>
            <a:r>
              <a:rPr sz="2285">
                <a:solidFill>
                  <a:srgbClr val="FFFFFF"/>
                </a:solidFill>
                <a:latin typeface="Arial MT"/>
                <a:cs typeface="Arial MT"/>
              </a:rPr>
              <a:t>usually</a:t>
            </a:r>
            <a:r>
              <a:rPr sz="2285" spc="25">
                <a:solidFill>
                  <a:srgbClr val="FFFFFF"/>
                </a:solidFill>
                <a:latin typeface="Arial MT"/>
                <a:cs typeface="Arial MT"/>
              </a:rPr>
              <a:t> </a:t>
            </a:r>
            <a:r>
              <a:rPr sz="2285">
                <a:solidFill>
                  <a:srgbClr val="FFFFFF"/>
                </a:solidFill>
                <a:latin typeface="Arial MT"/>
                <a:cs typeface="Arial MT"/>
              </a:rPr>
              <a:t>written</a:t>
            </a:r>
            <a:r>
              <a:rPr sz="2285" spc="21">
                <a:solidFill>
                  <a:srgbClr val="FFFFFF"/>
                </a:solidFill>
                <a:latin typeface="Arial MT"/>
                <a:cs typeface="Arial MT"/>
              </a:rPr>
              <a:t> </a:t>
            </a:r>
            <a:r>
              <a:rPr sz="2285" spc="46">
                <a:solidFill>
                  <a:srgbClr val="FFFFFF"/>
                </a:solidFill>
                <a:latin typeface="Arial MT"/>
                <a:cs typeface="Arial MT"/>
              </a:rPr>
              <a:t>by</a:t>
            </a:r>
            <a:r>
              <a:rPr sz="2285" spc="25">
                <a:solidFill>
                  <a:srgbClr val="FFFFFF"/>
                </a:solidFill>
                <a:latin typeface="Arial MT"/>
                <a:cs typeface="Arial MT"/>
              </a:rPr>
              <a:t> </a:t>
            </a:r>
            <a:r>
              <a:rPr sz="2285">
                <a:solidFill>
                  <a:srgbClr val="FF9300"/>
                </a:solidFill>
                <a:latin typeface="Arial MT"/>
                <a:cs typeface="Arial MT"/>
              </a:rPr>
              <a:t>many</a:t>
            </a:r>
            <a:r>
              <a:rPr sz="2285" spc="28">
                <a:solidFill>
                  <a:srgbClr val="FF9300"/>
                </a:solidFill>
                <a:latin typeface="Arial MT"/>
                <a:cs typeface="Arial MT"/>
              </a:rPr>
              <a:t> </a:t>
            </a:r>
            <a:r>
              <a:rPr sz="2285" spc="-7">
                <a:solidFill>
                  <a:srgbClr val="FF9300"/>
                </a:solidFill>
                <a:latin typeface="Arial MT"/>
                <a:cs typeface="Arial MT"/>
              </a:rPr>
              <a:t>developers</a:t>
            </a:r>
            <a:r>
              <a:rPr sz="2285" spc="-7">
                <a:solidFill>
                  <a:srgbClr val="FFFFFF"/>
                </a:solidFill>
                <a:latin typeface="Arial MT"/>
                <a:cs typeface="Arial MT"/>
              </a:rPr>
              <a:t>, </a:t>
            </a:r>
            <a:r>
              <a:rPr sz="2285">
                <a:solidFill>
                  <a:srgbClr val="FFFFFF"/>
                </a:solidFill>
                <a:latin typeface="Arial MT"/>
                <a:cs typeface="Arial MT"/>
              </a:rPr>
              <a:t>working</a:t>
            </a:r>
            <a:r>
              <a:rPr sz="2285" spc="239">
                <a:solidFill>
                  <a:srgbClr val="FFFFFF"/>
                </a:solidFill>
                <a:latin typeface="Arial MT"/>
                <a:cs typeface="Arial MT"/>
              </a:rPr>
              <a:t> </a:t>
            </a:r>
            <a:r>
              <a:rPr sz="2285" spc="-7">
                <a:solidFill>
                  <a:srgbClr val="FFFFFF"/>
                </a:solidFill>
                <a:latin typeface="Arial MT"/>
                <a:cs typeface="Arial MT"/>
              </a:rPr>
              <a:t>independently.</a:t>
            </a:r>
            <a:endParaRPr sz="2285">
              <a:latin typeface="Arial MT"/>
              <a:cs typeface="Arial MT"/>
            </a:endParaRPr>
          </a:p>
          <a:p>
            <a:pPr marL="274132" marR="868828" indent="-256273">
              <a:lnSpc>
                <a:spcPct val="100000"/>
              </a:lnSpc>
              <a:spcBef>
                <a:spcPts val="2419"/>
              </a:spcBef>
              <a:buSzPct val="146153"/>
              <a:buChar char="•"/>
              <a:tabLst>
                <a:tab pos="274132" algn="l"/>
              </a:tabLst>
            </a:pPr>
            <a:r>
              <a:rPr sz="2285">
                <a:solidFill>
                  <a:srgbClr val="FFFFFF"/>
                </a:solidFill>
                <a:latin typeface="Arial MT"/>
                <a:cs typeface="Arial MT"/>
              </a:rPr>
              <a:t>This</a:t>
            </a:r>
            <a:r>
              <a:rPr sz="2285" spc="39">
                <a:solidFill>
                  <a:srgbClr val="FFFFFF"/>
                </a:solidFill>
                <a:latin typeface="Arial MT"/>
                <a:cs typeface="Arial MT"/>
              </a:rPr>
              <a:t> </a:t>
            </a:r>
            <a:r>
              <a:rPr sz="2285">
                <a:solidFill>
                  <a:srgbClr val="FFFFFF"/>
                </a:solidFill>
                <a:latin typeface="Arial MT"/>
                <a:cs typeface="Arial MT"/>
              </a:rPr>
              <a:t>requires</a:t>
            </a:r>
            <a:r>
              <a:rPr sz="2285" spc="35">
                <a:solidFill>
                  <a:srgbClr val="FFFFFF"/>
                </a:solidFill>
                <a:latin typeface="Arial MT"/>
                <a:cs typeface="Arial MT"/>
              </a:rPr>
              <a:t> </a:t>
            </a:r>
            <a:r>
              <a:rPr sz="2285">
                <a:solidFill>
                  <a:srgbClr val="FFFFFF"/>
                </a:solidFill>
                <a:latin typeface="Arial MT"/>
                <a:cs typeface="Arial MT"/>
              </a:rPr>
              <a:t>the</a:t>
            </a:r>
            <a:r>
              <a:rPr sz="2285" spc="39">
                <a:solidFill>
                  <a:srgbClr val="FFFFFF"/>
                </a:solidFill>
                <a:latin typeface="Arial MT"/>
                <a:cs typeface="Arial MT"/>
              </a:rPr>
              <a:t> </a:t>
            </a:r>
            <a:r>
              <a:rPr sz="2285">
                <a:solidFill>
                  <a:srgbClr val="FF9300"/>
                </a:solidFill>
                <a:latin typeface="Arial MT"/>
                <a:cs typeface="Arial MT"/>
              </a:rPr>
              <a:t>logical</a:t>
            </a:r>
            <a:r>
              <a:rPr sz="2285" spc="35">
                <a:solidFill>
                  <a:srgbClr val="FF9300"/>
                </a:solidFill>
                <a:latin typeface="Arial MT"/>
                <a:cs typeface="Arial MT"/>
              </a:rPr>
              <a:t> </a:t>
            </a:r>
            <a:r>
              <a:rPr sz="2285">
                <a:solidFill>
                  <a:srgbClr val="FF9300"/>
                </a:solidFill>
                <a:latin typeface="Arial MT"/>
                <a:cs typeface="Arial MT"/>
              </a:rPr>
              <a:t>units</a:t>
            </a:r>
            <a:r>
              <a:rPr sz="2285" spc="35">
                <a:solidFill>
                  <a:srgbClr val="FF9300"/>
                </a:solidFill>
                <a:latin typeface="Arial MT"/>
                <a:cs typeface="Arial MT"/>
              </a:rPr>
              <a:t> </a:t>
            </a:r>
            <a:r>
              <a:rPr sz="2285" spc="46">
                <a:solidFill>
                  <a:srgbClr val="FFFFFF"/>
                </a:solidFill>
                <a:latin typeface="Arial MT"/>
                <a:cs typeface="Arial MT"/>
              </a:rPr>
              <a:t>of</a:t>
            </a:r>
            <a:r>
              <a:rPr sz="2285" spc="39">
                <a:solidFill>
                  <a:srgbClr val="FFFFFF"/>
                </a:solidFill>
                <a:latin typeface="Arial MT"/>
                <a:cs typeface="Arial MT"/>
              </a:rPr>
              <a:t> </a:t>
            </a:r>
            <a:r>
              <a:rPr sz="2285">
                <a:solidFill>
                  <a:srgbClr val="FFFFFF"/>
                </a:solidFill>
                <a:latin typeface="Arial MT"/>
                <a:cs typeface="Arial MT"/>
              </a:rPr>
              <a:t>the</a:t>
            </a:r>
            <a:r>
              <a:rPr sz="2285" spc="39">
                <a:solidFill>
                  <a:srgbClr val="FFFFFF"/>
                </a:solidFill>
                <a:latin typeface="Arial MT"/>
                <a:cs typeface="Arial MT"/>
              </a:rPr>
              <a:t> </a:t>
            </a:r>
            <a:r>
              <a:rPr sz="2285">
                <a:solidFill>
                  <a:srgbClr val="FFFFFF"/>
                </a:solidFill>
                <a:latin typeface="Arial MT"/>
                <a:cs typeface="Arial MT"/>
              </a:rPr>
              <a:t>program</a:t>
            </a:r>
            <a:r>
              <a:rPr sz="2285" spc="35">
                <a:solidFill>
                  <a:srgbClr val="FFFFFF"/>
                </a:solidFill>
                <a:latin typeface="Arial MT"/>
                <a:cs typeface="Arial MT"/>
              </a:rPr>
              <a:t> </a:t>
            </a:r>
            <a:r>
              <a:rPr sz="2285" spc="63">
                <a:solidFill>
                  <a:srgbClr val="FFFFFF"/>
                </a:solidFill>
                <a:latin typeface="Arial MT"/>
                <a:cs typeface="Arial MT"/>
              </a:rPr>
              <a:t>to</a:t>
            </a:r>
            <a:r>
              <a:rPr sz="2285" spc="35">
                <a:solidFill>
                  <a:srgbClr val="FFFFFF"/>
                </a:solidFill>
                <a:latin typeface="Arial MT"/>
                <a:cs typeface="Arial MT"/>
              </a:rPr>
              <a:t> </a:t>
            </a:r>
            <a:r>
              <a:rPr sz="2285" spc="-18">
                <a:solidFill>
                  <a:srgbClr val="FFFFFF"/>
                </a:solidFill>
                <a:latin typeface="Arial MT"/>
                <a:cs typeface="Arial MT"/>
              </a:rPr>
              <a:t>be </a:t>
            </a:r>
            <a:r>
              <a:rPr sz="2285">
                <a:solidFill>
                  <a:srgbClr val="FF9300"/>
                </a:solidFill>
                <a:latin typeface="Arial MT"/>
                <a:cs typeface="Arial MT"/>
              </a:rPr>
              <a:t>independent</a:t>
            </a:r>
            <a:r>
              <a:rPr sz="2285">
                <a:solidFill>
                  <a:srgbClr val="FFFFFF"/>
                </a:solidFill>
                <a:latin typeface="Arial MT"/>
                <a:cs typeface="Arial MT"/>
              </a:rPr>
              <a:t>,</a:t>
            </a:r>
            <a:r>
              <a:rPr sz="2285" spc="67">
                <a:solidFill>
                  <a:srgbClr val="FFFFFF"/>
                </a:solidFill>
                <a:latin typeface="Arial MT"/>
                <a:cs typeface="Arial MT"/>
              </a:rPr>
              <a:t> </a:t>
            </a:r>
            <a:r>
              <a:rPr sz="2285">
                <a:solidFill>
                  <a:srgbClr val="FFFFFF"/>
                </a:solidFill>
                <a:latin typeface="Arial MT"/>
                <a:cs typeface="Arial MT"/>
              </a:rPr>
              <a:t>while</a:t>
            </a:r>
            <a:r>
              <a:rPr sz="2285" spc="77">
                <a:solidFill>
                  <a:srgbClr val="FFFFFF"/>
                </a:solidFill>
                <a:latin typeface="Arial MT"/>
                <a:cs typeface="Arial MT"/>
              </a:rPr>
              <a:t> </a:t>
            </a:r>
            <a:r>
              <a:rPr sz="2285">
                <a:solidFill>
                  <a:srgbClr val="FFFFFF"/>
                </a:solidFill>
                <a:latin typeface="Arial MT"/>
                <a:cs typeface="Arial MT"/>
              </a:rPr>
              <a:t>still</a:t>
            </a:r>
            <a:r>
              <a:rPr sz="2285" spc="74">
                <a:solidFill>
                  <a:srgbClr val="FFFFFF"/>
                </a:solidFill>
                <a:latin typeface="Arial MT"/>
                <a:cs typeface="Arial MT"/>
              </a:rPr>
              <a:t> </a:t>
            </a:r>
            <a:r>
              <a:rPr sz="2285">
                <a:solidFill>
                  <a:srgbClr val="FFFFFF"/>
                </a:solidFill>
                <a:latin typeface="Arial MT"/>
                <a:cs typeface="Arial MT"/>
              </a:rPr>
              <a:t>able</a:t>
            </a:r>
            <a:r>
              <a:rPr sz="2285" spc="74">
                <a:solidFill>
                  <a:srgbClr val="FFFFFF"/>
                </a:solidFill>
                <a:latin typeface="Arial MT"/>
                <a:cs typeface="Arial MT"/>
              </a:rPr>
              <a:t> </a:t>
            </a:r>
            <a:r>
              <a:rPr sz="2285" spc="63">
                <a:solidFill>
                  <a:srgbClr val="FFFFFF"/>
                </a:solidFill>
                <a:latin typeface="Arial MT"/>
                <a:cs typeface="Arial MT"/>
              </a:rPr>
              <a:t>to</a:t>
            </a:r>
            <a:r>
              <a:rPr sz="2285" spc="74">
                <a:solidFill>
                  <a:srgbClr val="FFFFFF"/>
                </a:solidFill>
                <a:latin typeface="Arial MT"/>
                <a:cs typeface="Arial MT"/>
              </a:rPr>
              <a:t> </a:t>
            </a:r>
            <a:r>
              <a:rPr sz="2285" spc="46">
                <a:solidFill>
                  <a:srgbClr val="FF9300"/>
                </a:solidFill>
                <a:latin typeface="Arial MT"/>
                <a:cs typeface="Arial MT"/>
              </a:rPr>
              <a:t>work</a:t>
            </a:r>
            <a:r>
              <a:rPr sz="2285" spc="77">
                <a:solidFill>
                  <a:srgbClr val="FF9300"/>
                </a:solidFill>
                <a:latin typeface="Arial MT"/>
                <a:cs typeface="Arial MT"/>
              </a:rPr>
              <a:t> </a:t>
            </a:r>
            <a:r>
              <a:rPr sz="2285" spc="-7">
                <a:solidFill>
                  <a:srgbClr val="FF9300"/>
                </a:solidFill>
                <a:latin typeface="Arial MT"/>
                <a:cs typeface="Arial MT"/>
              </a:rPr>
              <a:t>together</a:t>
            </a:r>
            <a:r>
              <a:rPr sz="2285" spc="-7">
                <a:solidFill>
                  <a:srgbClr val="FFFFFF"/>
                </a:solidFill>
                <a:latin typeface="Arial MT"/>
                <a:cs typeface="Arial MT"/>
              </a:rPr>
              <a:t>.</a:t>
            </a:r>
            <a:endParaRPr sz="2285">
              <a:latin typeface="Arial MT"/>
              <a:cs typeface="Arial MT"/>
            </a:endParaRPr>
          </a:p>
          <a:p>
            <a:pPr marL="274132" marR="12501" indent="-256273">
              <a:lnSpc>
                <a:spcPct val="100000"/>
              </a:lnSpc>
              <a:spcBef>
                <a:spcPts val="2422"/>
              </a:spcBef>
              <a:buSzPct val="146153"/>
              <a:buChar char="•"/>
              <a:tabLst>
                <a:tab pos="274132" algn="l"/>
              </a:tabLst>
            </a:pPr>
            <a:r>
              <a:rPr sz="2285">
                <a:solidFill>
                  <a:srgbClr val="FFFFFF"/>
                </a:solidFill>
                <a:latin typeface="Arial MT"/>
                <a:cs typeface="Arial MT"/>
              </a:rPr>
              <a:t>It</a:t>
            </a:r>
            <a:r>
              <a:rPr sz="2285" spc="39">
                <a:solidFill>
                  <a:srgbClr val="FFFFFF"/>
                </a:solidFill>
                <a:latin typeface="Arial MT"/>
                <a:cs typeface="Arial MT"/>
              </a:rPr>
              <a:t> </a:t>
            </a:r>
            <a:r>
              <a:rPr sz="2285">
                <a:solidFill>
                  <a:srgbClr val="FFFFFF"/>
                </a:solidFill>
                <a:latin typeface="Arial MT"/>
                <a:cs typeface="Arial MT"/>
              </a:rPr>
              <a:t>also</a:t>
            </a:r>
            <a:r>
              <a:rPr sz="2285" spc="42">
                <a:solidFill>
                  <a:srgbClr val="FFFFFF"/>
                </a:solidFill>
                <a:latin typeface="Arial MT"/>
                <a:cs typeface="Arial MT"/>
              </a:rPr>
              <a:t> </a:t>
            </a:r>
            <a:r>
              <a:rPr sz="2285">
                <a:solidFill>
                  <a:srgbClr val="FFFFFF"/>
                </a:solidFill>
                <a:latin typeface="Arial MT"/>
                <a:cs typeface="Arial MT"/>
              </a:rPr>
              <a:t>creates</a:t>
            </a:r>
            <a:r>
              <a:rPr sz="2285" spc="39">
                <a:solidFill>
                  <a:srgbClr val="FFFFFF"/>
                </a:solidFill>
                <a:latin typeface="Arial MT"/>
                <a:cs typeface="Arial MT"/>
              </a:rPr>
              <a:t> </a:t>
            </a:r>
            <a:r>
              <a:rPr sz="2285">
                <a:solidFill>
                  <a:srgbClr val="FFFFFF"/>
                </a:solidFill>
                <a:latin typeface="Arial MT"/>
                <a:cs typeface="Arial MT"/>
              </a:rPr>
              <a:t>a</a:t>
            </a:r>
            <a:r>
              <a:rPr sz="2285" spc="42">
                <a:solidFill>
                  <a:srgbClr val="FFFFFF"/>
                </a:solidFill>
                <a:latin typeface="Arial MT"/>
                <a:cs typeface="Arial MT"/>
              </a:rPr>
              <a:t> </a:t>
            </a:r>
            <a:r>
              <a:rPr sz="2285">
                <a:solidFill>
                  <a:srgbClr val="FF9300"/>
                </a:solidFill>
                <a:latin typeface="Arial MT"/>
                <a:cs typeface="Arial MT"/>
              </a:rPr>
              <a:t>naming</a:t>
            </a:r>
            <a:r>
              <a:rPr sz="2285" spc="39">
                <a:solidFill>
                  <a:srgbClr val="FF9300"/>
                </a:solidFill>
                <a:latin typeface="Arial MT"/>
                <a:cs typeface="Arial MT"/>
              </a:rPr>
              <a:t> </a:t>
            </a:r>
            <a:r>
              <a:rPr sz="2285">
                <a:solidFill>
                  <a:srgbClr val="FF9300"/>
                </a:solidFill>
                <a:latin typeface="Arial MT"/>
                <a:cs typeface="Arial MT"/>
              </a:rPr>
              <a:t>problem</a:t>
            </a:r>
            <a:r>
              <a:rPr sz="2285">
                <a:solidFill>
                  <a:srgbClr val="FFFFFF"/>
                </a:solidFill>
                <a:latin typeface="Arial MT"/>
                <a:cs typeface="Arial MT"/>
              </a:rPr>
              <a:t>:</a:t>
            </a:r>
            <a:r>
              <a:rPr sz="2285" spc="39">
                <a:solidFill>
                  <a:srgbClr val="FFFFFF"/>
                </a:solidFill>
                <a:latin typeface="Arial MT"/>
                <a:cs typeface="Arial MT"/>
              </a:rPr>
              <a:t> </a:t>
            </a:r>
            <a:r>
              <a:rPr sz="2285" spc="46">
                <a:solidFill>
                  <a:srgbClr val="FFFFFF"/>
                </a:solidFill>
                <a:latin typeface="Arial MT"/>
                <a:cs typeface="Arial MT"/>
              </a:rPr>
              <a:t>How</a:t>
            </a:r>
            <a:r>
              <a:rPr sz="2285" spc="39">
                <a:solidFill>
                  <a:srgbClr val="FFFFFF"/>
                </a:solidFill>
                <a:latin typeface="Arial MT"/>
                <a:cs typeface="Arial MT"/>
              </a:rPr>
              <a:t> </a:t>
            </a:r>
            <a:r>
              <a:rPr sz="2285" spc="-18">
                <a:solidFill>
                  <a:srgbClr val="FFFFFF"/>
                </a:solidFill>
                <a:latin typeface="Arial MT"/>
                <a:cs typeface="Arial MT"/>
              </a:rPr>
              <a:t>can</a:t>
            </a:r>
            <a:r>
              <a:rPr sz="2285" spc="570">
                <a:solidFill>
                  <a:srgbClr val="FFFFFF"/>
                </a:solidFill>
                <a:latin typeface="Arial MT"/>
                <a:cs typeface="Arial MT"/>
              </a:rPr>
              <a:t> </a:t>
            </a:r>
            <a:r>
              <a:rPr sz="2285">
                <a:solidFill>
                  <a:srgbClr val="FFFFFF"/>
                </a:solidFill>
                <a:latin typeface="Arial MT"/>
                <a:cs typeface="Arial MT"/>
              </a:rPr>
              <a:t>independently</a:t>
            </a:r>
            <a:r>
              <a:rPr sz="2285" spc="116">
                <a:solidFill>
                  <a:srgbClr val="FFFFFF"/>
                </a:solidFill>
                <a:latin typeface="Arial MT"/>
                <a:cs typeface="Arial MT"/>
              </a:rPr>
              <a:t> </a:t>
            </a:r>
            <a:r>
              <a:rPr sz="2285">
                <a:solidFill>
                  <a:srgbClr val="FFFFFF"/>
                </a:solidFill>
                <a:latin typeface="Arial MT"/>
                <a:cs typeface="Arial MT"/>
              </a:rPr>
              <a:t>working</a:t>
            </a:r>
            <a:r>
              <a:rPr sz="2285" spc="127">
                <a:solidFill>
                  <a:srgbClr val="FFFFFF"/>
                </a:solidFill>
                <a:latin typeface="Arial MT"/>
                <a:cs typeface="Arial MT"/>
              </a:rPr>
              <a:t> </a:t>
            </a:r>
            <a:r>
              <a:rPr sz="2285">
                <a:solidFill>
                  <a:srgbClr val="FFFFFF"/>
                </a:solidFill>
                <a:latin typeface="Arial MT"/>
                <a:cs typeface="Arial MT"/>
              </a:rPr>
              <a:t>developers</a:t>
            </a:r>
            <a:r>
              <a:rPr sz="2285" spc="123">
                <a:solidFill>
                  <a:srgbClr val="FFFFFF"/>
                </a:solidFill>
                <a:latin typeface="Arial MT"/>
                <a:cs typeface="Arial MT"/>
              </a:rPr>
              <a:t> </a:t>
            </a:r>
            <a:r>
              <a:rPr sz="2285">
                <a:solidFill>
                  <a:srgbClr val="FF9300"/>
                </a:solidFill>
                <a:latin typeface="Arial MT"/>
                <a:cs typeface="Arial MT"/>
              </a:rPr>
              <a:t>create</a:t>
            </a:r>
            <a:r>
              <a:rPr sz="2285" spc="123">
                <a:solidFill>
                  <a:srgbClr val="FF9300"/>
                </a:solidFill>
                <a:latin typeface="Arial MT"/>
                <a:cs typeface="Arial MT"/>
              </a:rPr>
              <a:t> </a:t>
            </a:r>
            <a:r>
              <a:rPr sz="2285">
                <a:solidFill>
                  <a:srgbClr val="FF9300"/>
                </a:solidFill>
                <a:latin typeface="Arial MT"/>
                <a:cs typeface="Arial MT"/>
              </a:rPr>
              <a:t>names</a:t>
            </a:r>
            <a:r>
              <a:rPr sz="2285" spc="123">
                <a:solidFill>
                  <a:srgbClr val="FF9300"/>
                </a:solidFill>
                <a:latin typeface="Arial MT"/>
                <a:cs typeface="Arial MT"/>
              </a:rPr>
              <a:t> </a:t>
            </a:r>
            <a:r>
              <a:rPr sz="2285">
                <a:solidFill>
                  <a:srgbClr val="FFFFFF"/>
                </a:solidFill>
                <a:latin typeface="Arial MT"/>
                <a:cs typeface="Arial MT"/>
              </a:rPr>
              <a:t>for</a:t>
            </a:r>
            <a:r>
              <a:rPr sz="2285" spc="127">
                <a:solidFill>
                  <a:srgbClr val="FFFFFF"/>
                </a:solidFill>
                <a:latin typeface="Arial MT"/>
                <a:cs typeface="Arial MT"/>
              </a:rPr>
              <a:t> </a:t>
            </a:r>
            <a:r>
              <a:rPr sz="2285" spc="-7">
                <a:solidFill>
                  <a:srgbClr val="FFFFFF"/>
                </a:solidFill>
                <a:latin typeface="Arial MT"/>
                <a:cs typeface="Arial MT"/>
              </a:rPr>
              <a:t>their </a:t>
            </a:r>
            <a:r>
              <a:rPr sz="2285">
                <a:solidFill>
                  <a:srgbClr val="FF9300"/>
                </a:solidFill>
                <a:latin typeface="Arial MT"/>
                <a:cs typeface="Arial MT"/>
              </a:rPr>
              <a:t>variables,</a:t>
            </a:r>
            <a:r>
              <a:rPr sz="2285" spc="14">
                <a:solidFill>
                  <a:srgbClr val="FF9300"/>
                </a:solidFill>
                <a:latin typeface="Arial MT"/>
                <a:cs typeface="Arial MT"/>
              </a:rPr>
              <a:t> </a:t>
            </a:r>
            <a:r>
              <a:rPr sz="2285" spc="35">
                <a:solidFill>
                  <a:srgbClr val="FF9300"/>
                </a:solidFill>
                <a:latin typeface="Arial MT"/>
                <a:cs typeface="Arial MT"/>
              </a:rPr>
              <a:t>methods,</a:t>
            </a:r>
            <a:r>
              <a:rPr sz="2285" spc="14">
                <a:solidFill>
                  <a:srgbClr val="FF9300"/>
                </a:solidFill>
                <a:latin typeface="Arial MT"/>
                <a:cs typeface="Arial MT"/>
              </a:rPr>
              <a:t> </a:t>
            </a:r>
            <a:r>
              <a:rPr sz="2285">
                <a:solidFill>
                  <a:srgbClr val="FF9300"/>
                </a:solidFill>
                <a:latin typeface="Arial MT"/>
                <a:cs typeface="Arial MT"/>
              </a:rPr>
              <a:t>and</a:t>
            </a:r>
            <a:r>
              <a:rPr sz="2285" spc="18">
                <a:solidFill>
                  <a:srgbClr val="FF9300"/>
                </a:solidFill>
                <a:latin typeface="Arial MT"/>
                <a:cs typeface="Arial MT"/>
              </a:rPr>
              <a:t> </a:t>
            </a:r>
            <a:r>
              <a:rPr sz="2285">
                <a:solidFill>
                  <a:srgbClr val="FF9300"/>
                </a:solidFill>
                <a:latin typeface="Arial MT"/>
                <a:cs typeface="Arial MT"/>
              </a:rPr>
              <a:t>classes</a:t>
            </a:r>
            <a:r>
              <a:rPr sz="2285" spc="14">
                <a:solidFill>
                  <a:srgbClr val="FF9300"/>
                </a:solidFill>
                <a:latin typeface="Arial MT"/>
                <a:cs typeface="Arial MT"/>
              </a:rPr>
              <a:t> </a:t>
            </a:r>
            <a:r>
              <a:rPr sz="2285" spc="39">
                <a:solidFill>
                  <a:srgbClr val="FFFFFF"/>
                </a:solidFill>
                <a:latin typeface="Arial MT"/>
                <a:cs typeface="Arial MT"/>
              </a:rPr>
              <a:t>without</a:t>
            </a:r>
            <a:r>
              <a:rPr sz="2285" spc="14">
                <a:solidFill>
                  <a:srgbClr val="FFFFFF"/>
                </a:solidFill>
                <a:latin typeface="Arial MT"/>
                <a:cs typeface="Arial MT"/>
              </a:rPr>
              <a:t> </a:t>
            </a:r>
            <a:r>
              <a:rPr sz="2285" spc="-7">
                <a:solidFill>
                  <a:srgbClr val="FFFFFF"/>
                </a:solidFill>
                <a:latin typeface="Arial MT"/>
                <a:cs typeface="Arial MT"/>
              </a:rPr>
              <a:t>accidentally </a:t>
            </a:r>
            <a:r>
              <a:rPr sz="2285">
                <a:solidFill>
                  <a:srgbClr val="FFFFFF"/>
                </a:solidFill>
                <a:latin typeface="Arial MT"/>
                <a:cs typeface="Arial MT"/>
              </a:rPr>
              <a:t>using</a:t>
            </a:r>
            <a:r>
              <a:rPr sz="2285" spc="7">
                <a:solidFill>
                  <a:srgbClr val="FFFFFF"/>
                </a:solidFill>
                <a:latin typeface="Arial MT"/>
                <a:cs typeface="Arial MT"/>
              </a:rPr>
              <a:t> </a:t>
            </a:r>
            <a:r>
              <a:rPr sz="2285">
                <a:solidFill>
                  <a:srgbClr val="FF9300"/>
                </a:solidFill>
                <a:latin typeface="Arial MT"/>
                <a:cs typeface="Arial MT"/>
              </a:rPr>
              <a:t>names</a:t>
            </a:r>
            <a:r>
              <a:rPr sz="2285" spc="14">
                <a:solidFill>
                  <a:srgbClr val="FF9300"/>
                </a:solidFill>
                <a:latin typeface="Arial MT"/>
                <a:cs typeface="Arial MT"/>
              </a:rPr>
              <a:t> </a:t>
            </a:r>
            <a:r>
              <a:rPr sz="2285">
                <a:solidFill>
                  <a:srgbClr val="FF9300"/>
                </a:solidFill>
                <a:latin typeface="Arial MT"/>
                <a:cs typeface="Arial MT"/>
              </a:rPr>
              <a:t>already</a:t>
            </a:r>
            <a:r>
              <a:rPr sz="2285" spc="18">
                <a:solidFill>
                  <a:srgbClr val="FF9300"/>
                </a:solidFill>
                <a:latin typeface="Arial MT"/>
                <a:cs typeface="Arial MT"/>
              </a:rPr>
              <a:t> </a:t>
            </a:r>
            <a:r>
              <a:rPr sz="2285">
                <a:solidFill>
                  <a:srgbClr val="FF9300"/>
                </a:solidFill>
                <a:latin typeface="Arial MT"/>
                <a:cs typeface="Arial MT"/>
              </a:rPr>
              <a:t>in</a:t>
            </a:r>
            <a:r>
              <a:rPr sz="2285" spc="14">
                <a:solidFill>
                  <a:srgbClr val="FF9300"/>
                </a:solidFill>
                <a:latin typeface="Arial MT"/>
                <a:cs typeface="Arial MT"/>
              </a:rPr>
              <a:t> </a:t>
            </a:r>
            <a:r>
              <a:rPr sz="2285">
                <a:solidFill>
                  <a:srgbClr val="FF9300"/>
                </a:solidFill>
                <a:latin typeface="Arial MT"/>
                <a:cs typeface="Arial MT"/>
              </a:rPr>
              <a:t>use</a:t>
            </a:r>
            <a:r>
              <a:rPr sz="2285" spc="14">
                <a:solidFill>
                  <a:srgbClr val="FF9300"/>
                </a:solidFill>
                <a:latin typeface="Arial MT"/>
                <a:cs typeface="Arial MT"/>
              </a:rPr>
              <a:t> </a:t>
            </a:r>
            <a:r>
              <a:rPr sz="2285" spc="46">
                <a:solidFill>
                  <a:srgbClr val="FFFFFF"/>
                </a:solidFill>
                <a:latin typeface="Arial MT"/>
                <a:cs typeface="Arial MT"/>
              </a:rPr>
              <a:t>by</a:t>
            </a:r>
            <a:r>
              <a:rPr sz="2285" spc="14">
                <a:solidFill>
                  <a:srgbClr val="FFFFFF"/>
                </a:solidFill>
                <a:latin typeface="Arial MT"/>
                <a:cs typeface="Arial MT"/>
              </a:rPr>
              <a:t> </a:t>
            </a:r>
            <a:r>
              <a:rPr sz="2285">
                <a:solidFill>
                  <a:srgbClr val="FFFFFF"/>
                </a:solidFill>
                <a:latin typeface="Arial MT"/>
                <a:cs typeface="Arial MT"/>
              </a:rPr>
              <a:t>some</a:t>
            </a:r>
            <a:r>
              <a:rPr sz="2285" spc="14">
                <a:solidFill>
                  <a:srgbClr val="FFFFFF"/>
                </a:solidFill>
                <a:latin typeface="Arial MT"/>
                <a:cs typeface="Arial MT"/>
              </a:rPr>
              <a:t> </a:t>
            </a:r>
            <a:r>
              <a:rPr sz="2285">
                <a:solidFill>
                  <a:srgbClr val="FFFFFF"/>
                </a:solidFill>
                <a:latin typeface="Arial MT"/>
                <a:cs typeface="Arial MT"/>
              </a:rPr>
              <a:t>other</a:t>
            </a:r>
            <a:r>
              <a:rPr sz="2285" spc="18">
                <a:solidFill>
                  <a:srgbClr val="FFFFFF"/>
                </a:solidFill>
                <a:latin typeface="Arial MT"/>
                <a:cs typeface="Arial MT"/>
              </a:rPr>
              <a:t> </a:t>
            </a:r>
            <a:r>
              <a:rPr sz="2285" spc="-7">
                <a:solidFill>
                  <a:srgbClr val="FFFFFF"/>
                </a:solidFill>
                <a:latin typeface="Arial MT"/>
                <a:cs typeface="Arial MT"/>
              </a:rPr>
              <a:t>programmer </a:t>
            </a:r>
            <a:r>
              <a:rPr sz="2285">
                <a:solidFill>
                  <a:srgbClr val="FFFFFF"/>
                </a:solidFill>
                <a:latin typeface="Arial MT"/>
                <a:cs typeface="Arial MT"/>
              </a:rPr>
              <a:t>developing</a:t>
            </a:r>
            <a:r>
              <a:rPr sz="2285" spc="77">
                <a:solidFill>
                  <a:srgbClr val="FFFFFF"/>
                </a:solidFill>
                <a:latin typeface="Arial MT"/>
                <a:cs typeface="Arial MT"/>
              </a:rPr>
              <a:t> </a:t>
            </a:r>
            <a:r>
              <a:rPr sz="2285">
                <a:solidFill>
                  <a:srgbClr val="FFFFFF"/>
                </a:solidFill>
                <a:latin typeface="Arial MT"/>
                <a:cs typeface="Arial MT"/>
              </a:rPr>
              <a:t>a</a:t>
            </a:r>
            <a:r>
              <a:rPr sz="2285" spc="77">
                <a:solidFill>
                  <a:srgbClr val="FFFFFF"/>
                </a:solidFill>
                <a:latin typeface="Arial MT"/>
                <a:cs typeface="Arial MT"/>
              </a:rPr>
              <a:t> </a:t>
            </a:r>
            <a:r>
              <a:rPr sz="2285">
                <a:solidFill>
                  <a:srgbClr val="FFFFFF"/>
                </a:solidFill>
                <a:latin typeface="Arial MT"/>
                <a:cs typeface="Arial MT"/>
              </a:rPr>
              <a:t>different</a:t>
            </a:r>
            <a:r>
              <a:rPr sz="2285" spc="77">
                <a:solidFill>
                  <a:srgbClr val="FFFFFF"/>
                </a:solidFill>
                <a:latin typeface="Arial MT"/>
                <a:cs typeface="Arial MT"/>
              </a:rPr>
              <a:t> </a:t>
            </a:r>
            <a:r>
              <a:rPr sz="2285">
                <a:solidFill>
                  <a:srgbClr val="FFFFFF"/>
                </a:solidFill>
                <a:latin typeface="Arial MT"/>
                <a:cs typeface="Arial MT"/>
              </a:rPr>
              <a:t>part</a:t>
            </a:r>
            <a:r>
              <a:rPr sz="2285" spc="77">
                <a:solidFill>
                  <a:srgbClr val="FFFFFF"/>
                </a:solidFill>
                <a:latin typeface="Arial MT"/>
                <a:cs typeface="Arial MT"/>
              </a:rPr>
              <a:t> </a:t>
            </a:r>
            <a:r>
              <a:rPr sz="2285" spc="46">
                <a:solidFill>
                  <a:srgbClr val="FFFFFF"/>
                </a:solidFill>
                <a:latin typeface="Arial MT"/>
                <a:cs typeface="Arial MT"/>
              </a:rPr>
              <a:t>of</a:t>
            </a:r>
            <a:r>
              <a:rPr sz="2285" spc="74">
                <a:solidFill>
                  <a:srgbClr val="FFFFFF"/>
                </a:solidFill>
                <a:latin typeface="Arial MT"/>
                <a:cs typeface="Arial MT"/>
              </a:rPr>
              <a:t> </a:t>
            </a:r>
            <a:r>
              <a:rPr sz="2285">
                <a:solidFill>
                  <a:srgbClr val="FFFFFF"/>
                </a:solidFill>
                <a:latin typeface="Arial MT"/>
                <a:cs typeface="Arial MT"/>
              </a:rPr>
              <a:t>the</a:t>
            </a:r>
            <a:r>
              <a:rPr sz="2285" spc="77">
                <a:solidFill>
                  <a:srgbClr val="FFFFFF"/>
                </a:solidFill>
                <a:latin typeface="Arial MT"/>
                <a:cs typeface="Arial MT"/>
              </a:rPr>
              <a:t> </a:t>
            </a:r>
            <a:r>
              <a:rPr sz="2285">
                <a:solidFill>
                  <a:srgbClr val="FFFFFF"/>
                </a:solidFill>
                <a:latin typeface="Arial MT"/>
                <a:cs typeface="Arial MT"/>
              </a:rPr>
              <a:t>same</a:t>
            </a:r>
            <a:r>
              <a:rPr sz="2285" spc="77">
                <a:solidFill>
                  <a:srgbClr val="FFFFFF"/>
                </a:solidFill>
                <a:latin typeface="Arial MT"/>
                <a:cs typeface="Arial MT"/>
              </a:rPr>
              <a:t> </a:t>
            </a:r>
            <a:r>
              <a:rPr sz="2285">
                <a:solidFill>
                  <a:srgbClr val="FFFFFF"/>
                </a:solidFill>
                <a:latin typeface="Arial MT"/>
                <a:cs typeface="Arial MT"/>
              </a:rPr>
              <a:t>software</a:t>
            </a:r>
            <a:r>
              <a:rPr sz="2285" spc="77">
                <a:solidFill>
                  <a:srgbClr val="FFFFFF"/>
                </a:solidFill>
                <a:latin typeface="Arial MT"/>
                <a:cs typeface="Arial MT"/>
              </a:rPr>
              <a:t> </a:t>
            </a:r>
            <a:r>
              <a:rPr sz="2285" spc="-7">
                <a:solidFill>
                  <a:srgbClr val="FFFFFF"/>
                </a:solidFill>
                <a:latin typeface="Arial MT"/>
                <a:cs typeface="Arial MT"/>
              </a:rPr>
              <a:t>system.</a:t>
            </a:r>
            <a:endParaRPr sz="2285">
              <a:latin typeface="Arial MT"/>
              <a:cs typeface="Arial MT"/>
            </a:endParaRPr>
          </a:p>
        </p:txBody>
      </p:sp>
      <p:sp>
        <p:nvSpPr>
          <p:cNvPr id="4" name="Footer Placeholder 3">
            <a:extLst>
              <a:ext uri="{FF2B5EF4-FFF2-40B4-BE49-F238E27FC236}">
                <a16:creationId xmlns:a16="http://schemas.microsoft.com/office/drawing/2014/main" id="{99C82B4D-5A78-19D4-E8E3-6AE5DF663795}"/>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CEC9DEF8-0C4A-BA5C-46CD-CD441F3BCC78}"/>
              </a:ext>
            </a:extLst>
          </p:cNvPr>
          <p:cNvSpPr>
            <a:spLocks noGrp="1"/>
          </p:cNvSpPr>
          <p:nvPr>
            <p:ph type="sldNum" sz="quarter" idx="12"/>
          </p:nvPr>
        </p:nvSpPr>
        <p:spPr/>
        <p:txBody>
          <a:bodyPr/>
          <a:lstStyle/>
          <a:p>
            <a:fld id="{48F63A3B-78C7-47BE-AE5E-E10140E04643}" type="slidenum">
              <a:rPr lang="en-US" dirty="0"/>
              <a:t>35</a:t>
            </a:fld>
            <a:endParaRPr lang="en-US"/>
          </a:p>
        </p:txBody>
      </p:sp>
    </p:spTree>
    <p:extLst>
      <p:ext uri="{BB962C8B-B14F-4D97-AF65-F5344CB8AC3E}">
        <p14:creationId xmlns:p14="http://schemas.microsoft.com/office/powerpoint/2010/main" val="18812205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1582284">
              <a:lnSpc>
                <a:spcPct val="100000"/>
              </a:lnSpc>
              <a:spcBef>
                <a:spcPts val="70"/>
              </a:spcBef>
            </a:pPr>
            <a:r>
              <a:rPr spc="70"/>
              <a:t>Naming</a:t>
            </a:r>
            <a:r>
              <a:rPr spc="14"/>
              <a:t> </a:t>
            </a:r>
            <a:r>
              <a:rPr spc="74"/>
              <a:t>Encapsulations</a:t>
            </a:r>
          </a:p>
        </p:txBody>
      </p:sp>
      <p:sp>
        <p:nvSpPr>
          <p:cNvPr id="3" name="object 3"/>
          <p:cNvSpPr txBox="1"/>
          <p:nvPr/>
        </p:nvSpPr>
        <p:spPr>
          <a:xfrm>
            <a:off x="1031715" y="1396463"/>
            <a:ext cx="10319554" cy="4860946"/>
          </a:xfrm>
          <a:prstGeom prst="rect">
            <a:avLst/>
          </a:prstGeom>
        </p:spPr>
        <p:txBody>
          <a:bodyPr vert="horz" wrap="square" lIns="0" tIns="114300" rIns="0" bIns="0" rtlCol="0">
            <a:spAutoFit/>
          </a:bodyPr>
          <a:lstStyle/>
          <a:p>
            <a:pPr marL="242432" indent="-224574">
              <a:lnSpc>
                <a:spcPct val="100000"/>
              </a:lnSpc>
              <a:spcBef>
                <a:spcPts val="900"/>
              </a:spcBef>
              <a:buClr>
                <a:srgbClr val="FFFFFF"/>
              </a:buClr>
              <a:buSzPct val="145614"/>
              <a:buChar char="•"/>
              <a:tabLst>
                <a:tab pos="242432" algn="l"/>
              </a:tabLst>
            </a:pPr>
            <a:r>
              <a:rPr sz="2004">
                <a:solidFill>
                  <a:srgbClr val="FF9300"/>
                </a:solidFill>
                <a:latin typeface="Arial MT"/>
                <a:cs typeface="Arial MT"/>
              </a:rPr>
              <a:t>Libraries</a:t>
            </a:r>
            <a:r>
              <a:rPr sz="2004" spc="25">
                <a:solidFill>
                  <a:srgbClr val="FF9300"/>
                </a:solidFill>
                <a:latin typeface="Arial MT"/>
                <a:cs typeface="Arial MT"/>
              </a:rPr>
              <a:t> </a:t>
            </a:r>
            <a:r>
              <a:rPr sz="2004">
                <a:solidFill>
                  <a:srgbClr val="FFFFFF"/>
                </a:solidFill>
                <a:latin typeface="Arial MT"/>
                <a:cs typeface="Arial MT"/>
              </a:rPr>
              <a:t>are</a:t>
            </a:r>
            <a:r>
              <a:rPr sz="2004" spc="35">
                <a:solidFill>
                  <a:srgbClr val="FFFFFF"/>
                </a:solidFill>
                <a:latin typeface="Arial MT"/>
                <a:cs typeface="Arial MT"/>
              </a:rPr>
              <a:t> </a:t>
            </a:r>
            <a:r>
              <a:rPr sz="2004">
                <a:solidFill>
                  <a:srgbClr val="FFFFFF"/>
                </a:solidFill>
                <a:latin typeface="Arial MT"/>
                <a:cs typeface="Arial MT"/>
              </a:rPr>
              <a:t>the</a:t>
            </a:r>
            <a:r>
              <a:rPr sz="2004" spc="32">
                <a:solidFill>
                  <a:srgbClr val="FFFFFF"/>
                </a:solidFill>
                <a:latin typeface="Arial MT"/>
                <a:cs typeface="Arial MT"/>
              </a:rPr>
              <a:t> </a:t>
            </a:r>
            <a:r>
              <a:rPr sz="2004">
                <a:solidFill>
                  <a:srgbClr val="FFFFFF"/>
                </a:solidFill>
                <a:latin typeface="Arial MT"/>
                <a:cs typeface="Arial MT"/>
              </a:rPr>
              <a:t>origin</a:t>
            </a:r>
            <a:r>
              <a:rPr sz="2004" spc="32">
                <a:solidFill>
                  <a:srgbClr val="FFFFFF"/>
                </a:solidFill>
                <a:latin typeface="Arial MT"/>
                <a:cs typeface="Arial MT"/>
              </a:rPr>
              <a:t> </a:t>
            </a:r>
            <a:r>
              <a:rPr sz="2004" spc="39">
                <a:solidFill>
                  <a:srgbClr val="FFFFFF"/>
                </a:solidFill>
                <a:latin typeface="Arial MT"/>
                <a:cs typeface="Arial MT"/>
              </a:rPr>
              <a:t>of</a:t>
            </a:r>
            <a:r>
              <a:rPr sz="2004" spc="32">
                <a:solidFill>
                  <a:srgbClr val="FFFFFF"/>
                </a:solidFill>
                <a:latin typeface="Arial MT"/>
                <a:cs typeface="Arial MT"/>
              </a:rPr>
              <a:t> </a:t>
            </a:r>
            <a:r>
              <a:rPr sz="2004">
                <a:solidFill>
                  <a:srgbClr val="FFFFFF"/>
                </a:solidFill>
                <a:latin typeface="Arial MT"/>
                <a:cs typeface="Arial MT"/>
              </a:rPr>
              <a:t>the</a:t>
            </a:r>
            <a:r>
              <a:rPr sz="2004" spc="35">
                <a:solidFill>
                  <a:srgbClr val="FFFFFF"/>
                </a:solidFill>
                <a:latin typeface="Arial MT"/>
                <a:cs typeface="Arial MT"/>
              </a:rPr>
              <a:t> </a:t>
            </a:r>
            <a:r>
              <a:rPr sz="2004">
                <a:solidFill>
                  <a:srgbClr val="FFFFFF"/>
                </a:solidFill>
                <a:latin typeface="Arial MT"/>
                <a:cs typeface="Arial MT"/>
              </a:rPr>
              <a:t>same</a:t>
            </a:r>
            <a:r>
              <a:rPr sz="2004" spc="32">
                <a:solidFill>
                  <a:srgbClr val="FFFFFF"/>
                </a:solidFill>
                <a:latin typeface="Arial MT"/>
                <a:cs typeface="Arial MT"/>
              </a:rPr>
              <a:t> </a:t>
            </a:r>
            <a:r>
              <a:rPr sz="2004">
                <a:solidFill>
                  <a:srgbClr val="FFFFFF"/>
                </a:solidFill>
                <a:latin typeface="Arial MT"/>
                <a:cs typeface="Arial MT"/>
              </a:rPr>
              <a:t>kind</a:t>
            </a:r>
            <a:r>
              <a:rPr sz="2004" spc="32">
                <a:solidFill>
                  <a:srgbClr val="FFFFFF"/>
                </a:solidFill>
                <a:latin typeface="Arial MT"/>
                <a:cs typeface="Arial MT"/>
              </a:rPr>
              <a:t> </a:t>
            </a:r>
            <a:r>
              <a:rPr sz="2004" spc="39">
                <a:solidFill>
                  <a:srgbClr val="FFFFFF"/>
                </a:solidFill>
                <a:latin typeface="Arial MT"/>
                <a:cs typeface="Arial MT"/>
              </a:rPr>
              <a:t>of</a:t>
            </a:r>
            <a:r>
              <a:rPr sz="2004" spc="32">
                <a:solidFill>
                  <a:srgbClr val="FFFFFF"/>
                </a:solidFill>
                <a:latin typeface="Arial MT"/>
                <a:cs typeface="Arial MT"/>
              </a:rPr>
              <a:t> </a:t>
            </a:r>
            <a:r>
              <a:rPr sz="2004">
                <a:solidFill>
                  <a:srgbClr val="FFFFFF"/>
                </a:solidFill>
                <a:latin typeface="Arial MT"/>
                <a:cs typeface="Arial MT"/>
              </a:rPr>
              <a:t>naming</a:t>
            </a:r>
            <a:r>
              <a:rPr sz="2004" spc="35">
                <a:solidFill>
                  <a:srgbClr val="FFFFFF"/>
                </a:solidFill>
                <a:latin typeface="Arial MT"/>
                <a:cs typeface="Arial MT"/>
              </a:rPr>
              <a:t> </a:t>
            </a:r>
            <a:r>
              <a:rPr sz="2004" spc="-7">
                <a:solidFill>
                  <a:srgbClr val="FFFFFF"/>
                </a:solidFill>
                <a:latin typeface="Arial MT"/>
                <a:cs typeface="Arial MT"/>
              </a:rPr>
              <a:t>problems.</a:t>
            </a:r>
            <a:endParaRPr sz="2004">
              <a:latin typeface="Arial MT"/>
              <a:cs typeface="Arial MT"/>
            </a:endParaRPr>
          </a:p>
          <a:p>
            <a:pPr marL="242879" marR="759443" indent="-225020">
              <a:lnSpc>
                <a:spcPts val="2391"/>
              </a:lnSpc>
              <a:spcBef>
                <a:spcPts val="2204"/>
              </a:spcBef>
              <a:buClr>
                <a:srgbClr val="FFFFFF"/>
              </a:buClr>
              <a:buSzPct val="145614"/>
              <a:buChar char="•"/>
              <a:tabLst>
                <a:tab pos="242879" algn="l"/>
              </a:tabLst>
            </a:pPr>
            <a:r>
              <a:rPr sz="2004">
                <a:solidFill>
                  <a:srgbClr val="FF9300"/>
                </a:solidFill>
                <a:latin typeface="Arial MT"/>
                <a:cs typeface="Arial MT"/>
              </a:rPr>
              <a:t>Naming</a:t>
            </a:r>
            <a:r>
              <a:rPr sz="2004" spc="95">
                <a:solidFill>
                  <a:srgbClr val="FF9300"/>
                </a:solidFill>
                <a:latin typeface="Arial MT"/>
                <a:cs typeface="Arial MT"/>
              </a:rPr>
              <a:t> </a:t>
            </a:r>
            <a:r>
              <a:rPr sz="2004">
                <a:solidFill>
                  <a:srgbClr val="FF9300"/>
                </a:solidFill>
                <a:latin typeface="Arial MT"/>
                <a:cs typeface="Arial MT"/>
              </a:rPr>
              <a:t>encapsulations</a:t>
            </a:r>
            <a:r>
              <a:rPr sz="2004" spc="95">
                <a:solidFill>
                  <a:srgbClr val="FF9300"/>
                </a:solidFill>
                <a:latin typeface="Arial MT"/>
                <a:cs typeface="Arial MT"/>
              </a:rPr>
              <a:t> </a:t>
            </a:r>
            <a:r>
              <a:rPr sz="2004">
                <a:solidFill>
                  <a:srgbClr val="FFFFFF"/>
                </a:solidFill>
                <a:latin typeface="Arial MT"/>
                <a:cs typeface="Arial MT"/>
              </a:rPr>
              <a:t>define</a:t>
            </a:r>
            <a:r>
              <a:rPr sz="2004" spc="95">
                <a:solidFill>
                  <a:srgbClr val="FFFFFF"/>
                </a:solidFill>
                <a:latin typeface="Arial MT"/>
                <a:cs typeface="Arial MT"/>
              </a:rPr>
              <a:t> </a:t>
            </a:r>
            <a:r>
              <a:rPr sz="2004">
                <a:solidFill>
                  <a:srgbClr val="FFFFFF"/>
                </a:solidFill>
                <a:latin typeface="Arial MT"/>
                <a:cs typeface="Arial MT"/>
              </a:rPr>
              <a:t>name</a:t>
            </a:r>
            <a:r>
              <a:rPr sz="2004" spc="95">
                <a:solidFill>
                  <a:srgbClr val="FFFFFF"/>
                </a:solidFill>
                <a:latin typeface="Arial MT"/>
                <a:cs typeface="Arial MT"/>
              </a:rPr>
              <a:t> </a:t>
            </a:r>
            <a:r>
              <a:rPr sz="2004">
                <a:solidFill>
                  <a:srgbClr val="FFFFFF"/>
                </a:solidFill>
                <a:latin typeface="Arial MT"/>
                <a:cs typeface="Arial MT"/>
              </a:rPr>
              <a:t>scopes</a:t>
            </a:r>
            <a:r>
              <a:rPr sz="2004" spc="95">
                <a:solidFill>
                  <a:srgbClr val="FFFFFF"/>
                </a:solidFill>
                <a:latin typeface="Arial MT"/>
                <a:cs typeface="Arial MT"/>
              </a:rPr>
              <a:t> </a:t>
            </a:r>
            <a:r>
              <a:rPr sz="2004">
                <a:solidFill>
                  <a:srgbClr val="FFFFFF"/>
                </a:solidFill>
                <a:latin typeface="Arial MT"/>
                <a:cs typeface="Arial MT"/>
              </a:rPr>
              <a:t>that</a:t>
            </a:r>
            <a:r>
              <a:rPr sz="2004" spc="95">
                <a:solidFill>
                  <a:srgbClr val="FFFFFF"/>
                </a:solidFill>
                <a:latin typeface="Arial MT"/>
                <a:cs typeface="Arial MT"/>
              </a:rPr>
              <a:t> </a:t>
            </a:r>
            <a:r>
              <a:rPr sz="2004">
                <a:solidFill>
                  <a:srgbClr val="FFFFFF"/>
                </a:solidFill>
                <a:latin typeface="Arial MT"/>
                <a:cs typeface="Arial MT"/>
              </a:rPr>
              <a:t>assist</a:t>
            </a:r>
            <a:r>
              <a:rPr sz="2004" spc="95">
                <a:solidFill>
                  <a:srgbClr val="FFFFFF"/>
                </a:solidFill>
                <a:latin typeface="Arial MT"/>
                <a:cs typeface="Arial MT"/>
              </a:rPr>
              <a:t> </a:t>
            </a:r>
            <a:r>
              <a:rPr sz="2004" spc="-18">
                <a:solidFill>
                  <a:srgbClr val="FFFFFF"/>
                </a:solidFill>
                <a:latin typeface="Arial MT"/>
                <a:cs typeface="Arial MT"/>
              </a:rPr>
              <a:t>in </a:t>
            </a:r>
            <a:r>
              <a:rPr sz="2004">
                <a:solidFill>
                  <a:srgbClr val="FFFFFF"/>
                </a:solidFill>
                <a:latin typeface="Arial MT"/>
                <a:cs typeface="Arial MT"/>
              </a:rPr>
              <a:t>avoiding</a:t>
            </a:r>
            <a:r>
              <a:rPr sz="2004" spc="35">
                <a:solidFill>
                  <a:srgbClr val="FFFFFF"/>
                </a:solidFill>
                <a:latin typeface="Arial MT"/>
                <a:cs typeface="Arial MT"/>
              </a:rPr>
              <a:t> </a:t>
            </a:r>
            <a:r>
              <a:rPr sz="2004">
                <a:solidFill>
                  <a:srgbClr val="FFFFFF"/>
                </a:solidFill>
                <a:latin typeface="Arial MT"/>
                <a:cs typeface="Arial MT"/>
              </a:rPr>
              <a:t>these</a:t>
            </a:r>
            <a:r>
              <a:rPr sz="2004" spc="35">
                <a:solidFill>
                  <a:srgbClr val="FFFFFF"/>
                </a:solidFill>
                <a:latin typeface="Arial MT"/>
                <a:cs typeface="Arial MT"/>
              </a:rPr>
              <a:t> </a:t>
            </a:r>
            <a:r>
              <a:rPr sz="2004">
                <a:solidFill>
                  <a:srgbClr val="FFFFFF"/>
                </a:solidFill>
                <a:latin typeface="Arial MT"/>
                <a:cs typeface="Arial MT"/>
              </a:rPr>
              <a:t>name</a:t>
            </a:r>
            <a:r>
              <a:rPr sz="2004" spc="35">
                <a:solidFill>
                  <a:srgbClr val="FFFFFF"/>
                </a:solidFill>
                <a:latin typeface="Arial MT"/>
                <a:cs typeface="Arial MT"/>
              </a:rPr>
              <a:t> </a:t>
            </a:r>
            <a:r>
              <a:rPr sz="2004" spc="39">
                <a:solidFill>
                  <a:srgbClr val="FFFFFF"/>
                </a:solidFill>
                <a:latin typeface="Arial MT"/>
                <a:cs typeface="Arial MT"/>
              </a:rPr>
              <a:t>conflicts</a:t>
            </a:r>
            <a:r>
              <a:rPr sz="2004" spc="35">
                <a:solidFill>
                  <a:srgbClr val="FFFFFF"/>
                </a:solidFill>
                <a:latin typeface="Arial MT"/>
                <a:cs typeface="Arial MT"/>
              </a:rPr>
              <a:t> </a:t>
            </a:r>
            <a:r>
              <a:rPr sz="2004" spc="42">
                <a:solidFill>
                  <a:srgbClr val="FFFFFF"/>
                </a:solidFill>
                <a:latin typeface="Arial MT"/>
                <a:cs typeface="Arial MT"/>
              </a:rPr>
              <a:t>with</a:t>
            </a:r>
            <a:r>
              <a:rPr sz="2004" spc="35">
                <a:solidFill>
                  <a:srgbClr val="FFFFFF"/>
                </a:solidFill>
                <a:latin typeface="Arial MT"/>
                <a:cs typeface="Arial MT"/>
              </a:rPr>
              <a:t> </a:t>
            </a:r>
            <a:r>
              <a:rPr sz="2004" spc="-7">
                <a:solidFill>
                  <a:srgbClr val="FFFFFF"/>
                </a:solidFill>
                <a:latin typeface="Arial MT"/>
                <a:cs typeface="Arial MT"/>
              </a:rPr>
              <a:t>libraries.</a:t>
            </a:r>
            <a:endParaRPr sz="2004">
              <a:latin typeface="Arial MT"/>
              <a:cs typeface="Arial MT"/>
            </a:endParaRPr>
          </a:p>
          <a:p>
            <a:pPr marL="242879" marR="12501" indent="-225020">
              <a:lnSpc>
                <a:spcPts val="2391"/>
              </a:lnSpc>
              <a:spcBef>
                <a:spcPts val="2127"/>
              </a:spcBef>
              <a:buSzPct val="145614"/>
              <a:buChar char="•"/>
              <a:tabLst>
                <a:tab pos="242879" algn="l"/>
              </a:tabLst>
            </a:pPr>
            <a:r>
              <a:rPr sz="2004">
                <a:solidFill>
                  <a:srgbClr val="FFFFFF"/>
                </a:solidFill>
                <a:latin typeface="Arial MT"/>
                <a:cs typeface="Arial MT"/>
              </a:rPr>
              <a:t>Each</a:t>
            </a:r>
            <a:r>
              <a:rPr sz="2004" spc="56">
                <a:solidFill>
                  <a:srgbClr val="FFFFFF"/>
                </a:solidFill>
                <a:latin typeface="Arial MT"/>
                <a:cs typeface="Arial MT"/>
              </a:rPr>
              <a:t> </a:t>
            </a:r>
            <a:r>
              <a:rPr sz="2004">
                <a:solidFill>
                  <a:srgbClr val="FFFFFF"/>
                </a:solidFill>
                <a:latin typeface="Arial MT"/>
                <a:cs typeface="Arial MT"/>
              </a:rPr>
              <a:t>library</a:t>
            </a:r>
            <a:r>
              <a:rPr sz="2004" spc="60">
                <a:solidFill>
                  <a:srgbClr val="FFFFFF"/>
                </a:solidFill>
                <a:latin typeface="Arial MT"/>
                <a:cs typeface="Arial MT"/>
              </a:rPr>
              <a:t> </a:t>
            </a:r>
            <a:r>
              <a:rPr sz="2004">
                <a:solidFill>
                  <a:srgbClr val="FFFFFF"/>
                </a:solidFill>
                <a:latin typeface="Arial MT"/>
                <a:cs typeface="Arial MT"/>
              </a:rPr>
              <a:t>can</a:t>
            </a:r>
            <a:r>
              <a:rPr sz="2004" spc="56">
                <a:solidFill>
                  <a:srgbClr val="FFFFFF"/>
                </a:solidFill>
                <a:latin typeface="Arial MT"/>
                <a:cs typeface="Arial MT"/>
              </a:rPr>
              <a:t> </a:t>
            </a:r>
            <a:r>
              <a:rPr sz="2004">
                <a:solidFill>
                  <a:srgbClr val="FFFFFF"/>
                </a:solidFill>
                <a:latin typeface="Arial MT"/>
                <a:cs typeface="Arial MT"/>
              </a:rPr>
              <a:t>create</a:t>
            </a:r>
            <a:r>
              <a:rPr sz="2004" spc="56">
                <a:solidFill>
                  <a:srgbClr val="FFFFFF"/>
                </a:solidFill>
                <a:latin typeface="Arial MT"/>
                <a:cs typeface="Arial MT"/>
              </a:rPr>
              <a:t> </a:t>
            </a:r>
            <a:r>
              <a:rPr sz="2004">
                <a:solidFill>
                  <a:srgbClr val="FFFFFF"/>
                </a:solidFill>
                <a:latin typeface="Arial MT"/>
                <a:cs typeface="Arial MT"/>
              </a:rPr>
              <a:t>its</a:t>
            </a:r>
            <a:r>
              <a:rPr sz="2004" spc="56">
                <a:solidFill>
                  <a:srgbClr val="FFFFFF"/>
                </a:solidFill>
                <a:latin typeface="Arial MT"/>
                <a:cs typeface="Arial MT"/>
              </a:rPr>
              <a:t> </a:t>
            </a:r>
            <a:r>
              <a:rPr sz="2004" spc="35">
                <a:solidFill>
                  <a:srgbClr val="FF9300"/>
                </a:solidFill>
                <a:latin typeface="Arial MT"/>
                <a:cs typeface="Arial MT"/>
              </a:rPr>
              <a:t>own</a:t>
            </a:r>
            <a:r>
              <a:rPr sz="2004" spc="60">
                <a:solidFill>
                  <a:srgbClr val="FF9300"/>
                </a:solidFill>
                <a:latin typeface="Arial MT"/>
                <a:cs typeface="Arial MT"/>
              </a:rPr>
              <a:t> </a:t>
            </a:r>
            <a:r>
              <a:rPr sz="2004">
                <a:solidFill>
                  <a:srgbClr val="FF9300"/>
                </a:solidFill>
                <a:latin typeface="Arial MT"/>
                <a:cs typeface="Arial MT"/>
              </a:rPr>
              <a:t>naming</a:t>
            </a:r>
            <a:r>
              <a:rPr sz="2004" spc="56">
                <a:solidFill>
                  <a:srgbClr val="FF9300"/>
                </a:solidFill>
                <a:latin typeface="Arial MT"/>
                <a:cs typeface="Arial MT"/>
              </a:rPr>
              <a:t> </a:t>
            </a:r>
            <a:r>
              <a:rPr sz="2004">
                <a:solidFill>
                  <a:srgbClr val="FF9300"/>
                </a:solidFill>
                <a:latin typeface="Arial MT"/>
                <a:cs typeface="Arial MT"/>
              </a:rPr>
              <a:t>encapsulation</a:t>
            </a:r>
            <a:r>
              <a:rPr sz="2004" spc="56">
                <a:solidFill>
                  <a:srgbClr val="FF9300"/>
                </a:solidFill>
                <a:latin typeface="Arial MT"/>
                <a:cs typeface="Arial MT"/>
              </a:rPr>
              <a:t> </a:t>
            </a:r>
            <a:r>
              <a:rPr sz="2004" spc="56">
                <a:solidFill>
                  <a:srgbClr val="FFFFFF"/>
                </a:solidFill>
                <a:latin typeface="Arial MT"/>
                <a:cs typeface="Arial MT"/>
              </a:rPr>
              <a:t>to </a:t>
            </a:r>
            <a:r>
              <a:rPr sz="2004" spc="-7">
                <a:solidFill>
                  <a:srgbClr val="FF9300"/>
                </a:solidFill>
                <a:latin typeface="Arial MT"/>
                <a:cs typeface="Arial MT"/>
              </a:rPr>
              <a:t>prevent </a:t>
            </a:r>
            <a:r>
              <a:rPr sz="2004">
                <a:solidFill>
                  <a:srgbClr val="FFFFFF"/>
                </a:solidFill>
                <a:latin typeface="Arial MT"/>
                <a:cs typeface="Arial MT"/>
              </a:rPr>
              <a:t>its</a:t>
            </a:r>
            <a:r>
              <a:rPr sz="2004" spc="84">
                <a:solidFill>
                  <a:srgbClr val="FFFFFF"/>
                </a:solidFill>
                <a:latin typeface="Arial MT"/>
                <a:cs typeface="Arial MT"/>
              </a:rPr>
              <a:t> </a:t>
            </a:r>
            <a:r>
              <a:rPr sz="2004">
                <a:solidFill>
                  <a:srgbClr val="FFFFFF"/>
                </a:solidFill>
                <a:latin typeface="Arial MT"/>
                <a:cs typeface="Arial MT"/>
              </a:rPr>
              <a:t>names</a:t>
            </a:r>
            <a:r>
              <a:rPr sz="2004" spc="80">
                <a:solidFill>
                  <a:srgbClr val="FFFFFF"/>
                </a:solidFill>
                <a:latin typeface="Arial MT"/>
                <a:cs typeface="Arial MT"/>
              </a:rPr>
              <a:t> </a:t>
            </a:r>
            <a:r>
              <a:rPr sz="2004">
                <a:solidFill>
                  <a:srgbClr val="FFFFFF"/>
                </a:solidFill>
                <a:latin typeface="Arial MT"/>
                <a:cs typeface="Arial MT"/>
              </a:rPr>
              <a:t>from</a:t>
            </a:r>
            <a:r>
              <a:rPr sz="2004" spc="84">
                <a:solidFill>
                  <a:srgbClr val="FFFFFF"/>
                </a:solidFill>
                <a:latin typeface="Arial MT"/>
                <a:cs typeface="Arial MT"/>
              </a:rPr>
              <a:t> </a:t>
            </a:r>
            <a:r>
              <a:rPr sz="2004">
                <a:solidFill>
                  <a:srgbClr val="FF9300"/>
                </a:solidFill>
                <a:latin typeface="Arial MT"/>
                <a:cs typeface="Arial MT"/>
              </a:rPr>
              <a:t>conflicting</a:t>
            </a:r>
            <a:r>
              <a:rPr sz="2004" spc="80">
                <a:solidFill>
                  <a:srgbClr val="FF9300"/>
                </a:solidFill>
                <a:latin typeface="Arial MT"/>
                <a:cs typeface="Arial MT"/>
              </a:rPr>
              <a:t> </a:t>
            </a:r>
            <a:r>
              <a:rPr sz="2004" spc="42">
                <a:solidFill>
                  <a:srgbClr val="FFFFFF"/>
                </a:solidFill>
                <a:latin typeface="Arial MT"/>
                <a:cs typeface="Arial MT"/>
              </a:rPr>
              <a:t>with</a:t>
            </a:r>
            <a:r>
              <a:rPr sz="2004" spc="84">
                <a:solidFill>
                  <a:srgbClr val="FFFFFF"/>
                </a:solidFill>
                <a:latin typeface="Arial MT"/>
                <a:cs typeface="Arial MT"/>
              </a:rPr>
              <a:t> </a:t>
            </a:r>
            <a:r>
              <a:rPr sz="2004">
                <a:solidFill>
                  <a:srgbClr val="FFFFFF"/>
                </a:solidFill>
                <a:latin typeface="Arial MT"/>
                <a:cs typeface="Arial MT"/>
              </a:rPr>
              <a:t>the</a:t>
            </a:r>
            <a:r>
              <a:rPr sz="2004" spc="80">
                <a:solidFill>
                  <a:srgbClr val="FFFFFF"/>
                </a:solidFill>
                <a:latin typeface="Arial MT"/>
                <a:cs typeface="Arial MT"/>
              </a:rPr>
              <a:t> </a:t>
            </a:r>
            <a:r>
              <a:rPr sz="2004">
                <a:solidFill>
                  <a:srgbClr val="FFFFFF"/>
                </a:solidFill>
                <a:latin typeface="Arial MT"/>
                <a:cs typeface="Arial MT"/>
              </a:rPr>
              <a:t>names</a:t>
            </a:r>
            <a:r>
              <a:rPr sz="2004" spc="84">
                <a:solidFill>
                  <a:srgbClr val="FFFFFF"/>
                </a:solidFill>
                <a:latin typeface="Arial MT"/>
                <a:cs typeface="Arial MT"/>
              </a:rPr>
              <a:t> </a:t>
            </a:r>
            <a:r>
              <a:rPr sz="2004">
                <a:solidFill>
                  <a:srgbClr val="FFFFFF"/>
                </a:solidFill>
                <a:latin typeface="Arial MT"/>
                <a:cs typeface="Arial MT"/>
              </a:rPr>
              <a:t>defined</a:t>
            </a:r>
            <a:r>
              <a:rPr sz="2004" spc="84">
                <a:solidFill>
                  <a:srgbClr val="FFFFFF"/>
                </a:solidFill>
                <a:latin typeface="Arial MT"/>
                <a:cs typeface="Arial MT"/>
              </a:rPr>
              <a:t> </a:t>
            </a:r>
            <a:r>
              <a:rPr sz="2004">
                <a:solidFill>
                  <a:srgbClr val="FFFFFF"/>
                </a:solidFill>
                <a:latin typeface="Arial MT"/>
                <a:cs typeface="Arial MT"/>
              </a:rPr>
              <a:t>in</a:t>
            </a:r>
            <a:r>
              <a:rPr sz="2004" spc="80">
                <a:solidFill>
                  <a:srgbClr val="FFFFFF"/>
                </a:solidFill>
                <a:latin typeface="Arial MT"/>
                <a:cs typeface="Arial MT"/>
              </a:rPr>
              <a:t> </a:t>
            </a:r>
            <a:r>
              <a:rPr sz="2004" spc="-7">
                <a:solidFill>
                  <a:srgbClr val="FFFFFF"/>
                </a:solidFill>
                <a:latin typeface="Arial MT"/>
                <a:cs typeface="Arial MT"/>
              </a:rPr>
              <a:t>other </a:t>
            </a:r>
            <a:r>
              <a:rPr sz="2004">
                <a:solidFill>
                  <a:srgbClr val="FFFFFF"/>
                </a:solidFill>
                <a:latin typeface="Arial MT"/>
                <a:cs typeface="Arial MT"/>
              </a:rPr>
              <a:t>libraries</a:t>
            </a:r>
            <a:r>
              <a:rPr sz="2004" spc="49">
                <a:solidFill>
                  <a:srgbClr val="FFFFFF"/>
                </a:solidFill>
                <a:latin typeface="Arial MT"/>
                <a:cs typeface="Arial MT"/>
              </a:rPr>
              <a:t> </a:t>
            </a:r>
            <a:r>
              <a:rPr sz="2004">
                <a:solidFill>
                  <a:srgbClr val="FFFFFF"/>
                </a:solidFill>
                <a:latin typeface="Arial MT"/>
                <a:cs typeface="Arial MT"/>
              </a:rPr>
              <a:t>or</a:t>
            </a:r>
            <a:r>
              <a:rPr sz="2004" spc="46">
                <a:solidFill>
                  <a:srgbClr val="FFFFFF"/>
                </a:solidFill>
                <a:latin typeface="Arial MT"/>
                <a:cs typeface="Arial MT"/>
              </a:rPr>
              <a:t> </a:t>
            </a:r>
            <a:r>
              <a:rPr sz="2004">
                <a:solidFill>
                  <a:srgbClr val="FFFFFF"/>
                </a:solidFill>
                <a:latin typeface="Arial MT"/>
                <a:cs typeface="Arial MT"/>
              </a:rPr>
              <a:t>in</a:t>
            </a:r>
            <a:r>
              <a:rPr sz="2004" spc="49">
                <a:solidFill>
                  <a:srgbClr val="FFFFFF"/>
                </a:solidFill>
                <a:latin typeface="Arial MT"/>
                <a:cs typeface="Arial MT"/>
              </a:rPr>
              <a:t> </a:t>
            </a:r>
            <a:r>
              <a:rPr sz="2004">
                <a:solidFill>
                  <a:srgbClr val="FFFFFF"/>
                </a:solidFill>
                <a:latin typeface="Arial MT"/>
                <a:cs typeface="Arial MT"/>
              </a:rPr>
              <a:t>client</a:t>
            </a:r>
            <a:r>
              <a:rPr sz="2004" spc="46">
                <a:solidFill>
                  <a:srgbClr val="FFFFFF"/>
                </a:solidFill>
                <a:latin typeface="Arial MT"/>
                <a:cs typeface="Arial MT"/>
              </a:rPr>
              <a:t> </a:t>
            </a:r>
            <a:r>
              <a:rPr sz="2004" spc="32">
                <a:solidFill>
                  <a:srgbClr val="FFFFFF"/>
                </a:solidFill>
                <a:latin typeface="Arial MT"/>
                <a:cs typeface="Arial MT"/>
              </a:rPr>
              <a:t>code.</a:t>
            </a:r>
            <a:endParaRPr sz="2004">
              <a:latin typeface="Arial MT"/>
              <a:cs typeface="Arial MT"/>
            </a:endParaRPr>
          </a:p>
          <a:p>
            <a:pPr marL="242879" marR="584427" indent="-225020">
              <a:lnSpc>
                <a:spcPts val="2391"/>
              </a:lnSpc>
              <a:spcBef>
                <a:spcPts val="2127"/>
              </a:spcBef>
              <a:buSzPct val="145614"/>
              <a:buChar char="•"/>
              <a:tabLst>
                <a:tab pos="242879" algn="l"/>
              </a:tabLst>
            </a:pPr>
            <a:r>
              <a:rPr sz="2004">
                <a:solidFill>
                  <a:srgbClr val="FFFFFF"/>
                </a:solidFill>
                <a:latin typeface="Arial MT"/>
                <a:cs typeface="Arial MT"/>
              </a:rPr>
              <a:t>Each</a:t>
            </a:r>
            <a:r>
              <a:rPr sz="2004" spc="49">
                <a:solidFill>
                  <a:srgbClr val="FFFFFF"/>
                </a:solidFill>
                <a:latin typeface="Arial MT"/>
                <a:cs typeface="Arial MT"/>
              </a:rPr>
              <a:t> </a:t>
            </a:r>
            <a:r>
              <a:rPr sz="2004">
                <a:solidFill>
                  <a:srgbClr val="FF9300"/>
                </a:solidFill>
                <a:latin typeface="Arial MT"/>
                <a:cs typeface="Arial MT"/>
              </a:rPr>
              <a:t>logical</a:t>
            </a:r>
            <a:r>
              <a:rPr sz="2004" spc="49">
                <a:solidFill>
                  <a:srgbClr val="FF9300"/>
                </a:solidFill>
                <a:latin typeface="Arial MT"/>
                <a:cs typeface="Arial MT"/>
              </a:rPr>
              <a:t> </a:t>
            </a:r>
            <a:r>
              <a:rPr sz="2004">
                <a:solidFill>
                  <a:srgbClr val="FFFFFF"/>
                </a:solidFill>
                <a:latin typeface="Arial MT"/>
                <a:cs typeface="Arial MT"/>
              </a:rPr>
              <a:t>part</a:t>
            </a:r>
            <a:r>
              <a:rPr sz="2004" spc="53">
                <a:solidFill>
                  <a:srgbClr val="FFFFFF"/>
                </a:solidFill>
                <a:latin typeface="Arial MT"/>
                <a:cs typeface="Arial MT"/>
              </a:rPr>
              <a:t> </a:t>
            </a:r>
            <a:r>
              <a:rPr sz="2004" spc="39">
                <a:solidFill>
                  <a:srgbClr val="FFFFFF"/>
                </a:solidFill>
                <a:latin typeface="Arial MT"/>
                <a:cs typeface="Arial MT"/>
              </a:rPr>
              <a:t>of</a:t>
            </a:r>
            <a:r>
              <a:rPr sz="2004" spc="49">
                <a:solidFill>
                  <a:srgbClr val="FFFFFF"/>
                </a:solidFill>
                <a:latin typeface="Arial MT"/>
                <a:cs typeface="Arial MT"/>
              </a:rPr>
              <a:t> </a:t>
            </a:r>
            <a:r>
              <a:rPr sz="2004">
                <a:solidFill>
                  <a:srgbClr val="FFFFFF"/>
                </a:solidFill>
                <a:latin typeface="Arial MT"/>
                <a:cs typeface="Arial MT"/>
              </a:rPr>
              <a:t>a</a:t>
            </a:r>
            <a:r>
              <a:rPr sz="2004" spc="49">
                <a:solidFill>
                  <a:srgbClr val="FFFFFF"/>
                </a:solidFill>
                <a:latin typeface="Arial MT"/>
                <a:cs typeface="Arial MT"/>
              </a:rPr>
              <a:t> </a:t>
            </a:r>
            <a:r>
              <a:rPr sz="2004">
                <a:solidFill>
                  <a:srgbClr val="FFFFFF"/>
                </a:solidFill>
                <a:latin typeface="Arial MT"/>
                <a:cs typeface="Arial MT"/>
              </a:rPr>
              <a:t>software</a:t>
            </a:r>
            <a:r>
              <a:rPr sz="2004" spc="49">
                <a:solidFill>
                  <a:srgbClr val="FFFFFF"/>
                </a:solidFill>
                <a:latin typeface="Arial MT"/>
                <a:cs typeface="Arial MT"/>
              </a:rPr>
              <a:t> </a:t>
            </a:r>
            <a:r>
              <a:rPr sz="2004">
                <a:solidFill>
                  <a:srgbClr val="FFFFFF"/>
                </a:solidFill>
                <a:latin typeface="Arial MT"/>
                <a:cs typeface="Arial MT"/>
              </a:rPr>
              <a:t>system</a:t>
            </a:r>
            <a:r>
              <a:rPr sz="2004" spc="53">
                <a:solidFill>
                  <a:srgbClr val="FFFFFF"/>
                </a:solidFill>
                <a:latin typeface="Arial MT"/>
                <a:cs typeface="Arial MT"/>
              </a:rPr>
              <a:t> </a:t>
            </a:r>
            <a:r>
              <a:rPr sz="2004">
                <a:solidFill>
                  <a:srgbClr val="FFFFFF"/>
                </a:solidFill>
                <a:latin typeface="Arial MT"/>
                <a:cs typeface="Arial MT"/>
              </a:rPr>
              <a:t>can</a:t>
            </a:r>
            <a:r>
              <a:rPr sz="2004" spc="49">
                <a:solidFill>
                  <a:srgbClr val="FFFFFF"/>
                </a:solidFill>
                <a:latin typeface="Arial MT"/>
                <a:cs typeface="Arial MT"/>
              </a:rPr>
              <a:t> </a:t>
            </a:r>
            <a:r>
              <a:rPr sz="2004">
                <a:solidFill>
                  <a:srgbClr val="FFFFFF"/>
                </a:solidFill>
                <a:latin typeface="Arial MT"/>
                <a:cs typeface="Arial MT"/>
              </a:rPr>
              <a:t>create</a:t>
            </a:r>
            <a:r>
              <a:rPr sz="2004" spc="49">
                <a:solidFill>
                  <a:srgbClr val="FFFFFF"/>
                </a:solidFill>
                <a:latin typeface="Arial MT"/>
                <a:cs typeface="Arial MT"/>
              </a:rPr>
              <a:t> </a:t>
            </a:r>
            <a:r>
              <a:rPr sz="2004">
                <a:solidFill>
                  <a:srgbClr val="FFFFFF"/>
                </a:solidFill>
                <a:latin typeface="Arial MT"/>
                <a:cs typeface="Arial MT"/>
              </a:rPr>
              <a:t>a</a:t>
            </a:r>
            <a:r>
              <a:rPr sz="2004" spc="49">
                <a:solidFill>
                  <a:srgbClr val="FFFFFF"/>
                </a:solidFill>
                <a:latin typeface="Arial MT"/>
                <a:cs typeface="Arial MT"/>
              </a:rPr>
              <a:t> </a:t>
            </a:r>
            <a:r>
              <a:rPr sz="2004" spc="-7">
                <a:solidFill>
                  <a:srgbClr val="FF9300"/>
                </a:solidFill>
                <a:latin typeface="Arial MT"/>
                <a:cs typeface="Arial MT"/>
              </a:rPr>
              <a:t>naming </a:t>
            </a:r>
            <a:r>
              <a:rPr sz="2004">
                <a:solidFill>
                  <a:srgbClr val="FF9300"/>
                </a:solidFill>
                <a:latin typeface="Arial MT"/>
                <a:cs typeface="Arial MT"/>
              </a:rPr>
              <a:t>encapsulation</a:t>
            </a:r>
            <a:r>
              <a:rPr sz="2004" spc="80">
                <a:solidFill>
                  <a:srgbClr val="FF9300"/>
                </a:solidFill>
                <a:latin typeface="Arial MT"/>
                <a:cs typeface="Arial MT"/>
              </a:rPr>
              <a:t> </a:t>
            </a:r>
            <a:r>
              <a:rPr sz="2004" spc="42">
                <a:solidFill>
                  <a:srgbClr val="FFFFFF"/>
                </a:solidFill>
                <a:latin typeface="Arial MT"/>
                <a:cs typeface="Arial MT"/>
              </a:rPr>
              <a:t>with</a:t>
            </a:r>
            <a:r>
              <a:rPr sz="2004" spc="84">
                <a:solidFill>
                  <a:srgbClr val="FFFFFF"/>
                </a:solidFill>
                <a:latin typeface="Arial MT"/>
                <a:cs typeface="Arial MT"/>
              </a:rPr>
              <a:t> </a:t>
            </a:r>
            <a:r>
              <a:rPr sz="2004">
                <a:solidFill>
                  <a:srgbClr val="FFFFFF"/>
                </a:solidFill>
                <a:latin typeface="Arial MT"/>
                <a:cs typeface="Arial MT"/>
              </a:rPr>
              <a:t>the</a:t>
            </a:r>
            <a:r>
              <a:rPr sz="2004" spc="80">
                <a:solidFill>
                  <a:srgbClr val="FFFFFF"/>
                </a:solidFill>
                <a:latin typeface="Arial MT"/>
                <a:cs typeface="Arial MT"/>
              </a:rPr>
              <a:t> </a:t>
            </a:r>
            <a:r>
              <a:rPr sz="2004">
                <a:solidFill>
                  <a:srgbClr val="FFFFFF"/>
                </a:solidFill>
                <a:latin typeface="Arial MT"/>
                <a:cs typeface="Arial MT"/>
              </a:rPr>
              <a:t>same</a:t>
            </a:r>
            <a:r>
              <a:rPr sz="2004" spc="80">
                <a:solidFill>
                  <a:srgbClr val="FFFFFF"/>
                </a:solidFill>
                <a:latin typeface="Arial MT"/>
                <a:cs typeface="Arial MT"/>
              </a:rPr>
              <a:t> </a:t>
            </a:r>
            <a:r>
              <a:rPr sz="2004" spc="-7">
                <a:solidFill>
                  <a:srgbClr val="FFFFFF"/>
                </a:solidFill>
                <a:latin typeface="Arial MT"/>
                <a:cs typeface="Arial MT"/>
              </a:rPr>
              <a:t>purpose.</a:t>
            </a:r>
            <a:endParaRPr sz="2004">
              <a:latin typeface="Arial MT"/>
              <a:cs typeface="Arial MT"/>
            </a:endParaRPr>
          </a:p>
          <a:p>
            <a:pPr marL="242879" marR="97777" indent="-225020">
              <a:lnSpc>
                <a:spcPts val="2391"/>
              </a:lnSpc>
              <a:spcBef>
                <a:spcPts val="2127"/>
              </a:spcBef>
              <a:buSzPct val="145614"/>
              <a:buChar char="•"/>
              <a:tabLst>
                <a:tab pos="242879" algn="l"/>
              </a:tabLst>
            </a:pPr>
            <a:r>
              <a:rPr sz="2004">
                <a:solidFill>
                  <a:srgbClr val="FFFFFF"/>
                </a:solidFill>
                <a:latin typeface="Arial MT"/>
                <a:cs typeface="Arial MT"/>
              </a:rPr>
              <a:t>Naming</a:t>
            </a:r>
            <a:r>
              <a:rPr sz="2004" spc="53">
                <a:solidFill>
                  <a:srgbClr val="FFFFFF"/>
                </a:solidFill>
                <a:latin typeface="Arial MT"/>
                <a:cs typeface="Arial MT"/>
              </a:rPr>
              <a:t> </a:t>
            </a:r>
            <a:r>
              <a:rPr sz="2004">
                <a:solidFill>
                  <a:srgbClr val="FFFFFF"/>
                </a:solidFill>
                <a:latin typeface="Arial MT"/>
                <a:cs typeface="Arial MT"/>
              </a:rPr>
              <a:t>encapsulations</a:t>
            </a:r>
            <a:r>
              <a:rPr sz="2004" spc="63">
                <a:solidFill>
                  <a:srgbClr val="FFFFFF"/>
                </a:solidFill>
                <a:latin typeface="Arial MT"/>
                <a:cs typeface="Arial MT"/>
              </a:rPr>
              <a:t> </a:t>
            </a:r>
            <a:r>
              <a:rPr sz="2004">
                <a:solidFill>
                  <a:srgbClr val="FFFFFF"/>
                </a:solidFill>
                <a:latin typeface="Arial MT"/>
                <a:cs typeface="Arial MT"/>
              </a:rPr>
              <a:t>are</a:t>
            </a:r>
            <a:r>
              <a:rPr sz="2004" spc="60">
                <a:solidFill>
                  <a:srgbClr val="FFFFFF"/>
                </a:solidFill>
                <a:latin typeface="Arial MT"/>
                <a:cs typeface="Arial MT"/>
              </a:rPr>
              <a:t> </a:t>
            </a:r>
            <a:r>
              <a:rPr sz="2004">
                <a:solidFill>
                  <a:srgbClr val="FF9300"/>
                </a:solidFill>
                <a:latin typeface="Arial MT"/>
                <a:cs typeface="Arial MT"/>
              </a:rPr>
              <a:t>logical</a:t>
            </a:r>
            <a:r>
              <a:rPr sz="2004" spc="63">
                <a:solidFill>
                  <a:srgbClr val="FF9300"/>
                </a:solidFill>
                <a:latin typeface="Arial MT"/>
                <a:cs typeface="Arial MT"/>
              </a:rPr>
              <a:t> </a:t>
            </a:r>
            <a:r>
              <a:rPr sz="2004">
                <a:solidFill>
                  <a:srgbClr val="FF9300"/>
                </a:solidFill>
                <a:latin typeface="Arial MT"/>
                <a:cs typeface="Arial MT"/>
              </a:rPr>
              <a:t>encapsulations</a:t>
            </a:r>
            <a:r>
              <a:rPr sz="2004">
                <a:solidFill>
                  <a:srgbClr val="FFFFFF"/>
                </a:solidFill>
                <a:latin typeface="Arial MT"/>
                <a:cs typeface="Arial MT"/>
              </a:rPr>
              <a:t>,</a:t>
            </a:r>
            <a:r>
              <a:rPr sz="2004" spc="60">
                <a:solidFill>
                  <a:srgbClr val="FFFFFF"/>
                </a:solidFill>
                <a:latin typeface="Arial MT"/>
                <a:cs typeface="Arial MT"/>
              </a:rPr>
              <a:t> </a:t>
            </a:r>
            <a:r>
              <a:rPr sz="2004">
                <a:solidFill>
                  <a:srgbClr val="FFFFFF"/>
                </a:solidFill>
                <a:latin typeface="Arial MT"/>
                <a:cs typeface="Arial MT"/>
              </a:rPr>
              <a:t>in</a:t>
            </a:r>
            <a:r>
              <a:rPr sz="2004" spc="63">
                <a:solidFill>
                  <a:srgbClr val="FFFFFF"/>
                </a:solidFill>
                <a:latin typeface="Arial MT"/>
                <a:cs typeface="Arial MT"/>
              </a:rPr>
              <a:t> </a:t>
            </a:r>
            <a:r>
              <a:rPr sz="2004">
                <a:solidFill>
                  <a:srgbClr val="FFFFFF"/>
                </a:solidFill>
                <a:latin typeface="Arial MT"/>
                <a:cs typeface="Arial MT"/>
              </a:rPr>
              <a:t>the</a:t>
            </a:r>
            <a:r>
              <a:rPr sz="2004" spc="60">
                <a:solidFill>
                  <a:srgbClr val="FFFFFF"/>
                </a:solidFill>
                <a:latin typeface="Arial MT"/>
                <a:cs typeface="Arial MT"/>
              </a:rPr>
              <a:t> </a:t>
            </a:r>
            <a:r>
              <a:rPr sz="2004" spc="-7">
                <a:solidFill>
                  <a:srgbClr val="FFFFFF"/>
                </a:solidFill>
                <a:latin typeface="Arial MT"/>
                <a:cs typeface="Arial MT"/>
              </a:rPr>
              <a:t>sense </a:t>
            </a:r>
            <a:r>
              <a:rPr sz="2004">
                <a:solidFill>
                  <a:srgbClr val="FFFFFF"/>
                </a:solidFill>
                <a:latin typeface="Arial MT"/>
                <a:cs typeface="Arial MT"/>
              </a:rPr>
              <a:t>that</a:t>
            </a:r>
            <a:r>
              <a:rPr sz="2004" spc="63">
                <a:solidFill>
                  <a:srgbClr val="FFFFFF"/>
                </a:solidFill>
                <a:latin typeface="Arial MT"/>
                <a:cs typeface="Arial MT"/>
              </a:rPr>
              <a:t> </a:t>
            </a:r>
            <a:r>
              <a:rPr sz="2004">
                <a:solidFill>
                  <a:srgbClr val="FFFFFF"/>
                </a:solidFill>
                <a:latin typeface="Arial MT"/>
                <a:cs typeface="Arial MT"/>
              </a:rPr>
              <a:t>they</a:t>
            </a:r>
            <a:r>
              <a:rPr sz="2004" spc="67">
                <a:solidFill>
                  <a:srgbClr val="FFFFFF"/>
                </a:solidFill>
                <a:latin typeface="Arial MT"/>
                <a:cs typeface="Arial MT"/>
              </a:rPr>
              <a:t> </a:t>
            </a:r>
            <a:r>
              <a:rPr sz="2004">
                <a:solidFill>
                  <a:srgbClr val="FFFFFF"/>
                </a:solidFill>
                <a:latin typeface="Arial MT"/>
                <a:cs typeface="Arial MT"/>
              </a:rPr>
              <a:t>need</a:t>
            </a:r>
            <a:r>
              <a:rPr sz="2004" spc="70">
                <a:solidFill>
                  <a:srgbClr val="FFFFFF"/>
                </a:solidFill>
                <a:latin typeface="Arial MT"/>
                <a:cs typeface="Arial MT"/>
              </a:rPr>
              <a:t> </a:t>
            </a:r>
            <a:r>
              <a:rPr sz="2004" spc="46">
                <a:solidFill>
                  <a:srgbClr val="FFFFFF"/>
                </a:solidFill>
                <a:latin typeface="Arial MT"/>
                <a:cs typeface="Arial MT"/>
              </a:rPr>
              <a:t>not</a:t>
            </a:r>
            <a:r>
              <a:rPr sz="2004" spc="67">
                <a:solidFill>
                  <a:srgbClr val="FFFFFF"/>
                </a:solidFill>
                <a:latin typeface="Arial MT"/>
                <a:cs typeface="Arial MT"/>
              </a:rPr>
              <a:t> </a:t>
            </a:r>
            <a:r>
              <a:rPr sz="2004">
                <a:solidFill>
                  <a:srgbClr val="FFFFFF"/>
                </a:solidFill>
                <a:latin typeface="Arial MT"/>
                <a:cs typeface="Arial MT"/>
              </a:rPr>
              <a:t>be</a:t>
            </a:r>
            <a:r>
              <a:rPr sz="2004" spc="70">
                <a:solidFill>
                  <a:srgbClr val="FFFFFF"/>
                </a:solidFill>
                <a:latin typeface="Arial MT"/>
                <a:cs typeface="Arial MT"/>
              </a:rPr>
              <a:t> </a:t>
            </a:r>
            <a:r>
              <a:rPr sz="2004">
                <a:solidFill>
                  <a:srgbClr val="FFFFFF"/>
                </a:solidFill>
                <a:latin typeface="Arial MT"/>
                <a:cs typeface="Arial MT"/>
              </a:rPr>
              <a:t>physically</a:t>
            </a:r>
            <a:r>
              <a:rPr sz="2004" spc="70">
                <a:solidFill>
                  <a:srgbClr val="FFFFFF"/>
                </a:solidFill>
                <a:latin typeface="Arial MT"/>
                <a:cs typeface="Arial MT"/>
              </a:rPr>
              <a:t> </a:t>
            </a:r>
            <a:r>
              <a:rPr sz="2004" spc="-7">
                <a:solidFill>
                  <a:srgbClr val="FFFFFF"/>
                </a:solidFill>
                <a:latin typeface="Arial MT"/>
                <a:cs typeface="Arial MT"/>
              </a:rPr>
              <a:t>contiguous.</a:t>
            </a:r>
            <a:endParaRPr sz="2004">
              <a:latin typeface="Arial MT"/>
              <a:cs typeface="Arial MT"/>
            </a:endParaRPr>
          </a:p>
          <a:p>
            <a:pPr marL="242879" marR="154478" indent="-225020">
              <a:lnSpc>
                <a:spcPts val="2391"/>
              </a:lnSpc>
              <a:spcBef>
                <a:spcPts val="2123"/>
              </a:spcBef>
              <a:buSzPct val="145614"/>
              <a:buChar char="•"/>
              <a:tabLst>
                <a:tab pos="242879" algn="l"/>
              </a:tabLst>
            </a:pPr>
            <a:r>
              <a:rPr sz="2004">
                <a:solidFill>
                  <a:srgbClr val="FFFFFF"/>
                </a:solidFill>
                <a:latin typeface="Arial MT"/>
                <a:cs typeface="Arial MT"/>
              </a:rPr>
              <a:t>Several</a:t>
            </a:r>
            <a:r>
              <a:rPr sz="2004" spc="56">
                <a:solidFill>
                  <a:srgbClr val="FFFFFF"/>
                </a:solidFill>
                <a:latin typeface="Arial MT"/>
                <a:cs typeface="Arial MT"/>
              </a:rPr>
              <a:t> </a:t>
            </a:r>
            <a:r>
              <a:rPr sz="2004">
                <a:solidFill>
                  <a:srgbClr val="FFFFFF"/>
                </a:solidFill>
                <a:latin typeface="Arial MT"/>
                <a:cs typeface="Arial MT"/>
              </a:rPr>
              <a:t>different</a:t>
            </a:r>
            <a:r>
              <a:rPr sz="2004" spc="67">
                <a:solidFill>
                  <a:srgbClr val="FFFFFF"/>
                </a:solidFill>
                <a:latin typeface="Arial MT"/>
                <a:cs typeface="Arial MT"/>
              </a:rPr>
              <a:t> </a:t>
            </a:r>
            <a:r>
              <a:rPr sz="2004">
                <a:solidFill>
                  <a:srgbClr val="FFFFFF"/>
                </a:solidFill>
                <a:latin typeface="Arial MT"/>
                <a:cs typeface="Arial MT"/>
              </a:rPr>
              <a:t>collections</a:t>
            </a:r>
            <a:r>
              <a:rPr sz="2004" spc="63">
                <a:solidFill>
                  <a:srgbClr val="FFFFFF"/>
                </a:solidFill>
                <a:latin typeface="Arial MT"/>
                <a:cs typeface="Arial MT"/>
              </a:rPr>
              <a:t> </a:t>
            </a:r>
            <a:r>
              <a:rPr sz="2004" spc="39">
                <a:solidFill>
                  <a:srgbClr val="FFFFFF"/>
                </a:solidFill>
                <a:latin typeface="Arial MT"/>
                <a:cs typeface="Arial MT"/>
              </a:rPr>
              <a:t>of</a:t>
            </a:r>
            <a:r>
              <a:rPr sz="2004" spc="67">
                <a:solidFill>
                  <a:srgbClr val="FFFFFF"/>
                </a:solidFill>
                <a:latin typeface="Arial MT"/>
                <a:cs typeface="Arial MT"/>
              </a:rPr>
              <a:t> </a:t>
            </a:r>
            <a:r>
              <a:rPr sz="2004" spc="42">
                <a:solidFill>
                  <a:srgbClr val="FFFFFF"/>
                </a:solidFill>
                <a:latin typeface="Arial MT"/>
                <a:cs typeface="Arial MT"/>
              </a:rPr>
              <a:t>code</a:t>
            </a:r>
            <a:r>
              <a:rPr sz="2004" spc="63">
                <a:solidFill>
                  <a:srgbClr val="FFFFFF"/>
                </a:solidFill>
                <a:latin typeface="Arial MT"/>
                <a:cs typeface="Arial MT"/>
              </a:rPr>
              <a:t> </a:t>
            </a:r>
            <a:r>
              <a:rPr sz="2004">
                <a:solidFill>
                  <a:srgbClr val="FFFFFF"/>
                </a:solidFill>
                <a:latin typeface="Arial MT"/>
                <a:cs typeface="Arial MT"/>
              </a:rPr>
              <a:t>can</a:t>
            </a:r>
            <a:r>
              <a:rPr sz="2004" spc="67">
                <a:solidFill>
                  <a:srgbClr val="FFFFFF"/>
                </a:solidFill>
                <a:latin typeface="Arial MT"/>
                <a:cs typeface="Arial MT"/>
              </a:rPr>
              <a:t> </a:t>
            </a:r>
            <a:r>
              <a:rPr sz="2004">
                <a:solidFill>
                  <a:srgbClr val="FFFFFF"/>
                </a:solidFill>
                <a:latin typeface="Arial MT"/>
                <a:cs typeface="Arial MT"/>
              </a:rPr>
              <a:t>be</a:t>
            </a:r>
            <a:r>
              <a:rPr sz="2004" spc="63">
                <a:solidFill>
                  <a:srgbClr val="FFFFFF"/>
                </a:solidFill>
                <a:latin typeface="Arial MT"/>
                <a:cs typeface="Arial MT"/>
              </a:rPr>
              <a:t> </a:t>
            </a:r>
            <a:r>
              <a:rPr sz="2004">
                <a:solidFill>
                  <a:srgbClr val="FFFFFF"/>
                </a:solidFill>
                <a:latin typeface="Arial MT"/>
                <a:cs typeface="Arial MT"/>
              </a:rPr>
              <a:t>placed</a:t>
            </a:r>
            <a:r>
              <a:rPr sz="2004" spc="67">
                <a:solidFill>
                  <a:srgbClr val="FFFFFF"/>
                </a:solidFill>
                <a:latin typeface="Arial MT"/>
                <a:cs typeface="Arial MT"/>
              </a:rPr>
              <a:t> </a:t>
            </a:r>
            <a:r>
              <a:rPr sz="2004">
                <a:solidFill>
                  <a:srgbClr val="FFFFFF"/>
                </a:solidFill>
                <a:latin typeface="Arial MT"/>
                <a:cs typeface="Arial MT"/>
              </a:rPr>
              <a:t>in</a:t>
            </a:r>
            <a:r>
              <a:rPr sz="2004" spc="63">
                <a:solidFill>
                  <a:srgbClr val="FFFFFF"/>
                </a:solidFill>
                <a:latin typeface="Arial MT"/>
                <a:cs typeface="Arial MT"/>
              </a:rPr>
              <a:t> </a:t>
            </a:r>
            <a:r>
              <a:rPr sz="2004">
                <a:solidFill>
                  <a:srgbClr val="FFFFFF"/>
                </a:solidFill>
                <a:latin typeface="Arial MT"/>
                <a:cs typeface="Arial MT"/>
              </a:rPr>
              <a:t>the</a:t>
            </a:r>
            <a:r>
              <a:rPr sz="2004" spc="67">
                <a:solidFill>
                  <a:srgbClr val="FFFFFF"/>
                </a:solidFill>
                <a:latin typeface="Arial MT"/>
                <a:cs typeface="Arial MT"/>
              </a:rPr>
              <a:t> </a:t>
            </a:r>
            <a:r>
              <a:rPr sz="2004" spc="-14">
                <a:solidFill>
                  <a:srgbClr val="FF9300"/>
                </a:solidFill>
                <a:latin typeface="Arial MT"/>
                <a:cs typeface="Arial MT"/>
              </a:rPr>
              <a:t>same </a:t>
            </a:r>
            <a:r>
              <a:rPr sz="2004">
                <a:solidFill>
                  <a:srgbClr val="FF9300"/>
                </a:solidFill>
                <a:latin typeface="Arial MT"/>
                <a:cs typeface="Arial MT"/>
              </a:rPr>
              <a:t>namespace</a:t>
            </a:r>
            <a:r>
              <a:rPr sz="2004">
                <a:solidFill>
                  <a:srgbClr val="FFFFFF"/>
                </a:solidFill>
                <a:latin typeface="Arial MT"/>
                <a:cs typeface="Arial MT"/>
              </a:rPr>
              <a:t>,</a:t>
            </a:r>
            <a:r>
              <a:rPr sz="2004" spc="49">
                <a:solidFill>
                  <a:srgbClr val="FFFFFF"/>
                </a:solidFill>
                <a:latin typeface="Arial MT"/>
                <a:cs typeface="Arial MT"/>
              </a:rPr>
              <a:t> </a:t>
            </a:r>
            <a:r>
              <a:rPr sz="2004">
                <a:solidFill>
                  <a:srgbClr val="FFFFFF"/>
                </a:solidFill>
                <a:latin typeface="Arial MT"/>
                <a:cs typeface="Arial MT"/>
              </a:rPr>
              <a:t>even</a:t>
            </a:r>
            <a:r>
              <a:rPr sz="2004" spc="60">
                <a:solidFill>
                  <a:srgbClr val="FFFFFF"/>
                </a:solidFill>
                <a:latin typeface="Arial MT"/>
                <a:cs typeface="Arial MT"/>
              </a:rPr>
              <a:t> </a:t>
            </a:r>
            <a:r>
              <a:rPr sz="2004">
                <a:solidFill>
                  <a:srgbClr val="FFFFFF"/>
                </a:solidFill>
                <a:latin typeface="Arial MT"/>
                <a:cs typeface="Arial MT"/>
              </a:rPr>
              <a:t>though</a:t>
            </a:r>
            <a:r>
              <a:rPr sz="2004" spc="56">
                <a:solidFill>
                  <a:srgbClr val="FFFFFF"/>
                </a:solidFill>
                <a:latin typeface="Arial MT"/>
                <a:cs typeface="Arial MT"/>
              </a:rPr>
              <a:t> </a:t>
            </a:r>
            <a:r>
              <a:rPr sz="2004">
                <a:solidFill>
                  <a:srgbClr val="FFFFFF"/>
                </a:solidFill>
                <a:latin typeface="Arial MT"/>
                <a:cs typeface="Arial MT"/>
              </a:rPr>
              <a:t>they</a:t>
            </a:r>
            <a:r>
              <a:rPr sz="2004" spc="60">
                <a:solidFill>
                  <a:srgbClr val="FFFFFF"/>
                </a:solidFill>
                <a:latin typeface="Arial MT"/>
                <a:cs typeface="Arial MT"/>
              </a:rPr>
              <a:t> </a:t>
            </a:r>
            <a:r>
              <a:rPr sz="2004">
                <a:solidFill>
                  <a:srgbClr val="FFFFFF"/>
                </a:solidFill>
                <a:latin typeface="Arial MT"/>
                <a:cs typeface="Arial MT"/>
              </a:rPr>
              <a:t>are</a:t>
            </a:r>
            <a:r>
              <a:rPr sz="2004" spc="56">
                <a:solidFill>
                  <a:srgbClr val="FFFFFF"/>
                </a:solidFill>
                <a:latin typeface="Arial MT"/>
                <a:cs typeface="Arial MT"/>
              </a:rPr>
              <a:t> </a:t>
            </a:r>
            <a:r>
              <a:rPr sz="2004">
                <a:solidFill>
                  <a:srgbClr val="FFFFFF"/>
                </a:solidFill>
                <a:latin typeface="Arial MT"/>
                <a:cs typeface="Arial MT"/>
              </a:rPr>
              <a:t>stored</a:t>
            </a:r>
            <a:r>
              <a:rPr sz="2004" spc="60">
                <a:solidFill>
                  <a:srgbClr val="FFFFFF"/>
                </a:solidFill>
                <a:latin typeface="Arial MT"/>
                <a:cs typeface="Arial MT"/>
              </a:rPr>
              <a:t> </a:t>
            </a:r>
            <a:r>
              <a:rPr sz="2004">
                <a:solidFill>
                  <a:srgbClr val="FFFFFF"/>
                </a:solidFill>
                <a:latin typeface="Arial MT"/>
                <a:cs typeface="Arial MT"/>
              </a:rPr>
              <a:t>in</a:t>
            </a:r>
            <a:r>
              <a:rPr sz="2004" spc="56">
                <a:solidFill>
                  <a:srgbClr val="FFFFFF"/>
                </a:solidFill>
                <a:latin typeface="Arial MT"/>
                <a:cs typeface="Arial MT"/>
              </a:rPr>
              <a:t> </a:t>
            </a:r>
            <a:r>
              <a:rPr sz="2004">
                <a:solidFill>
                  <a:srgbClr val="FFFFFF"/>
                </a:solidFill>
                <a:latin typeface="Arial MT"/>
                <a:cs typeface="Arial MT"/>
              </a:rPr>
              <a:t>different</a:t>
            </a:r>
            <a:r>
              <a:rPr sz="2004" spc="60">
                <a:solidFill>
                  <a:srgbClr val="FFFFFF"/>
                </a:solidFill>
                <a:latin typeface="Arial MT"/>
                <a:cs typeface="Arial MT"/>
              </a:rPr>
              <a:t> </a:t>
            </a:r>
            <a:r>
              <a:rPr sz="2004" spc="-7">
                <a:solidFill>
                  <a:srgbClr val="FFFFFF"/>
                </a:solidFill>
                <a:latin typeface="Arial MT"/>
                <a:cs typeface="Arial MT"/>
              </a:rPr>
              <a:t>places.</a:t>
            </a:r>
            <a:endParaRPr sz="2004">
              <a:latin typeface="Arial MT"/>
              <a:cs typeface="Arial MT"/>
            </a:endParaRPr>
          </a:p>
        </p:txBody>
      </p:sp>
      <p:sp>
        <p:nvSpPr>
          <p:cNvPr id="4" name="Footer Placeholder 3">
            <a:extLst>
              <a:ext uri="{FF2B5EF4-FFF2-40B4-BE49-F238E27FC236}">
                <a16:creationId xmlns:a16="http://schemas.microsoft.com/office/drawing/2014/main" id="{AF2B360C-8FFC-E91A-7F54-7C1192577951}"/>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F20C2DDF-A37E-8818-D8B7-F8F625BF287F}"/>
              </a:ext>
            </a:extLst>
          </p:cNvPr>
          <p:cNvSpPr>
            <a:spLocks noGrp="1"/>
          </p:cNvSpPr>
          <p:nvPr>
            <p:ph type="sldNum" sz="quarter" idx="12"/>
          </p:nvPr>
        </p:nvSpPr>
        <p:spPr/>
        <p:txBody>
          <a:bodyPr/>
          <a:lstStyle/>
          <a:p>
            <a:fld id="{48F63A3B-78C7-47BE-AE5E-E10140E04643}" type="slidenum">
              <a:rPr lang="en-US" dirty="0"/>
              <a:t>36</a:t>
            </a:fld>
            <a:endParaRPr lang="en-US"/>
          </a:p>
        </p:txBody>
      </p:sp>
    </p:spTree>
    <p:extLst>
      <p:ext uri="{BB962C8B-B14F-4D97-AF65-F5344CB8AC3E}">
        <p14:creationId xmlns:p14="http://schemas.microsoft.com/office/powerpoint/2010/main" val="20390979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30" rIns="0" bIns="0" rtlCol="0">
            <a:spAutoFit/>
          </a:bodyPr>
          <a:lstStyle/>
          <a:p>
            <a:pPr marL="813912">
              <a:lnSpc>
                <a:spcPct val="100000"/>
              </a:lnSpc>
              <a:spcBef>
                <a:spcPts val="70"/>
              </a:spcBef>
            </a:pPr>
            <a:r>
              <a:rPr spc="70"/>
              <a:t>Naming</a:t>
            </a:r>
            <a:r>
              <a:rPr spc="7"/>
              <a:t> </a:t>
            </a:r>
            <a:r>
              <a:rPr spc="80"/>
              <a:t>Encapsulations</a:t>
            </a:r>
            <a:r>
              <a:rPr spc="11"/>
              <a:t> </a:t>
            </a:r>
            <a:r>
              <a:rPr spc="225"/>
              <a:t>-</a:t>
            </a:r>
            <a:r>
              <a:rPr spc="7"/>
              <a:t> </a:t>
            </a:r>
            <a:r>
              <a:rPr spc="-18"/>
              <a:t>C++</a:t>
            </a:r>
          </a:p>
        </p:txBody>
      </p:sp>
      <p:sp>
        <p:nvSpPr>
          <p:cNvPr id="3" name="object 3"/>
          <p:cNvSpPr txBox="1"/>
          <p:nvPr/>
        </p:nvSpPr>
        <p:spPr>
          <a:xfrm>
            <a:off x="1080877" y="1692350"/>
            <a:ext cx="10031778" cy="2437967"/>
          </a:xfrm>
          <a:prstGeom prst="rect">
            <a:avLst/>
          </a:prstGeom>
        </p:spPr>
        <p:txBody>
          <a:bodyPr vert="horz" wrap="square" lIns="0" tIns="26789" rIns="0" bIns="0" rtlCol="0">
            <a:spAutoFit/>
          </a:bodyPr>
          <a:lstStyle/>
          <a:p>
            <a:pPr marL="313867" marR="233949" indent="-296009" algn="just">
              <a:lnSpc>
                <a:spcPts val="3164"/>
              </a:lnSpc>
              <a:spcBef>
                <a:spcPts val="211"/>
              </a:spcBef>
              <a:buSzPct val="144736"/>
              <a:buChar char="•"/>
              <a:tabLst>
                <a:tab pos="314760" algn="l"/>
              </a:tabLst>
            </a:pPr>
            <a:r>
              <a:rPr sz="2672">
                <a:latin typeface="Arial MT"/>
                <a:cs typeface="Arial MT"/>
              </a:rPr>
              <a:t>C++</a:t>
            </a:r>
            <a:r>
              <a:rPr sz="2672" spc="80">
                <a:latin typeface="Arial MT"/>
                <a:cs typeface="Arial MT"/>
              </a:rPr>
              <a:t> </a:t>
            </a:r>
            <a:r>
              <a:rPr sz="2672">
                <a:latin typeface="Arial MT"/>
                <a:cs typeface="Arial MT"/>
              </a:rPr>
              <a:t>includes</a:t>
            </a:r>
            <a:r>
              <a:rPr sz="2672" spc="80">
                <a:latin typeface="Arial MT"/>
                <a:cs typeface="Arial MT"/>
              </a:rPr>
              <a:t> </a:t>
            </a:r>
            <a:r>
              <a:rPr sz="2672">
                <a:latin typeface="Arial MT"/>
                <a:cs typeface="Arial MT"/>
              </a:rPr>
              <a:t>a</a:t>
            </a:r>
            <a:r>
              <a:rPr sz="2672" spc="84">
                <a:latin typeface="Arial MT"/>
                <a:cs typeface="Arial MT"/>
              </a:rPr>
              <a:t> </a:t>
            </a:r>
            <a:r>
              <a:rPr sz="2672">
                <a:latin typeface="Arial MT"/>
                <a:cs typeface="Arial MT"/>
              </a:rPr>
              <a:t>specification,</a:t>
            </a:r>
            <a:r>
              <a:rPr sz="2672" spc="80">
                <a:latin typeface="Arial MT"/>
                <a:cs typeface="Arial MT"/>
              </a:rPr>
              <a:t> </a:t>
            </a:r>
            <a:r>
              <a:rPr sz="2672">
                <a:solidFill>
                  <a:srgbClr val="FF9300"/>
                </a:solidFill>
                <a:latin typeface="Arial MT"/>
                <a:cs typeface="Arial MT"/>
              </a:rPr>
              <a:t>namespace</a:t>
            </a:r>
            <a:r>
              <a:rPr sz="2672">
                <a:latin typeface="Arial MT"/>
                <a:cs typeface="Arial MT"/>
              </a:rPr>
              <a:t>,</a:t>
            </a:r>
            <a:r>
              <a:rPr sz="2672" spc="84">
                <a:latin typeface="Arial MT"/>
                <a:cs typeface="Arial MT"/>
              </a:rPr>
              <a:t> </a:t>
            </a:r>
            <a:r>
              <a:rPr sz="2672" spc="-14">
                <a:latin typeface="Arial MT"/>
                <a:cs typeface="Arial MT"/>
              </a:rPr>
              <a:t>that 	</a:t>
            </a:r>
            <a:r>
              <a:rPr sz="2672">
                <a:latin typeface="Arial MT"/>
                <a:cs typeface="Arial MT"/>
              </a:rPr>
              <a:t>helps</a:t>
            </a:r>
            <a:r>
              <a:rPr sz="2672" spc="42">
                <a:latin typeface="Arial MT"/>
                <a:cs typeface="Arial MT"/>
              </a:rPr>
              <a:t> </a:t>
            </a:r>
            <a:r>
              <a:rPr sz="2672">
                <a:latin typeface="Arial MT"/>
                <a:cs typeface="Arial MT"/>
              </a:rPr>
              <a:t>programs</a:t>
            </a:r>
            <a:r>
              <a:rPr sz="2672" spc="46">
                <a:latin typeface="Arial MT"/>
                <a:cs typeface="Arial MT"/>
              </a:rPr>
              <a:t> </a:t>
            </a:r>
            <a:r>
              <a:rPr sz="2672">
                <a:latin typeface="Arial MT"/>
                <a:cs typeface="Arial MT"/>
              </a:rPr>
              <a:t>manage</a:t>
            </a:r>
            <a:r>
              <a:rPr sz="2672" spc="46">
                <a:latin typeface="Arial MT"/>
                <a:cs typeface="Arial MT"/>
              </a:rPr>
              <a:t> </a:t>
            </a:r>
            <a:r>
              <a:rPr sz="2672">
                <a:latin typeface="Arial MT"/>
                <a:cs typeface="Arial MT"/>
              </a:rPr>
              <a:t>the</a:t>
            </a:r>
            <a:r>
              <a:rPr sz="2672" spc="46">
                <a:latin typeface="Arial MT"/>
                <a:cs typeface="Arial MT"/>
              </a:rPr>
              <a:t> </a:t>
            </a:r>
            <a:r>
              <a:rPr sz="2672">
                <a:latin typeface="Arial MT"/>
                <a:cs typeface="Arial MT"/>
              </a:rPr>
              <a:t>problem</a:t>
            </a:r>
            <a:r>
              <a:rPr sz="2672" spc="46">
                <a:latin typeface="Arial MT"/>
                <a:cs typeface="Arial MT"/>
              </a:rPr>
              <a:t> </a:t>
            </a:r>
            <a:r>
              <a:rPr sz="2672" spc="42">
                <a:latin typeface="Arial MT"/>
                <a:cs typeface="Arial MT"/>
              </a:rPr>
              <a:t>of</a:t>
            </a:r>
            <a:r>
              <a:rPr sz="2672" spc="46">
                <a:latin typeface="Arial MT"/>
                <a:cs typeface="Arial MT"/>
              </a:rPr>
              <a:t> </a:t>
            </a:r>
            <a:r>
              <a:rPr sz="2672" spc="-7">
                <a:solidFill>
                  <a:srgbClr val="FF9300"/>
                </a:solidFill>
                <a:latin typeface="Arial MT"/>
                <a:cs typeface="Arial MT"/>
              </a:rPr>
              <a:t>global 	namespaces</a:t>
            </a:r>
            <a:r>
              <a:rPr sz="2672" spc="-7">
                <a:latin typeface="Arial MT"/>
                <a:cs typeface="Arial MT"/>
              </a:rPr>
              <a:t>.</a:t>
            </a:r>
            <a:endParaRPr sz="2672">
              <a:latin typeface="Arial MT"/>
              <a:cs typeface="Arial MT"/>
            </a:endParaRPr>
          </a:p>
          <a:p>
            <a:pPr marL="313867" marR="12501" indent="-296009">
              <a:lnSpc>
                <a:spcPts val="3164"/>
              </a:lnSpc>
              <a:spcBef>
                <a:spcPts val="2777"/>
              </a:spcBef>
              <a:buSzPct val="144736"/>
              <a:buChar char="•"/>
              <a:tabLst>
                <a:tab pos="314760" algn="l"/>
              </a:tabLst>
            </a:pPr>
            <a:r>
              <a:rPr sz="2672">
                <a:latin typeface="Arial MT"/>
                <a:cs typeface="Arial MT"/>
              </a:rPr>
              <a:t>One can place each</a:t>
            </a:r>
            <a:r>
              <a:rPr sz="2672" spc="4">
                <a:latin typeface="Arial MT"/>
                <a:cs typeface="Arial MT"/>
              </a:rPr>
              <a:t> </a:t>
            </a:r>
            <a:r>
              <a:rPr sz="2672">
                <a:solidFill>
                  <a:srgbClr val="FF9300"/>
                </a:solidFill>
                <a:latin typeface="Arial MT"/>
                <a:cs typeface="Arial MT"/>
              </a:rPr>
              <a:t>library </a:t>
            </a:r>
            <a:r>
              <a:rPr sz="2672">
                <a:latin typeface="Arial MT"/>
                <a:cs typeface="Arial MT"/>
              </a:rPr>
              <a:t>in its</a:t>
            </a:r>
            <a:r>
              <a:rPr sz="2672" spc="4">
                <a:latin typeface="Arial MT"/>
                <a:cs typeface="Arial MT"/>
              </a:rPr>
              <a:t> </a:t>
            </a:r>
            <a:r>
              <a:rPr sz="2672" spc="-18">
                <a:solidFill>
                  <a:srgbClr val="FF9300"/>
                </a:solidFill>
                <a:latin typeface="Arial MT"/>
                <a:cs typeface="Arial MT"/>
              </a:rPr>
              <a:t>own 	</a:t>
            </a:r>
            <a:r>
              <a:rPr sz="2672">
                <a:solidFill>
                  <a:srgbClr val="FF9300"/>
                </a:solidFill>
                <a:latin typeface="Arial MT"/>
                <a:cs typeface="Arial MT"/>
              </a:rPr>
              <a:t>namespace</a:t>
            </a:r>
            <a:r>
              <a:rPr sz="2672" spc="7">
                <a:solidFill>
                  <a:srgbClr val="FF9300"/>
                </a:solidFill>
                <a:latin typeface="Arial MT"/>
                <a:cs typeface="Arial MT"/>
              </a:rPr>
              <a:t> </a:t>
            </a:r>
            <a:r>
              <a:rPr sz="2672">
                <a:latin typeface="Arial MT"/>
                <a:cs typeface="Arial MT"/>
              </a:rPr>
              <a:t>and</a:t>
            </a:r>
            <a:r>
              <a:rPr sz="2672" spc="11">
                <a:latin typeface="Arial MT"/>
                <a:cs typeface="Arial MT"/>
              </a:rPr>
              <a:t> </a:t>
            </a:r>
            <a:r>
              <a:rPr sz="2672">
                <a:latin typeface="Arial MT"/>
                <a:cs typeface="Arial MT"/>
              </a:rPr>
              <a:t>qualify</a:t>
            </a:r>
            <a:r>
              <a:rPr sz="2672" spc="11">
                <a:latin typeface="Arial MT"/>
                <a:cs typeface="Arial MT"/>
              </a:rPr>
              <a:t> </a:t>
            </a:r>
            <a:r>
              <a:rPr sz="2672">
                <a:latin typeface="Arial MT"/>
                <a:cs typeface="Arial MT"/>
              </a:rPr>
              <a:t>the</a:t>
            </a:r>
            <a:r>
              <a:rPr sz="2672" spc="7">
                <a:latin typeface="Arial MT"/>
                <a:cs typeface="Arial MT"/>
              </a:rPr>
              <a:t> </a:t>
            </a:r>
            <a:r>
              <a:rPr sz="2672">
                <a:latin typeface="Arial MT"/>
                <a:cs typeface="Arial MT"/>
              </a:rPr>
              <a:t>names</a:t>
            </a:r>
            <a:r>
              <a:rPr sz="2672" spc="11">
                <a:latin typeface="Arial MT"/>
                <a:cs typeface="Arial MT"/>
              </a:rPr>
              <a:t> </a:t>
            </a:r>
            <a:r>
              <a:rPr sz="2672">
                <a:latin typeface="Arial MT"/>
                <a:cs typeface="Arial MT"/>
              </a:rPr>
              <a:t>in</a:t>
            </a:r>
            <a:r>
              <a:rPr sz="2672" spc="11">
                <a:latin typeface="Arial MT"/>
                <a:cs typeface="Arial MT"/>
              </a:rPr>
              <a:t> </a:t>
            </a:r>
            <a:r>
              <a:rPr sz="2672" spc="-18">
                <a:latin typeface="Arial MT"/>
                <a:cs typeface="Arial MT"/>
              </a:rPr>
              <a:t>the 	</a:t>
            </a:r>
            <a:r>
              <a:rPr sz="2672">
                <a:latin typeface="Arial MT"/>
                <a:cs typeface="Arial MT"/>
              </a:rPr>
              <a:t>program</a:t>
            </a:r>
            <a:r>
              <a:rPr sz="2672" spc="18">
                <a:latin typeface="Arial MT"/>
                <a:cs typeface="Arial MT"/>
              </a:rPr>
              <a:t> </a:t>
            </a:r>
            <a:r>
              <a:rPr sz="2672" spc="46">
                <a:latin typeface="Arial MT"/>
                <a:cs typeface="Arial MT"/>
              </a:rPr>
              <a:t>with</a:t>
            </a:r>
            <a:r>
              <a:rPr sz="2672" spc="21">
                <a:latin typeface="Arial MT"/>
                <a:cs typeface="Arial MT"/>
              </a:rPr>
              <a:t> </a:t>
            </a:r>
            <a:r>
              <a:rPr sz="2672">
                <a:latin typeface="Arial MT"/>
                <a:cs typeface="Arial MT"/>
              </a:rPr>
              <a:t>the</a:t>
            </a:r>
            <a:r>
              <a:rPr sz="2672" spc="21">
                <a:latin typeface="Arial MT"/>
                <a:cs typeface="Arial MT"/>
              </a:rPr>
              <a:t> </a:t>
            </a:r>
            <a:r>
              <a:rPr sz="2672">
                <a:latin typeface="Arial MT"/>
                <a:cs typeface="Arial MT"/>
              </a:rPr>
              <a:t>name</a:t>
            </a:r>
            <a:r>
              <a:rPr sz="2672" spc="18">
                <a:latin typeface="Arial MT"/>
                <a:cs typeface="Arial MT"/>
              </a:rPr>
              <a:t> </a:t>
            </a:r>
            <a:r>
              <a:rPr sz="2672" spc="42">
                <a:latin typeface="Arial MT"/>
                <a:cs typeface="Arial MT"/>
              </a:rPr>
              <a:t>of</a:t>
            </a:r>
            <a:r>
              <a:rPr sz="2672" spc="21">
                <a:latin typeface="Arial MT"/>
                <a:cs typeface="Arial MT"/>
              </a:rPr>
              <a:t> </a:t>
            </a:r>
            <a:r>
              <a:rPr sz="2672">
                <a:latin typeface="Arial MT"/>
                <a:cs typeface="Arial MT"/>
              </a:rPr>
              <a:t>the</a:t>
            </a:r>
            <a:r>
              <a:rPr sz="2672" spc="21">
                <a:latin typeface="Arial MT"/>
                <a:cs typeface="Arial MT"/>
              </a:rPr>
              <a:t> </a:t>
            </a:r>
            <a:r>
              <a:rPr sz="2672">
                <a:latin typeface="Arial MT"/>
                <a:cs typeface="Arial MT"/>
              </a:rPr>
              <a:t>namespace</a:t>
            </a:r>
            <a:r>
              <a:rPr sz="2672" spc="21">
                <a:latin typeface="Arial MT"/>
                <a:cs typeface="Arial MT"/>
              </a:rPr>
              <a:t> </a:t>
            </a:r>
            <a:r>
              <a:rPr sz="2672" spc="-14">
                <a:latin typeface="Arial MT"/>
                <a:cs typeface="Arial MT"/>
              </a:rPr>
              <a:t>when 	</a:t>
            </a:r>
            <a:r>
              <a:rPr sz="2672">
                <a:latin typeface="Arial MT"/>
                <a:cs typeface="Arial MT"/>
              </a:rPr>
              <a:t>the</a:t>
            </a:r>
            <a:r>
              <a:rPr sz="2672" spc="11">
                <a:latin typeface="Arial MT"/>
                <a:cs typeface="Arial MT"/>
              </a:rPr>
              <a:t> </a:t>
            </a:r>
            <a:r>
              <a:rPr sz="2672">
                <a:latin typeface="Arial MT"/>
                <a:cs typeface="Arial MT"/>
              </a:rPr>
              <a:t>names</a:t>
            </a:r>
            <a:r>
              <a:rPr sz="2672" spc="14">
                <a:latin typeface="Arial MT"/>
                <a:cs typeface="Arial MT"/>
              </a:rPr>
              <a:t> </a:t>
            </a:r>
            <a:r>
              <a:rPr sz="2672">
                <a:latin typeface="Arial MT"/>
                <a:cs typeface="Arial MT"/>
              </a:rPr>
              <a:t>are</a:t>
            </a:r>
            <a:r>
              <a:rPr sz="2672" spc="14">
                <a:latin typeface="Arial MT"/>
                <a:cs typeface="Arial MT"/>
              </a:rPr>
              <a:t> </a:t>
            </a:r>
            <a:r>
              <a:rPr sz="2672">
                <a:latin typeface="Arial MT"/>
                <a:cs typeface="Arial MT"/>
              </a:rPr>
              <a:t>used</a:t>
            </a:r>
            <a:r>
              <a:rPr sz="2672" spc="14">
                <a:latin typeface="Arial MT"/>
                <a:cs typeface="Arial MT"/>
              </a:rPr>
              <a:t> </a:t>
            </a:r>
            <a:r>
              <a:rPr sz="2672">
                <a:latin typeface="Arial MT"/>
                <a:cs typeface="Arial MT"/>
              </a:rPr>
              <a:t>outside</a:t>
            </a:r>
            <a:r>
              <a:rPr sz="2672" spc="14">
                <a:latin typeface="Arial MT"/>
                <a:cs typeface="Arial MT"/>
              </a:rPr>
              <a:t> </a:t>
            </a:r>
            <a:r>
              <a:rPr sz="2672">
                <a:latin typeface="Arial MT"/>
                <a:cs typeface="Arial MT"/>
              </a:rPr>
              <a:t>that</a:t>
            </a:r>
            <a:r>
              <a:rPr sz="2672" spc="14">
                <a:latin typeface="Arial MT"/>
                <a:cs typeface="Arial MT"/>
              </a:rPr>
              <a:t> </a:t>
            </a:r>
            <a:r>
              <a:rPr sz="2672" spc="-7">
                <a:latin typeface="Arial MT"/>
                <a:cs typeface="Arial MT"/>
              </a:rPr>
              <a:t>namespace.</a:t>
            </a:r>
            <a:endParaRPr sz="2672">
              <a:latin typeface="Arial MT"/>
              <a:cs typeface="Arial MT"/>
            </a:endParaRPr>
          </a:p>
        </p:txBody>
      </p:sp>
      <p:pic>
        <p:nvPicPr>
          <p:cNvPr id="4" name="object 4"/>
          <p:cNvPicPr/>
          <p:nvPr/>
        </p:nvPicPr>
        <p:blipFill>
          <a:blip r:embed="rId2" cstate="print"/>
          <a:stretch>
            <a:fillRect/>
          </a:stretch>
        </p:blipFill>
        <p:spPr>
          <a:xfrm>
            <a:off x="3012820" y="4609068"/>
            <a:ext cx="3672998" cy="842813"/>
          </a:xfrm>
          <a:prstGeom prst="rect">
            <a:avLst/>
          </a:prstGeom>
        </p:spPr>
      </p:pic>
      <p:pic>
        <p:nvPicPr>
          <p:cNvPr id="5" name="object 5"/>
          <p:cNvPicPr/>
          <p:nvPr/>
        </p:nvPicPr>
        <p:blipFill>
          <a:blip r:embed="rId3" cstate="print"/>
          <a:stretch>
            <a:fillRect/>
          </a:stretch>
        </p:blipFill>
        <p:spPr>
          <a:xfrm>
            <a:off x="2999324" y="5935430"/>
            <a:ext cx="3554016" cy="205383"/>
          </a:xfrm>
          <a:prstGeom prst="rect">
            <a:avLst/>
          </a:prstGeom>
        </p:spPr>
      </p:pic>
      <p:pic>
        <p:nvPicPr>
          <p:cNvPr id="6" name="object 6"/>
          <p:cNvPicPr/>
          <p:nvPr/>
        </p:nvPicPr>
        <p:blipFill>
          <a:blip r:embed="rId4" cstate="print"/>
          <a:stretch>
            <a:fillRect/>
          </a:stretch>
        </p:blipFill>
        <p:spPr>
          <a:xfrm>
            <a:off x="2938289" y="6462040"/>
            <a:ext cx="3821906" cy="205383"/>
          </a:xfrm>
          <a:prstGeom prst="rect">
            <a:avLst/>
          </a:prstGeom>
        </p:spPr>
      </p:pic>
      <p:sp>
        <p:nvSpPr>
          <p:cNvPr id="7" name="Footer Placeholder 6">
            <a:extLst>
              <a:ext uri="{FF2B5EF4-FFF2-40B4-BE49-F238E27FC236}">
                <a16:creationId xmlns:a16="http://schemas.microsoft.com/office/drawing/2014/main" id="{B26BF8DB-C3AC-A627-51DE-082E0A2A58D3}"/>
              </a:ext>
            </a:extLst>
          </p:cNvPr>
          <p:cNvSpPr>
            <a:spLocks noGrp="1"/>
          </p:cNvSpPr>
          <p:nvPr>
            <p:ph type="ftr" sz="quarter" idx="11"/>
          </p:nvPr>
        </p:nvSpPr>
        <p:spPr/>
        <p:txBody>
          <a:bodyPr/>
          <a:lstStyle/>
          <a:p>
            <a:r>
              <a:rPr lang="en-US"/>
              <a:t>Ms. ALF. Sajeetha</a:t>
            </a:r>
          </a:p>
        </p:txBody>
      </p:sp>
      <p:sp>
        <p:nvSpPr>
          <p:cNvPr id="8" name="Slide Number Placeholder 7">
            <a:extLst>
              <a:ext uri="{FF2B5EF4-FFF2-40B4-BE49-F238E27FC236}">
                <a16:creationId xmlns:a16="http://schemas.microsoft.com/office/drawing/2014/main" id="{285BBD7F-DA03-16B0-C674-C0A8D59F2BE2}"/>
              </a:ext>
            </a:extLst>
          </p:cNvPr>
          <p:cNvSpPr>
            <a:spLocks noGrp="1"/>
          </p:cNvSpPr>
          <p:nvPr>
            <p:ph type="sldNum" sz="quarter" idx="12"/>
          </p:nvPr>
        </p:nvSpPr>
        <p:spPr/>
        <p:txBody>
          <a:bodyPr/>
          <a:lstStyle/>
          <a:p>
            <a:fld id="{48F63A3B-78C7-47BE-AE5E-E10140E04643}" type="slidenum">
              <a:rPr lang="en-US" dirty="0"/>
              <a:t>37</a:t>
            </a:fld>
            <a:endParaRPr lang="en-US"/>
          </a:p>
        </p:txBody>
      </p:sp>
    </p:spTree>
    <p:extLst>
      <p:ext uri="{BB962C8B-B14F-4D97-AF65-F5344CB8AC3E}">
        <p14:creationId xmlns:p14="http://schemas.microsoft.com/office/powerpoint/2010/main" val="7074566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8652" y="193060"/>
            <a:ext cx="10515600" cy="1325563"/>
          </a:xfrm>
          <a:prstGeom prst="rect">
            <a:avLst/>
          </a:prstGeom>
        </p:spPr>
        <p:txBody>
          <a:bodyPr vert="horz" wrap="square" lIns="0" tIns="8930" rIns="0" bIns="0" rtlCol="0">
            <a:spAutoFit/>
          </a:bodyPr>
          <a:lstStyle/>
          <a:p>
            <a:pPr marL="748281">
              <a:lnSpc>
                <a:spcPct val="100000"/>
              </a:lnSpc>
              <a:spcBef>
                <a:spcPts val="70"/>
              </a:spcBef>
            </a:pPr>
            <a:r>
              <a:rPr spc="70"/>
              <a:t>Naming</a:t>
            </a:r>
            <a:r>
              <a:rPr spc="7"/>
              <a:t> </a:t>
            </a:r>
            <a:r>
              <a:rPr spc="80"/>
              <a:t>Encapsulations</a:t>
            </a:r>
            <a:r>
              <a:rPr spc="11"/>
              <a:t> </a:t>
            </a:r>
            <a:r>
              <a:rPr spc="225"/>
              <a:t>-</a:t>
            </a:r>
            <a:r>
              <a:rPr spc="7"/>
              <a:t> </a:t>
            </a:r>
            <a:r>
              <a:rPr spc="28"/>
              <a:t>Java</a:t>
            </a:r>
          </a:p>
        </p:txBody>
      </p:sp>
      <p:sp>
        <p:nvSpPr>
          <p:cNvPr id="3" name="object 3"/>
          <p:cNvSpPr txBox="1"/>
          <p:nvPr/>
        </p:nvSpPr>
        <p:spPr>
          <a:xfrm>
            <a:off x="1166909" y="1716461"/>
            <a:ext cx="9865350" cy="2624386"/>
          </a:xfrm>
          <a:prstGeom prst="rect">
            <a:avLst/>
          </a:prstGeom>
        </p:spPr>
        <p:txBody>
          <a:bodyPr vert="horz" wrap="square" lIns="0" tIns="3125" rIns="0" bIns="0" rtlCol="0">
            <a:spAutoFit/>
          </a:bodyPr>
          <a:lstStyle/>
          <a:p>
            <a:pPr marL="261184" marR="945174" indent="-243772">
              <a:lnSpc>
                <a:spcPct val="102200"/>
              </a:lnSpc>
              <a:spcBef>
                <a:spcPts val="25"/>
              </a:spcBef>
              <a:buSzPct val="145161"/>
              <a:buChar char="•"/>
              <a:tabLst>
                <a:tab pos="261184" algn="l"/>
              </a:tabLst>
            </a:pPr>
            <a:r>
              <a:rPr sz="2180">
                <a:latin typeface="Arial MT"/>
                <a:cs typeface="Arial MT"/>
              </a:rPr>
              <a:t>Java</a:t>
            </a:r>
            <a:r>
              <a:rPr sz="2180" spc="53">
                <a:latin typeface="Arial MT"/>
                <a:cs typeface="Arial MT"/>
              </a:rPr>
              <a:t> </a:t>
            </a:r>
            <a:r>
              <a:rPr sz="2180">
                <a:latin typeface="Arial MT"/>
                <a:cs typeface="Arial MT"/>
              </a:rPr>
              <a:t>includes</a:t>
            </a:r>
            <a:r>
              <a:rPr sz="2180" spc="56">
                <a:latin typeface="Arial MT"/>
                <a:cs typeface="Arial MT"/>
              </a:rPr>
              <a:t> </a:t>
            </a:r>
            <a:r>
              <a:rPr sz="2180">
                <a:latin typeface="Arial MT"/>
                <a:cs typeface="Arial MT"/>
              </a:rPr>
              <a:t>a</a:t>
            </a:r>
            <a:r>
              <a:rPr sz="2180" spc="56">
                <a:latin typeface="Arial MT"/>
                <a:cs typeface="Arial MT"/>
              </a:rPr>
              <a:t> </a:t>
            </a:r>
            <a:r>
              <a:rPr sz="2180">
                <a:latin typeface="Arial MT"/>
                <a:cs typeface="Arial MT"/>
              </a:rPr>
              <a:t>naming</a:t>
            </a:r>
            <a:r>
              <a:rPr sz="2180" spc="53">
                <a:latin typeface="Arial MT"/>
                <a:cs typeface="Arial MT"/>
              </a:rPr>
              <a:t> </a:t>
            </a:r>
            <a:r>
              <a:rPr sz="2180">
                <a:latin typeface="Arial MT"/>
                <a:cs typeface="Arial MT"/>
              </a:rPr>
              <a:t>encapsulation</a:t>
            </a:r>
            <a:r>
              <a:rPr sz="2180" spc="56">
                <a:latin typeface="Arial MT"/>
                <a:cs typeface="Arial MT"/>
              </a:rPr>
              <a:t> </a:t>
            </a:r>
            <a:r>
              <a:rPr sz="2180" spc="35">
                <a:latin typeface="Arial MT"/>
                <a:cs typeface="Arial MT"/>
              </a:rPr>
              <a:t>construct:</a:t>
            </a:r>
            <a:r>
              <a:rPr sz="2180" spc="56">
                <a:latin typeface="Arial MT"/>
                <a:cs typeface="Arial MT"/>
              </a:rPr>
              <a:t> </a:t>
            </a:r>
            <a:r>
              <a:rPr sz="2180" spc="-18">
                <a:latin typeface="Arial MT"/>
                <a:cs typeface="Arial MT"/>
              </a:rPr>
              <a:t>the </a:t>
            </a:r>
            <a:r>
              <a:rPr sz="2180" spc="-7">
                <a:solidFill>
                  <a:srgbClr val="FF9300"/>
                </a:solidFill>
                <a:latin typeface="Arial MT"/>
                <a:cs typeface="Arial MT"/>
              </a:rPr>
              <a:t>package</a:t>
            </a:r>
            <a:r>
              <a:rPr sz="2180" spc="-7">
                <a:latin typeface="Arial MT"/>
                <a:cs typeface="Arial MT"/>
              </a:rPr>
              <a:t>.</a:t>
            </a:r>
            <a:endParaRPr sz="2180">
              <a:latin typeface="Arial MT"/>
              <a:cs typeface="Arial MT"/>
            </a:endParaRPr>
          </a:p>
          <a:p>
            <a:pPr marL="261184" marR="392892" indent="-243772">
              <a:lnSpc>
                <a:spcPct val="102200"/>
              </a:lnSpc>
              <a:spcBef>
                <a:spcPts val="2303"/>
              </a:spcBef>
              <a:buSzPct val="145161"/>
              <a:buChar char="•"/>
              <a:tabLst>
                <a:tab pos="261184" algn="l"/>
              </a:tabLst>
            </a:pPr>
            <a:r>
              <a:rPr sz="2180">
                <a:latin typeface="Arial MT"/>
                <a:cs typeface="Arial MT"/>
              </a:rPr>
              <a:t>Packages</a:t>
            </a:r>
            <a:r>
              <a:rPr sz="2180" spc="70">
                <a:latin typeface="Arial MT"/>
                <a:cs typeface="Arial MT"/>
              </a:rPr>
              <a:t> </a:t>
            </a:r>
            <a:r>
              <a:rPr sz="2180">
                <a:latin typeface="Arial MT"/>
                <a:cs typeface="Arial MT"/>
              </a:rPr>
              <a:t>can</a:t>
            </a:r>
            <a:r>
              <a:rPr sz="2180" spc="70">
                <a:latin typeface="Arial MT"/>
                <a:cs typeface="Arial MT"/>
              </a:rPr>
              <a:t> </a:t>
            </a:r>
            <a:r>
              <a:rPr sz="2180">
                <a:latin typeface="Arial MT"/>
                <a:cs typeface="Arial MT"/>
              </a:rPr>
              <a:t>contain</a:t>
            </a:r>
            <a:r>
              <a:rPr sz="2180" spc="70">
                <a:latin typeface="Arial MT"/>
                <a:cs typeface="Arial MT"/>
              </a:rPr>
              <a:t> </a:t>
            </a:r>
            <a:r>
              <a:rPr sz="2180">
                <a:latin typeface="Arial MT"/>
                <a:cs typeface="Arial MT"/>
              </a:rPr>
              <a:t>more</a:t>
            </a:r>
            <a:r>
              <a:rPr sz="2180" spc="70">
                <a:latin typeface="Arial MT"/>
                <a:cs typeface="Arial MT"/>
              </a:rPr>
              <a:t> </a:t>
            </a:r>
            <a:r>
              <a:rPr sz="2180">
                <a:latin typeface="Arial MT"/>
                <a:cs typeface="Arial MT"/>
              </a:rPr>
              <a:t>than</a:t>
            </a:r>
            <a:r>
              <a:rPr sz="2180" spc="70">
                <a:latin typeface="Arial MT"/>
                <a:cs typeface="Arial MT"/>
              </a:rPr>
              <a:t> </a:t>
            </a:r>
            <a:r>
              <a:rPr sz="2180">
                <a:solidFill>
                  <a:srgbClr val="FF9300"/>
                </a:solidFill>
                <a:latin typeface="Arial MT"/>
                <a:cs typeface="Arial MT"/>
              </a:rPr>
              <a:t>one</a:t>
            </a:r>
            <a:r>
              <a:rPr sz="2180" spc="70">
                <a:solidFill>
                  <a:srgbClr val="FF9300"/>
                </a:solidFill>
                <a:latin typeface="Arial MT"/>
                <a:cs typeface="Arial MT"/>
              </a:rPr>
              <a:t> </a:t>
            </a:r>
            <a:r>
              <a:rPr sz="2180">
                <a:solidFill>
                  <a:srgbClr val="FF9300"/>
                </a:solidFill>
                <a:latin typeface="Arial MT"/>
                <a:cs typeface="Arial MT"/>
              </a:rPr>
              <a:t>type</a:t>
            </a:r>
            <a:r>
              <a:rPr sz="2180" spc="70">
                <a:solidFill>
                  <a:srgbClr val="FF9300"/>
                </a:solidFill>
                <a:latin typeface="Arial MT"/>
                <a:cs typeface="Arial MT"/>
              </a:rPr>
              <a:t> </a:t>
            </a:r>
            <a:r>
              <a:rPr sz="2180">
                <a:solidFill>
                  <a:srgbClr val="FF9300"/>
                </a:solidFill>
                <a:latin typeface="Arial MT"/>
                <a:cs typeface="Arial MT"/>
              </a:rPr>
              <a:t>definition</a:t>
            </a:r>
            <a:r>
              <a:rPr sz="2180">
                <a:latin typeface="Arial MT"/>
                <a:cs typeface="Arial MT"/>
              </a:rPr>
              <a:t>,</a:t>
            </a:r>
            <a:r>
              <a:rPr sz="2180" spc="70">
                <a:latin typeface="Arial MT"/>
                <a:cs typeface="Arial MT"/>
              </a:rPr>
              <a:t> </a:t>
            </a:r>
            <a:r>
              <a:rPr sz="2180" spc="-18">
                <a:latin typeface="Arial MT"/>
                <a:cs typeface="Arial MT"/>
              </a:rPr>
              <a:t>and </a:t>
            </a:r>
            <a:r>
              <a:rPr sz="2180">
                <a:latin typeface="Arial MT"/>
                <a:cs typeface="Arial MT"/>
              </a:rPr>
              <a:t>the</a:t>
            </a:r>
            <a:r>
              <a:rPr sz="2180" spc="28">
                <a:latin typeface="Arial MT"/>
                <a:cs typeface="Arial MT"/>
              </a:rPr>
              <a:t> </a:t>
            </a:r>
            <a:r>
              <a:rPr sz="2180">
                <a:latin typeface="Arial MT"/>
                <a:cs typeface="Arial MT"/>
              </a:rPr>
              <a:t>types</a:t>
            </a:r>
            <a:r>
              <a:rPr sz="2180" spc="32">
                <a:latin typeface="Arial MT"/>
                <a:cs typeface="Arial MT"/>
              </a:rPr>
              <a:t> </a:t>
            </a:r>
            <a:r>
              <a:rPr sz="2180">
                <a:latin typeface="Arial MT"/>
                <a:cs typeface="Arial MT"/>
              </a:rPr>
              <a:t>in</a:t>
            </a:r>
            <a:r>
              <a:rPr sz="2180" spc="32">
                <a:latin typeface="Arial MT"/>
                <a:cs typeface="Arial MT"/>
              </a:rPr>
              <a:t> </a:t>
            </a:r>
            <a:r>
              <a:rPr sz="2180">
                <a:latin typeface="Arial MT"/>
                <a:cs typeface="Arial MT"/>
              </a:rPr>
              <a:t>a</a:t>
            </a:r>
            <a:r>
              <a:rPr sz="2180" spc="32">
                <a:latin typeface="Arial MT"/>
                <a:cs typeface="Arial MT"/>
              </a:rPr>
              <a:t> </a:t>
            </a:r>
            <a:r>
              <a:rPr sz="2180">
                <a:latin typeface="Arial MT"/>
                <a:cs typeface="Arial MT"/>
              </a:rPr>
              <a:t>package</a:t>
            </a:r>
            <a:r>
              <a:rPr sz="2180" spc="28">
                <a:latin typeface="Arial MT"/>
                <a:cs typeface="Arial MT"/>
              </a:rPr>
              <a:t> </a:t>
            </a:r>
            <a:r>
              <a:rPr sz="2180">
                <a:latin typeface="Arial MT"/>
                <a:cs typeface="Arial MT"/>
              </a:rPr>
              <a:t>are</a:t>
            </a:r>
            <a:r>
              <a:rPr sz="2180" spc="32">
                <a:latin typeface="Arial MT"/>
                <a:cs typeface="Arial MT"/>
              </a:rPr>
              <a:t> </a:t>
            </a:r>
            <a:r>
              <a:rPr sz="2180">
                <a:solidFill>
                  <a:srgbClr val="FF9300"/>
                </a:solidFill>
                <a:latin typeface="Arial MT"/>
                <a:cs typeface="Arial MT"/>
              </a:rPr>
              <a:t>partial</a:t>
            </a:r>
            <a:r>
              <a:rPr sz="2180" spc="32">
                <a:solidFill>
                  <a:srgbClr val="FF9300"/>
                </a:solidFill>
                <a:latin typeface="Arial MT"/>
                <a:cs typeface="Arial MT"/>
              </a:rPr>
              <a:t> </a:t>
            </a:r>
            <a:r>
              <a:rPr sz="2180">
                <a:solidFill>
                  <a:srgbClr val="FF9300"/>
                </a:solidFill>
                <a:latin typeface="Arial MT"/>
                <a:cs typeface="Arial MT"/>
              </a:rPr>
              <a:t>friends</a:t>
            </a:r>
            <a:r>
              <a:rPr sz="2180" spc="32">
                <a:solidFill>
                  <a:srgbClr val="FF9300"/>
                </a:solidFill>
                <a:latin typeface="Arial MT"/>
                <a:cs typeface="Arial MT"/>
              </a:rPr>
              <a:t> </a:t>
            </a:r>
            <a:r>
              <a:rPr sz="2180" spc="35">
                <a:latin typeface="Arial MT"/>
                <a:cs typeface="Arial MT"/>
              </a:rPr>
              <a:t>of</a:t>
            </a:r>
            <a:r>
              <a:rPr sz="2180" spc="28">
                <a:latin typeface="Arial MT"/>
                <a:cs typeface="Arial MT"/>
              </a:rPr>
              <a:t> </a:t>
            </a:r>
            <a:r>
              <a:rPr sz="2180">
                <a:latin typeface="Arial MT"/>
                <a:cs typeface="Arial MT"/>
              </a:rPr>
              <a:t>one</a:t>
            </a:r>
            <a:r>
              <a:rPr sz="2180" spc="32">
                <a:latin typeface="Arial MT"/>
                <a:cs typeface="Arial MT"/>
              </a:rPr>
              <a:t> </a:t>
            </a:r>
            <a:r>
              <a:rPr sz="2180" spc="-7">
                <a:latin typeface="Arial MT"/>
                <a:cs typeface="Arial MT"/>
              </a:rPr>
              <a:t>another.</a:t>
            </a:r>
            <a:endParaRPr sz="2180">
              <a:latin typeface="Arial MT"/>
              <a:cs typeface="Arial MT"/>
            </a:endParaRPr>
          </a:p>
          <a:p>
            <a:pPr marL="261184" marR="12501" indent="-243772">
              <a:lnSpc>
                <a:spcPct val="102200"/>
              </a:lnSpc>
              <a:spcBef>
                <a:spcPts val="2303"/>
              </a:spcBef>
              <a:buSzPct val="145161"/>
              <a:buChar char="•"/>
              <a:tabLst>
                <a:tab pos="261184" algn="l"/>
              </a:tabLst>
            </a:pPr>
            <a:r>
              <a:rPr sz="2180">
                <a:latin typeface="Arial MT"/>
                <a:cs typeface="Arial MT"/>
              </a:rPr>
              <a:t>Partial</a:t>
            </a:r>
            <a:r>
              <a:rPr sz="2180" spc="18">
                <a:latin typeface="Arial MT"/>
                <a:cs typeface="Arial MT"/>
              </a:rPr>
              <a:t> </a:t>
            </a:r>
            <a:r>
              <a:rPr sz="2180">
                <a:latin typeface="Arial MT"/>
                <a:cs typeface="Arial MT"/>
              </a:rPr>
              <a:t>here</a:t>
            </a:r>
            <a:r>
              <a:rPr sz="2180" spc="21">
                <a:latin typeface="Arial MT"/>
                <a:cs typeface="Arial MT"/>
              </a:rPr>
              <a:t> </a:t>
            </a:r>
            <a:r>
              <a:rPr sz="2180">
                <a:latin typeface="Arial MT"/>
                <a:cs typeface="Arial MT"/>
              </a:rPr>
              <a:t>means</a:t>
            </a:r>
            <a:r>
              <a:rPr sz="2180" spc="21">
                <a:latin typeface="Arial MT"/>
                <a:cs typeface="Arial MT"/>
              </a:rPr>
              <a:t> </a:t>
            </a:r>
            <a:r>
              <a:rPr sz="2180">
                <a:latin typeface="Arial MT"/>
                <a:cs typeface="Arial MT"/>
              </a:rPr>
              <a:t>that</a:t>
            </a:r>
            <a:r>
              <a:rPr sz="2180" spc="21">
                <a:latin typeface="Arial MT"/>
                <a:cs typeface="Arial MT"/>
              </a:rPr>
              <a:t> </a:t>
            </a:r>
            <a:r>
              <a:rPr sz="2180">
                <a:latin typeface="Arial MT"/>
                <a:cs typeface="Arial MT"/>
              </a:rPr>
              <a:t>the</a:t>
            </a:r>
            <a:r>
              <a:rPr sz="2180" spc="21">
                <a:latin typeface="Arial MT"/>
                <a:cs typeface="Arial MT"/>
              </a:rPr>
              <a:t> </a:t>
            </a:r>
            <a:r>
              <a:rPr sz="2180">
                <a:latin typeface="Arial MT"/>
                <a:cs typeface="Arial MT"/>
              </a:rPr>
              <a:t>entities</a:t>
            </a:r>
            <a:r>
              <a:rPr sz="2180" spc="21">
                <a:latin typeface="Arial MT"/>
                <a:cs typeface="Arial MT"/>
              </a:rPr>
              <a:t> </a:t>
            </a:r>
            <a:r>
              <a:rPr sz="2180">
                <a:latin typeface="Arial MT"/>
                <a:cs typeface="Arial MT"/>
              </a:rPr>
              <a:t>defined</a:t>
            </a:r>
            <a:r>
              <a:rPr sz="2180" spc="18">
                <a:latin typeface="Arial MT"/>
                <a:cs typeface="Arial MT"/>
              </a:rPr>
              <a:t> </a:t>
            </a:r>
            <a:r>
              <a:rPr sz="2180">
                <a:latin typeface="Arial MT"/>
                <a:cs typeface="Arial MT"/>
              </a:rPr>
              <a:t>in</a:t>
            </a:r>
            <a:r>
              <a:rPr sz="2180" spc="21">
                <a:latin typeface="Arial MT"/>
                <a:cs typeface="Arial MT"/>
              </a:rPr>
              <a:t> </a:t>
            </a:r>
            <a:r>
              <a:rPr sz="2180">
                <a:latin typeface="Arial MT"/>
                <a:cs typeface="Arial MT"/>
              </a:rPr>
              <a:t>a</a:t>
            </a:r>
            <a:r>
              <a:rPr sz="2180" spc="21">
                <a:latin typeface="Arial MT"/>
                <a:cs typeface="Arial MT"/>
              </a:rPr>
              <a:t> </a:t>
            </a:r>
            <a:r>
              <a:rPr sz="2180">
                <a:latin typeface="Arial MT"/>
                <a:cs typeface="Arial MT"/>
              </a:rPr>
              <a:t>type</a:t>
            </a:r>
            <a:r>
              <a:rPr sz="2180" spc="21">
                <a:latin typeface="Arial MT"/>
                <a:cs typeface="Arial MT"/>
              </a:rPr>
              <a:t> </a:t>
            </a:r>
            <a:r>
              <a:rPr sz="2180">
                <a:latin typeface="Arial MT"/>
                <a:cs typeface="Arial MT"/>
              </a:rPr>
              <a:t>in</a:t>
            </a:r>
            <a:r>
              <a:rPr sz="2180" spc="21">
                <a:latin typeface="Arial MT"/>
                <a:cs typeface="Arial MT"/>
              </a:rPr>
              <a:t> </a:t>
            </a:r>
            <a:r>
              <a:rPr sz="2180" spc="-35">
                <a:latin typeface="Arial MT"/>
                <a:cs typeface="Arial MT"/>
              </a:rPr>
              <a:t>a </a:t>
            </a:r>
            <a:r>
              <a:rPr sz="2180">
                <a:latin typeface="Arial MT"/>
                <a:cs typeface="Arial MT"/>
              </a:rPr>
              <a:t>package</a:t>
            </a:r>
            <a:r>
              <a:rPr sz="2180" spc="21">
                <a:latin typeface="Arial MT"/>
                <a:cs typeface="Arial MT"/>
              </a:rPr>
              <a:t> </a:t>
            </a:r>
            <a:r>
              <a:rPr sz="2180">
                <a:latin typeface="Arial MT"/>
                <a:cs typeface="Arial MT"/>
              </a:rPr>
              <a:t>that</a:t>
            </a:r>
            <a:r>
              <a:rPr sz="2180" spc="21">
                <a:latin typeface="Arial MT"/>
                <a:cs typeface="Arial MT"/>
              </a:rPr>
              <a:t> </a:t>
            </a:r>
            <a:r>
              <a:rPr sz="2180">
                <a:latin typeface="Arial MT"/>
                <a:cs typeface="Arial MT"/>
              </a:rPr>
              <a:t>either</a:t>
            </a:r>
            <a:r>
              <a:rPr sz="2180" spc="21">
                <a:latin typeface="Arial MT"/>
                <a:cs typeface="Arial MT"/>
              </a:rPr>
              <a:t> </a:t>
            </a:r>
            <a:r>
              <a:rPr sz="2180">
                <a:latin typeface="Arial MT"/>
                <a:cs typeface="Arial MT"/>
              </a:rPr>
              <a:t>are</a:t>
            </a:r>
            <a:r>
              <a:rPr sz="2180" spc="21">
                <a:latin typeface="Arial MT"/>
                <a:cs typeface="Arial MT"/>
              </a:rPr>
              <a:t> </a:t>
            </a:r>
            <a:r>
              <a:rPr sz="2180" spc="35">
                <a:solidFill>
                  <a:srgbClr val="FF9300"/>
                </a:solidFill>
                <a:latin typeface="Arial MT"/>
                <a:cs typeface="Arial MT"/>
              </a:rPr>
              <a:t>public</a:t>
            </a:r>
            <a:r>
              <a:rPr sz="2180" spc="21">
                <a:solidFill>
                  <a:srgbClr val="FF9300"/>
                </a:solidFill>
                <a:latin typeface="Arial MT"/>
                <a:cs typeface="Arial MT"/>
              </a:rPr>
              <a:t> </a:t>
            </a:r>
            <a:r>
              <a:rPr sz="2180">
                <a:latin typeface="Arial MT"/>
                <a:cs typeface="Arial MT"/>
              </a:rPr>
              <a:t>or</a:t>
            </a:r>
            <a:r>
              <a:rPr sz="2180" spc="21">
                <a:latin typeface="Arial MT"/>
                <a:cs typeface="Arial MT"/>
              </a:rPr>
              <a:t> </a:t>
            </a:r>
            <a:r>
              <a:rPr sz="2180" spc="35">
                <a:solidFill>
                  <a:srgbClr val="FF9300"/>
                </a:solidFill>
                <a:latin typeface="Arial MT"/>
                <a:cs typeface="Arial MT"/>
              </a:rPr>
              <a:t>protected</a:t>
            </a:r>
            <a:r>
              <a:rPr sz="2180" spc="21">
                <a:solidFill>
                  <a:srgbClr val="FF9300"/>
                </a:solidFill>
                <a:latin typeface="Arial MT"/>
                <a:cs typeface="Arial MT"/>
              </a:rPr>
              <a:t> </a:t>
            </a:r>
            <a:r>
              <a:rPr sz="2180">
                <a:latin typeface="Arial MT"/>
                <a:cs typeface="Arial MT"/>
              </a:rPr>
              <a:t>or</a:t>
            </a:r>
            <a:r>
              <a:rPr sz="2180" spc="21">
                <a:latin typeface="Arial MT"/>
                <a:cs typeface="Arial MT"/>
              </a:rPr>
              <a:t> </a:t>
            </a:r>
            <a:r>
              <a:rPr sz="2180">
                <a:latin typeface="Arial MT"/>
                <a:cs typeface="Arial MT"/>
              </a:rPr>
              <a:t>have</a:t>
            </a:r>
            <a:r>
              <a:rPr sz="2180" spc="25">
                <a:latin typeface="Arial MT"/>
                <a:cs typeface="Arial MT"/>
              </a:rPr>
              <a:t> </a:t>
            </a:r>
            <a:r>
              <a:rPr sz="2180" spc="-18">
                <a:solidFill>
                  <a:srgbClr val="FF9300"/>
                </a:solidFill>
                <a:latin typeface="Arial MT"/>
                <a:cs typeface="Arial MT"/>
              </a:rPr>
              <a:t>no </a:t>
            </a:r>
            <a:r>
              <a:rPr sz="2180">
                <a:solidFill>
                  <a:srgbClr val="FF9300"/>
                </a:solidFill>
                <a:latin typeface="Arial MT"/>
                <a:cs typeface="Arial MT"/>
              </a:rPr>
              <a:t>access</a:t>
            </a:r>
            <a:r>
              <a:rPr sz="2180" spc="32">
                <a:solidFill>
                  <a:srgbClr val="FF9300"/>
                </a:solidFill>
                <a:latin typeface="Arial MT"/>
                <a:cs typeface="Arial MT"/>
              </a:rPr>
              <a:t> </a:t>
            </a:r>
            <a:r>
              <a:rPr sz="2180">
                <a:solidFill>
                  <a:srgbClr val="FF9300"/>
                </a:solidFill>
                <a:latin typeface="Arial MT"/>
                <a:cs typeface="Arial MT"/>
              </a:rPr>
              <a:t>specifier</a:t>
            </a:r>
            <a:r>
              <a:rPr sz="2180" spc="35">
                <a:solidFill>
                  <a:srgbClr val="FF9300"/>
                </a:solidFill>
                <a:latin typeface="Arial MT"/>
                <a:cs typeface="Arial MT"/>
              </a:rPr>
              <a:t> </a:t>
            </a:r>
            <a:r>
              <a:rPr sz="2180">
                <a:latin typeface="Arial MT"/>
                <a:cs typeface="Arial MT"/>
              </a:rPr>
              <a:t>are</a:t>
            </a:r>
            <a:r>
              <a:rPr sz="2180" spc="35">
                <a:latin typeface="Arial MT"/>
                <a:cs typeface="Arial MT"/>
              </a:rPr>
              <a:t> </a:t>
            </a:r>
            <a:r>
              <a:rPr sz="2180">
                <a:latin typeface="Arial MT"/>
                <a:cs typeface="Arial MT"/>
              </a:rPr>
              <a:t>visible</a:t>
            </a:r>
            <a:r>
              <a:rPr sz="2180" spc="35">
                <a:latin typeface="Arial MT"/>
                <a:cs typeface="Arial MT"/>
              </a:rPr>
              <a:t> </a:t>
            </a:r>
            <a:r>
              <a:rPr sz="2180" spc="63">
                <a:latin typeface="Arial MT"/>
                <a:cs typeface="Arial MT"/>
              </a:rPr>
              <a:t>to</a:t>
            </a:r>
            <a:r>
              <a:rPr sz="2180" spc="32">
                <a:latin typeface="Arial MT"/>
                <a:cs typeface="Arial MT"/>
              </a:rPr>
              <a:t> </a:t>
            </a:r>
            <a:r>
              <a:rPr sz="2180">
                <a:latin typeface="Arial MT"/>
                <a:cs typeface="Arial MT"/>
              </a:rPr>
              <a:t>all</a:t>
            </a:r>
            <a:r>
              <a:rPr sz="2180" spc="35">
                <a:latin typeface="Arial MT"/>
                <a:cs typeface="Arial MT"/>
              </a:rPr>
              <a:t> </a:t>
            </a:r>
            <a:r>
              <a:rPr sz="2180">
                <a:latin typeface="Arial MT"/>
                <a:cs typeface="Arial MT"/>
              </a:rPr>
              <a:t>other</a:t>
            </a:r>
            <a:r>
              <a:rPr sz="2180" spc="35">
                <a:latin typeface="Arial MT"/>
                <a:cs typeface="Arial MT"/>
              </a:rPr>
              <a:t> </a:t>
            </a:r>
            <a:r>
              <a:rPr sz="2180">
                <a:latin typeface="Arial MT"/>
                <a:cs typeface="Arial MT"/>
              </a:rPr>
              <a:t>types</a:t>
            </a:r>
            <a:r>
              <a:rPr sz="2180" spc="35">
                <a:latin typeface="Arial MT"/>
                <a:cs typeface="Arial MT"/>
              </a:rPr>
              <a:t> </a:t>
            </a:r>
            <a:r>
              <a:rPr sz="2180">
                <a:latin typeface="Arial MT"/>
                <a:cs typeface="Arial MT"/>
              </a:rPr>
              <a:t>in</a:t>
            </a:r>
            <a:r>
              <a:rPr sz="2180" spc="35">
                <a:latin typeface="Arial MT"/>
                <a:cs typeface="Arial MT"/>
              </a:rPr>
              <a:t> </a:t>
            </a:r>
            <a:r>
              <a:rPr sz="2180">
                <a:latin typeface="Arial MT"/>
                <a:cs typeface="Arial MT"/>
              </a:rPr>
              <a:t>the</a:t>
            </a:r>
            <a:r>
              <a:rPr sz="2180" spc="32">
                <a:latin typeface="Arial MT"/>
                <a:cs typeface="Arial MT"/>
              </a:rPr>
              <a:t> </a:t>
            </a:r>
            <a:r>
              <a:rPr sz="2180" spc="-7">
                <a:latin typeface="Arial MT"/>
                <a:cs typeface="Arial MT"/>
              </a:rPr>
              <a:t>package.</a:t>
            </a:r>
            <a:endParaRPr sz="2180">
              <a:latin typeface="Arial MT"/>
              <a:cs typeface="Arial MT"/>
            </a:endParaRPr>
          </a:p>
        </p:txBody>
      </p:sp>
      <p:pic>
        <p:nvPicPr>
          <p:cNvPr id="4" name="object 4"/>
          <p:cNvPicPr/>
          <p:nvPr/>
        </p:nvPicPr>
        <p:blipFill>
          <a:blip r:embed="rId2" cstate="print"/>
          <a:stretch>
            <a:fillRect/>
          </a:stretch>
        </p:blipFill>
        <p:spPr>
          <a:xfrm>
            <a:off x="3517380" y="4496103"/>
            <a:ext cx="2569710" cy="258144"/>
          </a:xfrm>
          <a:prstGeom prst="rect">
            <a:avLst/>
          </a:prstGeom>
        </p:spPr>
      </p:pic>
      <p:pic>
        <p:nvPicPr>
          <p:cNvPr id="5" name="object 5"/>
          <p:cNvPicPr/>
          <p:nvPr/>
        </p:nvPicPr>
        <p:blipFill>
          <a:blip r:embed="rId3" cstate="print"/>
          <a:stretch>
            <a:fillRect/>
          </a:stretch>
        </p:blipFill>
        <p:spPr>
          <a:xfrm>
            <a:off x="3554819" y="5210363"/>
            <a:ext cx="3893566" cy="277251"/>
          </a:xfrm>
          <a:prstGeom prst="rect">
            <a:avLst/>
          </a:prstGeom>
        </p:spPr>
      </p:pic>
      <p:pic>
        <p:nvPicPr>
          <p:cNvPr id="6" name="object 6"/>
          <p:cNvPicPr/>
          <p:nvPr/>
        </p:nvPicPr>
        <p:blipFill>
          <a:blip r:embed="rId4" cstate="print"/>
          <a:stretch>
            <a:fillRect/>
          </a:stretch>
        </p:blipFill>
        <p:spPr>
          <a:xfrm>
            <a:off x="3574411" y="5952128"/>
            <a:ext cx="3077596" cy="303796"/>
          </a:xfrm>
          <a:prstGeom prst="rect">
            <a:avLst/>
          </a:prstGeom>
        </p:spPr>
      </p:pic>
      <p:sp>
        <p:nvSpPr>
          <p:cNvPr id="7" name="Footer Placeholder 6">
            <a:extLst>
              <a:ext uri="{FF2B5EF4-FFF2-40B4-BE49-F238E27FC236}">
                <a16:creationId xmlns:a16="http://schemas.microsoft.com/office/drawing/2014/main" id="{DD9E1F63-2DB4-F27B-24B4-41388E97D9FD}"/>
              </a:ext>
            </a:extLst>
          </p:cNvPr>
          <p:cNvSpPr>
            <a:spLocks noGrp="1"/>
          </p:cNvSpPr>
          <p:nvPr>
            <p:ph type="ftr" sz="quarter" idx="11"/>
          </p:nvPr>
        </p:nvSpPr>
        <p:spPr/>
        <p:txBody>
          <a:bodyPr/>
          <a:lstStyle/>
          <a:p>
            <a:r>
              <a:rPr lang="en-US"/>
              <a:t>Ms. ALF. Sajeetha</a:t>
            </a:r>
          </a:p>
        </p:txBody>
      </p:sp>
      <p:sp>
        <p:nvSpPr>
          <p:cNvPr id="8" name="Slide Number Placeholder 7">
            <a:extLst>
              <a:ext uri="{FF2B5EF4-FFF2-40B4-BE49-F238E27FC236}">
                <a16:creationId xmlns:a16="http://schemas.microsoft.com/office/drawing/2014/main" id="{4F32D96A-EED8-7CCF-E2D5-21AE3D76CBB3}"/>
              </a:ext>
            </a:extLst>
          </p:cNvPr>
          <p:cNvSpPr>
            <a:spLocks noGrp="1"/>
          </p:cNvSpPr>
          <p:nvPr>
            <p:ph type="sldNum" sz="quarter" idx="12"/>
          </p:nvPr>
        </p:nvSpPr>
        <p:spPr/>
        <p:txBody>
          <a:bodyPr/>
          <a:lstStyle/>
          <a:p>
            <a:fld id="{48F63A3B-78C7-47BE-AE5E-E10140E04643}" type="slidenum">
              <a:rPr lang="en-US" dirty="0"/>
              <a:t>38</a:t>
            </a:fld>
            <a:endParaRPr lang="en-US"/>
          </a:p>
        </p:txBody>
      </p:sp>
    </p:spTree>
    <p:extLst>
      <p:ext uri="{BB962C8B-B14F-4D97-AF65-F5344CB8AC3E}">
        <p14:creationId xmlns:p14="http://schemas.microsoft.com/office/powerpoint/2010/main" val="26941610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22632" y="3066717"/>
            <a:ext cx="6746825" cy="686126"/>
          </a:xfrm>
          <a:prstGeom prst="rect">
            <a:avLst/>
          </a:prstGeom>
        </p:spPr>
        <p:txBody>
          <a:bodyPr vert="horz" wrap="square" lIns="0" tIns="8930" rIns="0" bIns="0" rtlCol="0">
            <a:spAutoFit/>
          </a:bodyPr>
          <a:lstStyle/>
          <a:p>
            <a:pPr marL="8890">
              <a:lnSpc>
                <a:spcPct val="100000"/>
              </a:lnSpc>
              <a:spcBef>
                <a:spcPts val="70"/>
              </a:spcBef>
            </a:pPr>
            <a:r>
              <a:rPr b="1">
                <a:solidFill>
                  <a:srgbClr val="FF7B00"/>
                </a:solidFill>
              </a:rPr>
              <a:t>Inheritance</a:t>
            </a:r>
            <a:r>
              <a:rPr b="1" spc="-190">
                <a:solidFill>
                  <a:srgbClr val="FF7B00"/>
                </a:solidFill>
              </a:rPr>
              <a:t> </a:t>
            </a:r>
            <a:endParaRPr lang="en-US" spc="-7">
              <a:solidFill>
                <a:srgbClr val="FF7B00"/>
              </a:solidFill>
            </a:endParaRPr>
          </a:p>
        </p:txBody>
      </p:sp>
      <p:sp>
        <p:nvSpPr>
          <p:cNvPr id="3" name="Footer Placeholder 2">
            <a:extLst>
              <a:ext uri="{FF2B5EF4-FFF2-40B4-BE49-F238E27FC236}">
                <a16:creationId xmlns:a16="http://schemas.microsoft.com/office/drawing/2014/main" id="{5E5267C6-4BA5-8C75-4FF3-1E1074E2B7BA}"/>
              </a:ext>
            </a:extLst>
          </p:cNvPr>
          <p:cNvSpPr>
            <a:spLocks noGrp="1"/>
          </p:cNvSpPr>
          <p:nvPr>
            <p:ph type="ftr" sz="quarter" idx="11"/>
          </p:nvPr>
        </p:nvSpPr>
        <p:spPr/>
        <p:txBody>
          <a:bodyPr/>
          <a:lstStyle/>
          <a:p>
            <a:r>
              <a:rPr lang="en-US"/>
              <a:t>Ms. ALF. Sajeetha</a:t>
            </a:r>
          </a:p>
        </p:txBody>
      </p:sp>
      <p:sp>
        <p:nvSpPr>
          <p:cNvPr id="4" name="Slide Number Placeholder 3">
            <a:extLst>
              <a:ext uri="{FF2B5EF4-FFF2-40B4-BE49-F238E27FC236}">
                <a16:creationId xmlns:a16="http://schemas.microsoft.com/office/drawing/2014/main" id="{E86C2CFF-8FA7-ED14-D292-6CA9ABA44EB6}"/>
              </a:ext>
            </a:extLst>
          </p:cNvPr>
          <p:cNvSpPr>
            <a:spLocks noGrp="1"/>
          </p:cNvSpPr>
          <p:nvPr>
            <p:ph type="sldNum" sz="quarter" idx="12"/>
          </p:nvPr>
        </p:nvSpPr>
        <p:spPr/>
        <p:txBody>
          <a:bodyPr/>
          <a:lstStyle/>
          <a:p>
            <a:fld id="{48F63A3B-78C7-47BE-AE5E-E10140E04643}" type="slidenum">
              <a:rPr lang="en-US" dirty="0"/>
              <a:t>39</a:t>
            </a:fld>
            <a:endParaRPr lang="en-US"/>
          </a:p>
        </p:txBody>
      </p:sp>
    </p:spTree>
    <p:extLst>
      <p:ext uri="{BB962C8B-B14F-4D97-AF65-F5344CB8AC3E}">
        <p14:creationId xmlns:p14="http://schemas.microsoft.com/office/powerpoint/2010/main" val="14528513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684843"/>
            <a:ext cx="10515600" cy="686126"/>
          </a:xfrm>
          <a:prstGeom prst="rect">
            <a:avLst/>
          </a:prstGeom>
        </p:spPr>
        <p:txBody>
          <a:bodyPr vert="horz" wrap="square" lIns="0" tIns="8930" rIns="0" bIns="0" rtlCol="0">
            <a:spAutoFit/>
          </a:bodyPr>
          <a:lstStyle/>
          <a:p>
            <a:pPr marL="3124835" indent="-2953385">
              <a:lnSpc>
                <a:spcPct val="100000"/>
              </a:lnSpc>
              <a:spcBef>
                <a:spcPts val="70"/>
              </a:spcBef>
            </a:pPr>
            <a:r>
              <a:rPr b="1" spc="67">
                <a:solidFill>
                  <a:srgbClr val="FF7B00"/>
                </a:solidFill>
              </a:rPr>
              <a:t>Inheritance</a:t>
            </a:r>
            <a:endParaRPr lang="en-US" b="1">
              <a:solidFill>
                <a:srgbClr val="FF7B00"/>
              </a:solidFill>
            </a:endParaRPr>
          </a:p>
        </p:txBody>
      </p:sp>
      <p:sp>
        <p:nvSpPr>
          <p:cNvPr id="3" name="object 3"/>
          <p:cNvSpPr txBox="1"/>
          <p:nvPr/>
        </p:nvSpPr>
        <p:spPr>
          <a:xfrm>
            <a:off x="1014157" y="1688886"/>
            <a:ext cx="10685724" cy="4187644"/>
          </a:xfrm>
          <a:prstGeom prst="rect">
            <a:avLst/>
          </a:prstGeom>
        </p:spPr>
        <p:txBody>
          <a:bodyPr vert="horz" wrap="square" lIns="0" tIns="19645" rIns="0" bIns="0" rtlCol="0" anchor="t">
            <a:spAutoFit/>
          </a:bodyPr>
          <a:lstStyle/>
          <a:p>
            <a:pPr marL="201930" marR="35560" indent="-184150">
              <a:lnSpc>
                <a:spcPts val="1969"/>
              </a:lnSpc>
              <a:spcBef>
                <a:spcPts val="155"/>
              </a:spcBef>
              <a:buSzPct val="144680"/>
              <a:buChar char="•"/>
              <a:tabLst>
                <a:tab pos="202250" algn="l"/>
              </a:tabLst>
            </a:pPr>
            <a:r>
              <a:rPr>
                <a:latin typeface="Arial MT"/>
                <a:cs typeface="Arial MT"/>
              </a:rPr>
              <a:t>If</a:t>
            </a:r>
            <a:r>
              <a:rPr spc="18">
                <a:latin typeface="Arial MT"/>
                <a:cs typeface="Arial MT"/>
              </a:rPr>
              <a:t> </a:t>
            </a:r>
            <a:r>
              <a:rPr>
                <a:latin typeface="Arial MT"/>
                <a:cs typeface="Arial MT"/>
              </a:rPr>
              <a:t>a</a:t>
            </a:r>
            <a:r>
              <a:rPr spc="18">
                <a:latin typeface="Arial MT"/>
                <a:cs typeface="Arial MT"/>
              </a:rPr>
              <a:t> </a:t>
            </a:r>
            <a:r>
              <a:rPr>
                <a:latin typeface="Arial MT"/>
                <a:cs typeface="Arial MT"/>
              </a:rPr>
              <a:t>new</a:t>
            </a:r>
            <a:r>
              <a:rPr spc="18">
                <a:latin typeface="Arial MT"/>
                <a:cs typeface="Arial MT"/>
              </a:rPr>
              <a:t> </a:t>
            </a:r>
            <a:r>
              <a:rPr>
                <a:latin typeface="Arial MT"/>
                <a:cs typeface="Arial MT"/>
              </a:rPr>
              <a:t>class</a:t>
            </a:r>
            <a:r>
              <a:rPr spc="18">
                <a:latin typeface="Arial MT"/>
                <a:cs typeface="Arial MT"/>
              </a:rPr>
              <a:t> </a:t>
            </a:r>
            <a:r>
              <a:rPr>
                <a:latin typeface="Arial MT"/>
                <a:cs typeface="Arial MT"/>
              </a:rPr>
              <a:t>is</a:t>
            </a:r>
            <a:r>
              <a:rPr spc="18">
                <a:latin typeface="Arial MT"/>
                <a:cs typeface="Arial MT"/>
              </a:rPr>
              <a:t> </a:t>
            </a:r>
            <a:r>
              <a:rPr>
                <a:latin typeface="Arial MT"/>
                <a:cs typeface="Arial MT"/>
              </a:rPr>
              <a:t>a</a:t>
            </a:r>
            <a:r>
              <a:rPr spc="18">
                <a:latin typeface="Arial MT"/>
                <a:cs typeface="Arial MT"/>
              </a:rPr>
              <a:t> </a:t>
            </a:r>
            <a:r>
              <a:rPr>
                <a:latin typeface="Arial MT"/>
                <a:cs typeface="Arial MT"/>
              </a:rPr>
              <a:t>subclass</a:t>
            </a:r>
            <a:r>
              <a:rPr spc="18">
                <a:latin typeface="Arial MT"/>
                <a:cs typeface="Arial MT"/>
              </a:rPr>
              <a:t> </a:t>
            </a:r>
            <a:r>
              <a:rPr>
                <a:latin typeface="Arial MT"/>
                <a:cs typeface="Arial MT"/>
              </a:rPr>
              <a:t>of</a:t>
            </a:r>
            <a:r>
              <a:rPr spc="18">
                <a:latin typeface="Arial MT"/>
                <a:cs typeface="Arial MT"/>
              </a:rPr>
              <a:t> </a:t>
            </a:r>
            <a:r>
              <a:rPr>
                <a:latin typeface="Arial MT"/>
                <a:cs typeface="Arial MT"/>
              </a:rPr>
              <a:t>a</a:t>
            </a:r>
            <a:r>
              <a:rPr spc="18">
                <a:latin typeface="Arial MT"/>
                <a:cs typeface="Arial MT"/>
              </a:rPr>
              <a:t> </a:t>
            </a:r>
            <a:r>
              <a:rPr>
                <a:latin typeface="Arial MT"/>
                <a:cs typeface="Arial MT"/>
              </a:rPr>
              <a:t>single</a:t>
            </a:r>
            <a:r>
              <a:rPr spc="18">
                <a:latin typeface="Arial MT"/>
                <a:cs typeface="Arial MT"/>
              </a:rPr>
              <a:t> </a:t>
            </a:r>
            <a:r>
              <a:rPr>
                <a:latin typeface="Arial MT"/>
                <a:cs typeface="Arial MT"/>
              </a:rPr>
              <a:t>parent</a:t>
            </a:r>
            <a:r>
              <a:rPr spc="18">
                <a:latin typeface="Arial MT"/>
                <a:cs typeface="Arial MT"/>
              </a:rPr>
              <a:t> </a:t>
            </a:r>
            <a:r>
              <a:rPr>
                <a:latin typeface="Arial MT"/>
                <a:cs typeface="Arial MT"/>
              </a:rPr>
              <a:t>class,</a:t>
            </a:r>
            <a:r>
              <a:rPr spc="18">
                <a:latin typeface="Arial MT"/>
                <a:cs typeface="Arial MT"/>
              </a:rPr>
              <a:t> </a:t>
            </a:r>
            <a:r>
              <a:rPr>
                <a:latin typeface="Arial MT"/>
                <a:cs typeface="Arial MT"/>
              </a:rPr>
              <a:t>then</a:t>
            </a:r>
            <a:r>
              <a:rPr spc="18">
                <a:latin typeface="Arial MT"/>
                <a:cs typeface="Arial MT"/>
              </a:rPr>
              <a:t> </a:t>
            </a:r>
            <a:r>
              <a:rPr>
                <a:latin typeface="Arial MT"/>
                <a:cs typeface="Arial MT"/>
              </a:rPr>
              <a:t>the</a:t>
            </a:r>
            <a:r>
              <a:rPr spc="18">
                <a:latin typeface="Arial MT"/>
                <a:cs typeface="Arial MT"/>
              </a:rPr>
              <a:t> </a:t>
            </a:r>
            <a:r>
              <a:rPr>
                <a:latin typeface="Arial MT"/>
                <a:cs typeface="Arial MT"/>
              </a:rPr>
              <a:t>derivation</a:t>
            </a:r>
            <a:r>
              <a:rPr spc="14">
                <a:latin typeface="Arial MT"/>
                <a:cs typeface="Arial MT"/>
              </a:rPr>
              <a:t> </a:t>
            </a:r>
            <a:r>
              <a:rPr spc="-7">
                <a:latin typeface="Arial MT"/>
                <a:cs typeface="Arial MT"/>
              </a:rPr>
              <a:t>process </a:t>
            </a:r>
            <a:r>
              <a:rPr>
                <a:latin typeface="Arial MT"/>
                <a:cs typeface="Arial MT"/>
              </a:rPr>
              <a:t>is</a:t>
            </a:r>
            <a:r>
              <a:rPr spc="14">
                <a:latin typeface="Arial MT"/>
                <a:cs typeface="Arial MT"/>
              </a:rPr>
              <a:t> </a:t>
            </a:r>
            <a:r>
              <a:rPr>
                <a:latin typeface="Arial MT"/>
                <a:cs typeface="Arial MT"/>
              </a:rPr>
              <a:t>called</a:t>
            </a:r>
            <a:r>
              <a:rPr spc="14">
                <a:latin typeface="Arial MT"/>
                <a:cs typeface="Arial MT"/>
              </a:rPr>
              <a:t> </a:t>
            </a:r>
            <a:r>
              <a:rPr>
                <a:latin typeface="Arial MT"/>
                <a:cs typeface="Arial MT"/>
              </a:rPr>
              <a:t>single</a:t>
            </a:r>
            <a:r>
              <a:rPr spc="14">
                <a:latin typeface="Arial MT"/>
                <a:cs typeface="Arial MT"/>
              </a:rPr>
              <a:t> </a:t>
            </a:r>
            <a:r>
              <a:rPr spc="-7">
                <a:latin typeface="Arial MT"/>
                <a:cs typeface="Arial MT"/>
              </a:rPr>
              <a:t>inheritance.</a:t>
            </a:r>
            <a:endParaRPr lang="en-US">
              <a:latin typeface="Arial MT"/>
              <a:cs typeface="Arial MT"/>
            </a:endParaRPr>
          </a:p>
          <a:p>
            <a:pPr marL="201930" marR="792480" indent="-184150">
              <a:lnSpc>
                <a:spcPts val="1969"/>
              </a:lnSpc>
              <a:spcBef>
                <a:spcPts val="1740"/>
              </a:spcBef>
              <a:buSzPct val="144680"/>
              <a:buChar char="•"/>
              <a:tabLst>
                <a:tab pos="202250" algn="l"/>
              </a:tabLst>
            </a:pPr>
            <a:r>
              <a:rPr>
                <a:latin typeface="Arial MT"/>
                <a:cs typeface="Arial MT"/>
              </a:rPr>
              <a:t>If</a:t>
            </a:r>
            <a:r>
              <a:rPr spc="11">
                <a:latin typeface="Arial MT"/>
                <a:cs typeface="Arial MT"/>
              </a:rPr>
              <a:t> </a:t>
            </a:r>
            <a:r>
              <a:rPr>
                <a:latin typeface="Arial MT"/>
                <a:cs typeface="Arial MT"/>
              </a:rPr>
              <a:t>a</a:t>
            </a:r>
            <a:r>
              <a:rPr spc="11">
                <a:latin typeface="Arial MT"/>
                <a:cs typeface="Arial MT"/>
              </a:rPr>
              <a:t> </a:t>
            </a:r>
            <a:r>
              <a:rPr>
                <a:latin typeface="Arial MT"/>
                <a:cs typeface="Arial MT"/>
              </a:rPr>
              <a:t>class</a:t>
            </a:r>
            <a:r>
              <a:rPr spc="11">
                <a:latin typeface="Arial MT"/>
                <a:cs typeface="Arial MT"/>
              </a:rPr>
              <a:t> </a:t>
            </a:r>
            <a:r>
              <a:rPr>
                <a:latin typeface="Arial MT"/>
                <a:cs typeface="Arial MT"/>
              </a:rPr>
              <a:t>has</a:t>
            </a:r>
            <a:r>
              <a:rPr spc="11">
                <a:latin typeface="Arial MT"/>
                <a:cs typeface="Arial MT"/>
              </a:rPr>
              <a:t> </a:t>
            </a:r>
            <a:r>
              <a:rPr>
                <a:latin typeface="Arial MT"/>
                <a:cs typeface="Arial MT"/>
              </a:rPr>
              <a:t>more</a:t>
            </a:r>
            <a:r>
              <a:rPr spc="11">
                <a:latin typeface="Arial MT"/>
                <a:cs typeface="Arial MT"/>
              </a:rPr>
              <a:t> </a:t>
            </a:r>
            <a:r>
              <a:rPr>
                <a:latin typeface="Arial MT"/>
                <a:cs typeface="Arial MT"/>
              </a:rPr>
              <a:t>than</a:t>
            </a:r>
            <a:r>
              <a:rPr spc="11">
                <a:latin typeface="Arial MT"/>
                <a:cs typeface="Arial MT"/>
              </a:rPr>
              <a:t> </a:t>
            </a:r>
            <a:r>
              <a:rPr>
                <a:latin typeface="Arial MT"/>
                <a:cs typeface="Arial MT"/>
              </a:rPr>
              <a:t>one</a:t>
            </a:r>
            <a:r>
              <a:rPr spc="11">
                <a:latin typeface="Arial MT"/>
                <a:cs typeface="Arial MT"/>
              </a:rPr>
              <a:t> </a:t>
            </a:r>
            <a:r>
              <a:rPr>
                <a:latin typeface="Arial MT"/>
                <a:cs typeface="Arial MT"/>
              </a:rPr>
              <a:t>parent</a:t>
            </a:r>
            <a:r>
              <a:rPr spc="11">
                <a:latin typeface="Arial MT"/>
                <a:cs typeface="Arial MT"/>
              </a:rPr>
              <a:t> </a:t>
            </a:r>
            <a:r>
              <a:rPr>
                <a:latin typeface="Arial MT"/>
                <a:cs typeface="Arial MT"/>
              </a:rPr>
              <a:t>class,</a:t>
            </a:r>
            <a:r>
              <a:rPr spc="11">
                <a:latin typeface="Arial MT"/>
                <a:cs typeface="Arial MT"/>
              </a:rPr>
              <a:t> </a:t>
            </a:r>
            <a:r>
              <a:rPr>
                <a:latin typeface="Arial MT"/>
                <a:cs typeface="Arial MT"/>
              </a:rPr>
              <a:t>the</a:t>
            </a:r>
            <a:r>
              <a:rPr spc="11">
                <a:latin typeface="Arial MT"/>
                <a:cs typeface="Arial MT"/>
              </a:rPr>
              <a:t> </a:t>
            </a:r>
            <a:r>
              <a:rPr>
                <a:latin typeface="Arial MT"/>
                <a:cs typeface="Arial MT"/>
              </a:rPr>
              <a:t>process</a:t>
            </a:r>
            <a:r>
              <a:rPr spc="11">
                <a:latin typeface="Arial MT"/>
                <a:cs typeface="Arial MT"/>
              </a:rPr>
              <a:t> </a:t>
            </a:r>
            <a:r>
              <a:rPr>
                <a:latin typeface="Arial MT"/>
                <a:cs typeface="Arial MT"/>
              </a:rPr>
              <a:t>is</a:t>
            </a:r>
            <a:r>
              <a:rPr spc="11">
                <a:latin typeface="Arial MT"/>
                <a:cs typeface="Arial MT"/>
              </a:rPr>
              <a:t> </a:t>
            </a:r>
            <a:r>
              <a:rPr>
                <a:latin typeface="Arial MT"/>
                <a:cs typeface="Arial MT"/>
              </a:rPr>
              <a:t>called</a:t>
            </a:r>
            <a:r>
              <a:rPr spc="7">
                <a:latin typeface="Arial MT"/>
                <a:cs typeface="Arial MT"/>
              </a:rPr>
              <a:t> </a:t>
            </a:r>
            <a:r>
              <a:rPr spc="-7">
                <a:latin typeface="Arial MT"/>
                <a:cs typeface="Arial MT"/>
              </a:rPr>
              <a:t>multiple inheritance.</a:t>
            </a:r>
            <a:endParaRPr>
              <a:latin typeface="Arial MT"/>
              <a:cs typeface="Arial MT"/>
            </a:endParaRPr>
          </a:p>
          <a:p>
            <a:pPr marL="201930" marR="12065" indent="-184150">
              <a:lnSpc>
                <a:spcPts val="1969"/>
              </a:lnSpc>
              <a:spcBef>
                <a:spcPts val="1744"/>
              </a:spcBef>
              <a:buSzPct val="144680"/>
              <a:buChar char="•"/>
              <a:tabLst>
                <a:tab pos="202250" algn="l"/>
              </a:tabLst>
            </a:pPr>
            <a:r>
              <a:rPr>
                <a:latin typeface="Arial MT"/>
                <a:cs typeface="Arial MT"/>
              </a:rPr>
              <a:t>When</a:t>
            </a:r>
            <a:r>
              <a:rPr spc="-21">
                <a:latin typeface="Arial MT"/>
                <a:cs typeface="Arial MT"/>
              </a:rPr>
              <a:t> </a:t>
            </a:r>
            <a:r>
              <a:rPr>
                <a:latin typeface="Arial MT"/>
                <a:cs typeface="Arial MT"/>
              </a:rPr>
              <a:t>several</a:t>
            </a:r>
            <a:r>
              <a:rPr spc="-21">
                <a:latin typeface="Arial MT"/>
                <a:cs typeface="Arial MT"/>
              </a:rPr>
              <a:t> </a:t>
            </a:r>
            <a:r>
              <a:rPr>
                <a:latin typeface="Arial MT"/>
                <a:cs typeface="Arial MT"/>
              </a:rPr>
              <a:t>classes</a:t>
            </a:r>
            <a:r>
              <a:rPr spc="-21">
                <a:latin typeface="Arial MT"/>
                <a:cs typeface="Arial MT"/>
              </a:rPr>
              <a:t> </a:t>
            </a:r>
            <a:r>
              <a:rPr>
                <a:latin typeface="Arial MT"/>
                <a:cs typeface="Arial MT"/>
              </a:rPr>
              <a:t>are</a:t>
            </a:r>
            <a:r>
              <a:rPr spc="-21">
                <a:latin typeface="Arial MT"/>
                <a:cs typeface="Arial MT"/>
              </a:rPr>
              <a:t> </a:t>
            </a:r>
            <a:r>
              <a:rPr>
                <a:latin typeface="Arial MT"/>
                <a:cs typeface="Arial MT"/>
              </a:rPr>
              <a:t>related</a:t>
            </a:r>
            <a:r>
              <a:rPr spc="-21">
                <a:latin typeface="Arial MT"/>
                <a:cs typeface="Arial MT"/>
              </a:rPr>
              <a:t> </a:t>
            </a:r>
            <a:r>
              <a:rPr>
                <a:latin typeface="Arial MT"/>
                <a:cs typeface="Arial MT"/>
              </a:rPr>
              <a:t>through</a:t>
            </a:r>
            <a:r>
              <a:rPr spc="-21">
                <a:latin typeface="Arial MT"/>
                <a:cs typeface="Arial MT"/>
              </a:rPr>
              <a:t> </a:t>
            </a:r>
            <a:r>
              <a:rPr>
                <a:latin typeface="Arial MT"/>
                <a:cs typeface="Arial MT"/>
              </a:rPr>
              <a:t>single</a:t>
            </a:r>
            <a:r>
              <a:rPr spc="-21">
                <a:latin typeface="Arial MT"/>
                <a:cs typeface="Arial MT"/>
              </a:rPr>
              <a:t> </a:t>
            </a:r>
            <a:r>
              <a:rPr>
                <a:latin typeface="Arial MT"/>
                <a:cs typeface="Arial MT"/>
              </a:rPr>
              <a:t>inheritance,</a:t>
            </a:r>
            <a:r>
              <a:rPr spc="-21">
                <a:latin typeface="Arial MT"/>
                <a:cs typeface="Arial MT"/>
              </a:rPr>
              <a:t> </a:t>
            </a:r>
            <a:r>
              <a:rPr>
                <a:latin typeface="Arial MT"/>
                <a:cs typeface="Arial MT"/>
              </a:rPr>
              <a:t>the</a:t>
            </a:r>
            <a:r>
              <a:rPr spc="-18">
                <a:latin typeface="Arial MT"/>
                <a:cs typeface="Arial MT"/>
              </a:rPr>
              <a:t> </a:t>
            </a:r>
            <a:r>
              <a:rPr>
                <a:latin typeface="Arial MT"/>
                <a:cs typeface="Arial MT"/>
              </a:rPr>
              <a:t>relationships</a:t>
            </a:r>
            <a:r>
              <a:rPr spc="-21">
                <a:latin typeface="Arial MT"/>
                <a:cs typeface="Arial MT"/>
              </a:rPr>
              <a:t> </a:t>
            </a:r>
            <a:r>
              <a:rPr spc="21">
                <a:latin typeface="Arial MT"/>
                <a:cs typeface="Arial MT"/>
              </a:rPr>
              <a:t>to </a:t>
            </a:r>
            <a:r>
              <a:rPr>
                <a:latin typeface="Arial MT"/>
                <a:cs typeface="Arial MT"/>
              </a:rPr>
              <a:t>each</a:t>
            </a:r>
            <a:r>
              <a:rPr spc="11">
                <a:latin typeface="Arial MT"/>
                <a:cs typeface="Arial MT"/>
              </a:rPr>
              <a:t> </a:t>
            </a:r>
            <a:r>
              <a:rPr>
                <a:latin typeface="Arial MT"/>
                <a:cs typeface="Arial MT"/>
              </a:rPr>
              <a:t>other</a:t>
            </a:r>
            <a:r>
              <a:rPr spc="21">
                <a:latin typeface="Arial MT"/>
                <a:cs typeface="Arial MT"/>
              </a:rPr>
              <a:t> </a:t>
            </a:r>
            <a:r>
              <a:rPr>
                <a:latin typeface="Arial MT"/>
                <a:cs typeface="Arial MT"/>
              </a:rPr>
              <a:t>can</a:t>
            </a:r>
            <a:r>
              <a:rPr spc="18">
                <a:latin typeface="Arial MT"/>
                <a:cs typeface="Arial MT"/>
              </a:rPr>
              <a:t> </a:t>
            </a:r>
            <a:r>
              <a:rPr>
                <a:latin typeface="Arial MT"/>
                <a:cs typeface="Arial MT"/>
              </a:rPr>
              <a:t>be</a:t>
            </a:r>
            <a:r>
              <a:rPr spc="21">
                <a:latin typeface="Arial MT"/>
                <a:cs typeface="Arial MT"/>
              </a:rPr>
              <a:t> </a:t>
            </a:r>
            <a:r>
              <a:rPr>
                <a:latin typeface="Arial MT"/>
                <a:cs typeface="Arial MT"/>
              </a:rPr>
              <a:t>shown</a:t>
            </a:r>
            <a:r>
              <a:rPr spc="18">
                <a:latin typeface="Arial MT"/>
                <a:cs typeface="Arial MT"/>
              </a:rPr>
              <a:t> </a:t>
            </a:r>
            <a:r>
              <a:rPr>
                <a:latin typeface="Arial MT"/>
                <a:cs typeface="Arial MT"/>
              </a:rPr>
              <a:t>in</a:t>
            </a:r>
            <a:r>
              <a:rPr spc="21">
                <a:latin typeface="Arial MT"/>
                <a:cs typeface="Arial MT"/>
              </a:rPr>
              <a:t> </a:t>
            </a:r>
            <a:r>
              <a:rPr>
                <a:latin typeface="Arial MT"/>
                <a:cs typeface="Arial MT"/>
              </a:rPr>
              <a:t>a</a:t>
            </a:r>
            <a:r>
              <a:rPr spc="18">
                <a:latin typeface="Arial MT"/>
                <a:cs typeface="Arial MT"/>
              </a:rPr>
              <a:t> </a:t>
            </a:r>
            <a:r>
              <a:rPr>
                <a:latin typeface="Arial MT"/>
                <a:cs typeface="Arial MT"/>
              </a:rPr>
              <a:t>derivation</a:t>
            </a:r>
            <a:r>
              <a:rPr spc="21">
                <a:latin typeface="Arial MT"/>
                <a:cs typeface="Arial MT"/>
              </a:rPr>
              <a:t> </a:t>
            </a:r>
            <a:r>
              <a:rPr spc="-7">
                <a:latin typeface="Arial MT"/>
                <a:cs typeface="Arial MT"/>
              </a:rPr>
              <a:t>tree.</a:t>
            </a:r>
            <a:endParaRPr>
              <a:latin typeface="Arial MT"/>
              <a:cs typeface="Arial MT"/>
            </a:endParaRPr>
          </a:p>
          <a:p>
            <a:pPr marL="201930" marR="448945" indent="-184150">
              <a:lnSpc>
                <a:spcPts val="1969"/>
              </a:lnSpc>
              <a:spcBef>
                <a:spcPts val="1740"/>
              </a:spcBef>
              <a:buSzPct val="144680"/>
              <a:buChar char="•"/>
              <a:tabLst>
                <a:tab pos="202250" algn="l"/>
              </a:tabLst>
            </a:pPr>
            <a:r>
              <a:rPr>
                <a:latin typeface="Arial MT"/>
                <a:cs typeface="Arial MT"/>
              </a:rPr>
              <a:t>One</a:t>
            </a:r>
            <a:r>
              <a:rPr spc="14">
                <a:latin typeface="Arial MT"/>
                <a:cs typeface="Arial MT"/>
              </a:rPr>
              <a:t> </a:t>
            </a:r>
            <a:r>
              <a:rPr>
                <a:latin typeface="Arial MT"/>
                <a:cs typeface="Arial MT"/>
              </a:rPr>
              <a:t>disadvantage</a:t>
            </a:r>
            <a:r>
              <a:rPr spc="11">
                <a:latin typeface="Arial MT"/>
                <a:cs typeface="Arial MT"/>
              </a:rPr>
              <a:t> </a:t>
            </a:r>
            <a:r>
              <a:rPr>
                <a:latin typeface="Arial MT"/>
                <a:cs typeface="Arial MT"/>
              </a:rPr>
              <a:t>of</a:t>
            </a:r>
            <a:r>
              <a:rPr spc="14">
                <a:latin typeface="Arial MT"/>
                <a:cs typeface="Arial MT"/>
              </a:rPr>
              <a:t> </a:t>
            </a:r>
            <a:r>
              <a:rPr>
                <a:latin typeface="Arial MT"/>
                <a:cs typeface="Arial MT"/>
              </a:rPr>
              <a:t>inheritance</a:t>
            </a:r>
            <a:r>
              <a:rPr spc="11">
                <a:latin typeface="Arial MT"/>
                <a:cs typeface="Arial MT"/>
              </a:rPr>
              <a:t> </a:t>
            </a:r>
            <a:r>
              <a:rPr>
                <a:latin typeface="Arial MT"/>
                <a:cs typeface="Arial MT"/>
              </a:rPr>
              <a:t>as</a:t>
            </a:r>
            <a:r>
              <a:rPr spc="14">
                <a:latin typeface="Arial MT"/>
                <a:cs typeface="Arial MT"/>
              </a:rPr>
              <a:t> </a:t>
            </a:r>
            <a:r>
              <a:rPr>
                <a:latin typeface="Arial MT"/>
                <a:cs typeface="Arial MT"/>
              </a:rPr>
              <a:t>a</a:t>
            </a:r>
            <a:r>
              <a:rPr spc="11">
                <a:latin typeface="Arial MT"/>
                <a:cs typeface="Arial MT"/>
              </a:rPr>
              <a:t> </a:t>
            </a:r>
            <a:r>
              <a:rPr>
                <a:latin typeface="Arial MT"/>
                <a:cs typeface="Arial MT"/>
              </a:rPr>
              <a:t>means</a:t>
            </a:r>
            <a:r>
              <a:rPr spc="14">
                <a:latin typeface="Arial MT"/>
                <a:cs typeface="Arial MT"/>
              </a:rPr>
              <a:t> </a:t>
            </a:r>
            <a:r>
              <a:rPr>
                <a:latin typeface="Arial MT"/>
                <a:cs typeface="Arial MT"/>
              </a:rPr>
              <a:t>of</a:t>
            </a:r>
            <a:r>
              <a:rPr spc="11">
                <a:latin typeface="Arial MT"/>
                <a:cs typeface="Arial MT"/>
              </a:rPr>
              <a:t> </a:t>
            </a:r>
            <a:r>
              <a:rPr>
                <a:latin typeface="Arial MT"/>
                <a:cs typeface="Arial MT"/>
              </a:rPr>
              <a:t>increasing</a:t>
            </a:r>
            <a:r>
              <a:rPr spc="14">
                <a:latin typeface="Arial MT"/>
                <a:cs typeface="Arial MT"/>
              </a:rPr>
              <a:t> </a:t>
            </a:r>
            <a:r>
              <a:rPr>
                <a:latin typeface="Arial MT"/>
                <a:cs typeface="Arial MT"/>
              </a:rPr>
              <a:t>the</a:t>
            </a:r>
            <a:r>
              <a:rPr spc="14">
                <a:latin typeface="Arial MT"/>
                <a:cs typeface="Arial MT"/>
              </a:rPr>
              <a:t> </a:t>
            </a:r>
            <a:r>
              <a:rPr>
                <a:latin typeface="Arial MT"/>
                <a:cs typeface="Arial MT"/>
              </a:rPr>
              <a:t>possibility</a:t>
            </a:r>
            <a:r>
              <a:rPr spc="11">
                <a:latin typeface="Arial MT"/>
                <a:cs typeface="Arial MT"/>
              </a:rPr>
              <a:t> </a:t>
            </a:r>
            <a:r>
              <a:rPr spc="-18">
                <a:latin typeface="Arial MT"/>
                <a:cs typeface="Arial MT"/>
              </a:rPr>
              <a:t>of </a:t>
            </a:r>
            <a:r>
              <a:rPr>
                <a:latin typeface="Arial MT"/>
                <a:cs typeface="Arial MT"/>
              </a:rPr>
              <a:t>reuse</a:t>
            </a:r>
            <a:r>
              <a:rPr spc="14">
                <a:latin typeface="Arial MT"/>
                <a:cs typeface="Arial MT"/>
              </a:rPr>
              <a:t> </a:t>
            </a:r>
            <a:r>
              <a:rPr>
                <a:latin typeface="Arial MT"/>
                <a:cs typeface="Arial MT"/>
              </a:rPr>
              <a:t>is</a:t>
            </a:r>
            <a:r>
              <a:rPr spc="11">
                <a:latin typeface="Arial MT"/>
                <a:cs typeface="Arial MT"/>
              </a:rPr>
              <a:t> </a:t>
            </a:r>
            <a:r>
              <a:rPr>
                <a:latin typeface="Arial MT"/>
                <a:cs typeface="Arial MT"/>
              </a:rPr>
              <a:t>that</a:t>
            </a:r>
            <a:r>
              <a:rPr spc="14">
                <a:latin typeface="Arial MT"/>
                <a:cs typeface="Arial MT"/>
              </a:rPr>
              <a:t> </a:t>
            </a:r>
            <a:r>
              <a:rPr>
                <a:latin typeface="Arial MT"/>
                <a:cs typeface="Arial MT"/>
              </a:rPr>
              <a:t>it</a:t>
            </a:r>
            <a:r>
              <a:rPr spc="14">
                <a:latin typeface="Arial MT"/>
                <a:cs typeface="Arial MT"/>
              </a:rPr>
              <a:t> </a:t>
            </a:r>
            <a:r>
              <a:rPr>
                <a:latin typeface="Arial MT"/>
                <a:cs typeface="Arial MT"/>
              </a:rPr>
              <a:t>creates</a:t>
            </a:r>
            <a:r>
              <a:rPr spc="11">
                <a:latin typeface="Arial MT"/>
                <a:cs typeface="Arial MT"/>
              </a:rPr>
              <a:t> </a:t>
            </a:r>
            <a:r>
              <a:rPr>
                <a:latin typeface="Arial MT"/>
                <a:cs typeface="Arial MT"/>
              </a:rPr>
              <a:t>dependencies</a:t>
            </a:r>
            <a:r>
              <a:rPr spc="14">
                <a:latin typeface="Arial MT"/>
                <a:cs typeface="Arial MT"/>
              </a:rPr>
              <a:t> </a:t>
            </a:r>
            <a:r>
              <a:rPr>
                <a:latin typeface="Arial MT"/>
                <a:cs typeface="Arial MT"/>
              </a:rPr>
              <a:t>among</a:t>
            </a:r>
            <a:r>
              <a:rPr spc="14">
                <a:latin typeface="Arial MT"/>
                <a:cs typeface="Arial MT"/>
              </a:rPr>
              <a:t> </a:t>
            </a:r>
            <a:r>
              <a:rPr>
                <a:latin typeface="Arial MT"/>
                <a:cs typeface="Arial MT"/>
              </a:rPr>
              <a:t>the</a:t>
            </a:r>
            <a:r>
              <a:rPr spc="11">
                <a:latin typeface="Arial MT"/>
                <a:cs typeface="Arial MT"/>
              </a:rPr>
              <a:t> </a:t>
            </a:r>
            <a:r>
              <a:rPr>
                <a:latin typeface="Arial MT"/>
                <a:cs typeface="Arial MT"/>
              </a:rPr>
              <a:t>classes</a:t>
            </a:r>
            <a:r>
              <a:rPr spc="14">
                <a:latin typeface="Arial MT"/>
                <a:cs typeface="Arial MT"/>
              </a:rPr>
              <a:t> </a:t>
            </a:r>
            <a:r>
              <a:rPr>
                <a:latin typeface="Arial MT"/>
                <a:cs typeface="Arial MT"/>
              </a:rPr>
              <a:t>in</a:t>
            </a:r>
            <a:r>
              <a:rPr spc="14">
                <a:latin typeface="Arial MT"/>
                <a:cs typeface="Arial MT"/>
              </a:rPr>
              <a:t> </a:t>
            </a:r>
            <a:r>
              <a:rPr>
                <a:latin typeface="Arial MT"/>
                <a:cs typeface="Arial MT"/>
              </a:rPr>
              <a:t>an</a:t>
            </a:r>
            <a:r>
              <a:rPr spc="11">
                <a:latin typeface="Arial MT"/>
                <a:cs typeface="Arial MT"/>
              </a:rPr>
              <a:t> </a:t>
            </a:r>
            <a:r>
              <a:rPr spc="-7">
                <a:latin typeface="Arial MT"/>
                <a:cs typeface="Arial MT"/>
              </a:rPr>
              <a:t>inheritance </a:t>
            </a:r>
            <a:r>
              <a:rPr spc="-14">
                <a:latin typeface="Arial MT"/>
                <a:cs typeface="Arial MT"/>
              </a:rPr>
              <a:t>hierarchy.</a:t>
            </a:r>
            <a:r>
              <a:rPr spc="25">
                <a:latin typeface="Arial MT"/>
                <a:cs typeface="Arial MT"/>
              </a:rPr>
              <a:t> </a:t>
            </a:r>
            <a:r>
              <a:rPr>
                <a:latin typeface="Arial MT"/>
                <a:cs typeface="Arial MT"/>
              </a:rPr>
              <a:t>This</a:t>
            </a:r>
            <a:r>
              <a:rPr spc="21">
                <a:latin typeface="Arial MT"/>
                <a:cs typeface="Arial MT"/>
              </a:rPr>
              <a:t> </a:t>
            </a:r>
            <a:r>
              <a:rPr>
                <a:latin typeface="Arial MT"/>
                <a:cs typeface="Arial MT"/>
              </a:rPr>
              <a:t>result</a:t>
            </a:r>
            <a:r>
              <a:rPr spc="25">
                <a:latin typeface="Arial MT"/>
                <a:cs typeface="Arial MT"/>
              </a:rPr>
              <a:t> </a:t>
            </a:r>
            <a:r>
              <a:rPr>
                <a:latin typeface="Arial MT"/>
                <a:cs typeface="Arial MT"/>
              </a:rPr>
              <a:t>works</a:t>
            </a:r>
            <a:r>
              <a:rPr spc="25">
                <a:latin typeface="Arial MT"/>
                <a:cs typeface="Arial MT"/>
              </a:rPr>
              <a:t> </a:t>
            </a:r>
            <a:r>
              <a:rPr>
                <a:latin typeface="Arial MT"/>
                <a:cs typeface="Arial MT"/>
              </a:rPr>
              <a:t>against</a:t>
            </a:r>
            <a:r>
              <a:rPr spc="21">
                <a:latin typeface="Arial MT"/>
                <a:cs typeface="Arial MT"/>
              </a:rPr>
              <a:t> </a:t>
            </a:r>
            <a:r>
              <a:rPr>
                <a:latin typeface="Arial MT"/>
                <a:cs typeface="Arial MT"/>
              </a:rPr>
              <a:t>one</a:t>
            </a:r>
            <a:r>
              <a:rPr spc="25">
                <a:latin typeface="Arial MT"/>
                <a:cs typeface="Arial MT"/>
              </a:rPr>
              <a:t> </a:t>
            </a:r>
            <a:r>
              <a:rPr>
                <a:latin typeface="Arial MT"/>
                <a:cs typeface="Arial MT"/>
              </a:rPr>
              <a:t>of</a:t>
            </a:r>
            <a:r>
              <a:rPr spc="25">
                <a:latin typeface="Arial MT"/>
                <a:cs typeface="Arial MT"/>
              </a:rPr>
              <a:t> </a:t>
            </a:r>
            <a:r>
              <a:rPr>
                <a:latin typeface="Arial MT"/>
                <a:cs typeface="Arial MT"/>
              </a:rPr>
              <a:t>the</a:t>
            </a:r>
            <a:r>
              <a:rPr spc="21">
                <a:latin typeface="Arial MT"/>
                <a:cs typeface="Arial MT"/>
              </a:rPr>
              <a:t> </a:t>
            </a:r>
            <a:r>
              <a:rPr>
                <a:latin typeface="Arial MT"/>
                <a:cs typeface="Arial MT"/>
              </a:rPr>
              <a:t>advantages</a:t>
            </a:r>
            <a:r>
              <a:rPr spc="25">
                <a:latin typeface="Arial MT"/>
                <a:cs typeface="Arial MT"/>
              </a:rPr>
              <a:t> </a:t>
            </a:r>
            <a:r>
              <a:rPr>
                <a:latin typeface="Arial MT"/>
                <a:cs typeface="Arial MT"/>
              </a:rPr>
              <a:t>of</a:t>
            </a:r>
            <a:r>
              <a:rPr spc="25">
                <a:latin typeface="Arial MT"/>
                <a:cs typeface="Arial MT"/>
              </a:rPr>
              <a:t> </a:t>
            </a:r>
            <a:r>
              <a:rPr>
                <a:latin typeface="Arial MT"/>
                <a:cs typeface="Arial MT"/>
              </a:rPr>
              <a:t>abstract</a:t>
            </a:r>
            <a:r>
              <a:rPr spc="21">
                <a:latin typeface="Arial MT"/>
                <a:cs typeface="Arial MT"/>
              </a:rPr>
              <a:t> </a:t>
            </a:r>
            <a:r>
              <a:rPr spc="-14">
                <a:latin typeface="Arial MT"/>
                <a:cs typeface="Arial MT"/>
              </a:rPr>
              <a:t>data </a:t>
            </a:r>
            <a:r>
              <a:rPr>
                <a:latin typeface="Arial MT"/>
                <a:cs typeface="Arial MT"/>
              </a:rPr>
              <a:t>types,</a:t>
            </a:r>
            <a:r>
              <a:rPr spc="35">
                <a:latin typeface="Arial MT"/>
                <a:cs typeface="Arial MT"/>
              </a:rPr>
              <a:t> </a:t>
            </a:r>
            <a:r>
              <a:rPr>
                <a:latin typeface="Arial MT"/>
                <a:cs typeface="Arial MT"/>
              </a:rPr>
              <a:t>which</a:t>
            </a:r>
            <a:r>
              <a:rPr spc="35">
                <a:latin typeface="Arial MT"/>
                <a:cs typeface="Arial MT"/>
              </a:rPr>
              <a:t> </a:t>
            </a:r>
            <a:r>
              <a:rPr>
                <a:latin typeface="Arial MT"/>
                <a:cs typeface="Arial MT"/>
              </a:rPr>
              <a:t>is</a:t>
            </a:r>
            <a:r>
              <a:rPr spc="35">
                <a:latin typeface="Arial MT"/>
                <a:cs typeface="Arial MT"/>
              </a:rPr>
              <a:t> </a:t>
            </a:r>
            <a:r>
              <a:rPr>
                <a:latin typeface="Arial MT"/>
                <a:cs typeface="Arial MT"/>
              </a:rPr>
              <a:t>that</a:t>
            </a:r>
            <a:r>
              <a:rPr spc="39">
                <a:latin typeface="Arial MT"/>
                <a:cs typeface="Arial MT"/>
              </a:rPr>
              <a:t> </a:t>
            </a:r>
            <a:r>
              <a:rPr>
                <a:latin typeface="Arial MT"/>
                <a:cs typeface="Arial MT"/>
              </a:rPr>
              <a:t>they</a:t>
            </a:r>
            <a:r>
              <a:rPr spc="35">
                <a:latin typeface="Arial MT"/>
                <a:cs typeface="Arial MT"/>
              </a:rPr>
              <a:t> </a:t>
            </a:r>
            <a:r>
              <a:rPr>
                <a:latin typeface="Arial MT"/>
                <a:cs typeface="Arial MT"/>
              </a:rPr>
              <a:t>are</a:t>
            </a:r>
            <a:r>
              <a:rPr spc="35">
                <a:latin typeface="Arial MT"/>
                <a:cs typeface="Arial MT"/>
              </a:rPr>
              <a:t> </a:t>
            </a:r>
            <a:r>
              <a:rPr>
                <a:latin typeface="Arial MT"/>
                <a:cs typeface="Arial MT"/>
              </a:rPr>
              <a:t>independent</a:t>
            </a:r>
            <a:r>
              <a:rPr spc="35">
                <a:latin typeface="Arial MT"/>
                <a:cs typeface="Arial MT"/>
              </a:rPr>
              <a:t> </a:t>
            </a:r>
            <a:r>
              <a:rPr>
                <a:latin typeface="Arial MT"/>
                <a:cs typeface="Arial MT"/>
              </a:rPr>
              <a:t>of</a:t>
            </a:r>
            <a:r>
              <a:rPr spc="35">
                <a:latin typeface="Arial MT"/>
                <a:cs typeface="Arial MT"/>
              </a:rPr>
              <a:t> </a:t>
            </a:r>
            <a:r>
              <a:rPr>
                <a:latin typeface="Arial MT"/>
                <a:cs typeface="Arial MT"/>
              </a:rPr>
              <a:t>each</a:t>
            </a:r>
            <a:r>
              <a:rPr spc="35">
                <a:latin typeface="Arial MT"/>
                <a:cs typeface="Arial MT"/>
              </a:rPr>
              <a:t> </a:t>
            </a:r>
            <a:r>
              <a:rPr spc="-7">
                <a:latin typeface="Arial MT"/>
                <a:cs typeface="Arial MT"/>
              </a:rPr>
              <a:t>other.</a:t>
            </a:r>
            <a:endParaRPr>
              <a:latin typeface="Arial MT"/>
              <a:cs typeface="Arial MT"/>
            </a:endParaRPr>
          </a:p>
          <a:p>
            <a:pPr marL="201930" marR="354965" indent="-184150">
              <a:lnSpc>
                <a:spcPts val="1969"/>
              </a:lnSpc>
              <a:spcBef>
                <a:spcPts val="1744"/>
              </a:spcBef>
              <a:buSzPct val="144680"/>
              <a:buChar char="•"/>
              <a:tabLst>
                <a:tab pos="202250" algn="l"/>
              </a:tabLst>
            </a:pPr>
            <a:r>
              <a:rPr>
                <a:latin typeface="Arial MT"/>
                <a:cs typeface="Arial MT"/>
              </a:rPr>
              <a:t>In</a:t>
            </a:r>
            <a:r>
              <a:rPr spc="28">
                <a:latin typeface="Arial MT"/>
                <a:cs typeface="Arial MT"/>
              </a:rPr>
              <a:t> </a:t>
            </a:r>
            <a:r>
              <a:rPr spc="-7">
                <a:latin typeface="Arial MT"/>
                <a:cs typeface="Arial MT"/>
              </a:rPr>
              <a:t>general,</a:t>
            </a:r>
            <a:r>
              <a:rPr spc="32">
                <a:latin typeface="Arial MT"/>
                <a:cs typeface="Arial MT"/>
              </a:rPr>
              <a:t> </a:t>
            </a:r>
            <a:r>
              <a:rPr>
                <a:latin typeface="Arial MT"/>
                <a:cs typeface="Arial MT"/>
              </a:rPr>
              <a:t>the</a:t>
            </a:r>
            <a:r>
              <a:rPr spc="35">
                <a:latin typeface="Arial MT"/>
                <a:cs typeface="Arial MT"/>
              </a:rPr>
              <a:t> </a:t>
            </a:r>
            <a:r>
              <a:rPr>
                <a:latin typeface="Arial MT"/>
                <a:cs typeface="Arial MT"/>
              </a:rPr>
              <a:t>independence</a:t>
            </a:r>
            <a:r>
              <a:rPr spc="35">
                <a:latin typeface="Arial MT"/>
                <a:cs typeface="Arial MT"/>
              </a:rPr>
              <a:t> </a:t>
            </a:r>
            <a:r>
              <a:rPr>
                <a:latin typeface="Arial MT"/>
                <a:cs typeface="Arial MT"/>
              </a:rPr>
              <a:t>of</a:t>
            </a:r>
            <a:r>
              <a:rPr spc="32">
                <a:latin typeface="Arial MT"/>
                <a:cs typeface="Arial MT"/>
              </a:rPr>
              <a:t> </a:t>
            </a:r>
            <a:r>
              <a:rPr>
                <a:latin typeface="Arial MT"/>
                <a:cs typeface="Arial MT"/>
              </a:rPr>
              <a:t>abstract</a:t>
            </a:r>
            <a:r>
              <a:rPr spc="35">
                <a:latin typeface="Arial MT"/>
                <a:cs typeface="Arial MT"/>
              </a:rPr>
              <a:t> </a:t>
            </a:r>
            <a:r>
              <a:rPr>
                <a:latin typeface="Arial MT"/>
                <a:cs typeface="Arial MT"/>
              </a:rPr>
              <a:t>data</a:t>
            </a:r>
            <a:r>
              <a:rPr spc="35">
                <a:latin typeface="Arial MT"/>
                <a:cs typeface="Arial MT"/>
              </a:rPr>
              <a:t> </a:t>
            </a:r>
            <a:r>
              <a:rPr>
                <a:latin typeface="Arial MT"/>
                <a:cs typeface="Arial MT"/>
              </a:rPr>
              <a:t>types</a:t>
            </a:r>
            <a:r>
              <a:rPr spc="32">
                <a:latin typeface="Arial MT"/>
                <a:cs typeface="Arial MT"/>
              </a:rPr>
              <a:t> </a:t>
            </a:r>
            <a:r>
              <a:rPr>
                <a:latin typeface="Arial MT"/>
                <a:cs typeface="Arial MT"/>
              </a:rPr>
              <a:t>is</a:t>
            </a:r>
            <a:r>
              <a:rPr spc="35">
                <a:latin typeface="Arial MT"/>
                <a:cs typeface="Arial MT"/>
              </a:rPr>
              <a:t> </a:t>
            </a:r>
            <a:r>
              <a:rPr>
                <a:latin typeface="Arial MT"/>
                <a:cs typeface="Arial MT"/>
              </a:rPr>
              <a:t>one</a:t>
            </a:r>
            <a:r>
              <a:rPr spc="32">
                <a:latin typeface="Arial MT"/>
                <a:cs typeface="Arial MT"/>
              </a:rPr>
              <a:t> </a:t>
            </a:r>
            <a:r>
              <a:rPr>
                <a:latin typeface="Arial MT"/>
                <a:cs typeface="Arial MT"/>
              </a:rPr>
              <a:t>of</a:t>
            </a:r>
            <a:r>
              <a:rPr spc="35">
                <a:latin typeface="Arial MT"/>
                <a:cs typeface="Arial MT"/>
              </a:rPr>
              <a:t> </a:t>
            </a:r>
            <a:r>
              <a:rPr>
                <a:latin typeface="Arial MT"/>
                <a:cs typeface="Arial MT"/>
              </a:rPr>
              <a:t>their</a:t>
            </a:r>
            <a:r>
              <a:rPr spc="35">
                <a:latin typeface="Arial MT"/>
                <a:cs typeface="Arial MT"/>
              </a:rPr>
              <a:t> </a:t>
            </a:r>
            <a:r>
              <a:rPr spc="-7">
                <a:latin typeface="Arial MT"/>
                <a:cs typeface="Arial MT"/>
              </a:rPr>
              <a:t>strongest </a:t>
            </a:r>
            <a:r>
              <a:rPr>
                <a:latin typeface="Arial MT"/>
                <a:cs typeface="Arial MT"/>
              </a:rPr>
              <a:t>positive</a:t>
            </a:r>
            <a:r>
              <a:rPr spc="105">
                <a:latin typeface="Arial MT"/>
                <a:cs typeface="Arial MT"/>
              </a:rPr>
              <a:t> </a:t>
            </a:r>
            <a:r>
              <a:rPr spc="-7">
                <a:latin typeface="Arial MT"/>
                <a:cs typeface="Arial MT"/>
              </a:rPr>
              <a:t>characteristics.</a:t>
            </a:r>
            <a:endParaRPr>
              <a:latin typeface="Arial MT"/>
              <a:cs typeface="Arial MT"/>
            </a:endParaRPr>
          </a:p>
          <a:p>
            <a:pPr marL="201930" marR="69215" indent="-184150">
              <a:lnSpc>
                <a:spcPts val="1969"/>
              </a:lnSpc>
              <a:spcBef>
                <a:spcPts val="1744"/>
              </a:spcBef>
              <a:buSzPct val="144680"/>
              <a:buChar char="•"/>
              <a:tabLst>
                <a:tab pos="202250" algn="l"/>
              </a:tabLst>
            </a:pPr>
            <a:r>
              <a:rPr>
                <a:latin typeface="Arial MT"/>
                <a:cs typeface="Arial MT"/>
              </a:rPr>
              <a:t>It</a:t>
            </a:r>
            <a:r>
              <a:rPr spc="39">
                <a:latin typeface="Arial MT"/>
                <a:cs typeface="Arial MT"/>
              </a:rPr>
              <a:t> </a:t>
            </a:r>
            <a:r>
              <a:rPr>
                <a:latin typeface="Arial MT"/>
                <a:cs typeface="Arial MT"/>
              </a:rPr>
              <a:t>may</a:t>
            </a:r>
            <a:r>
              <a:rPr spc="49">
                <a:latin typeface="Arial MT"/>
                <a:cs typeface="Arial MT"/>
              </a:rPr>
              <a:t> </a:t>
            </a:r>
            <a:r>
              <a:rPr>
                <a:latin typeface="Arial MT"/>
                <a:cs typeface="Arial MT"/>
              </a:rPr>
              <a:t>be</a:t>
            </a:r>
            <a:r>
              <a:rPr spc="46">
                <a:latin typeface="Arial MT"/>
                <a:cs typeface="Arial MT"/>
              </a:rPr>
              <a:t> </a:t>
            </a:r>
            <a:r>
              <a:rPr>
                <a:latin typeface="Arial MT"/>
                <a:cs typeface="Arial MT"/>
              </a:rPr>
              <a:t>difficult,</a:t>
            </a:r>
            <a:r>
              <a:rPr spc="49">
                <a:latin typeface="Arial MT"/>
                <a:cs typeface="Arial MT"/>
              </a:rPr>
              <a:t> </a:t>
            </a:r>
            <a:r>
              <a:rPr>
                <a:latin typeface="Arial MT"/>
                <a:cs typeface="Arial MT"/>
              </a:rPr>
              <a:t>if</a:t>
            </a:r>
            <a:r>
              <a:rPr spc="46">
                <a:latin typeface="Arial MT"/>
                <a:cs typeface="Arial MT"/>
              </a:rPr>
              <a:t> </a:t>
            </a:r>
            <a:r>
              <a:rPr>
                <a:latin typeface="Arial MT"/>
                <a:cs typeface="Arial MT"/>
              </a:rPr>
              <a:t>not</a:t>
            </a:r>
            <a:r>
              <a:rPr spc="46">
                <a:latin typeface="Arial MT"/>
                <a:cs typeface="Arial MT"/>
              </a:rPr>
              <a:t> </a:t>
            </a:r>
            <a:r>
              <a:rPr>
                <a:latin typeface="Arial MT"/>
                <a:cs typeface="Arial MT"/>
              </a:rPr>
              <a:t>impossible,</a:t>
            </a:r>
            <a:r>
              <a:rPr spc="49">
                <a:latin typeface="Arial MT"/>
                <a:cs typeface="Arial MT"/>
              </a:rPr>
              <a:t> </a:t>
            </a:r>
            <a:r>
              <a:rPr spc="39">
                <a:latin typeface="Arial MT"/>
                <a:cs typeface="Arial MT"/>
              </a:rPr>
              <a:t>to</a:t>
            </a:r>
            <a:r>
              <a:rPr spc="46">
                <a:latin typeface="Arial MT"/>
                <a:cs typeface="Arial MT"/>
              </a:rPr>
              <a:t> </a:t>
            </a:r>
            <a:r>
              <a:rPr>
                <a:latin typeface="Arial MT"/>
                <a:cs typeface="Arial MT"/>
              </a:rPr>
              <a:t>increase</a:t>
            </a:r>
            <a:r>
              <a:rPr spc="46">
                <a:latin typeface="Arial MT"/>
                <a:cs typeface="Arial MT"/>
              </a:rPr>
              <a:t> </a:t>
            </a:r>
            <a:r>
              <a:rPr>
                <a:latin typeface="Arial MT"/>
                <a:cs typeface="Arial MT"/>
              </a:rPr>
              <a:t>the</a:t>
            </a:r>
            <a:r>
              <a:rPr spc="49">
                <a:latin typeface="Arial MT"/>
                <a:cs typeface="Arial MT"/>
              </a:rPr>
              <a:t> </a:t>
            </a:r>
            <a:r>
              <a:rPr>
                <a:latin typeface="Arial MT"/>
                <a:cs typeface="Arial MT"/>
              </a:rPr>
              <a:t>reusability</a:t>
            </a:r>
            <a:r>
              <a:rPr spc="46">
                <a:latin typeface="Arial MT"/>
                <a:cs typeface="Arial MT"/>
              </a:rPr>
              <a:t> </a:t>
            </a:r>
            <a:r>
              <a:rPr>
                <a:latin typeface="Arial MT"/>
                <a:cs typeface="Arial MT"/>
              </a:rPr>
              <a:t>of</a:t>
            </a:r>
            <a:r>
              <a:rPr spc="49">
                <a:latin typeface="Arial MT"/>
                <a:cs typeface="Arial MT"/>
              </a:rPr>
              <a:t> </a:t>
            </a:r>
            <a:r>
              <a:rPr>
                <a:latin typeface="Arial MT"/>
                <a:cs typeface="Arial MT"/>
              </a:rPr>
              <a:t>abstract</a:t>
            </a:r>
            <a:r>
              <a:rPr spc="46">
                <a:latin typeface="Arial MT"/>
                <a:cs typeface="Arial MT"/>
              </a:rPr>
              <a:t> </a:t>
            </a:r>
            <a:r>
              <a:rPr spc="-14">
                <a:latin typeface="Arial MT"/>
                <a:cs typeface="Arial MT"/>
              </a:rPr>
              <a:t>data </a:t>
            </a:r>
            <a:r>
              <a:rPr>
                <a:latin typeface="Arial MT"/>
                <a:cs typeface="Arial MT"/>
              </a:rPr>
              <a:t>types</a:t>
            </a:r>
            <a:r>
              <a:rPr spc="49">
                <a:latin typeface="Arial MT"/>
                <a:cs typeface="Arial MT"/>
              </a:rPr>
              <a:t> </a:t>
            </a:r>
            <a:r>
              <a:rPr>
                <a:latin typeface="Arial MT"/>
                <a:cs typeface="Arial MT"/>
              </a:rPr>
              <a:t>without</a:t>
            </a:r>
            <a:r>
              <a:rPr spc="49">
                <a:latin typeface="Arial MT"/>
                <a:cs typeface="Arial MT"/>
              </a:rPr>
              <a:t> </a:t>
            </a:r>
            <a:r>
              <a:rPr>
                <a:latin typeface="Arial MT"/>
                <a:cs typeface="Arial MT"/>
              </a:rPr>
              <a:t>creating</a:t>
            </a:r>
            <a:r>
              <a:rPr spc="49">
                <a:latin typeface="Arial MT"/>
                <a:cs typeface="Arial MT"/>
              </a:rPr>
              <a:t> </a:t>
            </a:r>
            <a:r>
              <a:rPr>
                <a:latin typeface="Arial MT"/>
                <a:cs typeface="Arial MT"/>
              </a:rPr>
              <a:t>dependencies</a:t>
            </a:r>
            <a:r>
              <a:rPr spc="46">
                <a:latin typeface="Arial MT"/>
                <a:cs typeface="Arial MT"/>
              </a:rPr>
              <a:t> </a:t>
            </a:r>
            <a:r>
              <a:rPr>
                <a:latin typeface="Arial MT"/>
                <a:cs typeface="Arial MT"/>
              </a:rPr>
              <a:t>among</a:t>
            </a:r>
            <a:r>
              <a:rPr spc="49">
                <a:latin typeface="Arial MT"/>
                <a:cs typeface="Arial MT"/>
              </a:rPr>
              <a:t> </a:t>
            </a:r>
            <a:r>
              <a:rPr>
                <a:latin typeface="Arial MT"/>
                <a:cs typeface="Arial MT"/>
              </a:rPr>
              <a:t>some</a:t>
            </a:r>
            <a:r>
              <a:rPr spc="49">
                <a:latin typeface="Arial MT"/>
                <a:cs typeface="Arial MT"/>
              </a:rPr>
              <a:t> </a:t>
            </a:r>
            <a:r>
              <a:rPr>
                <a:latin typeface="Arial MT"/>
                <a:cs typeface="Arial MT"/>
              </a:rPr>
              <a:t>of</a:t>
            </a:r>
            <a:r>
              <a:rPr spc="49">
                <a:latin typeface="Arial MT"/>
                <a:cs typeface="Arial MT"/>
              </a:rPr>
              <a:t> </a:t>
            </a:r>
            <a:r>
              <a:rPr>
                <a:latin typeface="Arial MT"/>
                <a:cs typeface="Arial MT"/>
              </a:rPr>
              <a:t>them.</a:t>
            </a:r>
            <a:r>
              <a:rPr spc="49">
                <a:latin typeface="Arial MT"/>
                <a:cs typeface="Arial MT"/>
              </a:rPr>
              <a:t> </a:t>
            </a:r>
            <a:r>
              <a:rPr>
                <a:latin typeface="Arial MT"/>
                <a:cs typeface="Arial MT"/>
              </a:rPr>
              <a:t>In</a:t>
            </a:r>
            <a:r>
              <a:rPr spc="49">
                <a:latin typeface="Arial MT"/>
                <a:cs typeface="Arial MT"/>
              </a:rPr>
              <a:t> </a:t>
            </a:r>
            <a:r>
              <a:rPr>
                <a:latin typeface="Arial MT"/>
                <a:cs typeface="Arial MT"/>
              </a:rPr>
              <a:t>many</a:t>
            </a:r>
            <a:r>
              <a:rPr spc="46">
                <a:latin typeface="Arial MT"/>
                <a:cs typeface="Arial MT"/>
              </a:rPr>
              <a:t> </a:t>
            </a:r>
            <a:r>
              <a:rPr>
                <a:latin typeface="Arial MT"/>
                <a:cs typeface="Arial MT"/>
              </a:rPr>
              <a:t>cases,</a:t>
            </a:r>
            <a:r>
              <a:rPr spc="49">
                <a:latin typeface="Arial MT"/>
                <a:cs typeface="Arial MT"/>
              </a:rPr>
              <a:t> </a:t>
            </a:r>
            <a:r>
              <a:rPr spc="-18">
                <a:latin typeface="Arial MT"/>
                <a:cs typeface="Arial MT"/>
              </a:rPr>
              <a:t>the </a:t>
            </a:r>
            <a:r>
              <a:rPr>
                <a:latin typeface="Arial MT"/>
                <a:cs typeface="Arial MT"/>
              </a:rPr>
              <a:t>dependencies</a:t>
            </a:r>
            <a:r>
              <a:rPr spc="42">
                <a:latin typeface="Arial MT"/>
                <a:cs typeface="Arial MT"/>
              </a:rPr>
              <a:t> </a:t>
            </a:r>
            <a:r>
              <a:rPr>
                <a:latin typeface="Arial MT"/>
                <a:cs typeface="Arial MT"/>
              </a:rPr>
              <a:t>naturally</a:t>
            </a:r>
            <a:r>
              <a:rPr spc="46">
                <a:latin typeface="Arial MT"/>
                <a:cs typeface="Arial MT"/>
              </a:rPr>
              <a:t> </a:t>
            </a:r>
            <a:r>
              <a:rPr>
                <a:latin typeface="Arial MT"/>
                <a:cs typeface="Arial MT"/>
              </a:rPr>
              <a:t>mirror</a:t>
            </a:r>
            <a:r>
              <a:rPr spc="42">
                <a:latin typeface="Arial MT"/>
                <a:cs typeface="Arial MT"/>
              </a:rPr>
              <a:t> </a:t>
            </a:r>
            <a:r>
              <a:rPr>
                <a:latin typeface="Arial MT"/>
                <a:cs typeface="Arial MT"/>
              </a:rPr>
              <a:t>dependencies</a:t>
            </a:r>
            <a:r>
              <a:rPr spc="42">
                <a:latin typeface="Arial MT"/>
                <a:cs typeface="Arial MT"/>
              </a:rPr>
              <a:t> </a:t>
            </a:r>
            <a:r>
              <a:rPr>
                <a:latin typeface="Arial MT"/>
                <a:cs typeface="Arial MT"/>
              </a:rPr>
              <a:t>in</a:t>
            </a:r>
            <a:r>
              <a:rPr spc="46">
                <a:latin typeface="Arial MT"/>
                <a:cs typeface="Arial MT"/>
              </a:rPr>
              <a:t> </a:t>
            </a:r>
            <a:r>
              <a:rPr>
                <a:latin typeface="Arial MT"/>
                <a:cs typeface="Arial MT"/>
              </a:rPr>
              <a:t>the</a:t>
            </a:r>
            <a:r>
              <a:rPr spc="42">
                <a:latin typeface="Arial MT"/>
                <a:cs typeface="Arial MT"/>
              </a:rPr>
              <a:t> </a:t>
            </a:r>
            <a:r>
              <a:rPr>
                <a:latin typeface="Arial MT"/>
                <a:cs typeface="Arial MT"/>
              </a:rPr>
              <a:t>underlying</a:t>
            </a:r>
            <a:r>
              <a:rPr spc="42">
                <a:latin typeface="Arial MT"/>
                <a:cs typeface="Arial MT"/>
              </a:rPr>
              <a:t> </a:t>
            </a:r>
            <a:r>
              <a:rPr>
                <a:latin typeface="Arial MT"/>
                <a:cs typeface="Arial MT"/>
              </a:rPr>
              <a:t>problem</a:t>
            </a:r>
            <a:r>
              <a:rPr spc="42">
                <a:latin typeface="Arial MT"/>
                <a:cs typeface="Arial MT"/>
              </a:rPr>
              <a:t> </a:t>
            </a:r>
            <a:r>
              <a:rPr spc="-7">
                <a:latin typeface="Arial MT"/>
                <a:cs typeface="Arial MT"/>
              </a:rPr>
              <a:t>space.</a:t>
            </a:r>
            <a:endParaRPr>
              <a:latin typeface="Arial MT"/>
              <a:cs typeface="Arial MT"/>
            </a:endParaRPr>
          </a:p>
        </p:txBody>
      </p:sp>
      <p:sp>
        <p:nvSpPr>
          <p:cNvPr id="4" name="Footer Placeholder 3">
            <a:extLst>
              <a:ext uri="{FF2B5EF4-FFF2-40B4-BE49-F238E27FC236}">
                <a16:creationId xmlns:a16="http://schemas.microsoft.com/office/drawing/2014/main" id="{69E196AD-268D-C425-7988-CC0F8B4CCD18}"/>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2F57493E-1FC8-35F8-B8BD-F378441DB68C}"/>
              </a:ext>
            </a:extLst>
          </p:cNvPr>
          <p:cNvSpPr>
            <a:spLocks noGrp="1"/>
          </p:cNvSpPr>
          <p:nvPr>
            <p:ph type="sldNum" sz="quarter" idx="12"/>
          </p:nvPr>
        </p:nvSpPr>
        <p:spPr/>
        <p:txBody>
          <a:bodyPr/>
          <a:lstStyle/>
          <a:p>
            <a:fld id="{48F63A3B-78C7-47BE-AE5E-E10140E04643}" type="slidenum">
              <a:rPr lang="en-US" dirty="0"/>
              <a:t>40</a:t>
            </a:fld>
            <a:endParaRPr lang="en-US"/>
          </a:p>
        </p:txBody>
      </p:sp>
    </p:spTree>
    <p:extLst>
      <p:ext uri="{BB962C8B-B14F-4D97-AF65-F5344CB8AC3E}">
        <p14:creationId xmlns:p14="http://schemas.microsoft.com/office/powerpoint/2010/main" val="9709172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rgbClr val="FF7B00"/>
                </a:solidFill>
              </a:rPr>
              <a:t>Inheritance</a:t>
            </a:r>
            <a:endParaRPr lang="en-US"/>
          </a:p>
        </p:txBody>
      </p:sp>
      <p:sp>
        <p:nvSpPr>
          <p:cNvPr id="3" name="Content Placeholder 2"/>
          <p:cNvSpPr>
            <a:spLocks noGrp="1"/>
          </p:cNvSpPr>
          <p:nvPr>
            <p:ph idx="1"/>
          </p:nvPr>
        </p:nvSpPr>
        <p:spPr>
          <a:xfrm>
            <a:off x="611097" y="1552575"/>
            <a:ext cx="11066552" cy="5048250"/>
          </a:xfrm>
        </p:spPr>
        <p:txBody>
          <a:bodyPr vert="horz" lIns="91440" tIns="45720" rIns="91440" bIns="45720" rtlCol="0" anchor="t">
            <a:normAutofit/>
          </a:bodyPr>
          <a:lstStyle/>
          <a:p>
            <a:pPr algn="just"/>
            <a:r>
              <a:rPr lang="en-US" sz="2400"/>
              <a:t>In Python, inheritance is the process of inheriting the properties of the base class (or parent class) into a derived class (or child class).</a:t>
            </a:r>
          </a:p>
          <a:p>
            <a:pPr algn="just"/>
            <a:r>
              <a:rPr lang="en-US" sz="2400"/>
              <a:t>In an Object-oriented programming language, inheritance is an important aspect. Using inheritance we can reuse parent class code. Inheritance allows us to define a class that inherits all the methods and properties from parent class. The parent class or super or base class is the class which gives all the methods and properties. Child class is the class that inherits from another or parent class.</a:t>
            </a:r>
          </a:p>
          <a:p>
            <a:pPr algn="just"/>
            <a:r>
              <a:rPr lang="en-US" sz="2400"/>
              <a:t>In inheritance, the child class acquires and access all the data members, properties, and functions from the parent class. Also, a child class can also provide its specific implementation to the functions of the parent class.</a:t>
            </a:r>
          </a:p>
          <a:p>
            <a:endParaRPr lang="en-US"/>
          </a:p>
          <a:p>
            <a:endParaRPr lang="en-US"/>
          </a:p>
        </p:txBody>
      </p:sp>
      <p:sp>
        <p:nvSpPr>
          <p:cNvPr id="4" name="Footer Placeholder 3">
            <a:extLst>
              <a:ext uri="{FF2B5EF4-FFF2-40B4-BE49-F238E27FC236}">
                <a16:creationId xmlns:a16="http://schemas.microsoft.com/office/drawing/2014/main" id="{F2F9E830-2E3F-0D4D-B626-71209896C7E1}"/>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797C4CB5-E486-6D93-E424-815719A6DC73}"/>
              </a:ext>
            </a:extLst>
          </p:cNvPr>
          <p:cNvSpPr>
            <a:spLocks noGrp="1"/>
          </p:cNvSpPr>
          <p:nvPr>
            <p:ph type="sldNum" sz="quarter" idx="12"/>
          </p:nvPr>
        </p:nvSpPr>
        <p:spPr/>
        <p:txBody>
          <a:bodyPr/>
          <a:lstStyle/>
          <a:p>
            <a:fld id="{48F63A3B-78C7-47BE-AE5E-E10140E04643}" type="slidenum">
              <a:rPr lang="en-US" dirty="0"/>
              <a:t>41</a:t>
            </a:fld>
            <a:endParaRPr lang="en-US"/>
          </a:p>
        </p:txBody>
      </p:sp>
    </p:spTree>
    <p:extLst>
      <p:ext uri="{BB962C8B-B14F-4D97-AF65-F5344CB8AC3E}">
        <p14:creationId xmlns:p14="http://schemas.microsoft.com/office/powerpoint/2010/main" val="26273349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rgbClr val="FF7B00"/>
                </a:solidFill>
              </a:rPr>
              <a:t>Inheritance</a:t>
            </a:r>
            <a:endParaRPr lang="en-US"/>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sz="2400">
                <a:ea typeface="+mn-lt"/>
                <a:cs typeface="+mn-lt"/>
              </a:rPr>
              <a:t>A class would be created that would provide an instance of variables and methods common to all of the objects in the group. This class is called a super class. </a:t>
            </a:r>
            <a:endParaRPr lang="en-US"/>
          </a:p>
          <a:p>
            <a:pPr algn="just"/>
            <a:r>
              <a:rPr lang="en-US" sz="2400">
                <a:ea typeface="+mn-lt"/>
                <a:cs typeface="+mn-lt"/>
              </a:rPr>
              <a:t>All of the objects in the group would inherit from this newly created super class. The objects in the group would be a subclass of the super class. </a:t>
            </a:r>
            <a:endParaRPr lang="en-US"/>
          </a:p>
          <a:p>
            <a:pPr algn="just"/>
            <a:r>
              <a:rPr lang="en-US" sz="2400">
                <a:ea typeface="+mn-lt"/>
                <a:cs typeface="+mn-lt"/>
              </a:rPr>
              <a:t>The super class and subclass are related in a generalization-to-specialization relationship. the super class being the generalized methods and properties while the subclass is the specialized methods and properties. </a:t>
            </a:r>
            <a:endParaRPr lang="en-US" sz="2400"/>
          </a:p>
        </p:txBody>
      </p:sp>
      <p:sp>
        <p:nvSpPr>
          <p:cNvPr id="4" name="Footer Placeholder 3">
            <a:extLst>
              <a:ext uri="{FF2B5EF4-FFF2-40B4-BE49-F238E27FC236}">
                <a16:creationId xmlns:a16="http://schemas.microsoft.com/office/drawing/2014/main" id="{0FD2295B-C3D6-CC4D-0094-8474299D9E73}"/>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06F04323-AEF0-C4E7-9FA4-D7B7706EDCFD}"/>
              </a:ext>
            </a:extLst>
          </p:cNvPr>
          <p:cNvSpPr>
            <a:spLocks noGrp="1"/>
          </p:cNvSpPr>
          <p:nvPr>
            <p:ph type="sldNum" sz="quarter" idx="12"/>
          </p:nvPr>
        </p:nvSpPr>
        <p:spPr/>
        <p:txBody>
          <a:bodyPr/>
          <a:lstStyle/>
          <a:p>
            <a:fld id="{48F63A3B-78C7-47BE-AE5E-E10140E04643}" type="slidenum">
              <a:rPr lang="en-US" dirty="0"/>
              <a:t>42</a:t>
            </a:fld>
            <a:endParaRPr lang="en-US"/>
          </a:p>
        </p:txBody>
      </p:sp>
    </p:spTree>
    <p:extLst>
      <p:ext uri="{BB962C8B-B14F-4D97-AF65-F5344CB8AC3E}">
        <p14:creationId xmlns:p14="http://schemas.microsoft.com/office/powerpoint/2010/main" val="41005614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253DC-B375-3343-E1B8-6372D5AA22B2}"/>
              </a:ext>
            </a:extLst>
          </p:cNvPr>
          <p:cNvSpPr>
            <a:spLocks noGrp="1"/>
          </p:cNvSpPr>
          <p:nvPr>
            <p:ph type="title"/>
          </p:nvPr>
        </p:nvSpPr>
        <p:spPr/>
        <p:txBody>
          <a:bodyPr/>
          <a:lstStyle/>
          <a:p>
            <a:r>
              <a:rPr lang="en-US">
                <a:solidFill>
                  <a:srgbClr val="FF7B00"/>
                </a:solidFill>
              </a:rPr>
              <a:t>Types of Inheritances </a:t>
            </a:r>
          </a:p>
        </p:txBody>
      </p:sp>
      <p:sp>
        <p:nvSpPr>
          <p:cNvPr id="3" name="Content Placeholder 2">
            <a:extLst>
              <a:ext uri="{FF2B5EF4-FFF2-40B4-BE49-F238E27FC236}">
                <a16:creationId xmlns:a16="http://schemas.microsoft.com/office/drawing/2014/main" id="{B55CCCEB-FF3C-FE73-EEDD-25C7314DFB6E}"/>
              </a:ext>
            </a:extLst>
          </p:cNvPr>
          <p:cNvSpPr>
            <a:spLocks noGrp="1"/>
          </p:cNvSpPr>
          <p:nvPr>
            <p:ph idx="1"/>
          </p:nvPr>
        </p:nvSpPr>
        <p:spPr/>
        <p:txBody>
          <a:bodyPr vert="horz" lIns="91440" tIns="45720" rIns="91440" bIns="45720" rtlCol="0" anchor="t">
            <a:normAutofit/>
          </a:bodyPr>
          <a:lstStyle/>
          <a:p>
            <a:pPr marL="514350" indent="-514350">
              <a:buAutoNum type="arabicPeriod"/>
            </a:pPr>
            <a:r>
              <a:rPr lang="en-US"/>
              <a:t>Single</a:t>
            </a:r>
          </a:p>
          <a:p>
            <a:pPr marL="514350" indent="-514350">
              <a:buAutoNum type="arabicPeriod"/>
            </a:pPr>
            <a:r>
              <a:rPr lang="en-US"/>
              <a:t>Multiple</a:t>
            </a:r>
          </a:p>
          <a:p>
            <a:pPr marL="514350" indent="-514350">
              <a:buAutoNum type="arabicPeriod"/>
            </a:pPr>
            <a:r>
              <a:rPr lang="en-US"/>
              <a:t>Multilevel</a:t>
            </a:r>
          </a:p>
          <a:p>
            <a:pPr marL="514350" indent="-514350">
              <a:buAutoNum type="arabicPeriod"/>
            </a:pPr>
            <a:r>
              <a:rPr lang="en-US">
                <a:latin typeface="Aptos" panose="02110004020202020204"/>
                <a:cs typeface="Segoe UI Semibold"/>
              </a:rPr>
              <a:t>Hierarchical</a:t>
            </a:r>
          </a:p>
          <a:p>
            <a:pPr marL="514350" indent="-514350">
              <a:buAutoNum type="arabicPeriod"/>
            </a:pPr>
            <a:r>
              <a:rPr lang="en-US">
                <a:cs typeface="Segoe UI Semibold"/>
              </a:rPr>
              <a:t>Hybrid</a:t>
            </a:r>
          </a:p>
          <a:p>
            <a:pPr marL="514350" indent="-514350">
              <a:buAutoNum type="arabicPeriod"/>
            </a:pPr>
            <a:endParaRPr lang="en-US"/>
          </a:p>
        </p:txBody>
      </p:sp>
      <p:sp>
        <p:nvSpPr>
          <p:cNvPr id="4" name="Footer Placeholder 3">
            <a:extLst>
              <a:ext uri="{FF2B5EF4-FFF2-40B4-BE49-F238E27FC236}">
                <a16:creationId xmlns:a16="http://schemas.microsoft.com/office/drawing/2014/main" id="{EC0FD633-3C5C-02C0-0142-FCA4ACA6DF7A}"/>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9C14F20A-673B-6598-F377-E1AC14E3E50D}"/>
              </a:ext>
            </a:extLst>
          </p:cNvPr>
          <p:cNvSpPr>
            <a:spLocks noGrp="1"/>
          </p:cNvSpPr>
          <p:nvPr>
            <p:ph type="sldNum" sz="quarter" idx="12"/>
          </p:nvPr>
        </p:nvSpPr>
        <p:spPr/>
        <p:txBody>
          <a:bodyPr/>
          <a:lstStyle/>
          <a:p>
            <a:fld id="{48F63A3B-78C7-47BE-AE5E-E10140E04643}" type="slidenum">
              <a:rPr lang="en-US" dirty="0"/>
              <a:t>43</a:t>
            </a:fld>
            <a:endParaRPr lang="en-US"/>
          </a:p>
        </p:txBody>
      </p:sp>
    </p:spTree>
    <p:extLst>
      <p:ext uri="{BB962C8B-B14F-4D97-AF65-F5344CB8AC3E}">
        <p14:creationId xmlns:p14="http://schemas.microsoft.com/office/powerpoint/2010/main" val="34325128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77C4E-B0CF-C736-DD61-16A34E8B3F2E}"/>
              </a:ext>
            </a:extLst>
          </p:cNvPr>
          <p:cNvSpPr>
            <a:spLocks noGrp="1"/>
          </p:cNvSpPr>
          <p:nvPr>
            <p:ph type="title"/>
          </p:nvPr>
        </p:nvSpPr>
        <p:spPr/>
        <p:txBody>
          <a:bodyPr/>
          <a:lstStyle/>
          <a:p>
            <a:r>
              <a:rPr lang="en-US">
                <a:solidFill>
                  <a:srgbClr val="FF7B00"/>
                </a:solidFill>
                <a:ea typeface="+mj-lt"/>
                <a:cs typeface="+mj-lt"/>
              </a:rPr>
              <a:t>Python Inheritance Syntax</a:t>
            </a:r>
            <a:endParaRPr lang="en-US">
              <a:solidFill>
                <a:srgbClr val="FF7B00"/>
              </a:solidFill>
            </a:endParaRPr>
          </a:p>
        </p:txBody>
      </p:sp>
      <p:sp>
        <p:nvSpPr>
          <p:cNvPr id="3" name="Content Placeholder 2">
            <a:extLst>
              <a:ext uri="{FF2B5EF4-FFF2-40B4-BE49-F238E27FC236}">
                <a16:creationId xmlns:a16="http://schemas.microsoft.com/office/drawing/2014/main" id="{A6EADCD1-E5CB-49D1-2751-C5E2547B9B55}"/>
              </a:ext>
            </a:extLst>
          </p:cNvPr>
          <p:cNvSpPr>
            <a:spLocks noGrp="1"/>
          </p:cNvSpPr>
          <p:nvPr>
            <p:ph idx="1"/>
          </p:nvPr>
        </p:nvSpPr>
        <p:spPr/>
        <p:txBody>
          <a:bodyPr vert="horz" lIns="91440" tIns="45720" rIns="91440" bIns="45720" rtlCol="0" anchor="t">
            <a:normAutofit/>
          </a:bodyPr>
          <a:lstStyle/>
          <a:p>
            <a:pPr marL="0" indent="0">
              <a:buNone/>
            </a:pPr>
            <a:r>
              <a:rPr lang="en-US">
                <a:ea typeface="+mn-lt"/>
                <a:cs typeface="+mn-lt"/>
              </a:rPr>
              <a:t>Class </a:t>
            </a:r>
            <a:r>
              <a:rPr lang="en-US" err="1">
                <a:ea typeface="+mn-lt"/>
                <a:cs typeface="+mn-lt"/>
              </a:rPr>
              <a:t>BaseClass</a:t>
            </a:r>
            <a:r>
              <a:rPr lang="en-US">
                <a:ea typeface="+mn-lt"/>
                <a:cs typeface="+mn-lt"/>
              </a:rPr>
              <a:t>:</a:t>
            </a:r>
            <a:endParaRPr lang="en-US"/>
          </a:p>
          <a:p>
            <a:pPr marL="0" indent="0">
              <a:buNone/>
            </a:pPr>
            <a:r>
              <a:rPr lang="en-US">
                <a:ea typeface="+mn-lt"/>
                <a:cs typeface="+mn-lt"/>
              </a:rPr>
              <a:t>    {Body}</a:t>
            </a:r>
            <a:endParaRPr lang="en-US"/>
          </a:p>
          <a:p>
            <a:pPr marL="0" indent="0">
              <a:buNone/>
            </a:pPr>
            <a:r>
              <a:rPr lang="en-US">
                <a:ea typeface="+mn-lt"/>
                <a:cs typeface="+mn-lt"/>
              </a:rPr>
              <a:t>Class </a:t>
            </a:r>
            <a:r>
              <a:rPr lang="en-US" err="1">
                <a:ea typeface="+mn-lt"/>
                <a:cs typeface="+mn-lt"/>
              </a:rPr>
              <a:t>DerivedClass</a:t>
            </a:r>
            <a:r>
              <a:rPr lang="en-US">
                <a:ea typeface="+mn-lt"/>
                <a:cs typeface="+mn-lt"/>
              </a:rPr>
              <a:t>(</a:t>
            </a:r>
            <a:r>
              <a:rPr lang="en-US" err="1">
                <a:ea typeface="+mn-lt"/>
                <a:cs typeface="+mn-lt"/>
              </a:rPr>
              <a:t>BaseClass</a:t>
            </a:r>
            <a:r>
              <a:rPr lang="en-US">
                <a:ea typeface="+mn-lt"/>
                <a:cs typeface="+mn-lt"/>
              </a:rPr>
              <a:t>):</a:t>
            </a:r>
            <a:endParaRPr lang="en-US"/>
          </a:p>
          <a:p>
            <a:pPr marL="0" indent="0">
              <a:buNone/>
            </a:pPr>
            <a:r>
              <a:rPr lang="en-US">
                <a:ea typeface="+mn-lt"/>
                <a:cs typeface="+mn-lt"/>
              </a:rPr>
              <a:t>    {Body}</a:t>
            </a:r>
            <a:endParaRPr lang="en-US"/>
          </a:p>
        </p:txBody>
      </p:sp>
      <p:sp>
        <p:nvSpPr>
          <p:cNvPr id="4" name="Footer Placeholder 3">
            <a:extLst>
              <a:ext uri="{FF2B5EF4-FFF2-40B4-BE49-F238E27FC236}">
                <a16:creationId xmlns:a16="http://schemas.microsoft.com/office/drawing/2014/main" id="{1057EFA0-73BF-E05D-CC7E-DDDF977FA97E}"/>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479E7A25-D46E-0243-0233-128E40B187A1}"/>
              </a:ext>
            </a:extLst>
          </p:cNvPr>
          <p:cNvSpPr>
            <a:spLocks noGrp="1"/>
          </p:cNvSpPr>
          <p:nvPr>
            <p:ph type="sldNum" sz="quarter" idx="12"/>
          </p:nvPr>
        </p:nvSpPr>
        <p:spPr/>
        <p:txBody>
          <a:bodyPr/>
          <a:lstStyle/>
          <a:p>
            <a:fld id="{48F63A3B-78C7-47BE-AE5E-E10140E04643}" type="slidenum">
              <a:rPr lang="en-US" dirty="0"/>
              <a:t>44</a:t>
            </a:fld>
            <a:endParaRPr lang="en-US"/>
          </a:p>
        </p:txBody>
      </p:sp>
    </p:spTree>
    <p:extLst>
      <p:ext uri="{BB962C8B-B14F-4D97-AF65-F5344CB8AC3E}">
        <p14:creationId xmlns:p14="http://schemas.microsoft.com/office/powerpoint/2010/main" val="18125927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12F07-BE93-778F-8BDA-64EA1F34B166}"/>
              </a:ext>
            </a:extLst>
          </p:cNvPr>
          <p:cNvSpPr>
            <a:spLocks noGrp="1"/>
          </p:cNvSpPr>
          <p:nvPr>
            <p:ph type="title"/>
          </p:nvPr>
        </p:nvSpPr>
        <p:spPr/>
        <p:txBody>
          <a:bodyPr/>
          <a:lstStyle/>
          <a:p>
            <a:r>
              <a:rPr lang="en-US" b="1">
                <a:solidFill>
                  <a:srgbClr val="FF7B00"/>
                </a:solidFill>
                <a:ea typeface="+mj-lt"/>
                <a:cs typeface="+mj-lt"/>
              </a:rPr>
              <a:t>Creating a Parent Class</a:t>
            </a:r>
            <a:endParaRPr lang="en-US" b="1">
              <a:solidFill>
                <a:srgbClr val="FF7B00"/>
              </a:solidFill>
            </a:endParaRPr>
          </a:p>
        </p:txBody>
      </p:sp>
      <p:sp>
        <p:nvSpPr>
          <p:cNvPr id="3" name="Content Placeholder 2">
            <a:extLst>
              <a:ext uri="{FF2B5EF4-FFF2-40B4-BE49-F238E27FC236}">
                <a16:creationId xmlns:a16="http://schemas.microsoft.com/office/drawing/2014/main" id="{2391516F-6547-AD72-80C2-DE20415A529C}"/>
              </a:ext>
            </a:extLst>
          </p:cNvPr>
          <p:cNvSpPr>
            <a:spLocks noGrp="1"/>
          </p:cNvSpPr>
          <p:nvPr>
            <p:ph idx="1"/>
          </p:nvPr>
        </p:nvSpPr>
        <p:spPr/>
        <p:txBody>
          <a:bodyPr vert="horz" lIns="91440" tIns="45720" rIns="91440" bIns="45720" rtlCol="0" anchor="t">
            <a:normAutofit fontScale="77500" lnSpcReduction="20000"/>
          </a:bodyPr>
          <a:lstStyle/>
          <a:p>
            <a:pPr marL="0" indent="0">
              <a:buNone/>
            </a:pPr>
            <a:r>
              <a:rPr lang="en-US">
                <a:ea typeface="+mn-lt"/>
                <a:cs typeface="+mn-lt"/>
              </a:rPr>
              <a:t># A Python program to demonstrate inheritance</a:t>
            </a:r>
            <a:endParaRPr lang="en-US"/>
          </a:p>
          <a:p>
            <a:pPr marL="0" indent="0">
              <a:buNone/>
            </a:pPr>
            <a:r>
              <a:rPr lang="en-US">
                <a:ea typeface="+mn-lt"/>
                <a:cs typeface="+mn-lt"/>
              </a:rPr>
              <a:t>class Person(object):</a:t>
            </a:r>
            <a:endParaRPr lang="en-US"/>
          </a:p>
          <a:p>
            <a:pPr marL="0" indent="0">
              <a:buNone/>
            </a:pPr>
            <a:r>
              <a:rPr lang="en-US">
                <a:ea typeface="+mn-lt"/>
                <a:cs typeface="+mn-lt"/>
              </a:rPr>
              <a:t>  # Constructor</a:t>
            </a:r>
            <a:endParaRPr lang="en-US"/>
          </a:p>
          <a:p>
            <a:pPr marL="0" indent="0">
              <a:buNone/>
            </a:pPr>
            <a:r>
              <a:rPr lang="en-US">
                <a:ea typeface="+mn-lt"/>
                <a:cs typeface="+mn-lt"/>
              </a:rPr>
              <a:t>  def __</a:t>
            </a:r>
            <a:r>
              <a:rPr lang="en-US" err="1">
                <a:ea typeface="+mn-lt"/>
                <a:cs typeface="+mn-lt"/>
              </a:rPr>
              <a:t>init</a:t>
            </a:r>
            <a:r>
              <a:rPr lang="en-US">
                <a:ea typeface="+mn-lt"/>
                <a:cs typeface="+mn-lt"/>
              </a:rPr>
              <a:t>__(self, name, id):</a:t>
            </a:r>
            <a:endParaRPr lang="en-US"/>
          </a:p>
          <a:p>
            <a:pPr marL="0" indent="0">
              <a:buNone/>
            </a:pPr>
            <a:r>
              <a:rPr lang="en-US">
                <a:ea typeface="+mn-lt"/>
                <a:cs typeface="+mn-lt"/>
              </a:rPr>
              <a:t>    self.name = name</a:t>
            </a:r>
            <a:endParaRPr lang="en-US"/>
          </a:p>
          <a:p>
            <a:pPr marL="0" indent="0">
              <a:buNone/>
            </a:pPr>
            <a:r>
              <a:rPr lang="en-US">
                <a:ea typeface="+mn-lt"/>
                <a:cs typeface="+mn-lt"/>
              </a:rPr>
              <a:t>    self.id = id</a:t>
            </a:r>
            <a:endParaRPr lang="en-US"/>
          </a:p>
          <a:p>
            <a:pPr marL="0" indent="0">
              <a:buNone/>
            </a:pPr>
            <a:r>
              <a:rPr lang="en-US">
                <a:ea typeface="+mn-lt"/>
                <a:cs typeface="+mn-lt"/>
              </a:rPr>
              <a:t>  # To check if this person is an employee</a:t>
            </a:r>
            <a:endParaRPr lang="en-US"/>
          </a:p>
          <a:p>
            <a:pPr marL="0" indent="0">
              <a:buNone/>
            </a:pPr>
            <a:r>
              <a:rPr lang="en-US">
                <a:ea typeface="+mn-lt"/>
                <a:cs typeface="+mn-lt"/>
              </a:rPr>
              <a:t>  def Display(self):</a:t>
            </a:r>
            <a:endParaRPr lang="en-US"/>
          </a:p>
          <a:p>
            <a:pPr marL="0" indent="0">
              <a:buNone/>
            </a:pPr>
            <a:r>
              <a:rPr lang="en-US">
                <a:ea typeface="+mn-lt"/>
                <a:cs typeface="+mn-lt"/>
              </a:rPr>
              <a:t>    print(self.name, self.id)</a:t>
            </a:r>
            <a:endParaRPr lang="en-US"/>
          </a:p>
          <a:p>
            <a:pPr marL="0" indent="0">
              <a:buNone/>
            </a:pPr>
            <a:r>
              <a:rPr lang="en-US">
                <a:ea typeface="+mn-lt"/>
                <a:cs typeface="+mn-lt"/>
              </a:rPr>
              <a:t># Driver code</a:t>
            </a:r>
            <a:endParaRPr lang="en-US"/>
          </a:p>
          <a:p>
            <a:pPr marL="0" indent="0">
              <a:buNone/>
            </a:pPr>
            <a:r>
              <a:rPr lang="en-US">
                <a:ea typeface="+mn-lt"/>
                <a:cs typeface="+mn-lt"/>
              </a:rPr>
              <a:t>emp = Person("Satyam", 102) # An Object of Person</a:t>
            </a:r>
            <a:endParaRPr lang="en-US"/>
          </a:p>
          <a:p>
            <a:pPr marL="0" indent="0">
              <a:buNone/>
            </a:pPr>
            <a:r>
              <a:rPr lang="en-US" err="1">
                <a:ea typeface="+mn-lt"/>
                <a:cs typeface="+mn-lt"/>
              </a:rPr>
              <a:t>emp.Display</a:t>
            </a:r>
            <a:r>
              <a:rPr lang="en-US">
                <a:ea typeface="+mn-lt"/>
                <a:cs typeface="+mn-lt"/>
              </a:rPr>
              <a:t>()</a:t>
            </a:r>
            <a:endParaRPr lang="en-US"/>
          </a:p>
        </p:txBody>
      </p:sp>
      <p:sp>
        <p:nvSpPr>
          <p:cNvPr id="4" name="Footer Placeholder 3">
            <a:extLst>
              <a:ext uri="{FF2B5EF4-FFF2-40B4-BE49-F238E27FC236}">
                <a16:creationId xmlns:a16="http://schemas.microsoft.com/office/drawing/2014/main" id="{D198199D-BFBF-E985-9872-5B7602498BF9}"/>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A276C69B-1EB1-D1C6-A331-884CBA56B636}"/>
              </a:ext>
            </a:extLst>
          </p:cNvPr>
          <p:cNvSpPr>
            <a:spLocks noGrp="1"/>
          </p:cNvSpPr>
          <p:nvPr>
            <p:ph type="sldNum" sz="quarter" idx="12"/>
          </p:nvPr>
        </p:nvSpPr>
        <p:spPr/>
        <p:txBody>
          <a:bodyPr/>
          <a:lstStyle/>
          <a:p>
            <a:fld id="{48F63A3B-78C7-47BE-AE5E-E10140E04643}" type="slidenum">
              <a:rPr lang="en-US" dirty="0"/>
              <a:t>45</a:t>
            </a:fld>
            <a:endParaRPr lang="en-US"/>
          </a:p>
        </p:txBody>
      </p:sp>
    </p:spTree>
    <p:extLst>
      <p:ext uri="{BB962C8B-B14F-4D97-AF65-F5344CB8AC3E}">
        <p14:creationId xmlns:p14="http://schemas.microsoft.com/office/powerpoint/2010/main" val="18234044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ABA71-7B67-EB94-4F4B-0FD94C276797}"/>
              </a:ext>
            </a:extLst>
          </p:cNvPr>
          <p:cNvSpPr>
            <a:spLocks noGrp="1"/>
          </p:cNvSpPr>
          <p:nvPr>
            <p:ph type="title"/>
          </p:nvPr>
        </p:nvSpPr>
        <p:spPr/>
        <p:txBody>
          <a:bodyPr/>
          <a:lstStyle/>
          <a:p>
            <a:r>
              <a:rPr lang="en-US" b="1">
                <a:solidFill>
                  <a:srgbClr val="FF7B00"/>
                </a:solidFill>
                <a:ea typeface="+mj-lt"/>
                <a:cs typeface="+mj-lt"/>
              </a:rPr>
              <a:t>Creating a Child Class</a:t>
            </a:r>
            <a:endParaRPr lang="en-US" b="1">
              <a:solidFill>
                <a:srgbClr val="FF7B00"/>
              </a:solidFill>
            </a:endParaRPr>
          </a:p>
        </p:txBody>
      </p:sp>
      <p:sp>
        <p:nvSpPr>
          <p:cNvPr id="3" name="Content Placeholder 2">
            <a:extLst>
              <a:ext uri="{FF2B5EF4-FFF2-40B4-BE49-F238E27FC236}">
                <a16:creationId xmlns:a16="http://schemas.microsoft.com/office/drawing/2014/main" id="{E2E20454-9053-0516-3FAD-4C5802B0946B}"/>
              </a:ext>
            </a:extLst>
          </p:cNvPr>
          <p:cNvSpPr>
            <a:spLocks noGrp="1"/>
          </p:cNvSpPr>
          <p:nvPr>
            <p:ph idx="1"/>
          </p:nvPr>
        </p:nvSpPr>
        <p:spPr/>
        <p:txBody>
          <a:bodyPr vert="horz" lIns="91440" tIns="45720" rIns="91440" bIns="45720" rtlCol="0" anchor="t">
            <a:normAutofit/>
          </a:bodyPr>
          <a:lstStyle/>
          <a:p>
            <a:pPr marL="0" indent="0">
              <a:buNone/>
            </a:pPr>
            <a:r>
              <a:rPr lang="en-US">
                <a:ea typeface="+mn-lt"/>
                <a:cs typeface="+mn-lt"/>
              </a:rPr>
              <a:t>class Emp(Person):</a:t>
            </a:r>
            <a:endParaRPr lang="en-US"/>
          </a:p>
          <a:p>
            <a:pPr marL="0" indent="0">
              <a:buNone/>
            </a:pPr>
            <a:r>
              <a:rPr lang="en-US">
                <a:ea typeface="+mn-lt"/>
                <a:cs typeface="+mn-lt"/>
              </a:rPr>
              <a:t>def Print(self):</a:t>
            </a:r>
            <a:endParaRPr lang="en-US"/>
          </a:p>
          <a:p>
            <a:pPr marL="0" indent="0">
              <a:buNone/>
            </a:pPr>
            <a:r>
              <a:rPr lang="en-US">
                <a:ea typeface="+mn-lt"/>
                <a:cs typeface="+mn-lt"/>
              </a:rPr>
              <a:t>    print("Emp class called")</a:t>
            </a:r>
            <a:endParaRPr lang="en-US"/>
          </a:p>
          <a:p>
            <a:pPr marL="0" indent="0">
              <a:buNone/>
            </a:pPr>
            <a:r>
              <a:rPr lang="en-US" err="1">
                <a:ea typeface="+mn-lt"/>
                <a:cs typeface="+mn-lt"/>
              </a:rPr>
              <a:t>Emp_details</a:t>
            </a:r>
            <a:r>
              <a:rPr lang="en-US">
                <a:ea typeface="+mn-lt"/>
                <a:cs typeface="+mn-lt"/>
              </a:rPr>
              <a:t> = Emp("Mayank", 103)</a:t>
            </a:r>
            <a:endParaRPr lang="en-US"/>
          </a:p>
          <a:p>
            <a:pPr marL="0" indent="0">
              <a:buNone/>
            </a:pPr>
            <a:r>
              <a:rPr lang="en-US">
                <a:ea typeface="+mn-lt"/>
                <a:cs typeface="+mn-lt"/>
              </a:rPr>
              <a:t># calling parent class function</a:t>
            </a:r>
            <a:endParaRPr lang="en-US"/>
          </a:p>
          <a:p>
            <a:pPr marL="0" indent="0">
              <a:buNone/>
            </a:pPr>
            <a:r>
              <a:rPr lang="en-US" err="1">
                <a:ea typeface="+mn-lt"/>
                <a:cs typeface="+mn-lt"/>
              </a:rPr>
              <a:t>Emp_details.Display</a:t>
            </a:r>
            <a:r>
              <a:rPr lang="en-US">
                <a:ea typeface="+mn-lt"/>
                <a:cs typeface="+mn-lt"/>
              </a:rPr>
              <a:t>()</a:t>
            </a:r>
            <a:endParaRPr lang="en-US"/>
          </a:p>
          <a:p>
            <a:pPr marL="0" indent="0">
              <a:buNone/>
            </a:pPr>
            <a:r>
              <a:rPr lang="en-US">
                <a:ea typeface="+mn-lt"/>
                <a:cs typeface="+mn-lt"/>
              </a:rPr>
              <a:t># Calling child class function</a:t>
            </a:r>
            <a:endParaRPr lang="en-US"/>
          </a:p>
          <a:p>
            <a:pPr marL="0" indent="0">
              <a:buNone/>
            </a:pPr>
            <a:r>
              <a:rPr lang="en-US" err="1">
                <a:ea typeface="+mn-lt"/>
                <a:cs typeface="+mn-lt"/>
              </a:rPr>
              <a:t>Emp_details.Print</a:t>
            </a:r>
            <a:r>
              <a:rPr lang="en-US">
                <a:ea typeface="+mn-lt"/>
                <a:cs typeface="+mn-lt"/>
              </a:rPr>
              <a:t>()</a:t>
            </a:r>
            <a:endParaRPr lang="en-US"/>
          </a:p>
          <a:p>
            <a:endParaRPr lang="en-US"/>
          </a:p>
        </p:txBody>
      </p:sp>
      <p:sp>
        <p:nvSpPr>
          <p:cNvPr id="4" name="Footer Placeholder 3">
            <a:extLst>
              <a:ext uri="{FF2B5EF4-FFF2-40B4-BE49-F238E27FC236}">
                <a16:creationId xmlns:a16="http://schemas.microsoft.com/office/drawing/2014/main" id="{58FA4BBC-7B8A-F030-4D7B-9F903BCC1CE8}"/>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ECD74567-2846-BF2C-FCD8-79FD72C50228}"/>
              </a:ext>
            </a:extLst>
          </p:cNvPr>
          <p:cNvSpPr>
            <a:spLocks noGrp="1"/>
          </p:cNvSpPr>
          <p:nvPr>
            <p:ph type="sldNum" sz="quarter" idx="12"/>
          </p:nvPr>
        </p:nvSpPr>
        <p:spPr/>
        <p:txBody>
          <a:bodyPr/>
          <a:lstStyle/>
          <a:p>
            <a:fld id="{48F63A3B-78C7-47BE-AE5E-E10140E04643}" type="slidenum">
              <a:rPr lang="en-US" dirty="0"/>
              <a:t>46</a:t>
            </a:fld>
            <a:endParaRPr lang="en-US"/>
          </a:p>
        </p:txBody>
      </p:sp>
    </p:spTree>
    <p:extLst>
      <p:ext uri="{BB962C8B-B14F-4D97-AF65-F5344CB8AC3E}">
        <p14:creationId xmlns:p14="http://schemas.microsoft.com/office/powerpoint/2010/main" val="2001310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BC69AF-AE9D-43C7-A183-244646418B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6573FFD7-B5EF-7D01-D719-3D004EA3E1FB}"/>
              </a:ext>
            </a:extLst>
          </p:cNvPr>
          <p:cNvPicPr>
            <a:picLocks noChangeAspect="1"/>
          </p:cNvPicPr>
          <p:nvPr/>
        </p:nvPicPr>
        <p:blipFill>
          <a:blip r:embed="rId2"/>
          <a:srcRect t="2417" r="2" b="3203"/>
          <a:stretch/>
        </p:blipFill>
        <p:spPr>
          <a:xfrm>
            <a:off x="20" y="10"/>
            <a:ext cx="4977364" cy="6857990"/>
          </a:xfrm>
          <a:prstGeom prst="rect">
            <a:avLst/>
          </a:prstGeom>
        </p:spPr>
      </p:pic>
      <p:pic>
        <p:nvPicPr>
          <p:cNvPr id="6" name="Picture 5" descr="A screen shot of a computer program&#10;&#10;Description automatically generated">
            <a:extLst>
              <a:ext uri="{FF2B5EF4-FFF2-40B4-BE49-F238E27FC236}">
                <a16:creationId xmlns:a16="http://schemas.microsoft.com/office/drawing/2014/main" id="{B27AC0BE-2CAF-633D-BA39-314144EAACD2}"/>
              </a:ext>
            </a:extLst>
          </p:cNvPr>
          <p:cNvPicPr>
            <a:picLocks noChangeAspect="1"/>
          </p:cNvPicPr>
          <p:nvPr/>
        </p:nvPicPr>
        <p:blipFill>
          <a:blip r:embed="rId3"/>
          <a:srcRect t="17538" r="-2" b="-2"/>
          <a:stretch/>
        </p:blipFill>
        <p:spPr>
          <a:xfrm>
            <a:off x="4977384" y="-3367"/>
            <a:ext cx="7214616" cy="6857990"/>
          </a:xfrm>
          <a:prstGeom prst="rect">
            <a:avLst/>
          </a:prstGeom>
        </p:spPr>
      </p:pic>
      <p:sp>
        <p:nvSpPr>
          <p:cNvPr id="3" name="Footer Placeholder 2">
            <a:extLst>
              <a:ext uri="{FF2B5EF4-FFF2-40B4-BE49-F238E27FC236}">
                <a16:creationId xmlns:a16="http://schemas.microsoft.com/office/drawing/2014/main" id="{A9FFA26D-5502-0201-B155-69AB885BEDF1}"/>
              </a:ext>
            </a:extLst>
          </p:cNvPr>
          <p:cNvSpPr>
            <a:spLocks noGrp="1"/>
          </p:cNvSpPr>
          <p:nvPr>
            <p:ph type="ftr" sz="quarter" idx="11"/>
          </p:nvPr>
        </p:nvSpPr>
        <p:spPr>
          <a:xfrm>
            <a:off x="7193280" y="6356350"/>
            <a:ext cx="3431303" cy="365125"/>
          </a:xfrm>
        </p:spPr>
        <p:txBody>
          <a:bodyPr>
            <a:normAutofit/>
          </a:bodyPr>
          <a:lstStyle/>
          <a:p>
            <a:pPr>
              <a:spcAft>
                <a:spcPts val="600"/>
              </a:spcAft>
            </a:pPr>
            <a:r>
              <a:rPr lang="en-US">
                <a:solidFill>
                  <a:schemeClr val="bg1"/>
                </a:solidFill>
              </a:rPr>
              <a:t>Ms. ALF. Sajeetha</a:t>
            </a:r>
          </a:p>
        </p:txBody>
      </p:sp>
      <p:sp>
        <p:nvSpPr>
          <p:cNvPr id="5" name="Slide Number Placeholder 4">
            <a:extLst>
              <a:ext uri="{FF2B5EF4-FFF2-40B4-BE49-F238E27FC236}">
                <a16:creationId xmlns:a16="http://schemas.microsoft.com/office/drawing/2014/main" id="{D07D7C2A-38CF-44E2-3234-36876C2A7F2C}"/>
              </a:ext>
            </a:extLst>
          </p:cNvPr>
          <p:cNvSpPr>
            <a:spLocks noGrp="1"/>
          </p:cNvSpPr>
          <p:nvPr>
            <p:ph type="sldNum" sz="quarter" idx="12"/>
          </p:nvPr>
        </p:nvSpPr>
        <p:spPr>
          <a:xfrm>
            <a:off x="10624583" y="6355080"/>
            <a:ext cx="1097280" cy="365125"/>
          </a:xfrm>
        </p:spPr>
        <p:txBody>
          <a:bodyPr>
            <a:normAutofit/>
          </a:bodyPr>
          <a:lstStyle/>
          <a:p>
            <a:pPr>
              <a:spcAft>
                <a:spcPts val="600"/>
              </a:spcAft>
            </a:pPr>
            <a:fld id="{48F63A3B-78C7-47BE-AE5E-E10140E04643}" type="slidenum">
              <a:rPr lang="en-US">
                <a:solidFill>
                  <a:schemeClr val="bg1"/>
                </a:solidFill>
              </a:rPr>
              <a:pPr>
                <a:spcAft>
                  <a:spcPts val="600"/>
                </a:spcAft>
              </a:pPr>
              <a:t>47</a:t>
            </a:fld>
            <a:endParaRPr lang="en-US">
              <a:solidFill>
                <a:schemeClr val="bg1"/>
              </a:solidFill>
            </a:endParaRPr>
          </a:p>
        </p:txBody>
      </p:sp>
    </p:spTree>
    <p:extLst>
      <p:ext uri="{BB962C8B-B14F-4D97-AF65-F5344CB8AC3E}">
        <p14:creationId xmlns:p14="http://schemas.microsoft.com/office/powerpoint/2010/main" val="41411360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D426E-A046-A72B-E025-4FF2ACAC4C32}"/>
              </a:ext>
            </a:extLst>
          </p:cNvPr>
          <p:cNvSpPr>
            <a:spLocks noGrp="1"/>
          </p:cNvSpPr>
          <p:nvPr>
            <p:ph type="title"/>
          </p:nvPr>
        </p:nvSpPr>
        <p:spPr/>
        <p:txBody>
          <a:bodyPr/>
          <a:lstStyle/>
          <a:p>
            <a:endParaRPr lang="en-US"/>
          </a:p>
        </p:txBody>
      </p:sp>
      <p:pic>
        <p:nvPicPr>
          <p:cNvPr id="4" name="Content Placeholder 3" descr="A screenshot of a computer code&#10;&#10;Description automatically generated">
            <a:extLst>
              <a:ext uri="{FF2B5EF4-FFF2-40B4-BE49-F238E27FC236}">
                <a16:creationId xmlns:a16="http://schemas.microsoft.com/office/drawing/2014/main" id="{8A438C44-1591-1F87-21F6-E52F5440AD31}"/>
              </a:ext>
            </a:extLst>
          </p:cNvPr>
          <p:cNvPicPr>
            <a:picLocks noGrp="1" noChangeAspect="1"/>
          </p:cNvPicPr>
          <p:nvPr>
            <p:ph idx="1"/>
          </p:nvPr>
        </p:nvPicPr>
        <p:blipFill>
          <a:blip r:embed="rId2"/>
          <a:stretch>
            <a:fillRect/>
          </a:stretch>
        </p:blipFill>
        <p:spPr>
          <a:xfrm>
            <a:off x="745539" y="270919"/>
            <a:ext cx="10833408" cy="6111450"/>
          </a:xfrm>
        </p:spPr>
      </p:pic>
      <p:sp>
        <p:nvSpPr>
          <p:cNvPr id="3" name="Footer Placeholder 2">
            <a:extLst>
              <a:ext uri="{FF2B5EF4-FFF2-40B4-BE49-F238E27FC236}">
                <a16:creationId xmlns:a16="http://schemas.microsoft.com/office/drawing/2014/main" id="{B0922C09-520A-2E60-6EE5-6F601702544B}"/>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3EF33C03-6271-A03D-15C5-6730E7B6A8E8}"/>
              </a:ext>
            </a:extLst>
          </p:cNvPr>
          <p:cNvSpPr>
            <a:spLocks noGrp="1"/>
          </p:cNvSpPr>
          <p:nvPr>
            <p:ph type="sldNum" sz="quarter" idx="12"/>
          </p:nvPr>
        </p:nvSpPr>
        <p:spPr/>
        <p:txBody>
          <a:bodyPr/>
          <a:lstStyle/>
          <a:p>
            <a:fld id="{48F63A3B-78C7-47BE-AE5E-E10140E04643}" type="slidenum">
              <a:rPr lang="en-US" dirty="0"/>
              <a:t>48</a:t>
            </a:fld>
            <a:endParaRPr lang="en-US"/>
          </a:p>
        </p:txBody>
      </p:sp>
    </p:spTree>
    <p:extLst>
      <p:ext uri="{BB962C8B-B14F-4D97-AF65-F5344CB8AC3E}">
        <p14:creationId xmlns:p14="http://schemas.microsoft.com/office/powerpoint/2010/main" val="32965225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19AC5-529B-3A46-CD6D-31D46197A5C1}"/>
              </a:ext>
            </a:extLst>
          </p:cNvPr>
          <p:cNvSpPr>
            <a:spLocks noGrp="1"/>
          </p:cNvSpPr>
          <p:nvPr>
            <p:ph type="title"/>
          </p:nvPr>
        </p:nvSpPr>
        <p:spPr/>
        <p:txBody>
          <a:bodyPr/>
          <a:lstStyle/>
          <a:p>
            <a:endParaRPr lang="en-US"/>
          </a:p>
        </p:txBody>
      </p:sp>
      <p:pic>
        <p:nvPicPr>
          <p:cNvPr id="4" name="Content Placeholder 3" descr="A screenshot of a computer program">
            <a:extLst>
              <a:ext uri="{FF2B5EF4-FFF2-40B4-BE49-F238E27FC236}">
                <a16:creationId xmlns:a16="http://schemas.microsoft.com/office/drawing/2014/main" id="{4AB064FC-B4B5-B001-A09D-C341A87E54CA}"/>
              </a:ext>
            </a:extLst>
          </p:cNvPr>
          <p:cNvPicPr>
            <a:picLocks noGrp="1" noChangeAspect="1"/>
          </p:cNvPicPr>
          <p:nvPr>
            <p:ph idx="1"/>
          </p:nvPr>
        </p:nvPicPr>
        <p:blipFill>
          <a:blip r:embed="rId2"/>
          <a:stretch>
            <a:fillRect/>
          </a:stretch>
        </p:blipFill>
        <p:spPr>
          <a:xfrm>
            <a:off x="472910" y="501954"/>
            <a:ext cx="5532502" cy="5585563"/>
          </a:xfrm>
        </p:spPr>
      </p:pic>
      <p:pic>
        <p:nvPicPr>
          <p:cNvPr id="5" name="Picture 4" descr="A screenshot of a computer code&#10;&#10;Description automatically generated">
            <a:extLst>
              <a:ext uri="{FF2B5EF4-FFF2-40B4-BE49-F238E27FC236}">
                <a16:creationId xmlns:a16="http://schemas.microsoft.com/office/drawing/2014/main" id="{DA6E5441-B671-08B4-13B6-63FA2060A1B8}"/>
              </a:ext>
            </a:extLst>
          </p:cNvPr>
          <p:cNvPicPr>
            <a:picLocks noChangeAspect="1"/>
          </p:cNvPicPr>
          <p:nvPr/>
        </p:nvPicPr>
        <p:blipFill>
          <a:blip r:embed="rId3"/>
          <a:stretch>
            <a:fillRect/>
          </a:stretch>
        </p:blipFill>
        <p:spPr>
          <a:xfrm>
            <a:off x="6002830" y="503446"/>
            <a:ext cx="5895975" cy="5584371"/>
          </a:xfrm>
          <a:prstGeom prst="rect">
            <a:avLst/>
          </a:prstGeom>
        </p:spPr>
      </p:pic>
      <p:sp>
        <p:nvSpPr>
          <p:cNvPr id="3" name="Footer Placeholder 2">
            <a:extLst>
              <a:ext uri="{FF2B5EF4-FFF2-40B4-BE49-F238E27FC236}">
                <a16:creationId xmlns:a16="http://schemas.microsoft.com/office/drawing/2014/main" id="{615CC46C-17C0-EEB8-4335-5F54524A2803}"/>
              </a:ext>
            </a:extLst>
          </p:cNvPr>
          <p:cNvSpPr>
            <a:spLocks noGrp="1"/>
          </p:cNvSpPr>
          <p:nvPr>
            <p:ph type="ftr" sz="quarter" idx="11"/>
          </p:nvPr>
        </p:nvSpPr>
        <p:spPr/>
        <p:txBody>
          <a:bodyPr/>
          <a:lstStyle/>
          <a:p>
            <a:r>
              <a:rPr lang="en-US"/>
              <a:t>Ms. ALF. Sajeetha</a:t>
            </a:r>
          </a:p>
        </p:txBody>
      </p:sp>
      <p:sp>
        <p:nvSpPr>
          <p:cNvPr id="6" name="Slide Number Placeholder 5">
            <a:extLst>
              <a:ext uri="{FF2B5EF4-FFF2-40B4-BE49-F238E27FC236}">
                <a16:creationId xmlns:a16="http://schemas.microsoft.com/office/drawing/2014/main" id="{8364423E-3E9B-8772-5B64-EDD10B561816}"/>
              </a:ext>
            </a:extLst>
          </p:cNvPr>
          <p:cNvSpPr>
            <a:spLocks noGrp="1"/>
          </p:cNvSpPr>
          <p:nvPr>
            <p:ph type="sldNum" sz="quarter" idx="12"/>
          </p:nvPr>
        </p:nvSpPr>
        <p:spPr/>
        <p:txBody>
          <a:bodyPr/>
          <a:lstStyle/>
          <a:p>
            <a:fld id="{48F63A3B-78C7-47BE-AE5E-E10140E04643}" type="slidenum">
              <a:rPr lang="en-US" dirty="0"/>
              <a:t>49</a:t>
            </a:fld>
            <a:endParaRPr lang="en-US"/>
          </a:p>
        </p:txBody>
      </p:sp>
    </p:spTree>
    <p:extLst>
      <p:ext uri="{BB962C8B-B14F-4D97-AF65-F5344CB8AC3E}">
        <p14:creationId xmlns:p14="http://schemas.microsoft.com/office/powerpoint/2010/main" val="1654294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7B4E9-5F73-705F-2A1A-FDA1CED75633}"/>
              </a:ext>
            </a:extLst>
          </p:cNvPr>
          <p:cNvSpPr>
            <a:spLocks noGrp="1"/>
          </p:cNvSpPr>
          <p:nvPr>
            <p:ph type="title"/>
          </p:nvPr>
        </p:nvSpPr>
        <p:spPr/>
        <p:txBody>
          <a:bodyPr>
            <a:normAutofit/>
          </a:bodyPr>
          <a:lstStyle/>
          <a:p>
            <a:r>
              <a:rPr lang="en-US" sz="4000" b="1">
                <a:solidFill>
                  <a:srgbClr val="FF7B00"/>
                </a:solidFill>
                <a:ea typeface="+mj-lt"/>
                <a:cs typeface="+mj-lt"/>
              </a:rPr>
              <a:t>Explanation</a:t>
            </a:r>
            <a:endParaRPr lang="en-US" sz="4000" b="1" err="1">
              <a:solidFill>
                <a:srgbClr val="FFFFFF"/>
              </a:solidFill>
            </a:endParaRPr>
          </a:p>
        </p:txBody>
      </p:sp>
      <p:sp>
        <p:nvSpPr>
          <p:cNvPr id="6" name="Content Placeholder 5">
            <a:extLst>
              <a:ext uri="{FF2B5EF4-FFF2-40B4-BE49-F238E27FC236}">
                <a16:creationId xmlns:a16="http://schemas.microsoft.com/office/drawing/2014/main" id="{87745E55-B2F2-F996-3337-668E1DB1C2BF}"/>
              </a:ext>
            </a:extLst>
          </p:cNvPr>
          <p:cNvSpPr>
            <a:spLocks noGrp="1"/>
          </p:cNvSpPr>
          <p:nvPr>
            <p:ph idx="1"/>
          </p:nvPr>
        </p:nvSpPr>
        <p:spPr/>
        <p:txBody>
          <a:bodyPr vert="horz" lIns="91440" tIns="45720" rIns="91440" bIns="45720" rtlCol="0" anchor="t">
            <a:normAutofit/>
          </a:bodyPr>
          <a:lstStyle/>
          <a:p>
            <a:r>
              <a:rPr lang="en-US"/>
              <a:t>We did not call the __</a:t>
            </a:r>
            <a:r>
              <a:rPr lang="en-US" err="1"/>
              <a:t>init</a:t>
            </a:r>
            <a:r>
              <a:rPr lang="en-US"/>
              <a:t>__() constructor in the child class. If we didn't call it then we can still access all the properties from the parent. But if we do call the constructor we can access the parent properties by calling super().</a:t>
            </a:r>
            <a:br>
              <a:rPr lang="en-US"/>
            </a:br>
            <a:r>
              <a:rPr lang="en-US"/>
              <a:t>We can add a new method to the child or we can override the parent class methods by creating the same method name in the child class. When we add the __</a:t>
            </a:r>
            <a:r>
              <a:rPr lang="en-US" err="1"/>
              <a:t>init</a:t>
            </a:r>
            <a:r>
              <a:rPr lang="en-US"/>
              <a:t>__() function, the child class will no longer inherit the parent's __</a:t>
            </a:r>
            <a:r>
              <a:rPr lang="en-US" err="1"/>
              <a:t>init</a:t>
            </a:r>
            <a:r>
              <a:rPr lang="en-US"/>
              <a:t>__() function.</a:t>
            </a:r>
          </a:p>
          <a:p>
            <a:endParaRPr lang="en-US"/>
          </a:p>
        </p:txBody>
      </p:sp>
      <p:sp>
        <p:nvSpPr>
          <p:cNvPr id="3" name="Footer Placeholder 2">
            <a:extLst>
              <a:ext uri="{FF2B5EF4-FFF2-40B4-BE49-F238E27FC236}">
                <a16:creationId xmlns:a16="http://schemas.microsoft.com/office/drawing/2014/main" id="{2658E048-E3C3-190E-AB74-E40620465E74}"/>
              </a:ext>
            </a:extLst>
          </p:cNvPr>
          <p:cNvSpPr>
            <a:spLocks noGrp="1"/>
          </p:cNvSpPr>
          <p:nvPr>
            <p:ph type="ftr" sz="quarter" idx="11"/>
          </p:nvPr>
        </p:nvSpPr>
        <p:spPr/>
        <p:txBody>
          <a:bodyPr/>
          <a:lstStyle/>
          <a:p>
            <a:r>
              <a:rPr lang="en-US"/>
              <a:t>Ms. ALF. Sajeetha</a:t>
            </a:r>
          </a:p>
        </p:txBody>
      </p:sp>
      <p:sp>
        <p:nvSpPr>
          <p:cNvPr id="4" name="Slide Number Placeholder 3">
            <a:extLst>
              <a:ext uri="{FF2B5EF4-FFF2-40B4-BE49-F238E27FC236}">
                <a16:creationId xmlns:a16="http://schemas.microsoft.com/office/drawing/2014/main" id="{333CE332-5546-E584-6687-FEE0E329A101}"/>
              </a:ext>
            </a:extLst>
          </p:cNvPr>
          <p:cNvSpPr>
            <a:spLocks noGrp="1"/>
          </p:cNvSpPr>
          <p:nvPr>
            <p:ph type="sldNum" sz="quarter" idx="12"/>
          </p:nvPr>
        </p:nvSpPr>
        <p:spPr/>
        <p:txBody>
          <a:bodyPr/>
          <a:lstStyle/>
          <a:p>
            <a:fld id="{48F63A3B-78C7-47BE-AE5E-E10140E04643}" type="slidenum">
              <a:rPr lang="en-US" dirty="0"/>
              <a:t>50</a:t>
            </a:fld>
            <a:endParaRPr lang="en-US"/>
          </a:p>
        </p:txBody>
      </p:sp>
    </p:spTree>
    <p:extLst>
      <p:ext uri="{BB962C8B-B14F-4D97-AF65-F5344CB8AC3E}">
        <p14:creationId xmlns:p14="http://schemas.microsoft.com/office/powerpoint/2010/main" val="7034403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B9A7D-1BCF-914B-2128-248BF7519BE9}"/>
              </a:ext>
            </a:extLst>
          </p:cNvPr>
          <p:cNvSpPr>
            <a:spLocks noGrp="1"/>
          </p:cNvSpPr>
          <p:nvPr>
            <p:ph type="title"/>
          </p:nvPr>
        </p:nvSpPr>
        <p:spPr/>
        <p:txBody>
          <a:bodyPr/>
          <a:lstStyle/>
          <a:p>
            <a:endParaRPr lang="en-US"/>
          </a:p>
        </p:txBody>
      </p:sp>
      <p:pic>
        <p:nvPicPr>
          <p:cNvPr id="4" name="Content Placeholder 3" descr="A screenshot of a computer program&#10;&#10;Description automatically generated">
            <a:extLst>
              <a:ext uri="{FF2B5EF4-FFF2-40B4-BE49-F238E27FC236}">
                <a16:creationId xmlns:a16="http://schemas.microsoft.com/office/drawing/2014/main" id="{3E9B2EC6-C4AF-95E2-E3D5-228293588AF0}"/>
              </a:ext>
            </a:extLst>
          </p:cNvPr>
          <p:cNvPicPr>
            <a:picLocks noGrp="1" noChangeAspect="1"/>
          </p:cNvPicPr>
          <p:nvPr>
            <p:ph idx="1"/>
          </p:nvPr>
        </p:nvPicPr>
        <p:blipFill>
          <a:blip r:embed="rId2"/>
          <a:stretch>
            <a:fillRect/>
          </a:stretch>
        </p:blipFill>
        <p:spPr>
          <a:xfrm>
            <a:off x="747422" y="155949"/>
            <a:ext cx="10607509" cy="6345985"/>
          </a:xfrm>
        </p:spPr>
      </p:pic>
      <p:sp>
        <p:nvSpPr>
          <p:cNvPr id="3" name="Footer Placeholder 2">
            <a:extLst>
              <a:ext uri="{FF2B5EF4-FFF2-40B4-BE49-F238E27FC236}">
                <a16:creationId xmlns:a16="http://schemas.microsoft.com/office/drawing/2014/main" id="{C5892206-A24D-9BD4-1AF6-30C35E685F88}"/>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D3EDD0FB-E630-9169-485D-3FACA3EA9400}"/>
              </a:ext>
            </a:extLst>
          </p:cNvPr>
          <p:cNvSpPr>
            <a:spLocks noGrp="1"/>
          </p:cNvSpPr>
          <p:nvPr>
            <p:ph type="sldNum" sz="quarter" idx="12"/>
          </p:nvPr>
        </p:nvSpPr>
        <p:spPr/>
        <p:txBody>
          <a:bodyPr/>
          <a:lstStyle/>
          <a:p>
            <a:fld id="{48F63A3B-78C7-47BE-AE5E-E10140E04643}" type="slidenum">
              <a:rPr lang="en-US" dirty="0"/>
              <a:t>51</a:t>
            </a:fld>
            <a:endParaRPr lang="en-US"/>
          </a:p>
        </p:txBody>
      </p:sp>
    </p:spTree>
    <p:extLst>
      <p:ext uri="{BB962C8B-B14F-4D97-AF65-F5344CB8AC3E}">
        <p14:creationId xmlns:p14="http://schemas.microsoft.com/office/powerpoint/2010/main" val="19383643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BA654-5E55-E7C1-986A-6B78C0B6DCA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8CCCE4B-F1F8-4BB5-3EC5-DD6308F55A69}"/>
              </a:ext>
            </a:extLst>
          </p:cNvPr>
          <p:cNvSpPr>
            <a:spLocks noGrp="1"/>
          </p:cNvSpPr>
          <p:nvPr>
            <p:ph idx="1"/>
          </p:nvPr>
        </p:nvSpPr>
        <p:spPr/>
        <p:txBody>
          <a:bodyPr vert="horz" lIns="91440" tIns="45720" rIns="91440" bIns="45720" rtlCol="0" anchor="t">
            <a:normAutofit/>
          </a:bodyPr>
          <a:lstStyle/>
          <a:p>
            <a:r>
              <a:rPr lang="en-US"/>
              <a:t>We can use super() built-in function or the parent name Person to automatically inherit the methods and properties from its parent. In the example above we override the parent method. The child method has a different feature, it can identify, if the gender is male or female and assign the proper pronoun(He/She).</a:t>
            </a:r>
          </a:p>
        </p:txBody>
      </p:sp>
      <p:sp>
        <p:nvSpPr>
          <p:cNvPr id="4" name="Footer Placeholder 3">
            <a:extLst>
              <a:ext uri="{FF2B5EF4-FFF2-40B4-BE49-F238E27FC236}">
                <a16:creationId xmlns:a16="http://schemas.microsoft.com/office/drawing/2014/main" id="{D934FD46-124B-82C7-A141-C2FDEED9D183}"/>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C763DF57-B01F-B06B-7104-9B0E87E327C9}"/>
              </a:ext>
            </a:extLst>
          </p:cNvPr>
          <p:cNvSpPr>
            <a:spLocks noGrp="1"/>
          </p:cNvSpPr>
          <p:nvPr>
            <p:ph type="sldNum" sz="quarter" idx="12"/>
          </p:nvPr>
        </p:nvSpPr>
        <p:spPr/>
        <p:txBody>
          <a:bodyPr/>
          <a:lstStyle/>
          <a:p>
            <a:fld id="{48F63A3B-78C7-47BE-AE5E-E10140E04643}" type="slidenum">
              <a:rPr lang="en-US" dirty="0"/>
              <a:t>52</a:t>
            </a:fld>
            <a:endParaRPr lang="en-US"/>
          </a:p>
        </p:txBody>
      </p:sp>
    </p:spTree>
    <p:extLst>
      <p:ext uri="{BB962C8B-B14F-4D97-AF65-F5344CB8AC3E}">
        <p14:creationId xmlns:p14="http://schemas.microsoft.com/office/powerpoint/2010/main" val="6276483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45020-A1FF-6CF3-18DF-9067875545B9}"/>
              </a:ext>
            </a:extLst>
          </p:cNvPr>
          <p:cNvSpPr>
            <a:spLocks noGrp="1"/>
          </p:cNvSpPr>
          <p:nvPr>
            <p:ph type="title"/>
          </p:nvPr>
        </p:nvSpPr>
        <p:spPr>
          <a:xfrm>
            <a:off x="847969" y="2504587"/>
            <a:ext cx="10515600" cy="1325563"/>
          </a:xfrm>
        </p:spPr>
        <p:txBody>
          <a:bodyPr>
            <a:normAutofit/>
          </a:bodyPr>
          <a:lstStyle/>
          <a:p>
            <a:r>
              <a:rPr lang="en-US" b="1">
                <a:solidFill>
                  <a:srgbClr val="FF7B00"/>
                </a:solidFill>
              </a:rPr>
              <a:t>Class Relationship</a:t>
            </a:r>
            <a:br>
              <a:rPr lang="en-US" b="1"/>
            </a:br>
            <a:r>
              <a:rPr lang="en-US" sz="2400">
                <a:solidFill>
                  <a:srgbClr val="FFFFFF"/>
                </a:solidFill>
                <a:latin typeface="Aptos"/>
              </a:rPr>
              <a:t>Composition Vs Inheritance </a:t>
            </a:r>
            <a:endParaRPr lang="en-US" sz="2400" b="1">
              <a:solidFill>
                <a:srgbClr val="FF7B00"/>
              </a:solidFill>
            </a:endParaRPr>
          </a:p>
        </p:txBody>
      </p:sp>
      <p:sp>
        <p:nvSpPr>
          <p:cNvPr id="3" name="Content Placeholder 2">
            <a:extLst>
              <a:ext uri="{FF2B5EF4-FFF2-40B4-BE49-F238E27FC236}">
                <a16:creationId xmlns:a16="http://schemas.microsoft.com/office/drawing/2014/main" id="{B72E8DBB-0A64-ECBA-0E56-98E2393770C0}"/>
              </a:ext>
            </a:extLst>
          </p:cNvPr>
          <p:cNvSpPr>
            <a:spLocks noGrp="1"/>
          </p:cNvSpPr>
          <p:nvPr>
            <p:ph idx="1"/>
          </p:nvPr>
        </p:nvSpPr>
        <p:spPr/>
        <p:txBody>
          <a:bodyPr vert="horz" lIns="91440" tIns="45720" rIns="91440" bIns="45720" rtlCol="0" anchor="t">
            <a:normAutofit/>
          </a:bodyPr>
          <a:lstStyle/>
          <a:p>
            <a:pPr marL="0" indent="0">
              <a:buNone/>
            </a:pPr>
            <a:endParaRPr lang="en-US" sz="4000"/>
          </a:p>
          <a:p>
            <a:pPr marL="0" indent="0">
              <a:buNone/>
            </a:pPr>
            <a:endParaRPr lang="en-US" sz="4000"/>
          </a:p>
          <a:p>
            <a:pPr marL="0" indent="0">
              <a:buNone/>
            </a:pPr>
            <a:endParaRPr lang="en-US" sz="4000"/>
          </a:p>
        </p:txBody>
      </p:sp>
      <p:sp>
        <p:nvSpPr>
          <p:cNvPr id="4" name="Footer Placeholder 3">
            <a:extLst>
              <a:ext uri="{FF2B5EF4-FFF2-40B4-BE49-F238E27FC236}">
                <a16:creationId xmlns:a16="http://schemas.microsoft.com/office/drawing/2014/main" id="{AA2D6C37-6AE6-1886-1592-1BD1E514110B}"/>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183A4D54-D3F4-69DB-8273-013F40F4FB26}"/>
              </a:ext>
            </a:extLst>
          </p:cNvPr>
          <p:cNvSpPr>
            <a:spLocks noGrp="1"/>
          </p:cNvSpPr>
          <p:nvPr>
            <p:ph type="sldNum" sz="quarter" idx="12"/>
          </p:nvPr>
        </p:nvSpPr>
        <p:spPr/>
        <p:txBody>
          <a:bodyPr/>
          <a:lstStyle/>
          <a:p>
            <a:fld id="{48F63A3B-78C7-47BE-AE5E-E10140E04643}" type="slidenum">
              <a:rPr lang="en-US" dirty="0"/>
              <a:t>53</a:t>
            </a:fld>
            <a:endParaRPr lang="en-US"/>
          </a:p>
        </p:txBody>
      </p:sp>
    </p:spTree>
    <p:extLst>
      <p:ext uri="{BB962C8B-B14F-4D97-AF65-F5344CB8AC3E}">
        <p14:creationId xmlns:p14="http://schemas.microsoft.com/office/powerpoint/2010/main" val="38970181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18BF0-46AD-3AC1-A56F-8BB85910B3B6}"/>
              </a:ext>
            </a:extLst>
          </p:cNvPr>
          <p:cNvSpPr>
            <a:spLocks noGrp="1"/>
          </p:cNvSpPr>
          <p:nvPr>
            <p:ph type="title"/>
          </p:nvPr>
        </p:nvSpPr>
        <p:spPr/>
        <p:txBody>
          <a:bodyPr/>
          <a:lstStyle/>
          <a:p>
            <a:r>
              <a:rPr lang="en-US" sz="4000" b="1">
                <a:solidFill>
                  <a:srgbClr val="FF7B00"/>
                </a:solidFill>
                <a:latin typeface="Aptos"/>
              </a:rPr>
              <a:t>Composition</a:t>
            </a:r>
            <a:endParaRPr lang="en-US" b="1">
              <a:solidFill>
                <a:srgbClr val="FFFFFF"/>
              </a:solidFill>
            </a:endParaRPr>
          </a:p>
        </p:txBody>
      </p:sp>
      <p:sp>
        <p:nvSpPr>
          <p:cNvPr id="3" name="Content Placeholder 2">
            <a:extLst>
              <a:ext uri="{FF2B5EF4-FFF2-40B4-BE49-F238E27FC236}">
                <a16:creationId xmlns:a16="http://schemas.microsoft.com/office/drawing/2014/main" id="{EA27FB85-A015-3CBB-9430-F264B99B656D}"/>
              </a:ext>
            </a:extLst>
          </p:cNvPr>
          <p:cNvSpPr>
            <a:spLocks noGrp="1"/>
          </p:cNvSpPr>
          <p:nvPr>
            <p:ph idx="1"/>
          </p:nvPr>
        </p:nvSpPr>
        <p:spPr/>
        <p:txBody>
          <a:bodyPr vert="horz" lIns="91440" tIns="45720" rIns="91440" bIns="45720" rtlCol="0" anchor="t">
            <a:normAutofit/>
          </a:bodyPr>
          <a:lstStyle/>
          <a:p>
            <a:r>
              <a:rPr lang="en-US"/>
              <a:t>Composition is a design principle where a class is composed of one or more objects from other classes, meaning that objects of a class are used as parts or components to build another class. This creates a "has-a" relationship.</a:t>
            </a:r>
          </a:p>
          <a:p>
            <a:r>
              <a:rPr lang="en-US"/>
              <a:t>When there is a "has-a" relationship between classes. For example, a Car has an Engine.</a:t>
            </a:r>
          </a:p>
          <a:p>
            <a:r>
              <a:rPr lang="en-US"/>
              <a:t>When you want more flexibility and loose coupling between classes.</a:t>
            </a:r>
          </a:p>
          <a:p>
            <a:r>
              <a:rPr lang="en-US"/>
              <a:t>When you want to delegate tasks to other objects instead of inheriting from a superclass</a:t>
            </a:r>
          </a:p>
          <a:p>
            <a:endParaRPr lang="en-US"/>
          </a:p>
        </p:txBody>
      </p:sp>
      <p:sp>
        <p:nvSpPr>
          <p:cNvPr id="4" name="Footer Placeholder 3">
            <a:extLst>
              <a:ext uri="{FF2B5EF4-FFF2-40B4-BE49-F238E27FC236}">
                <a16:creationId xmlns:a16="http://schemas.microsoft.com/office/drawing/2014/main" id="{C7268C1C-7C6E-F57E-5C0F-55C7A357CD6D}"/>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2B5CF66F-4B27-285D-3052-A380BD5A0398}"/>
              </a:ext>
            </a:extLst>
          </p:cNvPr>
          <p:cNvSpPr>
            <a:spLocks noGrp="1"/>
          </p:cNvSpPr>
          <p:nvPr>
            <p:ph type="sldNum" sz="quarter" idx="12"/>
          </p:nvPr>
        </p:nvSpPr>
        <p:spPr/>
        <p:txBody>
          <a:bodyPr/>
          <a:lstStyle/>
          <a:p>
            <a:fld id="{48F63A3B-78C7-47BE-AE5E-E10140E04643}" type="slidenum">
              <a:rPr lang="en-US" dirty="0"/>
              <a:t>54</a:t>
            </a:fld>
            <a:endParaRPr lang="en-US"/>
          </a:p>
        </p:txBody>
      </p:sp>
    </p:spTree>
    <p:extLst>
      <p:ext uri="{BB962C8B-B14F-4D97-AF65-F5344CB8AC3E}">
        <p14:creationId xmlns:p14="http://schemas.microsoft.com/office/powerpoint/2010/main" val="24632904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DB09B-0679-612C-D2F6-2F1F48DEE4F8}"/>
              </a:ext>
            </a:extLst>
          </p:cNvPr>
          <p:cNvSpPr>
            <a:spLocks noGrp="1"/>
          </p:cNvSpPr>
          <p:nvPr>
            <p:ph type="title"/>
          </p:nvPr>
        </p:nvSpPr>
        <p:spPr/>
        <p:txBody>
          <a:bodyPr/>
          <a:lstStyle/>
          <a:p>
            <a:endParaRPr lang="en-US"/>
          </a:p>
        </p:txBody>
      </p:sp>
      <p:pic>
        <p:nvPicPr>
          <p:cNvPr id="6" name="Content Placeholder 5" descr="A computer screen shot of text&#10;&#10;Description automatically generated">
            <a:extLst>
              <a:ext uri="{FF2B5EF4-FFF2-40B4-BE49-F238E27FC236}">
                <a16:creationId xmlns:a16="http://schemas.microsoft.com/office/drawing/2014/main" id="{9B941A23-3032-65CF-957B-6C78CA5CB631}"/>
              </a:ext>
            </a:extLst>
          </p:cNvPr>
          <p:cNvPicPr>
            <a:picLocks noGrp="1" noChangeAspect="1"/>
          </p:cNvPicPr>
          <p:nvPr>
            <p:ph idx="1"/>
          </p:nvPr>
        </p:nvPicPr>
        <p:blipFill>
          <a:blip r:embed="rId2"/>
          <a:stretch>
            <a:fillRect/>
          </a:stretch>
        </p:blipFill>
        <p:spPr>
          <a:xfrm>
            <a:off x="1721984" y="396762"/>
            <a:ext cx="8465003" cy="5946321"/>
          </a:xfrm>
        </p:spPr>
      </p:pic>
      <p:sp>
        <p:nvSpPr>
          <p:cNvPr id="4" name="Footer Placeholder 3">
            <a:extLst>
              <a:ext uri="{FF2B5EF4-FFF2-40B4-BE49-F238E27FC236}">
                <a16:creationId xmlns:a16="http://schemas.microsoft.com/office/drawing/2014/main" id="{C55C3278-36CC-42B7-141C-7FB1073CD6E1}"/>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C6E3FBDB-DCD8-9E8C-507A-930D27700248}"/>
              </a:ext>
            </a:extLst>
          </p:cNvPr>
          <p:cNvSpPr>
            <a:spLocks noGrp="1"/>
          </p:cNvSpPr>
          <p:nvPr>
            <p:ph type="sldNum" sz="quarter" idx="12"/>
          </p:nvPr>
        </p:nvSpPr>
        <p:spPr/>
        <p:txBody>
          <a:bodyPr/>
          <a:lstStyle/>
          <a:p>
            <a:fld id="{48F63A3B-78C7-47BE-AE5E-E10140E04643}" type="slidenum">
              <a:rPr lang="en-US" dirty="0"/>
              <a:t>55</a:t>
            </a:fld>
            <a:endParaRPr lang="en-US"/>
          </a:p>
        </p:txBody>
      </p:sp>
    </p:spTree>
    <p:extLst>
      <p:ext uri="{BB962C8B-B14F-4D97-AF65-F5344CB8AC3E}">
        <p14:creationId xmlns:p14="http://schemas.microsoft.com/office/powerpoint/2010/main" val="554719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B6772-6BA9-2471-C6B1-BCF88FEF1104}"/>
              </a:ext>
            </a:extLst>
          </p:cNvPr>
          <p:cNvSpPr>
            <a:spLocks noGrp="1"/>
          </p:cNvSpPr>
          <p:nvPr>
            <p:ph type="title"/>
          </p:nvPr>
        </p:nvSpPr>
        <p:spPr/>
        <p:txBody>
          <a:bodyPr/>
          <a:lstStyle/>
          <a:p>
            <a:endParaRPr lang="en-US"/>
          </a:p>
        </p:txBody>
      </p:sp>
      <p:pic>
        <p:nvPicPr>
          <p:cNvPr id="6" name="Content Placeholder 5" descr="A black rectangular box with white text&#10;&#10;Description automatically generated">
            <a:extLst>
              <a:ext uri="{FF2B5EF4-FFF2-40B4-BE49-F238E27FC236}">
                <a16:creationId xmlns:a16="http://schemas.microsoft.com/office/drawing/2014/main" id="{96DDE5C0-419B-990B-D944-EB8A8489ECCA}"/>
              </a:ext>
            </a:extLst>
          </p:cNvPr>
          <p:cNvPicPr>
            <a:picLocks noGrp="1" noChangeAspect="1"/>
          </p:cNvPicPr>
          <p:nvPr>
            <p:ph idx="1"/>
          </p:nvPr>
        </p:nvPicPr>
        <p:blipFill>
          <a:blip r:embed="rId2"/>
          <a:stretch>
            <a:fillRect/>
          </a:stretch>
        </p:blipFill>
        <p:spPr>
          <a:xfrm>
            <a:off x="835479" y="679110"/>
            <a:ext cx="10639424" cy="5219699"/>
          </a:xfrm>
        </p:spPr>
      </p:pic>
      <p:sp>
        <p:nvSpPr>
          <p:cNvPr id="4" name="Footer Placeholder 3">
            <a:extLst>
              <a:ext uri="{FF2B5EF4-FFF2-40B4-BE49-F238E27FC236}">
                <a16:creationId xmlns:a16="http://schemas.microsoft.com/office/drawing/2014/main" id="{9831388B-DBD9-3E5A-6245-D75E98566845}"/>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6CB52EA7-E78E-1BFA-5AF6-9BE979ED1283}"/>
              </a:ext>
            </a:extLst>
          </p:cNvPr>
          <p:cNvSpPr>
            <a:spLocks noGrp="1"/>
          </p:cNvSpPr>
          <p:nvPr>
            <p:ph type="sldNum" sz="quarter" idx="12"/>
          </p:nvPr>
        </p:nvSpPr>
        <p:spPr/>
        <p:txBody>
          <a:bodyPr/>
          <a:lstStyle/>
          <a:p>
            <a:fld id="{48F63A3B-78C7-47BE-AE5E-E10140E04643}" type="slidenum">
              <a:rPr lang="en-US" dirty="0"/>
              <a:t>56</a:t>
            </a:fld>
            <a:endParaRPr lang="en-US"/>
          </a:p>
        </p:txBody>
      </p:sp>
    </p:spTree>
    <p:extLst>
      <p:ext uri="{BB962C8B-B14F-4D97-AF65-F5344CB8AC3E}">
        <p14:creationId xmlns:p14="http://schemas.microsoft.com/office/powerpoint/2010/main" val="1290787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22632" y="3066717"/>
            <a:ext cx="6746825" cy="686126"/>
          </a:xfrm>
          <a:prstGeom prst="rect">
            <a:avLst/>
          </a:prstGeom>
        </p:spPr>
        <p:txBody>
          <a:bodyPr vert="horz" wrap="square" lIns="0" tIns="8930" rIns="0" bIns="0" rtlCol="0">
            <a:spAutoFit/>
          </a:bodyPr>
          <a:lstStyle/>
          <a:p>
            <a:pPr marL="8890">
              <a:lnSpc>
                <a:spcPct val="100000"/>
              </a:lnSpc>
              <a:spcBef>
                <a:spcPts val="70"/>
              </a:spcBef>
            </a:pPr>
            <a:r>
              <a:rPr b="1" spc="-7">
                <a:solidFill>
                  <a:srgbClr val="FFFFFF"/>
                </a:solidFill>
              </a:rPr>
              <a:t>Polymorphism</a:t>
            </a:r>
            <a:endParaRPr lang="en-US" b="1"/>
          </a:p>
        </p:txBody>
      </p:sp>
      <p:sp>
        <p:nvSpPr>
          <p:cNvPr id="3" name="Footer Placeholder 2">
            <a:extLst>
              <a:ext uri="{FF2B5EF4-FFF2-40B4-BE49-F238E27FC236}">
                <a16:creationId xmlns:a16="http://schemas.microsoft.com/office/drawing/2014/main" id="{EECA895D-8D17-BDCB-02A3-BD5E9159E3C6}"/>
              </a:ext>
            </a:extLst>
          </p:cNvPr>
          <p:cNvSpPr>
            <a:spLocks noGrp="1"/>
          </p:cNvSpPr>
          <p:nvPr>
            <p:ph type="ftr" sz="quarter" idx="11"/>
          </p:nvPr>
        </p:nvSpPr>
        <p:spPr/>
        <p:txBody>
          <a:bodyPr/>
          <a:lstStyle/>
          <a:p>
            <a:r>
              <a:rPr lang="en-US"/>
              <a:t>Ms. ALF. Sajeetha</a:t>
            </a:r>
          </a:p>
        </p:txBody>
      </p:sp>
      <p:sp>
        <p:nvSpPr>
          <p:cNvPr id="4" name="Slide Number Placeholder 3">
            <a:extLst>
              <a:ext uri="{FF2B5EF4-FFF2-40B4-BE49-F238E27FC236}">
                <a16:creationId xmlns:a16="http://schemas.microsoft.com/office/drawing/2014/main" id="{9094226B-1D7D-E28E-3BFB-84C27634EBB7}"/>
              </a:ext>
            </a:extLst>
          </p:cNvPr>
          <p:cNvSpPr>
            <a:spLocks noGrp="1"/>
          </p:cNvSpPr>
          <p:nvPr>
            <p:ph type="sldNum" sz="quarter" idx="12"/>
          </p:nvPr>
        </p:nvSpPr>
        <p:spPr/>
        <p:txBody>
          <a:bodyPr/>
          <a:lstStyle/>
          <a:p>
            <a:fld id="{48F63A3B-78C7-47BE-AE5E-E10140E04643}" type="slidenum">
              <a:rPr lang="en-US" dirty="0"/>
              <a:t>57</a:t>
            </a:fld>
            <a:endParaRPr lang="en-US"/>
          </a:p>
        </p:txBody>
      </p:sp>
    </p:spTree>
    <p:extLst>
      <p:ext uri="{BB962C8B-B14F-4D97-AF65-F5344CB8AC3E}">
        <p14:creationId xmlns:p14="http://schemas.microsoft.com/office/powerpoint/2010/main" val="10011403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solidFill>
                  <a:srgbClr val="FF7B00"/>
                </a:solidFill>
              </a:rPr>
              <a:t>Polymorphism </a:t>
            </a:r>
          </a:p>
        </p:txBody>
      </p:sp>
      <p:sp>
        <p:nvSpPr>
          <p:cNvPr id="3" name="Content Placeholder 2"/>
          <p:cNvSpPr>
            <a:spLocks noGrp="1"/>
          </p:cNvSpPr>
          <p:nvPr>
            <p:ph idx="1"/>
          </p:nvPr>
        </p:nvSpPr>
        <p:spPr/>
        <p:txBody>
          <a:bodyPr vert="horz" lIns="91440" tIns="45720" rIns="91440" bIns="45720" rtlCol="0" anchor="t">
            <a:normAutofit fontScale="92500" lnSpcReduction="10000"/>
          </a:bodyPr>
          <a:lstStyle/>
          <a:p>
            <a:pPr algn="just"/>
            <a:r>
              <a:rPr lang="en-US">
                <a:ea typeface="+mn-lt"/>
                <a:cs typeface="+mn-lt"/>
              </a:rPr>
              <a:t>Polymorphism is one of the four fundamental principles of object-oriented programming (OOP) and refers to the ability of objects to take on multiple forms. In OOP, polymorphism is often achieved through method overriding and interface implementation. </a:t>
            </a:r>
            <a:endParaRPr lang="en-US"/>
          </a:p>
          <a:p>
            <a:pPr algn="just"/>
            <a:r>
              <a:rPr lang="en-US"/>
              <a:t>Polymorphism is the ability of an object of various types to respond to method call of the same name and act appropriately. The programmer does not have to know in advance what kind of object will be used for a given method, the behavior will be determined by a runtime. This allows the programmer to simply implement a message- passing to object of various types using a common interface of operations. In Python, polymorphism allows us to define the child class methods with the same name as defined in the parent class.</a:t>
            </a:r>
            <a:endParaRPr lang="en-US">
              <a:ea typeface="+mn-lt"/>
              <a:cs typeface="+mn-lt"/>
            </a:endParaRPr>
          </a:p>
          <a:p>
            <a:pPr algn="just"/>
            <a:endParaRPr lang="en-US"/>
          </a:p>
        </p:txBody>
      </p:sp>
      <p:sp>
        <p:nvSpPr>
          <p:cNvPr id="4" name="Footer Placeholder 3">
            <a:extLst>
              <a:ext uri="{FF2B5EF4-FFF2-40B4-BE49-F238E27FC236}">
                <a16:creationId xmlns:a16="http://schemas.microsoft.com/office/drawing/2014/main" id="{DD99F758-7039-99D1-2E93-665B5740336E}"/>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B4688546-EBD4-AC43-21F8-FB2A52A91D68}"/>
              </a:ext>
            </a:extLst>
          </p:cNvPr>
          <p:cNvSpPr>
            <a:spLocks noGrp="1"/>
          </p:cNvSpPr>
          <p:nvPr>
            <p:ph type="sldNum" sz="quarter" idx="12"/>
          </p:nvPr>
        </p:nvSpPr>
        <p:spPr/>
        <p:txBody>
          <a:bodyPr/>
          <a:lstStyle/>
          <a:p>
            <a:fld id="{48F63A3B-78C7-47BE-AE5E-E10140E04643}" type="slidenum">
              <a:rPr lang="en-US" dirty="0"/>
              <a:t>58</a:t>
            </a:fld>
            <a:endParaRPr lang="en-US"/>
          </a:p>
        </p:txBody>
      </p:sp>
    </p:spTree>
    <p:extLst>
      <p:ext uri="{BB962C8B-B14F-4D97-AF65-F5344CB8AC3E}">
        <p14:creationId xmlns:p14="http://schemas.microsoft.com/office/powerpoint/2010/main" val="35613778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314729"/>
            <a:ext cx="10515600" cy="686126"/>
          </a:xfrm>
          <a:prstGeom prst="rect">
            <a:avLst/>
          </a:prstGeom>
        </p:spPr>
        <p:txBody>
          <a:bodyPr vert="horz" wrap="square" lIns="0" tIns="8930" rIns="0" bIns="0" rtlCol="0">
            <a:spAutoFit/>
          </a:bodyPr>
          <a:lstStyle/>
          <a:p>
            <a:pPr marL="366395">
              <a:lnSpc>
                <a:spcPct val="100000"/>
              </a:lnSpc>
              <a:spcBef>
                <a:spcPts val="70"/>
              </a:spcBef>
            </a:pPr>
            <a:r>
              <a:rPr b="1" spc="88">
                <a:solidFill>
                  <a:srgbClr val="FF7B00"/>
                </a:solidFill>
              </a:rPr>
              <a:t>Polymorphism</a:t>
            </a:r>
            <a:r>
              <a:rPr b="1" spc="4">
                <a:solidFill>
                  <a:srgbClr val="FF7B00"/>
                </a:solidFill>
              </a:rPr>
              <a:t> </a:t>
            </a:r>
            <a:r>
              <a:rPr b="1" spc="225">
                <a:solidFill>
                  <a:srgbClr val="FF7B00"/>
                </a:solidFill>
              </a:rPr>
              <a:t>-</a:t>
            </a:r>
            <a:r>
              <a:rPr b="1" spc="4">
                <a:solidFill>
                  <a:srgbClr val="FF7B00"/>
                </a:solidFill>
              </a:rPr>
              <a:t> </a:t>
            </a:r>
            <a:r>
              <a:rPr b="1" spc="70">
                <a:solidFill>
                  <a:srgbClr val="FF7B00"/>
                </a:solidFill>
              </a:rPr>
              <a:t>Dynamic</a:t>
            </a:r>
            <a:r>
              <a:rPr b="1" spc="7">
                <a:solidFill>
                  <a:srgbClr val="FF7B00"/>
                </a:solidFill>
              </a:rPr>
              <a:t> </a:t>
            </a:r>
            <a:r>
              <a:rPr b="1" spc="112">
                <a:solidFill>
                  <a:srgbClr val="FF7B00"/>
                </a:solidFill>
              </a:rPr>
              <a:t>Binding</a:t>
            </a:r>
            <a:endParaRPr lang="en-US" b="1">
              <a:solidFill>
                <a:srgbClr val="FF7B00"/>
              </a:solidFill>
            </a:endParaRPr>
          </a:p>
        </p:txBody>
      </p:sp>
      <p:sp>
        <p:nvSpPr>
          <p:cNvPr id="3" name="object 3"/>
          <p:cNvSpPr txBox="1"/>
          <p:nvPr/>
        </p:nvSpPr>
        <p:spPr>
          <a:xfrm>
            <a:off x="1219030" y="1279104"/>
            <a:ext cx="10141059" cy="1307258"/>
          </a:xfrm>
          <a:prstGeom prst="rect">
            <a:avLst/>
          </a:prstGeom>
        </p:spPr>
        <p:txBody>
          <a:bodyPr vert="horz" wrap="square" lIns="0" tIns="8930" rIns="0" bIns="0" rtlCol="0" anchor="t">
            <a:spAutoFit/>
          </a:bodyPr>
          <a:lstStyle/>
          <a:p>
            <a:pPr marL="321310" marR="3175" indent="-312420">
              <a:lnSpc>
                <a:spcPct val="100000"/>
              </a:lnSpc>
              <a:spcBef>
                <a:spcPts val="70"/>
              </a:spcBef>
              <a:buClr>
                <a:srgbClr val="000000"/>
              </a:buClr>
              <a:buSzPct val="145000"/>
              <a:buChar char="•"/>
              <a:tabLst>
                <a:tab pos="321457" algn="l"/>
              </a:tabLst>
            </a:pPr>
            <a:r>
              <a:rPr sz="2800">
                <a:latin typeface="Arial MT"/>
                <a:cs typeface="Arial MT"/>
              </a:rPr>
              <a:t>Polymorphism</a:t>
            </a:r>
            <a:r>
              <a:rPr sz="2800" spc="80">
                <a:latin typeface="Arial MT"/>
                <a:cs typeface="Arial MT"/>
              </a:rPr>
              <a:t> </a:t>
            </a:r>
            <a:r>
              <a:rPr sz="2800">
                <a:latin typeface="Arial MT"/>
                <a:cs typeface="Arial MT"/>
              </a:rPr>
              <a:t>is</a:t>
            </a:r>
            <a:r>
              <a:rPr sz="2800" spc="80">
                <a:latin typeface="Arial MT"/>
                <a:cs typeface="Arial MT"/>
              </a:rPr>
              <a:t> </a:t>
            </a:r>
            <a:r>
              <a:rPr sz="2800">
                <a:latin typeface="Arial MT"/>
                <a:cs typeface="Arial MT"/>
              </a:rPr>
              <a:t>provided</a:t>
            </a:r>
            <a:r>
              <a:rPr sz="2800" spc="84">
                <a:latin typeface="Arial MT"/>
                <a:cs typeface="Arial MT"/>
              </a:rPr>
              <a:t> </a:t>
            </a:r>
            <a:r>
              <a:rPr sz="2800" spc="42">
                <a:latin typeface="Arial MT"/>
                <a:cs typeface="Arial MT"/>
              </a:rPr>
              <a:t>by</a:t>
            </a:r>
            <a:r>
              <a:rPr sz="2800" spc="80">
                <a:latin typeface="Arial MT"/>
                <a:cs typeface="Arial MT"/>
              </a:rPr>
              <a:t> </a:t>
            </a:r>
            <a:r>
              <a:rPr sz="2800">
                <a:latin typeface="Arial MT"/>
                <a:cs typeface="Arial MT"/>
              </a:rPr>
              <a:t>the</a:t>
            </a:r>
            <a:r>
              <a:rPr sz="2800" spc="80">
                <a:latin typeface="Arial MT"/>
                <a:cs typeface="Arial MT"/>
              </a:rPr>
              <a:t> </a:t>
            </a:r>
            <a:r>
              <a:rPr sz="2800" spc="-7">
                <a:latin typeface="Arial MT"/>
                <a:cs typeface="Arial MT"/>
              </a:rPr>
              <a:t>dynamic </a:t>
            </a:r>
            <a:r>
              <a:rPr sz="2800">
                <a:latin typeface="Arial MT"/>
                <a:cs typeface="Arial MT"/>
              </a:rPr>
              <a:t>binding</a:t>
            </a:r>
            <a:r>
              <a:rPr sz="2800" spc="46">
                <a:latin typeface="Arial MT"/>
                <a:cs typeface="Arial MT"/>
              </a:rPr>
              <a:t> of</a:t>
            </a:r>
            <a:r>
              <a:rPr sz="2800" spc="49">
                <a:latin typeface="Arial MT"/>
                <a:cs typeface="Arial MT"/>
              </a:rPr>
              <a:t> </a:t>
            </a:r>
            <a:r>
              <a:rPr sz="2800">
                <a:latin typeface="Arial MT"/>
                <a:cs typeface="Arial MT"/>
              </a:rPr>
              <a:t>messages</a:t>
            </a:r>
            <a:r>
              <a:rPr sz="2800" spc="49">
                <a:latin typeface="Arial MT"/>
                <a:cs typeface="Arial MT"/>
              </a:rPr>
              <a:t> </a:t>
            </a:r>
            <a:r>
              <a:rPr sz="2800" spc="70">
                <a:latin typeface="Arial MT"/>
                <a:cs typeface="Arial MT"/>
              </a:rPr>
              <a:t>to</a:t>
            </a:r>
            <a:r>
              <a:rPr sz="2800" spc="49">
                <a:latin typeface="Arial MT"/>
                <a:cs typeface="Arial MT"/>
              </a:rPr>
              <a:t> </a:t>
            </a:r>
            <a:r>
              <a:rPr sz="2800">
                <a:latin typeface="Arial MT"/>
                <a:cs typeface="Arial MT"/>
              </a:rPr>
              <a:t>method</a:t>
            </a:r>
            <a:r>
              <a:rPr sz="2800" spc="49">
                <a:latin typeface="Arial MT"/>
                <a:cs typeface="Arial MT"/>
              </a:rPr>
              <a:t> </a:t>
            </a:r>
            <a:r>
              <a:rPr sz="2800" spc="-7">
                <a:latin typeface="Arial MT"/>
                <a:cs typeface="Arial MT"/>
              </a:rPr>
              <a:t>definitions. </a:t>
            </a:r>
            <a:r>
              <a:rPr sz="2800">
                <a:latin typeface="Arial MT"/>
                <a:cs typeface="Arial MT"/>
              </a:rPr>
              <a:t>This</a:t>
            </a:r>
            <a:r>
              <a:rPr sz="2800" spc="39">
                <a:latin typeface="Arial MT"/>
                <a:cs typeface="Arial MT"/>
              </a:rPr>
              <a:t> </a:t>
            </a:r>
            <a:r>
              <a:rPr sz="2800">
                <a:latin typeface="Arial MT"/>
                <a:cs typeface="Arial MT"/>
              </a:rPr>
              <a:t>is</a:t>
            </a:r>
            <a:r>
              <a:rPr sz="2800" spc="42">
                <a:latin typeface="Arial MT"/>
                <a:cs typeface="Arial MT"/>
              </a:rPr>
              <a:t> </a:t>
            </a:r>
            <a:r>
              <a:rPr sz="2800">
                <a:latin typeface="Arial MT"/>
                <a:cs typeface="Arial MT"/>
              </a:rPr>
              <a:t>sometimes</a:t>
            </a:r>
            <a:r>
              <a:rPr sz="2800" spc="42">
                <a:latin typeface="Arial MT"/>
                <a:cs typeface="Arial MT"/>
              </a:rPr>
              <a:t> </a:t>
            </a:r>
            <a:r>
              <a:rPr sz="2800">
                <a:latin typeface="Arial MT"/>
                <a:cs typeface="Arial MT"/>
              </a:rPr>
              <a:t>called</a:t>
            </a:r>
            <a:r>
              <a:rPr sz="2800" spc="42">
                <a:latin typeface="Arial MT"/>
                <a:cs typeface="Arial MT"/>
              </a:rPr>
              <a:t> </a:t>
            </a:r>
            <a:r>
              <a:rPr sz="2800">
                <a:latin typeface="Arial MT"/>
                <a:cs typeface="Arial MT"/>
              </a:rPr>
              <a:t>dynamic</a:t>
            </a:r>
            <a:r>
              <a:rPr sz="2800" spc="42">
                <a:latin typeface="Arial MT"/>
                <a:cs typeface="Arial MT"/>
              </a:rPr>
              <a:t> </a:t>
            </a:r>
            <a:r>
              <a:rPr sz="2800" spc="-7">
                <a:latin typeface="Arial MT"/>
                <a:cs typeface="Arial MT"/>
              </a:rPr>
              <a:t>dispatch.</a:t>
            </a:r>
            <a:endParaRPr lang="en-US" sz="2800">
              <a:latin typeface="Arial MT"/>
              <a:cs typeface="Arial MT"/>
            </a:endParaRPr>
          </a:p>
        </p:txBody>
      </p:sp>
      <p:grpSp>
        <p:nvGrpSpPr>
          <p:cNvPr id="4" name="object 4"/>
          <p:cNvGrpSpPr/>
          <p:nvPr/>
        </p:nvGrpSpPr>
        <p:grpSpPr>
          <a:xfrm>
            <a:off x="2798648" y="2158434"/>
            <a:ext cx="6245294" cy="4195380"/>
            <a:chOff x="2593715" y="3893706"/>
            <a:chExt cx="7783008" cy="5502353"/>
          </a:xfrm>
        </p:grpSpPr>
        <p:pic>
          <p:nvPicPr>
            <p:cNvPr id="5" name="object 5"/>
            <p:cNvPicPr/>
            <p:nvPr/>
          </p:nvPicPr>
          <p:blipFill>
            <a:blip r:embed="rId3" cstate="print"/>
            <a:stretch>
              <a:fillRect/>
            </a:stretch>
          </p:blipFill>
          <p:spPr>
            <a:xfrm>
              <a:off x="2593715" y="4052758"/>
              <a:ext cx="7783008" cy="5343301"/>
            </a:xfrm>
            <a:prstGeom prst="rect">
              <a:avLst/>
            </a:prstGeom>
          </p:spPr>
        </p:pic>
        <p:sp>
          <p:nvSpPr>
            <p:cNvPr id="6" name="object 6"/>
            <p:cNvSpPr/>
            <p:nvPr/>
          </p:nvSpPr>
          <p:spPr>
            <a:xfrm>
              <a:off x="6705572" y="3893706"/>
              <a:ext cx="2597785" cy="2287270"/>
            </a:xfrm>
            <a:custGeom>
              <a:avLst/>
              <a:gdLst/>
              <a:ahLst/>
              <a:cxnLst/>
              <a:rect l="l" t="t" r="r" b="b"/>
              <a:pathLst>
                <a:path w="2597784" h="2287270">
                  <a:moveTo>
                    <a:pt x="2597495" y="0"/>
                  </a:moveTo>
                  <a:lnTo>
                    <a:pt x="0" y="0"/>
                  </a:lnTo>
                  <a:lnTo>
                    <a:pt x="0" y="2286720"/>
                  </a:lnTo>
                  <a:lnTo>
                    <a:pt x="2597495" y="2286720"/>
                  </a:lnTo>
                  <a:lnTo>
                    <a:pt x="2597495" y="0"/>
                  </a:lnTo>
                  <a:close/>
                </a:path>
              </a:pathLst>
            </a:custGeom>
            <a:solidFill>
              <a:srgbClr val="FFFFFF"/>
            </a:solidFill>
          </p:spPr>
          <p:txBody>
            <a:bodyPr wrap="square" lIns="0" tIns="0" rIns="0" bIns="0" rtlCol="0"/>
            <a:lstStyle/>
            <a:p>
              <a:endParaRPr/>
            </a:p>
          </p:txBody>
        </p:sp>
      </p:grpSp>
      <p:sp>
        <p:nvSpPr>
          <p:cNvPr id="7" name="Footer Placeholder 6">
            <a:extLst>
              <a:ext uri="{FF2B5EF4-FFF2-40B4-BE49-F238E27FC236}">
                <a16:creationId xmlns:a16="http://schemas.microsoft.com/office/drawing/2014/main" id="{61B2FFE4-7D93-1DCC-6AA2-888181CD0AC6}"/>
              </a:ext>
            </a:extLst>
          </p:cNvPr>
          <p:cNvSpPr>
            <a:spLocks noGrp="1"/>
          </p:cNvSpPr>
          <p:nvPr>
            <p:ph type="ftr" sz="quarter" idx="11"/>
          </p:nvPr>
        </p:nvSpPr>
        <p:spPr/>
        <p:txBody>
          <a:bodyPr/>
          <a:lstStyle/>
          <a:p>
            <a:r>
              <a:rPr lang="en-US"/>
              <a:t>Ms. ALF. Sajeetha</a:t>
            </a:r>
          </a:p>
        </p:txBody>
      </p:sp>
      <p:sp>
        <p:nvSpPr>
          <p:cNvPr id="8" name="Slide Number Placeholder 7">
            <a:extLst>
              <a:ext uri="{FF2B5EF4-FFF2-40B4-BE49-F238E27FC236}">
                <a16:creationId xmlns:a16="http://schemas.microsoft.com/office/drawing/2014/main" id="{81DAE2ED-C613-F845-6F91-C55254219A42}"/>
              </a:ext>
            </a:extLst>
          </p:cNvPr>
          <p:cNvSpPr>
            <a:spLocks noGrp="1"/>
          </p:cNvSpPr>
          <p:nvPr>
            <p:ph type="sldNum" sz="quarter" idx="12"/>
          </p:nvPr>
        </p:nvSpPr>
        <p:spPr/>
        <p:txBody>
          <a:bodyPr/>
          <a:lstStyle/>
          <a:p>
            <a:fld id="{48F63A3B-78C7-47BE-AE5E-E10140E04643}" type="slidenum">
              <a:rPr lang="en-US" dirty="0"/>
              <a:t>59</a:t>
            </a:fld>
            <a:endParaRPr lang="en-US"/>
          </a:p>
        </p:txBody>
      </p:sp>
    </p:spTree>
    <p:extLst>
      <p:ext uri="{BB962C8B-B14F-4D97-AF65-F5344CB8AC3E}">
        <p14:creationId xmlns:p14="http://schemas.microsoft.com/office/powerpoint/2010/main" val="37319552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7C67B-EF5E-A0F8-43A3-A8EF5ADC1A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CFECD69-096D-364D-AA6E-08AE4686D49B}"/>
              </a:ext>
            </a:extLst>
          </p:cNvPr>
          <p:cNvSpPr>
            <a:spLocks noGrp="1"/>
          </p:cNvSpPr>
          <p:nvPr>
            <p:ph idx="1"/>
          </p:nvPr>
        </p:nvSpPr>
        <p:spPr/>
        <p:txBody>
          <a:bodyPr vert="horz" lIns="91440" tIns="45720" rIns="91440" bIns="45720" rtlCol="0" anchor="t">
            <a:noAutofit/>
          </a:bodyPr>
          <a:lstStyle/>
          <a:p>
            <a:pPr marL="0" indent="0">
              <a:lnSpc>
                <a:spcPct val="100000"/>
              </a:lnSpc>
              <a:spcBef>
                <a:spcPts val="0"/>
              </a:spcBef>
              <a:buNone/>
            </a:pPr>
            <a:r>
              <a:rPr lang="en-US" sz="3600" dirty="0">
                <a:latin typeface="Calibri"/>
                <a:ea typeface="Calibri"/>
                <a:cs typeface="Calibri"/>
              </a:rPr>
              <a:t>Super type can refer the subtype </a:t>
            </a:r>
          </a:p>
          <a:p>
            <a:pPr>
              <a:lnSpc>
                <a:spcPct val="100000"/>
              </a:lnSpc>
              <a:spcBef>
                <a:spcPts val="0"/>
              </a:spcBef>
            </a:pPr>
            <a:r>
              <a:rPr lang="en-US" sz="3600" dirty="0">
                <a:latin typeface="Calibri"/>
                <a:ea typeface="Calibri"/>
                <a:cs typeface="Calibri"/>
              </a:rPr>
              <a:t>Rectangle r1= new Square()</a:t>
            </a:r>
          </a:p>
          <a:p>
            <a:pPr>
              <a:lnSpc>
                <a:spcPct val="100000"/>
              </a:lnSpc>
              <a:spcBef>
                <a:spcPts val="0"/>
              </a:spcBef>
            </a:pPr>
            <a:r>
              <a:rPr lang="en-US" sz="3600" dirty="0">
                <a:latin typeface="Calibri"/>
                <a:ea typeface="Calibri"/>
                <a:cs typeface="Calibri"/>
              </a:rPr>
              <a:t>Sqaure s3 = new Sqaure()</a:t>
            </a:r>
          </a:p>
          <a:p>
            <a:pPr>
              <a:lnSpc>
                <a:spcPct val="100000"/>
              </a:lnSpc>
              <a:spcBef>
                <a:spcPts val="0"/>
              </a:spcBef>
            </a:pPr>
            <a:r>
              <a:rPr lang="en-US" sz="3600" dirty="0">
                <a:latin typeface="Calibri"/>
                <a:ea typeface="Calibri"/>
                <a:cs typeface="Calibri"/>
              </a:rPr>
              <a:t>S3.area()</a:t>
            </a:r>
          </a:p>
          <a:p>
            <a:pPr>
              <a:lnSpc>
                <a:spcPct val="100000"/>
              </a:lnSpc>
              <a:spcBef>
                <a:spcPts val="0"/>
              </a:spcBef>
            </a:pPr>
            <a:r>
              <a:rPr lang="en-US" sz="3600" dirty="0">
                <a:latin typeface="Calibri"/>
                <a:ea typeface="Calibri"/>
                <a:cs typeface="Calibri"/>
              </a:rPr>
              <a:t>Shape s1= new Rectangle()</a:t>
            </a:r>
          </a:p>
          <a:p>
            <a:pPr>
              <a:lnSpc>
                <a:spcPct val="100000"/>
              </a:lnSpc>
              <a:spcBef>
                <a:spcPts val="0"/>
              </a:spcBef>
            </a:pPr>
            <a:r>
              <a:rPr lang="en-US" sz="3600" dirty="0">
                <a:latin typeface="Calibri"/>
                <a:ea typeface="Calibri"/>
                <a:cs typeface="Calibri"/>
              </a:rPr>
              <a:t>Shape s2 = new Sqaure()</a:t>
            </a:r>
          </a:p>
          <a:p>
            <a:pPr>
              <a:lnSpc>
                <a:spcPct val="100000"/>
              </a:lnSpc>
              <a:spcBef>
                <a:spcPts val="0"/>
              </a:spcBef>
            </a:pPr>
            <a:r>
              <a:rPr lang="en-US" sz="3600" dirty="0">
                <a:latin typeface="Calibri"/>
                <a:ea typeface="Calibri"/>
                <a:cs typeface="Calibri"/>
              </a:rPr>
              <a:t>S1.area()</a:t>
            </a:r>
          </a:p>
          <a:p>
            <a:pPr>
              <a:lnSpc>
                <a:spcPct val="100000"/>
              </a:lnSpc>
              <a:spcBef>
                <a:spcPts val="0"/>
              </a:spcBef>
            </a:pPr>
            <a:r>
              <a:rPr lang="en-US" sz="3600" dirty="0">
                <a:latin typeface="Calibri"/>
                <a:ea typeface="Calibri"/>
                <a:cs typeface="Calibri"/>
              </a:rPr>
              <a:t>S2.area()</a:t>
            </a:r>
          </a:p>
          <a:p>
            <a:pPr>
              <a:lnSpc>
                <a:spcPct val="100000"/>
              </a:lnSpc>
              <a:spcBef>
                <a:spcPts val="0"/>
              </a:spcBef>
            </a:pPr>
            <a:endParaRPr lang="en-US" sz="3600" dirty="0">
              <a:latin typeface="Calibri"/>
              <a:ea typeface="Calibri"/>
              <a:cs typeface="Calibri"/>
            </a:endParaRPr>
          </a:p>
          <a:p>
            <a:pPr>
              <a:lnSpc>
                <a:spcPct val="100000"/>
              </a:lnSpc>
              <a:spcBef>
                <a:spcPts val="0"/>
              </a:spcBef>
            </a:pPr>
            <a:endParaRPr lang="en-US" sz="3600" dirty="0">
              <a:latin typeface="Calibri"/>
              <a:ea typeface="Calibri"/>
              <a:cs typeface="Calibri"/>
            </a:endParaRPr>
          </a:p>
          <a:p>
            <a:pPr>
              <a:lnSpc>
                <a:spcPct val="100000"/>
              </a:lnSpc>
              <a:spcBef>
                <a:spcPts val="0"/>
              </a:spcBef>
            </a:pPr>
            <a:endParaRPr lang="en-US" sz="3600" dirty="0">
              <a:latin typeface="Calibri"/>
              <a:ea typeface="Calibri"/>
              <a:cs typeface="Calibri"/>
            </a:endParaRPr>
          </a:p>
          <a:p>
            <a:pPr>
              <a:lnSpc>
                <a:spcPct val="100000"/>
              </a:lnSpc>
              <a:spcBef>
                <a:spcPts val="0"/>
              </a:spcBef>
            </a:pPr>
            <a:endParaRPr lang="en-US" sz="3600" dirty="0">
              <a:latin typeface="Calibri"/>
              <a:ea typeface="Calibri"/>
              <a:cs typeface="Calibri"/>
            </a:endParaRPr>
          </a:p>
          <a:p>
            <a:pPr>
              <a:lnSpc>
                <a:spcPct val="100000"/>
              </a:lnSpc>
              <a:spcBef>
                <a:spcPts val="0"/>
              </a:spcBef>
            </a:pPr>
            <a:endParaRPr lang="en-US" sz="3600" dirty="0">
              <a:latin typeface="Calibri"/>
              <a:ea typeface="Calibri"/>
              <a:cs typeface="Calibri"/>
            </a:endParaRPr>
          </a:p>
          <a:p>
            <a:endParaRPr lang="en-US" sz="5400" dirty="0"/>
          </a:p>
        </p:txBody>
      </p:sp>
      <p:sp>
        <p:nvSpPr>
          <p:cNvPr id="4" name="Footer Placeholder 3">
            <a:extLst>
              <a:ext uri="{FF2B5EF4-FFF2-40B4-BE49-F238E27FC236}">
                <a16:creationId xmlns:a16="http://schemas.microsoft.com/office/drawing/2014/main" id="{807B8B2B-5DA8-D284-D630-D60C043AB8CB}"/>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95990EEF-3E22-46B6-5D83-0EECAD18E502}"/>
              </a:ext>
            </a:extLst>
          </p:cNvPr>
          <p:cNvSpPr>
            <a:spLocks noGrp="1"/>
          </p:cNvSpPr>
          <p:nvPr>
            <p:ph type="sldNum" sz="quarter" idx="12"/>
          </p:nvPr>
        </p:nvSpPr>
        <p:spPr/>
        <p:txBody>
          <a:bodyPr/>
          <a:lstStyle/>
          <a:p>
            <a:fld id="{48F63A3B-78C7-47BE-AE5E-E10140E04643}" type="slidenum">
              <a:rPr lang="en-US" dirty="0"/>
              <a:t>60</a:t>
            </a:fld>
            <a:endParaRPr lang="en-US"/>
          </a:p>
        </p:txBody>
      </p:sp>
    </p:spTree>
    <p:extLst>
      <p:ext uri="{BB962C8B-B14F-4D97-AF65-F5344CB8AC3E}">
        <p14:creationId xmlns:p14="http://schemas.microsoft.com/office/powerpoint/2010/main" val="20874219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684843"/>
            <a:ext cx="10515600" cy="686126"/>
          </a:xfrm>
          <a:prstGeom prst="rect">
            <a:avLst/>
          </a:prstGeom>
        </p:spPr>
        <p:txBody>
          <a:bodyPr vert="horz" wrap="square" lIns="0" tIns="8930" rIns="0" bIns="0" rtlCol="0">
            <a:spAutoFit/>
          </a:bodyPr>
          <a:lstStyle/>
          <a:p>
            <a:pPr marL="366395">
              <a:lnSpc>
                <a:spcPct val="100000"/>
              </a:lnSpc>
              <a:spcBef>
                <a:spcPts val="70"/>
              </a:spcBef>
            </a:pPr>
            <a:r>
              <a:rPr spc="88">
                <a:solidFill>
                  <a:srgbClr val="FF7B00"/>
                </a:solidFill>
              </a:rPr>
              <a:t>Polymorphism</a:t>
            </a:r>
            <a:r>
              <a:rPr spc="4">
                <a:solidFill>
                  <a:srgbClr val="FF7B00"/>
                </a:solidFill>
              </a:rPr>
              <a:t> </a:t>
            </a:r>
            <a:r>
              <a:rPr spc="225">
                <a:solidFill>
                  <a:srgbClr val="FF7B00"/>
                </a:solidFill>
              </a:rPr>
              <a:t>-</a:t>
            </a:r>
            <a:r>
              <a:rPr spc="4">
                <a:solidFill>
                  <a:srgbClr val="FF7B00"/>
                </a:solidFill>
              </a:rPr>
              <a:t> </a:t>
            </a:r>
            <a:r>
              <a:rPr spc="70">
                <a:solidFill>
                  <a:srgbClr val="FF7B00"/>
                </a:solidFill>
              </a:rPr>
              <a:t>Dynamic</a:t>
            </a:r>
            <a:r>
              <a:rPr spc="7">
                <a:solidFill>
                  <a:srgbClr val="FF7B00"/>
                </a:solidFill>
              </a:rPr>
              <a:t> </a:t>
            </a:r>
            <a:r>
              <a:rPr spc="112">
                <a:solidFill>
                  <a:srgbClr val="FF7B00"/>
                </a:solidFill>
              </a:rPr>
              <a:t>Binding</a:t>
            </a:r>
            <a:endParaRPr lang="en-US">
              <a:solidFill>
                <a:srgbClr val="FF7B00"/>
              </a:solidFill>
            </a:endParaRPr>
          </a:p>
        </p:txBody>
      </p:sp>
      <p:sp>
        <p:nvSpPr>
          <p:cNvPr id="3" name="object 3"/>
          <p:cNvSpPr txBox="1"/>
          <p:nvPr/>
        </p:nvSpPr>
        <p:spPr>
          <a:xfrm>
            <a:off x="838007" y="1713770"/>
            <a:ext cx="10517748" cy="4817379"/>
          </a:xfrm>
          <a:prstGeom prst="rect">
            <a:avLst/>
          </a:prstGeom>
        </p:spPr>
        <p:txBody>
          <a:bodyPr vert="horz" wrap="square" lIns="0" tIns="26789" rIns="0" bIns="0" rtlCol="0" anchor="t">
            <a:spAutoFit/>
          </a:bodyPr>
          <a:lstStyle/>
          <a:p>
            <a:pPr marL="313690" marR="621030" indent="-295910">
              <a:lnSpc>
                <a:spcPts val="3164"/>
              </a:lnSpc>
              <a:spcBef>
                <a:spcPts val="211"/>
              </a:spcBef>
              <a:buClr>
                <a:srgbClr val="FFFFFF"/>
              </a:buClr>
              <a:buSzPct val="144736"/>
              <a:buChar char="•"/>
              <a:tabLst>
                <a:tab pos="314760" algn="l"/>
              </a:tabLst>
            </a:pPr>
            <a:r>
              <a:rPr sz="2650">
                <a:latin typeface="Arial MT"/>
                <a:cs typeface="Arial MT"/>
              </a:rPr>
              <a:t>Polymorphism</a:t>
            </a:r>
            <a:r>
              <a:rPr sz="2650" spc="18">
                <a:latin typeface="Arial MT"/>
                <a:cs typeface="Arial MT"/>
              </a:rPr>
              <a:t> </a:t>
            </a:r>
            <a:r>
              <a:rPr sz="2650">
                <a:latin typeface="Arial MT"/>
                <a:cs typeface="Arial MT"/>
              </a:rPr>
              <a:t>is</a:t>
            </a:r>
            <a:r>
              <a:rPr sz="2650" spc="21">
                <a:latin typeface="Arial MT"/>
                <a:cs typeface="Arial MT"/>
              </a:rPr>
              <a:t> </a:t>
            </a:r>
            <a:r>
              <a:rPr sz="2650">
                <a:latin typeface="Arial MT"/>
                <a:cs typeface="Arial MT"/>
              </a:rPr>
              <a:t>a</a:t>
            </a:r>
            <a:r>
              <a:rPr sz="2650" spc="21">
                <a:latin typeface="Arial MT"/>
                <a:cs typeface="Arial MT"/>
              </a:rPr>
              <a:t> </a:t>
            </a:r>
            <a:r>
              <a:rPr sz="2650">
                <a:latin typeface="Arial MT"/>
                <a:cs typeface="Arial MT"/>
              </a:rPr>
              <a:t>natural</a:t>
            </a:r>
            <a:r>
              <a:rPr sz="2650" spc="21">
                <a:latin typeface="Arial MT"/>
                <a:cs typeface="Arial MT"/>
              </a:rPr>
              <a:t> </a:t>
            </a:r>
            <a:r>
              <a:rPr sz="2650">
                <a:latin typeface="Arial MT"/>
                <a:cs typeface="Arial MT"/>
              </a:rPr>
              <a:t>part</a:t>
            </a:r>
            <a:r>
              <a:rPr sz="2650" spc="21">
                <a:latin typeface="Arial MT"/>
                <a:cs typeface="Arial MT"/>
              </a:rPr>
              <a:t> </a:t>
            </a:r>
            <a:r>
              <a:rPr sz="2650" spc="42">
                <a:latin typeface="Arial MT"/>
                <a:cs typeface="Arial MT"/>
              </a:rPr>
              <a:t>of</a:t>
            </a:r>
            <a:r>
              <a:rPr sz="2650" spc="21">
                <a:latin typeface="Arial MT"/>
                <a:cs typeface="Arial MT"/>
              </a:rPr>
              <a:t> </a:t>
            </a:r>
            <a:r>
              <a:rPr sz="2650">
                <a:latin typeface="Arial MT"/>
                <a:cs typeface="Arial MT"/>
              </a:rPr>
              <a:t>any</a:t>
            </a:r>
            <a:r>
              <a:rPr sz="2650" spc="21">
                <a:latin typeface="Arial MT"/>
                <a:cs typeface="Arial MT"/>
              </a:rPr>
              <a:t> </a:t>
            </a:r>
            <a:r>
              <a:rPr sz="2650" spc="49">
                <a:latin typeface="Arial MT"/>
                <a:cs typeface="Arial MT"/>
              </a:rPr>
              <a:t>object- 	</a:t>
            </a:r>
            <a:r>
              <a:rPr sz="2650">
                <a:latin typeface="Arial MT"/>
                <a:cs typeface="Arial MT"/>
              </a:rPr>
              <a:t>oriented</a:t>
            </a:r>
            <a:r>
              <a:rPr sz="2650" spc="39">
                <a:latin typeface="Arial MT"/>
                <a:cs typeface="Arial MT"/>
              </a:rPr>
              <a:t> </a:t>
            </a:r>
            <a:r>
              <a:rPr sz="2650">
                <a:latin typeface="Arial MT"/>
                <a:cs typeface="Arial MT"/>
              </a:rPr>
              <a:t>language</a:t>
            </a:r>
            <a:r>
              <a:rPr sz="2650" spc="42">
                <a:latin typeface="Arial MT"/>
                <a:cs typeface="Arial MT"/>
              </a:rPr>
              <a:t> </a:t>
            </a:r>
            <a:r>
              <a:rPr sz="2650">
                <a:latin typeface="Arial MT"/>
                <a:cs typeface="Arial MT"/>
              </a:rPr>
              <a:t>that</a:t>
            </a:r>
            <a:r>
              <a:rPr sz="2650" spc="39">
                <a:latin typeface="Arial MT"/>
                <a:cs typeface="Arial MT"/>
              </a:rPr>
              <a:t> </a:t>
            </a:r>
            <a:r>
              <a:rPr sz="2650">
                <a:latin typeface="Arial MT"/>
                <a:cs typeface="Arial MT"/>
              </a:rPr>
              <a:t>is</a:t>
            </a:r>
            <a:r>
              <a:rPr sz="2650" spc="42">
                <a:latin typeface="Arial MT"/>
                <a:cs typeface="Arial MT"/>
              </a:rPr>
              <a:t> </a:t>
            </a:r>
            <a:r>
              <a:rPr sz="2650">
                <a:latin typeface="Arial MT"/>
                <a:cs typeface="Arial MT"/>
              </a:rPr>
              <a:t>statically</a:t>
            </a:r>
            <a:r>
              <a:rPr sz="2650" spc="39">
                <a:latin typeface="Arial MT"/>
                <a:cs typeface="Arial MT"/>
              </a:rPr>
              <a:t> </a:t>
            </a:r>
            <a:r>
              <a:rPr sz="2650" spc="-7">
                <a:latin typeface="Arial MT"/>
                <a:cs typeface="Arial MT"/>
              </a:rPr>
              <a:t>typed.</a:t>
            </a:r>
            <a:endParaRPr lang="en-US" sz="2650">
              <a:latin typeface="Arial MT"/>
              <a:cs typeface="Arial MT"/>
            </a:endParaRPr>
          </a:p>
          <a:p>
            <a:pPr marL="313690" marR="12065" indent="-295910" algn="just">
              <a:lnSpc>
                <a:spcPts val="3164"/>
              </a:lnSpc>
              <a:spcBef>
                <a:spcPts val="2805"/>
              </a:spcBef>
              <a:buClr>
                <a:srgbClr val="FFFFFF"/>
              </a:buClr>
              <a:buSzPct val="144736"/>
              <a:buChar char="•"/>
              <a:tabLst>
                <a:tab pos="314760" algn="l"/>
              </a:tabLst>
            </a:pPr>
            <a:r>
              <a:rPr sz="2650">
                <a:latin typeface="Arial MT"/>
                <a:cs typeface="Arial MT"/>
              </a:rPr>
              <a:t>Polymorphism</a:t>
            </a:r>
            <a:r>
              <a:rPr sz="2650" spc="42">
                <a:latin typeface="Arial MT"/>
                <a:cs typeface="Arial MT"/>
              </a:rPr>
              <a:t> </a:t>
            </a:r>
            <a:r>
              <a:rPr sz="2650">
                <a:latin typeface="Arial MT"/>
                <a:cs typeface="Arial MT"/>
              </a:rPr>
              <a:t>makes</a:t>
            </a:r>
            <a:r>
              <a:rPr sz="2650" spc="42">
                <a:latin typeface="Arial MT"/>
                <a:cs typeface="Arial MT"/>
              </a:rPr>
              <a:t> </a:t>
            </a:r>
            <a:r>
              <a:rPr sz="2650">
                <a:latin typeface="Arial MT"/>
                <a:cs typeface="Arial MT"/>
              </a:rPr>
              <a:t>a</a:t>
            </a:r>
            <a:r>
              <a:rPr sz="2650" spc="42">
                <a:latin typeface="Arial MT"/>
                <a:cs typeface="Arial MT"/>
              </a:rPr>
              <a:t> </a:t>
            </a:r>
            <a:r>
              <a:rPr sz="2650">
                <a:latin typeface="Arial MT"/>
                <a:cs typeface="Arial MT"/>
              </a:rPr>
              <a:t>statically</a:t>
            </a:r>
            <a:r>
              <a:rPr sz="2650" spc="42">
                <a:latin typeface="Arial MT"/>
                <a:cs typeface="Arial MT"/>
              </a:rPr>
              <a:t> </a:t>
            </a:r>
            <a:r>
              <a:rPr sz="2650" spc="39">
                <a:latin typeface="Arial MT"/>
                <a:cs typeface="Arial MT"/>
              </a:rPr>
              <a:t>typed</a:t>
            </a:r>
            <a:r>
              <a:rPr sz="2650" spc="46">
                <a:latin typeface="Arial MT"/>
                <a:cs typeface="Arial MT"/>
              </a:rPr>
              <a:t> </a:t>
            </a:r>
            <a:r>
              <a:rPr sz="2650" spc="-7">
                <a:latin typeface="Arial MT"/>
                <a:cs typeface="Arial MT"/>
              </a:rPr>
              <a:t>language 	</a:t>
            </a:r>
            <a:r>
              <a:rPr sz="2650">
                <a:latin typeface="Arial MT"/>
                <a:cs typeface="Arial MT"/>
              </a:rPr>
              <a:t>a</a:t>
            </a:r>
            <a:r>
              <a:rPr sz="2650" spc="39">
                <a:latin typeface="Arial MT"/>
                <a:cs typeface="Arial MT"/>
              </a:rPr>
              <a:t> </a:t>
            </a:r>
            <a:r>
              <a:rPr sz="2650">
                <a:latin typeface="Arial MT"/>
                <a:cs typeface="Arial MT"/>
              </a:rPr>
              <a:t>little</a:t>
            </a:r>
            <a:r>
              <a:rPr sz="2650" spc="42">
                <a:latin typeface="Arial MT"/>
                <a:cs typeface="Arial MT"/>
              </a:rPr>
              <a:t> </a:t>
            </a:r>
            <a:r>
              <a:rPr sz="2650" spc="63">
                <a:latin typeface="Arial MT"/>
                <a:cs typeface="Arial MT"/>
              </a:rPr>
              <a:t>bit</a:t>
            </a:r>
            <a:r>
              <a:rPr sz="2650" spc="39">
                <a:latin typeface="Arial MT"/>
                <a:cs typeface="Arial MT"/>
              </a:rPr>
              <a:t> </a:t>
            </a:r>
            <a:r>
              <a:rPr sz="2650">
                <a:latin typeface="Arial MT"/>
                <a:cs typeface="Arial MT"/>
              </a:rPr>
              <a:t>dynamically</a:t>
            </a:r>
            <a:r>
              <a:rPr sz="2650" spc="42">
                <a:latin typeface="Arial MT"/>
                <a:cs typeface="Arial MT"/>
              </a:rPr>
              <a:t> </a:t>
            </a:r>
            <a:r>
              <a:rPr sz="2650">
                <a:latin typeface="Arial MT"/>
                <a:cs typeface="Arial MT"/>
              </a:rPr>
              <a:t>typed,</a:t>
            </a:r>
            <a:r>
              <a:rPr sz="2650" spc="39">
                <a:latin typeface="Arial MT"/>
                <a:cs typeface="Arial MT"/>
              </a:rPr>
              <a:t> </a:t>
            </a:r>
            <a:r>
              <a:rPr sz="2650">
                <a:latin typeface="Arial MT"/>
                <a:cs typeface="Arial MT"/>
              </a:rPr>
              <a:t>where</a:t>
            </a:r>
            <a:r>
              <a:rPr sz="2650" spc="42">
                <a:latin typeface="Arial MT"/>
                <a:cs typeface="Arial MT"/>
              </a:rPr>
              <a:t> </a:t>
            </a:r>
            <a:r>
              <a:rPr sz="2650">
                <a:latin typeface="Arial MT"/>
                <a:cs typeface="Arial MT"/>
              </a:rPr>
              <a:t>the</a:t>
            </a:r>
            <a:r>
              <a:rPr sz="2650" spc="39">
                <a:latin typeface="Arial MT"/>
                <a:cs typeface="Arial MT"/>
              </a:rPr>
              <a:t> </a:t>
            </a:r>
            <a:r>
              <a:rPr sz="2650">
                <a:latin typeface="Arial MT"/>
                <a:cs typeface="Arial MT"/>
              </a:rPr>
              <a:t>little</a:t>
            </a:r>
            <a:r>
              <a:rPr sz="2650" spc="42">
                <a:latin typeface="Arial MT"/>
                <a:cs typeface="Arial MT"/>
              </a:rPr>
              <a:t> </a:t>
            </a:r>
            <a:r>
              <a:rPr sz="2650" spc="63">
                <a:latin typeface="Arial MT"/>
                <a:cs typeface="Arial MT"/>
              </a:rPr>
              <a:t>bit</a:t>
            </a:r>
            <a:r>
              <a:rPr sz="2650" spc="39">
                <a:latin typeface="Arial MT"/>
                <a:cs typeface="Arial MT"/>
              </a:rPr>
              <a:t> </a:t>
            </a:r>
            <a:r>
              <a:rPr sz="2650" spc="-18">
                <a:latin typeface="Arial MT"/>
                <a:cs typeface="Arial MT"/>
              </a:rPr>
              <a:t>is 	</a:t>
            </a:r>
            <a:r>
              <a:rPr sz="2650">
                <a:latin typeface="Arial MT"/>
                <a:cs typeface="Arial MT"/>
              </a:rPr>
              <a:t>in</a:t>
            </a:r>
            <a:r>
              <a:rPr sz="2650" spc="49">
                <a:latin typeface="Arial MT"/>
                <a:cs typeface="Arial MT"/>
              </a:rPr>
              <a:t> </a:t>
            </a:r>
            <a:r>
              <a:rPr sz="2650">
                <a:latin typeface="Arial MT"/>
                <a:cs typeface="Arial MT"/>
              </a:rPr>
              <a:t>some</a:t>
            </a:r>
            <a:r>
              <a:rPr sz="2650" spc="53">
                <a:latin typeface="Arial MT"/>
                <a:cs typeface="Arial MT"/>
              </a:rPr>
              <a:t> </a:t>
            </a:r>
            <a:r>
              <a:rPr sz="2650">
                <a:latin typeface="Arial MT"/>
                <a:cs typeface="Arial MT"/>
              </a:rPr>
              <a:t>bindings</a:t>
            </a:r>
            <a:r>
              <a:rPr sz="2650" spc="53">
                <a:latin typeface="Arial MT"/>
                <a:cs typeface="Arial MT"/>
              </a:rPr>
              <a:t> </a:t>
            </a:r>
            <a:r>
              <a:rPr sz="2650" spc="42">
                <a:latin typeface="Arial MT"/>
                <a:cs typeface="Arial MT"/>
              </a:rPr>
              <a:t>of</a:t>
            </a:r>
            <a:r>
              <a:rPr sz="2650" spc="53">
                <a:latin typeface="Arial MT"/>
                <a:cs typeface="Arial MT"/>
              </a:rPr>
              <a:t> </a:t>
            </a:r>
            <a:r>
              <a:rPr sz="2650">
                <a:latin typeface="Arial MT"/>
                <a:cs typeface="Arial MT"/>
              </a:rPr>
              <a:t>method</a:t>
            </a:r>
            <a:r>
              <a:rPr sz="2650" spc="53">
                <a:latin typeface="Arial MT"/>
                <a:cs typeface="Arial MT"/>
              </a:rPr>
              <a:t> </a:t>
            </a:r>
            <a:r>
              <a:rPr sz="2650">
                <a:latin typeface="Arial MT"/>
                <a:cs typeface="Arial MT"/>
              </a:rPr>
              <a:t>calls</a:t>
            </a:r>
            <a:r>
              <a:rPr sz="2650" spc="53">
                <a:latin typeface="Arial MT"/>
                <a:cs typeface="Arial MT"/>
              </a:rPr>
              <a:t> </a:t>
            </a:r>
            <a:r>
              <a:rPr sz="2650" spc="63">
                <a:latin typeface="Arial MT"/>
                <a:cs typeface="Arial MT"/>
              </a:rPr>
              <a:t>to</a:t>
            </a:r>
            <a:r>
              <a:rPr sz="2650" spc="53">
                <a:latin typeface="Arial MT"/>
                <a:cs typeface="Arial MT"/>
              </a:rPr>
              <a:t> </a:t>
            </a:r>
            <a:r>
              <a:rPr sz="2650" spc="-7">
                <a:latin typeface="Arial MT"/>
                <a:cs typeface="Arial MT"/>
              </a:rPr>
              <a:t>methods.</a:t>
            </a:r>
            <a:endParaRPr sz="2650">
              <a:latin typeface="Arial MT"/>
              <a:cs typeface="Arial MT"/>
            </a:endParaRPr>
          </a:p>
          <a:p>
            <a:pPr marL="313690" marR="734695" indent="-295910">
              <a:lnSpc>
                <a:spcPts val="3164"/>
              </a:lnSpc>
              <a:spcBef>
                <a:spcPts val="2805"/>
              </a:spcBef>
              <a:buSzPct val="144736"/>
              <a:buChar char="•"/>
              <a:tabLst>
                <a:tab pos="314760" algn="l"/>
              </a:tabLst>
            </a:pPr>
            <a:r>
              <a:rPr sz="2650">
                <a:latin typeface="Arial MT"/>
                <a:cs typeface="Arial MT"/>
              </a:rPr>
              <a:t>The</a:t>
            </a:r>
            <a:r>
              <a:rPr sz="2650" spc="-49">
                <a:latin typeface="Arial MT"/>
                <a:cs typeface="Arial MT"/>
              </a:rPr>
              <a:t> </a:t>
            </a:r>
            <a:r>
              <a:rPr sz="2650" spc="35">
                <a:latin typeface="Arial MT"/>
                <a:cs typeface="Arial MT"/>
              </a:rPr>
              <a:t>type</a:t>
            </a:r>
            <a:r>
              <a:rPr sz="2650" spc="-49">
                <a:latin typeface="Arial MT"/>
                <a:cs typeface="Arial MT"/>
              </a:rPr>
              <a:t> </a:t>
            </a:r>
            <a:r>
              <a:rPr sz="2650" spc="42">
                <a:latin typeface="Arial MT"/>
                <a:cs typeface="Arial MT"/>
              </a:rPr>
              <a:t>of</a:t>
            </a:r>
            <a:r>
              <a:rPr sz="2650" spc="-46">
                <a:latin typeface="Arial MT"/>
                <a:cs typeface="Arial MT"/>
              </a:rPr>
              <a:t> </a:t>
            </a:r>
            <a:r>
              <a:rPr sz="2650">
                <a:latin typeface="Arial MT"/>
                <a:cs typeface="Arial MT"/>
              </a:rPr>
              <a:t>a</a:t>
            </a:r>
            <a:r>
              <a:rPr sz="2650" spc="-49">
                <a:latin typeface="Arial MT"/>
                <a:cs typeface="Arial MT"/>
              </a:rPr>
              <a:t> </a:t>
            </a:r>
            <a:r>
              <a:rPr sz="2650" spc="39">
                <a:latin typeface="Arial MT"/>
                <a:cs typeface="Arial MT"/>
              </a:rPr>
              <a:t>polymorphic</a:t>
            </a:r>
            <a:r>
              <a:rPr sz="2650" spc="-46">
                <a:latin typeface="Arial MT"/>
                <a:cs typeface="Arial MT"/>
              </a:rPr>
              <a:t> </a:t>
            </a:r>
            <a:r>
              <a:rPr sz="2650">
                <a:latin typeface="Arial MT"/>
                <a:cs typeface="Arial MT"/>
              </a:rPr>
              <a:t>variable</a:t>
            </a:r>
            <a:r>
              <a:rPr sz="2650" spc="-49">
                <a:latin typeface="Arial MT"/>
                <a:cs typeface="Arial MT"/>
              </a:rPr>
              <a:t> </a:t>
            </a:r>
            <a:r>
              <a:rPr sz="2650">
                <a:latin typeface="Arial MT"/>
                <a:cs typeface="Arial MT"/>
              </a:rPr>
              <a:t>is</a:t>
            </a:r>
            <a:r>
              <a:rPr sz="2650" spc="-49">
                <a:latin typeface="Arial MT"/>
                <a:cs typeface="Arial MT"/>
              </a:rPr>
              <a:t> </a:t>
            </a:r>
            <a:r>
              <a:rPr sz="2650" spc="-7">
                <a:latin typeface="Arial MT"/>
                <a:cs typeface="Arial MT"/>
              </a:rPr>
              <a:t>indeed 	dynamic.</a:t>
            </a:r>
            <a:endParaRPr sz="2650">
              <a:latin typeface="Arial MT"/>
              <a:cs typeface="Arial MT"/>
            </a:endParaRPr>
          </a:p>
          <a:p>
            <a:pPr marL="313690" marR="584200" indent="-295910">
              <a:lnSpc>
                <a:spcPts val="3164"/>
              </a:lnSpc>
              <a:spcBef>
                <a:spcPts val="2777"/>
              </a:spcBef>
              <a:buSzPct val="144736"/>
              <a:buChar char="•"/>
              <a:tabLst>
                <a:tab pos="314760" algn="l"/>
              </a:tabLst>
            </a:pPr>
            <a:r>
              <a:rPr sz="2650">
                <a:latin typeface="Arial MT"/>
                <a:cs typeface="Arial MT"/>
              </a:rPr>
              <a:t>One</a:t>
            </a:r>
            <a:r>
              <a:rPr sz="2650" spc="49">
                <a:latin typeface="Arial MT"/>
                <a:cs typeface="Arial MT"/>
              </a:rPr>
              <a:t> </a:t>
            </a:r>
            <a:r>
              <a:rPr sz="2650">
                <a:latin typeface="Arial MT"/>
                <a:cs typeface="Arial MT"/>
              </a:rPr>
              <a:t>purpose</a:t>
            </a:r>
            <a:r>
              <a:rPr sz="2650" spc="49">
                <a:latin typeface="Arial MT"/>
                <a:cs typeface="Arial MT"/>
              </a:rPr>
              <a:t> </a:t>
            </a:r>
            <a:r>
              <a:rPr sz="2650" spc="42">
                <a:latin typeface="Arial MT"/>
                <a:cs typeface="Arial MT"/>
              </a:rPr>
              <a:t>of</a:t>
            </a:r>
            <a:r>
              <a:rPr sz="2650" spc="53">
                <a:latin typeface="Arial MT"/>
                <a:cs typeface="Arial MT"/>
              </a:rPr>
              <a:t> </a:t>
            </a:r>
            <a:r>
              <a:rPr sz="2650">
                <a:latin typeface="Arial MT"/>
                <a:cs typeface="Arial MT"/>
              </a:rPr>
              <a:t>dynamic</a:t>
            </a:r>
            <a:r>
              <a:rPr sz="2650" spc="49">
                <a:latin typeface="Arial MT"/>
                <a:cs typeface="Arial MT"/>
              </a:rPr>
              <a:t> </a:t>
            </a:r>
            <a:r>
              <a:rPr sz="2650">
                <a:latin typeface="Arial MT"/>
                <a:cs typeface="Arial MT"/>
              </a:rPr>
              <a:t>binding</a:t>
            </a:r>
            <a:r>
              <a:rPr sz="2650" spc="53">
                <a:latin typeface="Arial MT"/>
                <a:cs typeface="Arial MT"/>
              </a:rPr>
              <a:t> </a:t>
            </a:r>
            <a:r>
              <a:rPr sz="2650">
                <a:latin typeface="Arial MT"/>
                <a:cs typeface="Arial MT"/>
              </a:rPr>
              <a:t>is</a:t>
            </a:r>
            <a:r>
              <a:rPr sz="2650" spc="49">
                <a:latin typeface="Arial MT"/>
                <a:cs typeface="Arial MT"/>
              </a:rPr>
              <a:t> </a:t>
            </a:r>
            <a:r>
              <a:rPr sz="2650" spc="63">
                <a:latin typeface="Arial MT"/>
                <a:cs typeface="Arial MT"/>
              </a:rPr>
              <a:t>to</a:t>
            </a:r>
            <a:r>
              <a:rPr sz="2650" spc="53">
                <a:latin typeface="Arial MT"/>
                <a:cs typeface="Arial MT"/>
              </a:rPr>
              <a:t> </a:t>
            </a:r>
            <a:r>
              <a:rPr sz="2650" spc="-7">
                <a:latin typeface="Arial MT"/>
                <a:cs typeface="Arial MT"/>
              </a:rPr>
              <a:t>allow 	</a:t>
            </a:r>
            <a:r>
              <a:rPr sz="2650">
                <a:latin typeface="Arial MT"/>
                <a:cs typeface="Arial MT"/>
              </a:rPr>
              <a:t>software</a:t>
            </a:r>
            <a:r>
              <a:rPr sz="2650" spc="7">
                <a:latin typeface="Arial MT"/>
                <a:cs typeface="Arial MT"/>
              </a:rPr>
              <a:t> </a:t>
            </a:r>
            <a:r>
              <a:rPr sz="2650">
                <a:latin typeface="Arial MT"/>
                <a:cs typeface="Arial MT"/>
              </a:rPr>
              <a:t>systems</a:t>
            </a:r>
            <a:r>
              <a:rPr sz="2650" spc="7">
                <a:latin typeface="Arial MT"/>
                <a:cs typeface="Arial MT"/>
              </a:rPr>
              <a:t> </a:t>
            </a:r>
            <a:r>
              <a:rPr sz="2650" spc="63">
                <a:latin typeface="Arial MT"/>
                <a:cs typeface="Arial MT"/>
              </a:rPr>
              <a:t>to</a:t>
            </a:r>
            <a:r>
              <a:rPr sz="2650" spc="7">
                <a:latin typeface="Arial MT"/>
                <a:cs typeface="Arial MT"/>
              </a:rPr>
              <a:t> </a:t>
            </a:r>
            <a:r>
              <a:rPr sz="2650">
                <a:latin typeface="Arial MT"/>
                <a:cs typeface="Arial MT"/>
              </a:rPr>
              <a:t>be</a:t>
            </a:r>
            <a:r>
              <a:rPr sz="2650" spc="7">
                <a:latin typeface="Arial MT"/>
                <a:cs typeface="Arial MT"/>
              </a:rPr>
              <a:t> </a:t>
            </a:r>
            <a:r>
              <a:rPr sz="2650">
                <a:latin typeface="Arial MT"/>
                <a:cs typeface="Arial MT"/>
              </a:rPr>
              <a:t>more</a:t>
            </a:r>
            <a:r>
              <a:rPr sz="2650" spc="7">
                <a:latin typeface="Arial MT"/>
                <a:cs typeface="Arial MT"/>
              </a:rPr>
              <a:t> </a:t>
            </a:r>
            <a:r>
              <a:rPr sz="2650">
                <a:latin typeface="Arial MT"/>
                <a:cs typeface="Arial MT"/>
              </a:rPr>
              <a:t>easily</a:t>
            </a:r>
            <a:r>
              <a:rPr sz="2650" spc="7">
                <a:latin typeface="Arial MT"/>
                <a:cs typeface="Arial MT"/>
              </a:rPr>
              <a:t> </a:t>
            </a:r>
            <a:r>
              <a:rPr sz="2650" spc="-7">
                <a:latin typeface="Arial MT"/>
                <a:cs typeface="Arial MT"/>
              </a:rPr>
              <a:t>extended 	</a:t>
            </a:r>
            <a:r>
              <a:rPr sz="2650">
                <a:latin typeface="Arial MT"/>
                <a:cs typeface="Arial MT"/>
              </a:rPr>
              <a:t>during</a:t>
            </a:r>
            <a:r>
              <a:rPr sz="2650" spc="70">
                <a:latin typeface="Arial MT"/>
                <a:cs typeface="Arial MT"/>
              </a:rPr>
              <a:t> </a:t>
            </a:r>
            <a:r>
              <a:rPr sz="2650" spc="49">
                <a:latin typeface="Arial MT"/>
                <a:cs typeface="Arial MT"/>
              </a:rPr>
              <a:t>both</a:t>
            </a:r>
            <a:r>
              <a:rPr sz="2650" spc="70">
                <a:latin typeface="Arial MT"/>
                <a:cs typeface="Arial MT"/>
              </a:rPr>
              <a:t> </a:t>
            </a:r>
            <a:r>
              <a:rPr sz="2650">
                <a:latin typeface="Arial MT"/>
                <a:cs typeface="Arial MT"/>
              </a:rPr>
              <a:t>development</a:t>
            </a:r>
            <a:r>
              <a:rPr sz="2650" spc="70">
                <a:latin typeface="Arial MT"/>
                <a:cs typeface="Arial MT"/>
              </a:rPr>
              <a:t> </a:t>
            </a:r>
            <a:r>
              <a:rPr sz="2650">
                <a:latin typeface="Arial MT"/>
                <a:cs typeface="Arial MT"/>
              </a:rPr>
              <a:t>and</a:t>
            </a:r>
            <a:r>
              <a:rPr sz="2650" spc="70">
                <a:latin typeface="Arial MT"/>
                <a:cs typeface="Arial MT"/>
              </a:rPr>
              <a:t> </a:t>
            </a:r>
            <a:r>
              <a:rPr sz="2650" spc="-7">
                <a:latin typeface="Arial MT"/>
                <a:cs typeface="Arial MT"/>
              </a:rPr>
              <a:t>maintenance.</a:t>
            </a:r>
            <a:endParaRPr sz="2672">
              <a:latin typeface="Arial MT"/>
              <a:cs typeface="Arial MT"/>
            </a:endParaRPr>
          </a:p>
        </p:txBody>
      </p:sp>
      <p:sp>
        <p:nvSpPr>
          <p:cNvPr id="4" name="Footer Placeholder 3">
            <a:extLst>
              <a:ext uri="{FF2B5EF4-FFF2-40B4-BE49-F238E27FC236}">
                <a16:creationId xmlns:a16="http://schemas.microsoft.com/office/drawing/2014/main" id="{FA08B83D-EEF8-5A02-443B-7B9DCC923907}"/>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C45C64B7-C903-5BD0-2A5E-A592B33B2BC8}"/>
              </a:ext>
            </a:extLst>
          </p:cNvPr>
          <p:cNvSpPr>
            <a:spLocks noGrp="1"/>
          </p:cNvSpPr>
          <p:nvPr>
            <p:ph type="sldNum" sz="quarter" idx="12"/>
          </p:nvPr>
        </p:nvSpPr>
        <p:spPr/>
        <p:txBody>
          <a:bodyPr/>
          <a:lstStyle/>
          <a:p>
            <a:fld id="{48F63A3B-78C7-47BE-AE5E-E10140E04643}" type="slidenum">
              <a:rPr lang="en-US" dirty="0"/>
              <a:t>61</a:t>
            </a:fld>
            <a:endParaRPr lang="en-US"/>
          </a:p>
        </p:txBody>
      </p:sp>
    </p:spTree>
    <p:extLst>
      <p:ext uri="{BB962C8B-B14F-4D97-AF65-F5344CB8AC3E}">
        <p14:creationId xmlns:p14="http://schemas.microsoft.com/office/powerpoint/2010/main" val="30787508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684843"/>
            <a:ext cx="10515600" cy="686126"/>
          </a:xfrm>
          <a:prstGeom prst="rect">
            <a:avLst/>
          </a:prstGeom>
        </p:spPr>
        <p:txBody>
          <a:bodyPr vert="horz" wrap="square" lIns="0" tIns="8930" rIns="0" bIns="0" rtlCol="0">
            <a:spAutoFit/>
          </a:bodyPr>
          <a:lstStyle/>
          <a:p>
            <a:pPr marL="366395">
              <a:lnSpc>
                <a:spcPct val="100000"/>
              </a:lnSpc>
              <a:spcBef>
                <a:spcPts val="70"/>
              </a:spcBef>
            </a:pPr>
            <a:r>
              <a:rPr b="1" spc="88">
                <a:solidFill>
                  <a:srgbClr val="FF7B00"/>
                </a:solidFill>
              </a:rPr>
              <a:t>Polymorphism</a:t>
            </a:r>
            <a:r>
              <a:rPr b="1" spc="4">
                <a:solidFill>
                  <a:srgbClr val="FF7B00"/>
                </a:solidFill>
              </a:rPr>
              <a:t> </a:t>
            </a:r>
            <a:r>
              <a:rPr b="1" spc="225">
                <a:solidFill>
                  <a:srgbClr val="FF7B00"/>
                </a:solidFill>
              </a:rPr>
              <a:t>-</a:t>
            </a:r>
            <a:r>
              <a:rPr b="1" spc="4">
                <a:solidFill>
                  <a:srgbClr val="FF7B00"/>
                </a:solidFill>
              </a:rPr>
              <a:t> </a:t>
            </a:r>
            <a:r>
              <a:rPr b="1" spc="70">
                <a:solidFill>
                  <a:srgbClr val="FF7B00"/>
                </a:solidFill>
              </a:rPr>
              <a:t>Dynamic</a:t>
            </a:r>
            <a:r>
              <a:rPr b="1" spc="7">
                <a:solidFill>
                  <a:srgbClr val="FF7B00"/>
                </a:solidFill>
              </a:rPr>
              <a:t> </a:t>
            </a:r>
            <a:r>
              <a:rPr b="1" spc="112">
                <a:solidFill>
                  <a:srgbClr val="FF7B00"/>
                </a:solidFill>
              </a:rPr>
              <a:t>Binding</a:t>
            </a:r>
            <a:endParaRPr lang="en-US" b="1">
              <a:solidFill>
                <a:srgbClr val="FF7B00"/>
              </a:solidFill>
            </a:endParaRPr>
          </a:p>
        </p:txBody>
      </p:sp>
      <p:sp>
        <p:nvSpPr>
          <p:cNvPr id="3" name="object 3"/>
          <p:cNvSpPr txBox="1"/>
          <p:nvPr/>
        </p:nvSpPr>
        <p:spPr>
          <a:xfrm>
            <a:off x="664825" y="1893950"/>
            <a:ext cx="10698396" cy="4437418"/>
          </a:xfrm>
          <a:prstGeom prst="rect">
            <a:avLst/>
          </a:prstGeom>
        </p:spPr>
        <p:txBody>
          <a:bodyPr vert="horz" wrap="square" lIns="0" tIns="1339" rIns="0" bIns="0" rtlCol="0" anchor="t">
            <a:spAutoFit/>
          </a:bodyPr>
          <a:lstStyle/>
          <a:p>
            <a:pPr marL="219710" marR="240030" indent="-201930">
              <a:lnSpc>
                <a:spcPct val="102600"/>
              </a:lnSpc>
              <a:spcBef>
                <a:spcPts val="11"/>
              </a:spcBef>
              <a:buSzPct val="144230"/>
              <a:buChar char="•"/>
              <a:tabLst>
                <a:tab pos="221002" algn="l"/>
              </a:tabLst>
            </a:pPr>
            <a:r>
              <a:rPr>
                <a:latin typeface="Arial MT"/>
                <a:cs typeface="Arial MT"/>
              </a:rPr>
              <a:t>In</a:t>
            </a:r>
            <a:r>
              <a:rPr spc="-18">
                <a:latin typeface="Arial MT"/>
                <a:cs typeface="Arial MT"/>
              </a:rPr>
              <a:t> </a:t>
            </a:r>
            <a:r>
              <a:rPr>
                <a:latin typeface="Arial MT"/>
                <a:cs typeface="Arial MT"/>
              </a:rPr>
              <a:t>some</a:t>
            </a:r>
            <a:r>
              <a:rPr spc="-18">
                <a:latin typeface="Arial MT"/>
                <a:cs typeface="Arial MT"/>
              </a:rPr>
              <a:t> </a:t>
            </a:r>
            <a:r>
              <a:rPr>
                <a:latin typeface="Arial MT"/>
                <a:cs typeface="Arial MT"/>
              </a:rPr>
              <a:t>cases,</a:t>
            </a:r>
            <a:r>
              <a:rPr spc="-14">
                <a:latin typeface="Arial MT"/>
                <a:cs typeface="Arial MT"/>
              </a:rPr>
              <a:t> </a:t>
            </a:r>
            <a:r>
              <a:rPr>
                <a:latin typeface="Arial MT"/>
                <a:cs typeface="Arial MT"/>
              </a:rPr>
              <a:t>the</a:t>
            </a:r>
            <a:r>
              <a:rPr spc="-18">
                <a:latin typeface="Arial MT"/>
                <a:cs typeface="Arial MT"/>
              </a:rPr>
              <a:t> </a:t>
            </a:r>
            <a:r>
              <a:rPr>
                <a:latin typeface="Arial MT"/>
                <a:cs typeface="Arial MT"/>
              </a:rPr>
              <a:t>design</a:t>
            </a:r>
            <a:r>
              <a:rPr spc="-18">
                <a:latin typeface="Arial MT"/>
                <a:cs typeface="Arial MT"/>
              </a:rPr>
              <a:t> </a:t>
            </a:r>
            <a:r>
              <a:rPr>
                <a:latin typeface="Arial MT"/>
                <a:cs typeface="Arial MT"/>
              </a:rPr>
              <a:t>of</a:t>
            </a:r>
            <a:r>
              <a:rPr spc="-14">
                <a:latin typeface="Arial MT"/>
                <a:cs typeface="Arial MT"/>
              </a:rPr>
              <a:t> </a:t>
            </a:r>
            <a:r>
              <a:rPr>
                <a:latin typeface="Arial MT"/>
                <a:cs typeface="Arial MT"/>
              </a:rPr>
              <a:t>an</a:t>
            </a:r>
            <a:r>
              <a:rPr spc="-18">
                <a:latin typeface="Arial MT"/>
                <a:cs typeface="Arial MT"/>
              </a:rPr>
              <a:t> </a:t>
            </a:r>
            <a:r>
              <a:rPr>
                <a:latin typeface="Arial MT"/>
                <a:cs typeface="Arial MT"/>
              </a:rPr>
              <a:t>inheritance</a:t>
            </a:r>
            <a:r>
              <a:rPr spc="-18">
                <a:latin typeface="Arial MT"/>
                <a:cs typeface="Arial MT"/>
              </a:rPr>
              <a:t> </a:t>
            </a:r>
            <a:r>
              <a:rPr>
                <a:latin typeface="Arial MT"/>
                <a:cs typeface="Arial MT"/>
              </a:rPr>
              <a:t>hierarchy</a:t>
            </a:r>
            <a:r>
              <a:rPr spc="-14">
                <a:latin typeface="Arial MT"/>
                <a:cs typeface="Arial MT"/>
              </a:rPr>
              <a:t> </a:t>
            </a:r>
            <a:r>
              <a:rPr>
                <a:latin typeface="Arial MT"/>
                <a:cs typeface="Arial MT"/>
              </a:rPr>
              <a:t>results</a:t>
            </a:r>
            <a:r>
              <a:rPr spc="-18">
                <a:latin typeface="Arial MT"/>
                <a:cs typeface="Arial MT"/>
              </a:rPr>
              <a:t> </a:t>
            </a:r>
            <a:r>
              <a:rPr>
                <a:latin typeface="Arial MT"/>
                <a:cs typeface="Arial MT"/>
              </a:rPr>
              <a:t>in</a:t>
            </a:r>
            <a:r>
              <a:rPr spc="-18">
                <a:latin typeface="Arial MT"/>
                <a:cs typeface="Arial MT"/>
              </a:rPr>
              <a:t> </a:t>
            </a:r>
            <a:r>
              <a:rPr>
                <a:latin typeface="Arial MT"/>
                <a:cs typeface="Arial MT"/>
              </a:rPr>
              <a:t>one</a:t>
            </a:r>
            <a:r>
              <a:rPr spc="-14">
                <a:latin typeface="Arial MT"/>
                <a:cs typeface="Arial MT"/>
              </a:rPr>
              <a:t> </a:t>
            </a:r>
            <a:r>
              <a:rPr spc="-18">
                <a:latin typeface="Arial MT"/>
                <a:cs typeface="Arial MT"/>
              </a:rPr>
              <a:t>or 	</a:t>
            </a:r>
            <a:r>
              <a:rPr>
                <a:latin typeface="Arial MT"/>
                <a:cs typeface="Arial MT"/>
              </a:rPr>
              <a:t>more</a:t>
            </a:r>
            <a:r>
              <a:rPr spc="-11">
                <a:latin typeface="Arial MT"/>
                <a:cs typeface="Arial MT"/>
              </a:rPr>
              <a:t> </a:t>
            </a:r>
            <a:r>
              <a:rPr>
                <a:latin typeface="Arial MT"/>
                <a:cs typeface="Arial MT"/>
              </a:rPr>
              <a:t>classes</a:t>
            </a:r>
            <a:r>
              <a:rPr spc="-11">
                <a:latin typeface="Arial MT"/>
                <a:cs typeface="Arial MT"/>
              </a:rPr>
              <a:t> </a:t>
            </a:r>
            <a:r>
              <a:rPr>
                <a:latin typeface="Arial MT"/>
                <a:cs typeface="Arial MT"/>
              </a:rPr>
              <a:t>that</a:t>
            </a:r>
            <a:r>
              <a:rPr spc="-7">
                <a:latin typeface="Arial MT"/>
                <a:cs typeface="Arial MT"/>
              </a:rPr>
              <a:t> </a:t>
            </a:r>
            <a:r>
              <a:rPr>
                <a:latin typeface="Arial MT"/>
                <a:cs typeface="Arial MT"/>
              </a:rPr>
              <a:t>are</a:t>
            </a:r>
            <a:r>
              <a:rPr spc="-11">
                <a:latin typeface="Arial MT"/>
                <a:cs typeface="Arial MT"/>
              </a:rPr>
              <a:t> </a:t>
            </a:r>
            <a:r>
              <a:rPr>
                <a:latin typeface="Arial MT"/>
                <a:cs typeface="Arial MT"/>
              </a:rPr>
              <a:t>so</a:t>
            </a:r>
            <a:r>
              <a:rPr spc="-7">
                <a:latin typeface="Arial MT"/>
                <a:cs typeface="Arial MT"/>
              </a:rPr>
              <a:t> </a:t>
            </a:r>
            <a:r>
              <a:rPr>
                <a:latin typeface="Arial MT"/>
                <a:cs typeface="Arial MT"/>
              </a:rPr>
              <a:t>high</a:t>
            </a:r>
            <a:r>
              <a:rPr spc="-11">
                <a:latin typeface="Arial MT"/>
                <a:cs typeface="Arial MT"/>
              </a:rPr>
              <a:t> </a:t>
            </a:r>
            <a:r>
              <a:rPr>
                <a:latin typeface="Arial MT"/>
                <a:cs typeface="Arial MT"/>
              </a:rPr>
              <a:t>in</a:t>
            </a:r>
            <a:r>
              <a:rPr spc="-7">
                <a:latin typeface="Arial MT"/>
                <a:cs typeface="Arial MT"/>
              </a:rPr>
              <a:t> </a:t>
            </a:r>
            <a:r>
              <a:rPr>
                <a:latin typeface="Arial MT"/>
                <a:cs typeface="Arial MT"/>
              </a:rPr>
              <a:t>the</a:t>
            </a:r>
            <a:r>
              <a:rPr spc="-11">
                <a:latin typeface="Arial MT"/>
                <a:cs typeface="Arial MT"/>
              </a:rPr>
              <a:t> </a:t>
            </a:r>
            <a:r>
              <a:rPr>
                <a:latin typeface="Arial MT"/>
                <a:cs typeface="Arial MT"/>
              </a:rPr>
              <a:t>hierarchy</a:t>
            </a:r>
            <a:r>
              <a:rPr spc="-7">
                <a:latin typeface="Arial MT"/>
                <a:cs typeface="Arial MT"/>
              </a:rPr>
              <a:t> </a:t>
            </a:r>
            <a:r>
              <a:rPr>
                <a:latin typeface="Arial MT"/>
                <a:cs typeface="Arial MT"/>
              </a:rPr>
              <a:t>that</a:t>
            </a:r>
            <a:r>
              <a:rPr spc="-11">
                <a:latin typeface="Arial MT"/>
                <a:cs typeface="Arial MT"/>
              </a:rPr>
              <a:t> </a:t>
            </a:r>
            <a:r>
              <a:rPr>
                <a:latin typeface="Arial MT"/>
                <a:cs typeface="Arial MT"/>
              </a:rPr>
              <a:t>an</a:t>
            </a:r>
            <a:r>
              <a:rPr spc="-7">
                <a:latin typeface="Arial MT"/>
                <a:cs typeface="Arial MT"/>
              </a:rPr>
              <a:t> </a:t>
            </a:r>
            <a:r>
              <a:rPr>
                <a:latin typeface="Arial MT"/>
                <a:cs typeface="Arial MT"/>
              </a:rPr>
              <a:t>instantiation</a:t>
            </a:r>
            <a:r>
              <a:rPr spc="-11">
                <a:latin typeface="Arial MT"/>
                <a:cs typeface="Arial MT"/>
              </a:rPr>
              <a:t> </a:t>
            </a:r>
            <a:r>
              <a:rPr spc="-18">
                <a:latin typeface="Arial MT"/>
                <a:cs typeface="Arial MT"/>
              </a:rPr>
              <a:t>of 	</a:t>
            </a:r>
            <a:r>
              <a:rPr>
                <a:latin typeface="Arial MT"/>
                <a:cs typeface="Arial MT"/>
              </a:rPr>
              <a:t>them</a:t>
            </a:r>
            <a:r>
              <a:rPr spc="53">
                <a:latin typeface="Arial MT"/>
                <a:cs typeface="Arial MT"/>
              </a:rPr>
              <a:t> </a:t>
            </a:r>
            <a:r>
              <a:rPr>
                <a:latin typeface="Arial MT"/>
                <a:cs typeface="Arial MT"/>
              </a:rPr>
              <a:t>would</a:t>
            </a:r>
            <a:r>
              <a:rPr spc="53">
                <a:latin typeface="Arial MT"/>
                <a:cs typeface="Arial MT"/>
              </a:rPr>
              <a:t> </a:t>
            </a:r>
            <a:r>
              <a:rPr>
                <a:latin typeface="Arial MT"/>
                <a:cs typeface="Arial MT"/>
              </a:rPr>
              <a:t>not</a:t>
            </a:r>
            <a:r>
              <a:rPr spc="56">
                <a:latin typeface="Arial MT"/>
                <a:cs typeface="Arial MT"/>
              </a:rPr>
              <a:t> </a:t>
            </a:r>
            <a:r>
              <a:rPr>
                <a:latin typeface="Arial MT"/>
                <a:cs typeface="Arial MT"/>
              </a:rPr>
              <a:t>make</a:t>
            </a:r>
            <a:r>
              <a:rPr spc="53">
                <a:latin typeface="Arial MT"/>
                <a:cs typeface="Arial MT"/>
              </a:rPr>
              <a:t> </a:t>
            </a:r>
            <a:r>
              <a:rPr spc="-7">
                <a:latin typeface="Arial MT"/>
                <a:cs typeface="Arial MT"/>
              </a:rPr>
              <a:t>sense.</a:t>
            </a:r>
            <a:endParaRPr lang="en-US">
              <a:latin typeface="Arial MT"/>
              <a:cs typeface="Arial MT"/>
            </a:endParaRPr>
          </a:p>
          <a:p>
            <a:pPr marL="219710" marR="210185" indent="-201930">
              <a:lnSpc>
                <a:spcPct val="102600"/>
              </a:lnSpc>
              <a:spcBef>
                <a:spcPts val="1919"/>
              </a:spcBef>
              <a:buClr>
                <a:srgbClr val="FFFFFF"/>
              </a:buClr>
              <a:buSzPct val="144230"/>
              <a:buChar char="•"/>
              <a:tabLst>
                <a:tab pos="221002" algn="l"/>
              </a:tabLst>
            </a:pPr>
            <a:r>
              <a:rPr>
                <a:latin typeface="Arial MT"/>
                <a:cs typeface="Arial MT"/>
              </a:rPr>
              <a:t>Methods in</a:t>
            </a:r>
            <a:r>
              <a:rPr spc="4">
                <a:latin typeface="Arial MT"/>
                <a:cs typeface="Arial MT"/>
              </a:rPr>
              <a:t> </a:t>
            </a:r>
            <a:r>
              <a:rPr>
                <a:latin typeface="Arial MT"/>
                <a:cs typeface="Arial MT"/>
              </a:rPr>
              <a:t>some of</a:t>
            </a:r>
            <a:r>
              <a:rPr spc="4">
                <a:latin typeface="Arial MT"/>
                <a:cs typeface="Arial MT"/>
              </a:rPr>
              <a:t> </a:t>
            </a:r>
            <a:r>
              <a:rPr>
                <a:latin typeface="Arial MT"/>
                <a:cs typeface="Arial MT"/>
              </a:rPr>
              <a:t>these high-level</a:t>
            </a:r>
            <a:r>
              <a:rPr spc="4">
                <a:latin typeface="Arial MT"/>
                <a:cs typeface="Arial MT"/>
              </a:rPr>
              <a:t> </a:t>
            </a:r>
            <a:r>
              <a:rPr>
                <a:latin typeface="Arial MT"/>
                <a:cs typeface="Arial MT"/>
              </a:rPr>
              <a:t>classes may</a:t>
            </a:r>
            <a:r>
              <a:rPr spc="4">
                <a:latin typeface="Arial MT"/>
                <a:cs typeface="Arial MT"/>
              </a:rPr>
              <a:t> </a:t>
            </a:r>
            <a:r>
              <a:rPr>
                <a:latin typeface="Arial MT"/>
                <a:cs typeface="Arial MT"/>
              </a:rPr>
              <a:t>not have</a:t>
            </a:r>
            <a:r>
              <a:rPr spc="4">
                <a:latin typeface="Arial MT"/>
                <a:cs typeface="Arial MT"/>
              </a:rPr>
              <a:t> </a:t>
            </a:r>
            <a:r>
              <a:rPr>
                <a:latin typeface="Arial MT"/>
                <a:cs typeface="Arial MT"/>
              </a:rPr>
              <a:t>any </a:t>
            </a:r>
            <a:r>
              <a:rPr spc="-7">
                <a:latin typeface="Arial MT"/>
                <a:cs typeface="Arial MT"/>
              </a:rPr>
              <a:t>reason 	</a:t>
            </a:r>
            <a:r>
              <a:rPr>
                <a:latin typeface="Arial MT"/>
                <a:cs typeface="Arial MT"/>
              </a:rPr>
              <a:t>for</a:t>
            </a:r>
            <a:r>
              <a:rPr spc="7">
                <a:latin typeface="Arial MT"/>
                <a:cs typeface="Arial MT"/>
              </a:rPr>
              <a:t> </a:t>
            </a:r>
            <a:r>
              <a:rPr>
                <a:latin typeface="Arial MT"/>
                <a:cs typeface="Arial MT"/>
              </a:rPr>
              <a:t>an</a:t>
            </a:r>
            <a:r>
              <a:rPr spc="11">
                <a:latin typeface="Arial MT"/>
                <a:cs typeface="Arial MT"/>
              </a:rPr>
              <a:t> </a:t>
            </a:r>
            <a:r>
              <a:rPr>
                <a:latin typeface="Arial MT"/>
                <a:cs typeface="Arial MT"/>
              </a:rPr>
              <a:t>actual</a:t>
            </a:r>
            <a:r>
              <a:rPr spc="11">
                <a:latin typeface="Arial MT"/>
                <a:cs typeface="Arial MT"/>
              </a:rPr>
              <a:t> </a:t>
            </a:r>
            <a:r>
              <a:rPr spc="-7">
                <a:latin typeface="Arial MT"/>
                <a:cs typeface="Arial MT"/>
              </a:rPr>
              <a:t>implementation.</a:t>
            </a:r>
            <a:endParaRPr>
              <a:latin typeface="Arial MT"/>
              <a:cs typeface="Arial MT"/>
            </a:endParaRPr>
          </a:p>
          <a:p>
            <a:pPr marL="219710" marR="111125" indent="-201930">
              <a:lnSpc>
                <a:spcPct val="103000"/>
              </a:lnSpc>
              <a:spcBef>
                <a:spcPts val="1912"/>
              </a:spcBef>
              <a:buSzPct val="144230"/>
              <a:buChar char="•"/>
              <a:tabLst>
                <a:tab pos="221002" algn="l"/>
              </a:tabLst>
            </a:pPr>
            <a:r>
              <a:rPr>
                <a:latin typeface="Arial MT"/>
                <a:cs typeface="Arial MT"/>
              </a:rPr>
              <a:t>Such</a:t>
            </a:r>
            <a:r>
              <a:rPr spc="28">
                <a:latin typeface="Arial MT"/>
                <a:cs typeface="Arial MT"/>
              </a:rPr>
              <a:t> </a:t>
            </a:r>
            <a:r>
              <a:rPr>
                <a:latin typeface="Arial MT"/>
                <a:cs typeface="Arial MT"/>
              </a:rPr>
              <a:t>a</a:t>
            </a:r>
            <a:r>
              <a:rPr spc="28">
                <a:latin typeface="Arial MT"/>
                <a:cs typeface="Arial MT"/>
              </a:rPr>
              <a:t> </a:t>
            </a:r>
            <a:r>
              <a:rPr>
                <a:latin typeface="Arial MT"/>
                <a:cs typeface="Arial MT"/>
              </a:rPr>
              <a:t>method</a:t>
            </a:r>
            <a:r>
              <a:rPr spc="28">
                <a:latin typeface="Arial MT"/>
                <a:cs typeface="Arial MT"/>
              </a:rPr>
              <a:t> </a:t>
            </a:r>
            <a:r>
              <a:rPr>
                <a:latin typeface="Arial MT"/>
                <a:cs typeface="Arial MT"/>
              </a:rPr>
              <a:t>is</a:t>
            </a:r>
            <a:r>
              <a:rPr spc="28">
                <a:latin typeface="Arial MT"/>
                <a:cs typeface="Arial MT"/>
              </a:rPr>
              <a:t> </a:t>
            </a:r>
            <a:r>
              <a:rPr>
                <a:latin typeface="Arial MT"/>
                <a:cs typeface="Arial MT"/>
              </a:rPr>
              <a:t>often</a:t>
            </a:r>
            <a:r>
              <a:rPr spc="28">
                <a:latin typeface="Arial MT"/>
                <a:cs typeface="Arial MT"/>
              </a:rPr>
              <a:t> </a:t>
            </a:r>
            <a:r>
              <a:rPr>
                <a:latin typeface="Arial MT"/>
                <a:cs typeface="Arial MT"/>
              </a:rPr>
              <a:t>called</a:t>
            </a:r>
            <a:r>
              <a:rPr spc="32">
                <a:latin typeface="Arial MT"/>
                <a:cs typeface="Arial MT"/>
              </a:rPr>
              <a:t> </a:t>
            </a:r>
            <a:r>
              <a:rPr>
                <a:latin typeface="Arial MT"/>
                <a:cs typeface="Arial MT"/>
              </a:rPr>
              <a:t>an</a:t>
            </a:r>
            <a:r>
              <a:rPr spc="28">
                <a:latin typeface="Arial MT"/>
                <a:cs typeface="Arial MT"/>
              </a:rPr>
              <a:t> </a:t>
            </a:r>
            <a:r>
              <a:rPr>
                <a:latin typeface="Arial MT"/>
                <a:cs typeface="Arial MT"/>
              </a:rPr>
              <a:t>abstract</a:t>
            </a:r>
            <a:r>
              <a:rPr spc="28">
                <a:latin typeface="Arial MT"/>
                <a:cs typeface="Arial MT"/>
              </a:rPr>
              <a:t> </a:t>
            </a:r>
            <a:r>
              <a:rPr>
                <a:latin typeface="Arial MT"/>
                <a:cs typeface="Arial MT"/>
              </a:rPr>
              <a:t>method</a:t>
            </a:r>
            <a:r>
              <a:rPr spc="28">
                <a:latin typeface="Arial MT"/>
                <a:cs typeface="Arial MT"/>
              </a:rPr>
              <a:t> </a:t>
            </a:r>
            <a:r>
              <a:rPr spc="-14">
                <a:latin typeface="Arial MT"/>
                <a:cs typeface="Arial MT"/>
              </a:rPr>
              <a:t>(pure</a:t>
            </a:r>
            <a:r>
              <a:rPr spc="28">
                <a:latin typeface="Arial MT"/>
                <a:cs typeface="Arial MT"/>
              </a:rPr>
              <a:t> </a:t>
            </a:r>
            <a:r>
              <a:rPr>
                <a:latin typeface="Arial MT"/>
                <a:cs typeface="Arial MT"/>
              </a:rPr>
              <a:t>virtual</a:t>
            </a:r>
            <a:r>
              <a:rPr spc="28">
                <a:latin typeface="Arial MT"/>
                <a:cs typeface="Arial MT"/>
              </a:rPr>
              <a:t> </a:t>
            </a:r>
            <a:r>
              <a:rPr spc="-7">
                <a:latin typeface="Arial MT"/>
                <a:cs typeface="Arial MT"/>
              </a:rPr>
              <a:t>function 	</a:t>
            </a:r>
            <a:r>
              <a:rPr>
                <a:latin typeface="Arial MT"/>
                <a:cs typeface="Arial MT"/>
              </a:rPr>
              <a:t>in</a:t>
            </a:r>
            <a:r>
              <a:rPr spc="-18">
                <a:latin typeface="Arial MT"/>
                <a:cs typeface="Arial MT"/>
              </a:rPr>
              <a:t> </a:t>
            </a:r>
            <a:r>
              <a:rPr spc="-7">
                <a:latin typeface="Arial MT"/>
                <a:cs typeface="Arial MT"/>
              </a:rPr>
              <a:t>C++).</a:t>
            </a:r>
            <a:endParaRPr>
              <a:latin typeface="Arial MT"/>
              <a:cs typeface="Arial MT"/>
            </a:endParaRPr>
          </a:p>
          <a:p>
            <a:pPr marL="219710" marR="140970" indent="-201930">
              <a:lnSpc>
                <a:spcPct val="102600"/>
              </a:lnSpc>
              <a:spcBef>
                <a:spcPts val="1916"/>
              </a:spcBef>
              <a:buSzPct val="144230"/>
              <a:buChar char="•"/>
              <a:tabLst>
                <a:tab pos="221002" algn="l"/>
              </a:tabLst>
            </a:pPr>
            <a:r>
              <a:rPr>
                <a:latin typeface="Arial MT"/>
                <a:cs typeface="Arial MT"/>
              </a:rPr>
              <a:t>A</a:t>
            </a:r>
            <a:r>
              <a:rPr spc="21">
                <a:latin typeface="Arial MT"/>
                <a:cs typeface="Arial MT"/>
              </a:rPr>
              <a:t> </a:t>
            </a:r>
            <a:r>
              <a:rPr>
                <a:latin typeface="Arial MT"/>
                <a:cs typeface="Arial MT"/>
              </a:rPr>
              <a:t>class</a:t>
            </a:r>
            <a:r>
              <a:rPr spc="21">
                <a:latin typeface="Arial MT"/>
                <a:cs typeface="Arial MT"/>
              </a:rPr>
              <a:t> </a:t>
            </a:r>
            <a:r>
              <a:rPr>
                <a:latin typeface="Arial MT"/>
                <a:cs typeface="Arial MT"/>
              </a:rPr>
              <a:t>that</a:t>
            </a:r>
            <a:r>
              <a:rPr spc="21">
                <a:latin typeface="Arial MT"/>
                <a:cs typeface="Arial MT"/>
              </a:rPr>
              <a:t> </a:t>
            </a:r>
            <a:r>
              <a:rPr>
                <a:latin typeface="Arial MT"/>
                <a:cs typeface="Arial MT"/>
              </a:rPr>
              <a:t>includes</a:t>
            </a:r>
            <a:r>
              <a:rPr spc="25">
                <a:latin typeface="Arial MT"/>
                <a:cs typeface="Arial MT"/>
              </a:rPr>
              <a:t> </a:t>
            </a:r>
            <a:r>
              <a:rPr>
                <a:latin typeface="Arial MT"/>
                <a:cs typeface="Arial MT"/>
              </a:rPr>
              <a:t>at</a:t>
            </a:r>
            <a:r>
              <a:rPr spc="21">
                <a:latin typeface="Arial MT"/>
                <a:cs typeface="Arial MT"/>
              </a:rPr>
              <a:t> </a:t>
            </a:r>
            <a:r>
              <a:rPr>
                <a:latin typeface="Arial MT"/>
                <a:cs typeface="Arial MT"/>
              </a:rPr>
              <a:t>least</a:t>
            </a:r>
            <a:r>
              <a:rPr spc="21">
                <a:latin typeface="Arial MT"/>
                <a:cs typeface="Arial MT"/>
              </a:rPr>
              <a:t> </a:t>
            </a:r>
            <a:r>
              <a:rPr>
                <a:latin typeface="Arial MT"/>
                <a:cs typeface="Arial MT"/>
              </a:rPr>
              <a:t>one</a:t>
            </a:r>
            <a:r>
              <a:rPr spc="21">
                <a:latin typeface="Arial MT"/>
                <a:cs typeface="Arial MT"/>
              </a:rPr>
              <a:t> </a:t>
            </a:r>
            <a:r>
              <a:rPr>
                <a:latin typeface="Arial MT"/>
                <a:cs typeface="Arial MT"/>
              </a:rPr>
              <a:t>abstract</a:t>
            </a:r>
            <a:r>
              <a:rPr spc="25">
                <a:latin typeface="Arial MT"/>
                <a:cs typeface="Arial MT"/>
              </a:rPr>
              <a:t> </a:t>
            </a:r>
            <a:r>
              <a:rPr>
                <a:latin typeface="Arial MT"/>
                <a:cs typeface="Arial MT"/>
              </a:rPr>
              <a:t>method</a:t>
            </a:r>
            <a:r>
              <a:rPr spc="21">
                <a:latin typeface="Arial MT"/>
                <a:cs typeface="Arial MT"/>
              </a:rPr>
              <a:t> </a:t>
            </a:r>
            <a:r>
              <a:rPr>
                <a:latin typeface="Arial MT"/>
                <a:cs typeface="Arial MT"/>
              </a:rPr>
              <a:t>is</a:t>
            </a:r>
            <a:r>
              <a:rPr spc="21">
                <a:latin typeface="Arial MT"/>
                <a:cs typeface="Arial MT"/>
              </a:rPr>
              <a:t> </a:t>
            </a:r>
            <a:r>
              <a:rPr>
                <a:latin typeface="Arial MT"/>
                <a:cs typeface="Arial MT"/>
              </a:rPr>
              <a:t>called</a:t>
            </a:r>
            <a:r>
              <a:rPr spc="21">
                <a:latin typeface="Arial MT"/>
                <a:cs typeface="Arial MT"/>
              </a:rPr>
              <a:t> </a:t>
            </a:r>
            <a:r>
              <a:rPr>
                <a:latin typeface="Arial MT"/>
                <a:cs typeface="Arial MT"/>
              </a:rPr>
              <a:t>an</a:t>
            </a:r>
            <a:r>
              <a:rPr spc="25">
                <a:latin typeface="Arial MT"/>
                <a:cs typeface="Arial MT"/>
              </a:rPr>
              <a:t> </a:t>
            </a:r>
            <a:r>
              <a:rPr spc="-7">
                <a:latin typeface="Arial MT"/>
                <a:cs typeface="Arial MT"/>
              </a:rPr>
              <a:t>abstract 	</a:t>
            </a:r>
            <a:r>
              <a:rPr>
                <a:latin typeface="Arial MT"/>
                <a:cs typeface="Arial MT"/>
              </a:rPr>
              <a:t>class</a:t>
            </a:r>
            <a:r>
              <a:rPr spc="-14">
                <a:latin typeface="Arial MT"/>
                <a:cs typeface="Arial MT"/>
              </a:rPr>
              <a:t> </a:t>
            </a:r>
            <a:r>
              <a:rPr>
                <a:latin typeface="Arial MT"/>
                <a:cs typeface="Arial MT"/>
              </a:rPr>
              <a:t>(abstract</a:t>
            </a:r>
            <a:r>
              <a:rPr spc="-11">
                <a:latin typeface="Arial MT"/>
                <a:cs typeface="Arial MT"/>
              </a:rPr>
              <a:t> </a:t>
            </a:r>
            <a:r>
              <a:rPr>
                <a:latin typeface="Arial MT"/>
                <a:cs typeface="Arial MT"/>
              </a:rPr>
              <a:t>base</a:t>
            </a:r>
            <a:r>
              <a:rPr spc="-11">
                <a:latin typeface="Arial MT"/>
                <a:cs typeface="Arial MT"/>
              </a:rPr>
              <a:t> </a:t>
            </a:r>
            <a:r>
              <a:rPr>
                <a:latin typeface="Arial MT"/>
                <a:cs typeface="Arial MT"/>
              </a:rPr>
              <a:t>class</a:t>
            </a:r>
            <a:r>
              <a:rPr spc="-11">
                <a:latin typeface="Arial MT"/>
                <a:cs typeface="Arial MT"/>
              </a:rPr>
              <a:t> </a:t>
            </a:r>
            <a:r>
              <a:rPr>
                <a:latin typeface="Arial MT"/>
                <a:cs typeface="Arial MT"/>
              </a:rPr>
              <a:t>in</a:t>
            </a:r>
            <a:r>
              <a:rPr spc="-14">
                <a:latin typeface="Arial MT"/>
                <a:cs typeface="Arial MT"/>
              </a:rPr>
              <a:t> </a:t>
            </a:r>
            <a:r>
              <a:rPr spc="-7">
                <a:latin typeface="Arial MT"/>
                <a:cs typeface="Arial MT"/>
              </a:rPr>
              <a:t>C++).</a:t>
            </a:r>
            <a:endParaRPr>
              <a:latin typeface="Arial MT"/>
              <a:cs typeface="Arial MT"/>
            </a:endParaRPr>
          </a:p>
          <a:p>
            <a:pPr marL="219710" marR="428625" indent="-201930">
              <a:lnSpc>
                <a:spcPct val="102600"/>
              </a:lnSpc>
              <a:spcBef>
                <a:spcPts val="1930"/>
              </a:spcBef>
              <a:buSzPct val="144230"/>
              <a:buChar char="•"/>
              <a:tabLst>
                <a:tab pos="221002" algn="l"/>
              </a:tabLst>
            </a:pPr>
            <a:r>
              <a:rPr>
                <a:latin typeface="Arial MT"/>
                <a:cs typeface="Arial MT"/>
              </a:rPr>
              <a:t>Abstract</a:t>
            </a:r>
            <a:r>
              <a:rPr spc="39">
                <a:latin typeface="Arial MT"/>
                <a:cs typeface="Arial MT"/>
              </a:rPr>
              <a:t> </a:t>
            </a:r>
            <a:r>
              <a:rPr>
                <a:latin typeface="Arial MT"/>
                <a:cs typeface="Arial MT"/>
              </a:rPr>
              <a:t>class</a:t>
            </a:r>
            <a:r>
              <a:rPr spc="39">
                <a:latin typeface="Arial MT"/>
                <a:cs typeface="Arial MT"/>
              </a:rPr>
              <a:t> </a:t>
            </a:r>
            <a:r>
              <a:rPr>
                <a:latin typeface="Arial MT"/>
                <a:cs typeface="Arial MT"/>
              </a:rPr>
              <a:t>usually</a:t>
            </a:r>
            <a:r>
              <a:rPr spc="39">
                <a:latin typeface="Arial MT"/>
                <a:cs typeface="Arial MT"/>
              </a:rPr>
              <a:t> </a:t>
            </a:r>
            <a:r>
              <a:rPr>
                <a:latin typeface="Arial MT"/>
                <a:cs typeface="Arial MT"/>
              </a:rPr>
              <a:t>cannot</a:t>
            </a:r>
            <a:r>
              <a:rPr spc="42">
                <a:latin typeface="Arial MT"/>
                <a:cs typeface="Arial MT"/>
              </a:rPr>
              <a:t> </a:t>
            </a:r>
            <a:r>
              <a:rPr>
                <a:latin typeface="Arial MT"/>
                <a:cs typeface="Arial MT"/>
              </a:rPr>
              <a:t>be</a:t>
            </a:r>
            <a:r>
              <a:rPr spc="39">
                <a:latin typeface="Arial MT"/>
                <a:cs typeface="Arial MT"/>
              </a:rPr>
              <a:t> </a:t>
            </a:r>
            <a:r>
              <a:rPr>
                <a:latin typeface="Arial MT"/>
                <a:cs typeface="Arial MT"/>
              </a:rPr>
              <a:t>instantiated,</a:t>
            </a:r>
            <a:r>
              <a:rPr spc="39">
                <a:latin typeface="Arial MT"/>
                <a:cs typeface="Arial MT"/>
              </a:rPr>
              <a:t> </a:t>
            </a:r>
            <a:r>
              <a:rPr>
                <a:latin typeface="Arial MT"/>
                <a:cs typeface="Arial MT"/>
              </a:rPr>
              <a:t>because</a:t>
            </a:r>
            <a:r>
              <a:rPr spc="42">
                <a:latin typeface="Arial MT"/>
                <a:cs typeface="Arial MT"/>
              </a:rPr>
              <a:t> </a:t>
            </a:r>
            <a:r>
              <a:rPr>
                <a:latin typeface="Arial MT"/>
                <a:cs typeface="Arial MT"/>
              </a:rPr>
              <a:t>some</a:t>
            </a:r>
            <a:r>
              <a:rPr spc="39">
                <a:latin typeface="Arial MT"/>
                <a:cs typeface="Arial MT"/>
              </a:rPr>
              <a:t> </a:t>
            </a:r>
            <a:r>
              <a:rPr>
                <a:latin typeface="Arial MT"/>
                <a:cs typeface="Arial MT"/>
              </a:rPr>
              <a:t>of</a:t>
            </a:r>
            <a:r>
              <a:rPr spc="39">
                <a:latin typeface="Arial MT"/>
                <a:cs typeface="Arial MT"/>
              </a:rPr>
              <a:t> </a:t>
            </a:r>
            <a:r>
              <a:rPr spc="-18">
                <a:latin typeface="Arial MT"/>
                <a:cs typeface="Arial MT"/>
              </a:rPr>
              <a:t>its 	</a:t>
            </a:r>
            <a:r>
              <a:rPr>
                <a:latin typeface="Arial MT"/>
                <a:cs typeface="Arial MT"/>
              </a:rPr>
              <a:t>methods</a:t>
            </a:r>
            <a:r>
              <a:rPr spc="-7">
                <a:latin typeface="Arial MT"/>
                <a:cs typeface="Arial MT"/>
              </a:rPr>
              <a:t> </a:t>
            </a:r>
            <a:r>
              <a:rPr>
                <a:latin typeface="Arial MT"/>
                <a:cs typeface="Arial MT"/>
              </a:rPr>
              <a:t>are</a:t>
            </a:r>
            <a:r>
              <a:rPr spc="-7">
                <a:latin typeface="Arial MT"/>
                <a:cs typeface="Arial MT"/>
              </a:rPr>
              <a:t> </a:t>
            </a:r>
            <a:r>
              <a:rPr>
                <a:latin typeface="Arial MT"/>
                <a:cs typeface="Arial MT"/>
              </a:rPr>
              <a:t>declared</a:t>
            </a:r>
            <a:r>
              <a:rPr spc="-7">
                <a:latin typeface="Arial MT"/>
                <a:cs typeface="Arial MT"/>
              </a:rPr>
              <a:t> </a:t>
            </a:r>
            <a:r>
              <a:rPr spc="42">
                <a:latin typeface="Arial MT"/>
                <a:cs typeface="Arial MT"/>
              </a:rPr>
              <a:t>but</a:t>
            </a:r>
            <a:r>
              <a:rPr spc="-7">
                <a:latin typeface="Arial MT"/>
                <a:cs typeface="Arial MT"/>
              </a:rPr>
              <a:t> </a:t>
            </a:r>
            <a:r>
              <a:rPr>
                <a:latin typeface="Arial MT"/>
                <a:cs typeface="Arial MT"/>
              </a:rPr>
              <a:t>are</a:t>
            </a:r>
            <a:r>
              <a:rPr spc="-4">
                <a:latin typeface="Arial MT"/>
                <a:cs typeface="Arial MT"/>
              </a:rPr>
              <a:t> </a:t>
            </a:r>
            <a:r>
              <a:rPr>
                <a:latin typeface="Arial MT"/>
                <a:cs typeface="Arial MT"/>
              </a:rPr>
              <a:t>not</a:t>
            </a:r>
            <a:r>
              <a:rPr spc="-7">
                <a:latin typeface="Arial MT"/>
                <a:cs typeface="Arial MT"/>
              </a:rPr>
              <a:t> </a:t>
            </a:r>
            <a:r>
              <a:rPr>
                <a:latin typeface="Arial MT"/>
                <a:cs typeface="Arial MT"/>
              </a:rPr>
              <a:t>defined</a:t>
            </a:r>
            <a:r>
              <a:rPr spc="-7">
                <a:latin typeface="Arial MT"/>
                <a:cs typeface="Arial MT"/>
              </a:rPr>
              <a:t> </a:t>
            </a:r>
            <a:r>
              <a:rPr>
                <a:latin typeface="Arial MT"/>
                <a:cs typeface="Arial MT"/>
              </a:rPr>
              <a:t>(they</a:t>
            </a:r>
            <a:r>
              <a:rPr spc="-7">
                <a:latin typeface="Arial MT"/>
                <a:cs typeface="Arial MT"/>
              </a:rPr>
              <a:t> </a:t>
            </a:r>
            <a:r>
              <a:rPr spc="39">
                <a:latin typeface="Arial MT"/>
                <a:cs typeface="Arial MT"/>
              </a:rPr>
              <a:t>do</a:t>
            </a:r>
            <a:r>
              <a:rPr spc="-7">
                <a:latin typeface="Arial MT"/>
                <a:cs typeface="Arial MT"/>
              </a:rPr>
              <a:t> </a:t>
            </a:r>
            <a:r>
              <a:rPr>
                <a:latin typeface="Arial MT"/>
                <a:cs typeface="Arial MT"/>
              </a:rPr>
              <a:t>not</a:t>
            </a:r>
            <a:r>
              <a:rPr spc="-4">
                <a:latin typeface="Arial MT"/>
                <a:cs typeface="Arial MT"/>
              </a:rPr>
              <a:t> </a:t>
            </a:r>
            <a:r>
              <a:rPr>
                <a:latin typeface="Arial MT"/>
                <a:cs typeface="Arial MT"/>
              </a:rPr>
              <a:t>have</a:t>
            </a:r>
            <a:r>
              <a:rPr spc="-7">
                <a:latin typeface="Arial MT"/>
                <a:cs typeface="Arial MT"/>
              </a:rPr>
              <a:t> bodies).</a:t>
            </a:r>
            <a:endParaRPr>
              <a:latin typeface="Arial MT"/>
              <a:cs typeface="Arial MT"/>
            </a:endParaRPr>
          </a:p>
          <a:p>
            <a:pPr marL="219710" marR="12065" indent="-201930">
              <a:lnSpc>
                <a:spcPct val="102600"/>
              </a:lnSpc>
              <a:spcBef>
                <a:spcPts val="1916"/>
              </a:spcBef>
              <a:buSzPct val="144230"/>
              <a:buChar char="•"/>
              <a:tabLst>
                <a:tab pos="221002" algn="l"/>
              </a:tabLst>
            </a:pPr>
            <a:r>
              <a:rPr>
                <a:latin typeface="Arial MT"/>
                <a:cs typeface="Arial MT"/>
              </a:rPr>
              <a:t>Any</a:t>
            </a:r>
            <a:r>
              <a:rPr spc="32">
                <a:latin typeface="Arial MT"/>
                <a:cs typeface="Arial MT"/>
              </a:rPr>
              <a:t> </a:t>
            </a:r>
            <a:r>
              <a:rPr>
                <a:latin typeface="Arial MT"/>
                <a:cs typeface="Arial MT"/>
              </a:rPr>
              <a:t>subclass</a:t>
            </a:r>
            <a:r>
              <a:rPr spc="32">
                <a:latin typeface="Arial MT"/>
                <a:cs typeface="Arial MT"/>
              </a:rPr>
              <a:t> </a:t>
            </a:r>
            <a:r>
              <a:rPr>
                <a:latin typeface="Arial MT"/>
                <a:cs typeface="Arial MT"/>
              </a:rPr>
              <a:t>of</a:t>
            </a:r>
            <a:r>
              <a:rPr spc="32">
                <a:latin typeface="Arial MT"/>
                <a:cs typeface="Arial MT"/>
              </a:rPr>
              <a:t> </a:t>
            </a:r>
            <a:r>
              <a:rPr>
                <a:latin typeface="Arial MT"/>
                <a:cs typeface="Arial MT"/>
              </a:rPr>
              <a:t>an</a:t>
            </a:r>
            <a:r>
              <a:rPr spc="35">
                <a:latin typeface="Arial MT"/>
                <a:cs typeface="Arial MT"/>
              </a:rPr>
              <a:t> </a:t>
            </a:r>
            <a:r>
              <a:rPr>
                <a:latin typeface="Arial MT"/>
                <a:cs typeface="Arial MT"/>
              </a:rPr>
              <a:t>abstract</a:t>
            </a:r>
            <a:r>
              <a:rPr spc="32">
                <a:latin typeface="Arial MT"/>
                <a:cs typeface="Arial MT"/>
              </a:rPr>
              <a:t> </a:t>
            </a:r>
            <a:r>
              <a:rPr>
                <a:latin typeface="Arial MT"/>
                <a:cs typeface="Arial MT"/>
              </a:rPr>
              <a:t>class</a:t>
            </a:r>
            <a:r>
              <a:rPr spc="32">
                <a:latin typeface="Arial MT"/>
                <a:cs typeface="Arial MT"/>
              </a:rPr>
              <a:t> </a:t>
            </a:r>
            <a:r>
              <a:rPr>
                <a:latin typeface="Arial MT"/>
                <a:cs typeface="Arial MT"/>
              </a:rPr>
              <a:t>that</a:t>
            </a:r>
            <a:r>
              <a:rPr spc="35">
                <a:latin typeface="Arial MT"/>
                <a:cs typeface="Arial MT"/>
              </a:rPr>
              <a:t> </a:t>
            </a:r>
            <a:r>
              <a:rPr>
                <a:latin typeface="Arial MT"/>
                <a:cs typeface="Arial MT"/>
              </a:rPr>
              <a:t>is</a:t>
            </a:r>
            <a:r>
              <a:rPr spc="32">
                <a:latin typeface="Arial MT"/>
                <a:cs typeface="Arial MT"/>
              </a:rPr>
              <a:t> </a:t>
            </a:r>
            <a:r>
              <a:rPr spc="46">
                <a:latin typeface="Arial MT"/>
                <a:cs typeface="Arial MT"/>
              </a:rPr>
              <a:t>to</a:t>
            </a:r>
            <a:r>
              <a:rPr spc="32">
                <a:latin typeface="Arial MT"/>
                <a:cs typeface="Arial MT"/>
              </a:rPr>
              <a:t> </a:t>
            </a:r>
            <a:r>
              <a:rPr>
                <a:latin typeface="Arial MT"/>
                <a:cs typeface="Arial MT"/>
              </a:rPr>
              <a:t>be</a:t>
            </a:r>
            <a:r>
              <a:rPr spc="35">
                <a:latin typeface="Arial MT"/>
                <a:cs typeface="Arial MT"/>
              </a:rPr>
              <a:t> </a:t>
            </a:r>
            <a:r>
              <a:rPr>
                <a:latin typeface="Arial MT"/>
                <a:cs typeface="Arial MT"/>
              </a:rPr>
              <a:t>instantiated</a:t>
            </a:r>
            <a:r>
              <a:rPr spc="32">
                <a:latin typeface="Arial MT"/>
                <a:cs typeface="Arial MT"/>
              </a:rPr>
              <a:t> </a:t>
            </a:r>
            <a:r>
              <a:rPr>
                <a:latin typeface="Arial MT"/>
                <a:cs typeface="Arial MT"/>
              </a:rPr>
              <a:t>must</a:t>
            </a:r>
            <a:r>
              <a:rPr spc="32">
                <a:latin typeface="Arial MT"/>
                <a:cs typeface="Arial MT"/>
              </a:rPr>
              <a:t> </a:t>
            </a:r>
            <a:r>
              <a:rPr spc="-7">
                <a:latin typeface="Arial MT"/>
                <a:cs typeface="Arial MT"/>
              </a:rPr>
              <a:t>provide 	</a:t>
            </a:r>
            <a:r>
              <a:rPr>
                <a:latin typeface="Arial MT"/>
                <a:cs typeface="Arial MT"/>
              </a:rPr>
              <a:t>implementations</a:t>
            </a:r>
            <a:r>
              <a:rPr spc="32">
                <a:latin typeface="Arial MT"/>
                <a:cs typeface="Arial MT"/>
              </a:rPr>
              <a:t> </a:t>
            </a:r>
            <a:r>
              <a:rPr spc="-7">
                <a:latin typeface="Arial MT"/>
                <a:cs typeface="Arial MT"/>
              </a:rPr>
              <a:t>(definitions)</a:t>
            </a:r>
            <a:r>
              <a:rPr spc="35">
                <a:latin typeface="Arial MT"/>
                <a:cs typeface="Arial MT"/>
              </a:rPr>
              <a:t> </a:t>
            </a:r>
            <a:r>
              <a:rPr>
                <a:latin typeface="Arial MT"/>
                <a:cs typeface="Arial MT"/>
              </a:rPr>
              <a:t>of</a:t>
            </a:r>
            <a:r>
              <a:rPr spc="35">
                <a:latin typeface="Arial MT"/>
                <a:cs typeface="Arial MT"/>
              </a:rPr>
              <a:t> </a:t>
            </a:r>
            <a:r>
              <a:rPr>
                <a:latin typeface="Arial MT"/>
                <a:cs typeface="Arial MT"/>
              </a:rPr>
              <a:t>all</a:t>
            </a:r>
            <a:r>
              <a:rPr spc="35">
                <a:latin typeface="Arial MT"/>
                <a:cs typeface="Arial MT"/>
              </a:rPr>
              <a:t> </a:t>
            </a:r>
            <a:r>
              <a:rPr>
                <a:latin typeface="Arial MT"/>
                <a:cs typeface="Arial MT"/>
              </a:rPr>
              <a:t>of</a:t>
            </a:r>
            <a:r>
              <a:rPr spc="35">
                <a:latin typeface="Arial MT"/>
                <a:cs typeface="Arial MT"/>
              </a:rPr>
              <a:t> </a:t>
            </a:r>
            <a:r>
              <a:rPr>
                <a:latin typeface="Arial MT"/>
                <a:cs typeface="Arial MT"/>
              </a:rPr>
              <a:t>the</a:t>
            </a:r>
            <a:r>
              <a:rPr spc="35">
                <a:latin typeface="Arial MT"/>
                <a:cs typeface="Arial MT"/>
              </a:rPr>
              <a:t> </a:t>
            </a:r>
            <a:r>
              <a:rPr>
                <a:latin typeface="Arial MT"/>
                <a:cs typeface="Arial MT"/>
              </a:rPr>
              <a:t>inherited</a:t>
            </a:r>
            <a:r>
              <a:rPr spc="32">
                <a:latin typeface="Arial MT"/>
                <a:cs typeface="Arial MT"/>
              </a:rPr>
              <a:t> </a:t>
            </a:r>
            <a:r>
              <a:rPr>
                <a:latin typeface="Arial MT"/>
                <a:cs typeface="Arial MT"/>
              </a:rPr>
              <a:t>abstract</a:t>
            </a:r>
            <a:r>
              <a:rPr spc="35">
                <a:latin typeface="Arial MT"/>
                <a:cs typeface="Arial MT"/>
              </a:rPr>
              <a:t> </a:t>
            </a:r>
            <a:r>
              <a:rPr spc="-7">
                <a:latin typeface="Arial MT"/>
                <a:cs typeface="Arial MT"/>
              </a:rPr>
              <a:t>methods.</a:t>
            </a:r>
            <a:endParaRPr sz="1828">
              <a:latin typeface="Arial MT"/>
              <a:cs typeface="Arial MT"/>
            </a:endParaRPr>
          </a:p>
        </p:txBody>
      </p:sp>
      <p:sp>
        <p:nvSpPr>
          <p:cNvPr id="4" name="Footer Placeholder 3">
            <a:extLst>
              <a:ext uri="{FF2B5EF4-FFF2-40B4-BE49-F238E27FC236}">
                <a16:creationId xmlns:a16="http://schemas.microsoft.com/office/drawing/2014/main" id="{217EC751-3323-E896-C072-24B28A3A8E23}"/>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6D2DC1BD-0960-44CD-EF20-6996DC4D3EE0}"/>
              </a:ext>
            </a:extLst>
          </p:cNvPr>
          <p:cNvSpPr>
            <a:spLocks noGrp="1"/>
          </p:cNvSpPr>
          <p:nvPr>
            <p:ph type="sldNum" sz="quarter" idx="12"/>
          </p:nvPr>
        </p:nvSpPr>
        <p:spPr/>
        <p:txBody>
          <a:bodyPr/>
          <a:lstStyle/>
          <a:p>
            <a:fld id="{48F63A3B-78C7-47BE-AE5E-E10140E04643}" type="slidenum">
              <a:rPr lang="en-US" dirty="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684843"/>
            <a:ext cx="10515600" cy="686126"/>
          </a:xfrm>
          <a:prstGeom prst="rect">
            <a:avLst/>
          </a:prstGeom>
        </p:spPr>
        <p:txBody>
          <a:bodyPr vert="horz" wrap="square" lIns="0" tIns="8930" rIns="0" bIns="0" rtlCol="0">
            <a:spAutoFit/>
          </a:bodyPr>
          <a:lstStyle/>
          <a:p>
            <a:pPr marL="366395">
              <a:lnSpc>
                <a:spcPct val="100000"/>
              </a:lnSpc>
              <a:spcBef>
                <a:spcPts val="70"/>
              </a:spcBef>
            </a:pPr>
            <a:r>
              <a:rPr b="1" spc="88">
                <a:solidFill>
                  <a:srgbClr val="FF7B00"/>
                </a:solidFill>
              </a:rPr>
              <a:t>Polymorphism</a:t>
            </a:r>
            <a:r>
              <a:rPr b="1" spc="4">
                <a:solidFill>
                  <a:srgbClr val="FF7B00"/>
                </a:solidFill>
              </a:rPr>
              <a:t> </a:t>
            </a:r>
            <a:r>
              <a:rPr b="1" spc="225">
                <a:solidFill>
                  <a:srgbClr val="FF7B00"/>
                </a:solidFill>
              </a:rPr>
              <a:t>-</a:t>
            </a:r>
            <a:r>
              <a:rPr b="1" spc="4">
                <a:solidFill>
                  <a:srgbClr val="FF7B00"/>
                </a:solidFill>
              </a:rPr>
              <a:t> </a:t>
            </a:r>
            <a:r>
              <a:rPr b="1" spc="70">
                <a:solidFill>
                  <a:srgbClr val="FF7B00"/>
                </a:solidFill>
              </a:rPr>
              <a:t>Dynamic</a:t>
            </a:r>
            <a:r>
              <a:rPr b="1" spc="7">
                <a:solidFill>
                  <a:srgbClr val="FF7B00"/>
                </a:solidFill>
              </a:rPr>
              <a:t> </a:t>
            </a:r>
            <a:r>
              <a:rPr b="1" spc="112">
                <a:solidFill>
                  <a:srgbClr val="FF7B00"/>
                </a:solidFill>
              </a:rPr>
              <a:t>Binding</a:t>
            </a:r>
            <a:endParaRPr lang="en-US">
              <a:solidFill>
                <a:srgbClr val="FF7B00"/>
              </a:solidFill>
            </a:endParaRPr>
          </a:p>
        </p:txBody>
      </p:sp>
      <p:sp>
        <p:nvSpPr>
          <p:cNvPr id="3" name="object 3"/>
          <p:cNvSpPr/>
          <p:nvPr/>
        </p:nvSpPr>
        <p:spPr>
          <a:xfrm>
            <a:off x="4856514" y="1680426"/>
            <a:ext cx="2114104" cy="1062186"/>
          </a:xfrm>
          <a:custGeom>
            <a:avLst/>
            <a:gdLst/>
            <a:ahLst/>
            <a:cxnLst/>
            <a:rect l="l" t="t" r="r" b="b"/>
            <a:pathLst>
              <a:path w="3006725" h="1510664">
                <a:moveTo>
                  <a:pt x="2715460" y="0"/>
                </a:moveTo>
                <a:lnTo>
                  <a:pt x="291209" y="0"/>
                </a:lnTo>
                <a:lnTo>
                  <a:pt x="233260" y="222"/>
                </a:lnTo>
                <a:lnTo>
                  <a:pt x="186526" y="1783"/>
                </a:lnTo>
                <a:lnTo>
                  <a:pt x="120299" y="14269"/>
                </a:lnTo>
                <a:lnTo>
                  <a:pt x="85465" y="31474"/>
                </a:lnTo>
                <a:lnTo>
                  <a:pt x="55531" y="55531"/>
                </a:lnTo>
                <a:lnTo>
                  <a:pt x="31473" y="85465"/>
                </a:lnTo>
                <a:lnTo>
                  <a:pt x="14269" y="120299"/>
                </a:lnTo>
                <a:lnTo>
                  <a:pt x="1783" y="186526"/>
                </a:lnTo>
                <a:lnTo>
                  <a:pt x="222" y="233260"/>
                </a:lnTo>
                <a:lnTo>
                  <a:pt x="0" y="291209"/>
                </a:lnTo>
                <a:lnTo>
                  <a:pt x="0" y="1219404"/>
                </a:lnTo>
                <a:lnTo>
                  <a:pt x="222" y="1277353"/>
                </a:lnTo>
                <a:lnTo>
                  <a:pt x="1783" y="1324086"/>
                </a:lnTo>
                <a:lnTo>
                  <a:pt x="14269" y="1390314"/>
                </a:lnTo>
                <a:lnTo>
                  <a:pt x="31473" y="1425148"/>
                </a:lnTo>
                <a:lnTo>
                  <a:pt x="55531" y="1455082"/>
                </a:lnTo>
                <a:lnTo>
                  <a:pt x="85465" y="1479140"/>
                </a:lnTo>
                <a:lnTo>
                  <a:pt x="120299" y="1496344"/>
                </a:lnTo>
                <a:lnTo>
                  <a:pt x="186526" y="1508830"/>
                </a:lnTo>
                <a:lnTo>
                  <a:pt x="233260" y="1510391"/>
                </a:lnTo>
                <a:lnTo>
                  <a:pt x="291209" y="1510614"/>
                </a:lnTo>
                <a:lnTo>
                  <a:pt x="2715460" y="1510614"/>
                </a:lnTo>
                <a:lnTo>
                  <a:pt x="2773410" y="1510391"/>
                </a:lnTo>
                <a:lnTo>
                  <a:pt x="2820144" y="1508830"/>
                </a:lnTo>
                <a:lnTo>
                  <a:pt x="2886372" y="1496344"/>
                </a:lnTo>
                <a:lnTo>
                  <a:pt x="2921205" y="1479140"/>
                </a:lnTo>
                <a:lnTo>
                  <a:pt x="2951139" y="1455082"/>
                </a:lnTo>
                <a:lnTo>
                  <a:pt x="2975196" y="1425148"/>
                </a:lnTo>
                <a:lnTo>
                  <a:pt x="2992400" y="1390314"/>
                </a:lnTo>
                <a:lnTo>
                  <a:pt x="3004887" y="1324086"/>
                </a:lnTo>
                <a:lnTo>
                  <a:pt x="3006448" y="1277353"/>
                </a:lnTo>
                <a:lnTo>
                  <a:pt x="3006671" y="1219404"/>
                </a:lnTo>
                <a:lnTo>
                  <a:pt x="3006671" y="291209"/>
                </a:lnTo>
                <a:lnTo>
                  <a:pt x="3006448" y="233260"/>
                </a:lnTo>
                <a:lnTo>
                  <a:pt x="3004887" y="186526"/>
                </a:lnTo>
                <a:lnTo>
                  <a:pt x="2992400" y="120299"/>
                </a:lnTo>
                <a:lnTo>
                  <a:pt x="2975196" y="85465"/>
                </a:lnTo>
                <a:lnTo>
                  <a:pt x="2951139" y="55531"/>
                </a:lnTo>
                <a:lnTo>
                  <a:pt x="2921205" y="31474"/>
                </a:lnTo>
                <a:lnTo>
                  <a:pt x="2886372" y="14269"/>
                </a:lnTo>
                <a:lnTo>
                  <a:pt x="2820144" y="1783"/>
                </a:lnTo>
                <a:lnTo>
                  <a:pt x="2773410" y="222"/>
                </a:lnTo>
                <a:lnTo>
                  <a:pt x="2715460" y="0"/>
                </a:lnTo>
                <a:close/>
              </a:path>
            </a:pathLst>
          </a:custGeom>
          <a:solidFill>
            <a:srgbClr val="00A2FF"/>
          </a:solidFill>
        </p:spPr>
        <p:txBody>
          <a:bodyPr wrap="square" lIns="0" tIns="0" rIns="0" bIns="0" rtlCol="0"/>
          <a:lstStyle/>
          <a:p>
            <a:endParaRPr/>
          </a:p>
        </p:txBody>
      </p:sp>
      <p:sp>
        <p:nvSpPr>
          <p:cNvPr id="4" name="object 4"/>
          <p:cNvSpPr txBox="1"/>
          <p:nvPr/>
        </p:nvSpPr>
        <p:spPr>
          <a:xfrm>
            <a:off x="5229711" y="1978486"/>
            <a:ext cx="1368027" cy="446484"/>
          </a:xfrm>
          <a:prstGeom prst="rect">
            <a:avLst/>
          </a:prstGeom>
        </p:spPr>
        <p:txBody>
          <a:bodyPr vert="horz" wrap="square" lIns="0" tIns="8930" rIns="0" bIns="0" rtlCol="0">
            <a:spAutoFit/>
          </a:bodyPr>
          <a:lstStyle/>
          <a:p>
            <a:pPr marL="8929">
              <a:lnSpc>
                <a:spcPct val="100000"/>
              </a:lnSpc>
              <a:spcBef>
                <a:spcPts val="70"/>
              </a:spcBef>
            </a:pPr>
            <a:r>
              <a:rPr sz="2812" spc="67">
                <a:solidFill>
                  <a:srgbClr val="FFFFFF"/>
                </a:solidFill>
                <a:latin typeface="Arial MT"/>
                <a:cs typeface="Arial MT"/>
              </a:rPr>
              <a:t>Building</a:t>
            </a:r>
            <a:endParaRPr sz="2812">
              <a:latin typeface="Arial MT"/>
              <a:cs typeface="Arial MT"/>
            </a:endParaRPr>
          </a:p>
        </p:txBody>
      </p:sp>
      <p:sp>
        <p:nvSpPr>
          <p:cNvPr id="5" name="object 5"/>
          <p:cNvSpPr/>
          <p:nvPr/>
        </p:nvSpPr>
        <p:spPr>
          <a:xfrm>
            <a:off x="1685690" y="4217261"/>
            <a:ext cx="2114104" cy="1062186"/>
          </a:xfrm>
          <a:custGeom>
            <a:avLst/>
            <a:gdLst/>
            <a:ahLst/>
            <a:cxnLst/>
            <a:rect l="l" t="t" r="r" b="b"/>
            <a:pathLst>
              <a:path w="3006725" h="1510665">
                <a:moveTo>
                  <a:pt x="2715461" y="0"/>
                </a:moveTo>
                <a:lnTo>
                  <a:pt x="291210" y="0"/>
                </a:lnTo>
                <a:lnTo>
                  <a:pt x="233261" y="222"/>
                </a:lnTo>
                <a:lnTo>
                  <a:pt x="186527" y="1783"/>
                </a:lnTo>
                <a:lnTo>
                  <a:pt x="120299" y="14270"/>
                </a:lnTo>
                <a:lnTo>
                  <a:pt x="85466" y="31474"/>
                </a:lnTo>
                <a:lnTo>
                  <a:pt x="55532" y="55532"/>
                </a:lnTo>
                <a:lnTo>
                  <a:pt x="31474" y="85466"/>
                </a:lnTo>
                <a:lnTo>
                  <a:pt x="14270" y="120299"/>
                </a:lnTo>
                <a:lnTo>
                  <a:pt x="1783" y="186527"/>
                </a:lnTo>
                <a:lnTo>
                  <a:pt x="222" y="233261"/>
                </a:lnTo>
                <a:lnTo>
                  <a:pt x="0" y="291211"/>
                </a:lnTo>
                <a:lnTo>
                  <a:pt x="0" y="1219404"/>
                </a:lnTo>
                <a:lnTo>
                  <a:pt x="222" y="1277354"/>
                </a:lnTo>
                <a:lnTo>
                  <a:pt x="1783" y="1324087"/>
                </a:lnTo>
                <a:lnTo>
                  <a:pt x="14270" y="1390315"/>
                </a:lnTo>
                <a:lnTo>
                  <a:pt x="31474" y="1425149"/>
                </a:lnTo>
                <a:lnTo>
                  <a:pt x="55532" y="1455083"/>
                </a:lnTo>
                <a:lnTo>
                  <a:pt x="85466" y="1479140"/>
                </a:lnTo>
                <a:lnTo>
                  <a:pt x="120299" y="1496344"/>
                </a:lnTo>
                <a:lnTo>
                  <a:pt x="186527" y="1508831"/>
                </a:lnTo>
                <a:lnTo>
                  <a:pt x="233261" y="1510392"/>
                </a:lnTo>
                <a:lnTo>
                  <a:pt x="291210" y="1510615"/>
                </a:lnTo>
                <a:lnTo>
                  <a:pt x="2715461" y="1510615"/>
                </a:lnTo>
                <a:lnTo>
                  <a:pt x="2773410" y="1510392"/>
                </a:lnTo>
                <a:lnTo>
                  <a:pt x="2820144" y="1508831"/>
                </a:lnTo>
                <a:lnTo>
                  <a:pt x="2886372" y="1496344"/>
                </a:lnTo>
                <a:lnTo>
                  <a:pt x="2921206" y="1479140"/>
                </a:lnTo>
                <a:lnTo>
                  <a:pt x="2951140" y="1455083"/>
                </a:lnTo>
                <a:lnTo>
                  <a:pt x="2975197" y="1425149"/>
                </a:lnTo>
                <a:lnTo>
                  <a:pt x="2992401" y="1390315"/>
                </a:lnTo>
                <a:lnTo>
                  <a:pt x="3004888" y="1324087"/>
                </a:lnTo>
                <a:lnTo>
                  <a:pt x="3006449" y="1277354"/>
                </a:lnTo>
                <a:lnTo>
                  <a:pt x="3006672" y="1219404"/>
                </a:lnTo>
                <a:lnTo>
                  <a:pt x="3006672" y="291211"/>
                </a:lnTo>
                <a:lnTo>
                  <a:pt x="3006449" y="233261"/>
                </a:lnTo>
                <a:lnTo>
                  <a:pt x="3004888" y="186527"/>
                </a:lnTo>
                <a:lnTo>
                  <a:pt x="2992401" y="120299"/>
                </a:lnTo>
                <a:lnTo>
                  <a:pt x="2975197" y="85466"/>
                </a:lnTo>
                <a:lnTo>
                  <a:pt x="2951140" y="55532"/>
                </a:lnTo>
                <a:lnTo>
                  <a:pt x="2921206" y="31474"/>
                </a:lnTo>
                <a:lnTo>
                  <a:pt x="2886372" y="14270"/>
                </a:lnTo>
                <a:lnTo>
                  <a:pt x="2820144" y="1783"/>
                </a:lnTo>
                <a:lnTo>
                  <a:pt x="2773410" y="222"/>
                </a:lnTo>
                <a:lnTo>
                  <a:pt x="2715461" y="0"/>
                </a:lnTo>
                <a:close/>
              </a:path>
            </a:pathLst>
          </a:custGeom>
          <a:solidFill>
            <a:srgbClr val="00A2FF"/>
          </a:solidFill>
        </p:spPr>
        <p:txBody>
          <a:bodyPr wrap="square" lIns="0" tIns="0" rIns="0" bIns="0" rtlCol="0"/>
          <a:lstStyle/>
          <a:p>
            <a:endParaRPr/>
          </a:p>
        </p:txBody>
      </p:sp>
      <p:sp>
        <p:nvSpPr>
          <p:cNvPr id="6" name="object 6"/>
          <p:cNvSpPr txBox="1"/>
          <p:nvPr/>
        </p:nvSpPr>
        <p:spPr>
          <a:xfrm>
            <a:off x="2204442" y="4515321"/>
            <a:ext cx="1076920" cy="446484"/>
          </a:xfrm>
          <a:prstGeom prst="rect">
            <a:avLst/>
          </a:prstGeom>
        </p:spPr>
        <p:txBody>
          <a:bodyPr vert="horz" wrap="square" lIns="0" tIns="8930" rIns="0" bIns="0" rtlCol="0">
            <a:spAutoFit/>
          </a:bodyPr>
          <a:lstStyle/>
          <a:p>
            <a:pPr marL="8929">
              <a:lnSpc>
                <a:spcPct val="100000"/>
              </a:lnSpc>
              <a:spcBef>
                <a:spcPts val="70"/>
              </a:spcBef>
            </a:pPr>
            <a:r>
              <a:rPr sz="2812" spc="-7">
                <a:solidFill>
                  <a:srgbClr val="FFFFFF"/>
                </a:solidFill>
                <a:latin typeface="Arial MT"/>
                <a:cs typeface="Arial MT"/>
              </a:rPr>
              <a:t>House</a:t>
            </a:r>
            <a:endParaRPr sz="2812">
              <a:latin typeface="Arial MT"/>
              <a:cs typeface="Arial MT"/>
            </a:endParaRPr>
          </a:p>
        </p:txBody>
      </p:sp>
      <p:sp>
        <p:nvSpPr>
          <p:cNvPr id="7" name="object 7"/>
          <p:cNvSpPr/>
          <p:nvPr/>
        </p:nvSpPr>
        <p:spPr>
          <a:xfrm>
            <a:off x="3955820" y="4217261"/>
            <a:ext cx="2114104" cy="1062186"/>
          </a:xfrm>
          <a:custGeom>
            <a:avLst/>
            <a:gdLst/>
            <a:ahLst/>
            <a:cxnLst/>
            <a:rect l="l" t="t" r="r" b="b"/>
            <a:pathLst>
              <a:path w="3006725" h="1510665">
                <a:moveTo>
                  <a:pt x="2715460" y="0"/>
                </a:moveTo>
                <a:lnTo>
                  <a:pt x="291209" y="0"/>
                </a:lnTo>
                <a:lnTo>
                  <a:pt x="233260" y="222"/>
                </a:lnTo>
                <a:lnTo>
                  <a:pt x="186527" y="1783"/>
                </a:lnTo>
                <a:lnTo>
                  <a:pt x="120299" y="14270"/>
                </a:lnTo>
                <a:lnTo>
                  <a:pt x="85465" y="31474"/>
                </a:lnTo>
                <a:lnTo>
                  <a:pt x="55531" y="55532"/>
                </a:lnTo>
                <a:lnTo>
                  <a:pt x="31474" y="85466"/>
                </a:lnTo>
                <a:lnTo>
                  <a:pt x="14269" y="120299"/>
                </a:lnTo>
                <a:lnTo>
                  <a:pt x="1783" y="186527"/>
                </a:lnTo>
                <a:lnTo>
                  <a:pt x="222" y="233261"/>
                </a:lnTo>
                <a:lnTo>
                  <a:pt x="0" y="291211"/>
                </a:lnTo>
                <a:lnTo>
                  <a:pt x="0" y="1219404"/>
                </a:lnTo>
                <a:lnTo>
                  <a:pt x="222" y="1277354"/>
                </a:lnTo>
                <a:lnTo>
                  <a:pt x="1783" y="1324087"/>
                </a:lnTo>
                <a:lnTo>
                  <a:pt x="14269" y="1390315"/>
                </a:lnTo>
                <a:lnTo>
                  <a:pt x="31474" y="1425149"/>
                </a:lnTo>
                <a:lnTo>
                  <a:pt x="55531" y="1455083"/>
                </a:lnTo>
                <a:lnTo>
                  <a:pt x="85465" y="1479140"/>
                </a:lnTo>
                <a:lnTo>
                  <a:pt x="120299" y="1496344"/>
                </a:lnTo>
                <a:lnTo>
                  <a:pt x="186527" y="1508831"/>
                </a:lnTo>
                <a:lnTo>
                  <a:pt x="233260" y="1510392"/>
                </a:lnTo>
                <a:lnTo>
                  <a:pt x="291209" y="1510615"/>
                </a:lnTo>
                <a:lnTo>
                  <a:pt x="2715460" y="1510615"/>
                </a:lnTo>
                <a:lnTo>
                  <a:pt x="2773410" y="1510392"/>
                </a:lnTo>
                <a:lnTo>
                  <a:pt x="2820144" y="1508831"/>
                </a:lnTo>
                <a:lnTo>
                  <a:pt x="2886372" y="1496344"/>
                </a:lnTo>
                <a:lnTo>
                  <a:pt x="2921205" y="1479140"/>
                </a:lnTo>
                <a:lnTo>
                  <a:pt x="2951139" y="1455083"/>
                </a:lnTo>
                <a:lnTo>
                  <a:pt x="2975197" y="1425149"/>
                </a:lnTo>
                <a:lnTo>
                  <a:pt x="2992401" y="1390315"/>
                </a:lnTo>
                <a:lnTo>
                  <a:pt x="3004887" y="1324087"/>
                </a:lnTo>
                <a:lnTo>
                  <a:pt x="3006448" y="1277354"/>
                </a:lnTo>
                <a:lnTo>
                  <a:pt x="3006671" y="1219404"/>
                </a:lnTo>
                <a:lnTo>
                  <a:pt x="3006671" y="291211"/>
                </a:lnTo>
                <a:lnTo>
                  <a:pt x="3006448" y="233261"/>
                </a:lnTo>
                <a:lnTo>
                  <a:pt x="3004887" y="186527"/>
                </a:lnTo>
                <a:lnTo>
                  <a:pt x="2992401" y="120299"/>
                </a:lnTo>
                <a:lnTo>
                  <a:pt x="2975197" y="85466"/>
                </a:lnTo>
                <a:lnTo>
                  <a:pt x="2951139" y="55532"/>
                </a:lnTo>
                <a:lnTo>
                  <a:pt x="2921205" y="31474"/>
                </a:lnTo>
                <a:lnTo>
                  <a:pt x="2886372" y="14270"/>
                </a:lnTo>
                <a:lnTo>
                  <a:pt x="2820144" y="1783"/>
                </a:lnTo>
                <a:lnTo>
                  <a:pt x="2773410" y="222"/>
                </a:lnTo>
                <a:lnTo>
                  <a:pt x="2715460" y="0"/>
                </a:lnTo>
                <a:close/>
              </a:path>
            </a:pathLst>
          </a:custGeom>
          <a:solidFill>
            <a:srgbClr val="00A2FF"/>
          </a:solidFill>
        </p:spPr>
        <p:txBody>
          <a:bodyPr wrap="square" lIns="0" tIns="0" rIns="0" bIns="0" rtlCol="0"/>
          <a:lstStyle/>
          <a:p>
            <a:endParaRPr/>
          </a:p>
        </p:txBody>
      </p:sp>
      <p:sp>
        <p:nvSpPr>
          <p:cNvPr id="8" name="object 8"/>
          <p:cNvSpPr txBox="1"/>
          <p:nvPr/>
        </p:nvSpPr>
        <p:spPr>
          <a:xfrm>
            <a:off x="4411707" y="4515321"/>
            <a:ext cx="1202382" cy="446484"/>
          </a:xfrm>
          <a:prstGeom prst="rect">
            <a:avLst/>
          </a:prstGeom>
        </p:spPr>
        <p:txBody>
          <a:bodyPr vert="horz" wrap="square" lIns="0" tIns="8930" rIns="0" bIns="0" rtlCol="0">
            <a:spAutoFit/>
          </a:bodyPr>
          <a:lstStyle/>
          <a:p>
            <a:pPr marL="8929">
              <a:lnSpc>
                <a:spcPct val="100000"/>
              </a:lnSpc>
              <a:spcBef>
                <a:spcPts val="70"/>
              </a:spcBef>
            </a:pPr>
            <a:r>
              <a:rPr sz="2812" spc="-7">
                <a:solidFill>
                  <a:srgbClr val="FFFFFF"/>
                </a:solidFill>
                <a:latin typeface="Arial MT"/>
                <a:cs typeface="Arial MT"/>
              </a:rPr>
              <a:t>Temple</a:t>
            </a:r>
            <a:endParaRPr sz="2812">
              <a:latin typeface="Arial MT"/>
              <a:cs typeface="Arial MT"/>
            </a:endParaRPr>
          </a:p>
        </p:txBody>
      </p:sp>
      <p:sp>
        <p:nvSpPr>
          <p:cNvPr id="9" name="object 9"/>
          <p:cNvSpPr/>
          <p:nvPr/>
        </p:nvSpPr>
        <p:spPr>
          <a:xfrm>
            <a:off x="6179369" y="4256420"/>
            <a:ext cx="2114104" cy="1062186"/>
          </a:xfrm>
          <a:custGeom>
            <a:avLst/>
            <a:gdLst/>
            <a:ahLst/>
            <a:cxnLst/>
            <a:rect l="l" t="t" r="r" b="b"/>
            <a:pathLst>
              <a:path w="3006725" h="1510665">
                <a:moveTo>
                  <a:pt x="2715461" y="0"/>
                </a:moveTo>
                <a:lnTo>
                  <a:pt x="291211" y="0"/>
                </a:lnTo>
                <a:lnTo>
                  <a:pt x="233261" y="222"/>
                </a:lnTo>
                <a:lnTo>
                  <a:pt x="186527" y="1783"/>
                </a:lnTo>
                <a:lnTo>
                  <a:pt x="120299" y="14270"/>
                </a:lnTo>
                <a:lnTo>
                  <a:pt x="85465" y="31474"/>
                </a:lnTo>
                <a:lnTo>
                  <a:pt x="55531" y="55532"/>
                </a:lnTo>
                <a:lnTo>
                  <a:pt x="31474" y="85466"/>
                </a:lnTo>
                <a:lnTo>
                  <a:pt x="14270" y="120300"/>
                </a:lnTo>
                <a:lnTo>
                  <a:pt x="1783" y="186528"/>
                </a:lnTo>
                <a:lnTo>
                  <a:pt x="222" y="233261"/>
                </a:lnTo>
                <a:lnTo>
                  <a:pt x="0" y="291211"/>
                </a:lnTo>
                <a:lnTo>
                  <a:pt x="0" y="1219404"/>
                </a:lnTo>
                <a:lnTo>
                  <a:pt x="222" y="1277354"/>
                </a:lnTo>
                <a:lnTo>
                  <a:pt x="1783" y="1324087"/>
                </a:lnTo>
                <a:lnTo>
                  <a:pt x="14270" y="1390315"/>
                </a:lnTo>
                <a:lnTo>
                  <a:pt x="31474" y="1425149"/>
                </a:lnTo>
                <a:lnTo>
                  <a:pt x="55531" y="1455083"/>
                </a:lnTo>
                <a:lnTo>
                  <a:pt x="85465" y="1479140"/>
                </a:lnTo>
                <a:lnTo>
                  <a:pt x="120299" y="1496344"/>
                </a:lnTo>
                <a:lnTo>
                  <a:pt x="186527" y="1508831"/>
                </a:lnTo>
                <a:lnTo>
                  <a:pt x="233261" y="1510392"/>
                </a:lnTo>
                <a:lnTo>
                  <a:pt x="291211" y="1510615"/>
                </a:lnTo>
                <a:lnTo>
                  <a:pt x="2715461" y="1510615"/>
                </a:lnTo>
                <a:lnTo>
                  <a:pt x="2773410" y="1510392"/>
                </a:lnTo>
                <a:lnTo>
                  <a:pt x="2820144" y="1508831"/>
                </a:lnTo>
                <a:lnTo>
                  <a:pt x="2886372" y="1496344"/>
                </a:lnTo>
                <a:lnTo>
                  <a:pt x="2921205" y="1479140"/>
                </a:lnTo>
                <a:lnTo>
                  <a:pt x="2951139" y="1455083"/>
                </a:lnTo>
                <a:lnTo>
                  <a:pt x="2975197" y="1425149"/>
                </a:lnTo>
                <a:lnTo>
                  <a:pt x="2992401" y="1390315"/>
                </a:lnTo>
                <a:lnTo>
                  <a:pt x="3004887" y="1324087"/>
                </a:lnTo>
                <a:lnTo>
                  <a:pt x="3006448" y="1277354"/>
                </a:lnTo>
                <a:lnTo>
                  <a:pt x="3006671" y="1219404"/>
                </a:lnTo>
                <a:lnTo>
                  <a:pt x="3006671" y="291211"/>
                </a:lnTo>
                <a:lnTo>
                  <a:pt x="3006448" y="233261"/>
                </a:lnTo>
                <a:lnTo>
                  <a:pt x="3004887" y="186528"/>
                </a:lnTo>
                <a:lnTo>
                  <a:pt x="2992401" y="120300"/>
                </a:lnTo>
                <a:lnTo>
                  <a:pt x="2975197" y="85466"/>
                </a:lnTo>
                <a:lnTo>
                  <a:pt x="2951139" y="55532"/>
                </a:lnTo>
                <a:lnTo>
                  <a:pt x="2921205" y="31474"/>
                </a:lnTo>
                <a:lnTo>
                  <a:pt x="2886372" y="14270"/>
                </a:lnTo>
                <a:lnTo>
                  <a:pt x="2820144" y="1783"/>
                </a:lnTo>
                <a:lnTo>
                  <a:pt x="2773410" y="222"/>
                </a:lnTo>
                <a:lnTo>
                  <a:pt x="2715461" y="0"/>
                </a:lnTo>
                <a:close/>
              </a:path>
            </a:pathLst>
          </a:custGeom>
          <a:solidFill>
            <a:srgbClr val="00A2FF"/>
          </a:solidFill>
        </p:spPr>
        <p:txBody>
          <a:bodyPr wrap="square" lIns="0" tIns="0" rIns="0" bIns="0" rtlCol="0"/>
          <a:lstStyle/>
          <a:p>
            <a:endParaRPr/>
          </a:p>
        </p:txBody>
      </p:sp>
      <p:sp>
        <p:nvSpPr>
          <p:cNvPr id="10" name="object 10"/>
          <p:cNvSpPr txBox="1"/>
          <p:nvPr/>
        </p:nvSpPr>
        <p:spPr>
          <a:xfrm>
            <a:off x="6423622" y="4554482"/>
            <a:ext cx="1625650" cy="446484"/>
          </a:xfrm>
          <a:prstGeom prst="rect">
            <a:avLst/>
          </a:prstGeom>
        </p:spPr>
        <p:txBody>
          <a:bodyPr vert="horz" wrap="square" lIns="0" tIns="8930" rIns="0" bIns="0" rtlCol="0">
            <a:spAutoFit/>
          </a:bodyPr>
          <a:lstStyle/>
          <a:p>
            <a:pPr marL="8929">
              <a:lnSpc>
                <a:spcPct val="100000"/>
              </a:lnSpc>
              <a:spcBef>
                <a:spcPts val="70"/>
              </a:spcBef>
            </a:pPr>
            <a:r>
              <a:rPr sz="2812" spc="32">
                <a:solidFill>
                  <a:srgbClr val="FFFFFF"/>
                </a:solidFill>
                <a:latin typeface="Arial MT"/>
                <a:cs typeface="Arial MT"/>
              </a:rPr>
              <a:t>Cathedral</a:t>
            </a:r>
            <a:endParaRPr sz="2812">
              <a:latin typeface="Arial MT"/>
              <a:cs typeface="Arial MT"/>
            </a:endParaRPr>
          </a:p>
        </p:txBody>
      </p:sp>
      <p:sp>
        <p:nvSpPr>
          <p:cNvPr id="11" name="object 11"/>
          <p:cNvSpPr/>
          <p:nvPr/>
        </p:nvSpPr>
        <p:spPr>
          <a:xfrm>
            <a:off x="8402918" y="4256420"/>
            <a:ext cx="2114104" cy="1062186"/>
          </a:xfrm>
          <a:custGeom>
            <a:avLst/>
            <a:gdLst/>
            <a:ahLst/>
            <a:cxnLst/>
            <a:rect l="l" t="t" r="r" b="b"/>
            <a:pathLst>
              <a:path w="3006725" h="1510665">
                <a:moveTo>
                  <a:pt x="2715461" y="0"/>
                </a:moveTo>
                <a:lnTo>
                  <a:pt x="291211" y="0"/>
                </a:lnTo>
                <a:lnTo>
                  <a:pt x="233261" y="222"/>
                </a:lnTo>
                <a:lnTo>
                  <a:pt x="186527" y="1783"/>
                </a:lnTo>
                <a:lnTo>
                  <a:pt x="120299" y="14270"/>
                </a:lnTo>
                <a:lnTo>
                  <a:pt x="85465" y="31474"/>
                </a:lnTo>
                <a:lnTo>
                  <a:pt x="55531" y="55532"/>
                </a:lnTo>
                <a:lnTo>
                  <a:pt x="31474" y="85466"/>
                </a:lnTo>
                <a:lnTo>
                  <a:pt x="14270" y="120300"/>
                </a:lnTo>
                <a:lnTo>
                  <a:pt x="1783" y="186528"/>
                </a:lnTo>
                <a:lnTo>
                  <a:pt x="222" y="233261"/>
                </a:lnTo>
                <a:lnTo>
                  <a:pt x="0" y="291211"/>
                </a:lnTo>
                <a:lnTo>
                  <a:pt x="0" y="1219404"/>
                </a:lnTo>
                <a:lnTo>
                  <a:pt x="222" y="1277354"/>
                </a:lnTo>
                <a:lnTo>
                  <a:pt x="1783" y="1324087"/>
                </a:lnTo>
                <a:lnTo>
                  <a:pt x="14270" y="1390315"/>
                </a:lnTo>
                <a:lnTo>
                  <a:pt x="31474" y="1425149"/>
                </a:lnTo>
                <a:lnTo>
                  <a:pt x="55531" y="1455083"/>
                </a:lnTo>
                <a:lnTo>
                  <a:pt x="85465" y="1479140"/>
                </a:lnTo>
                <a:lnTo>
                  <a:pt x="120299" y="1496344"/>
                </a:lnTo>
                <a:lnTo>
                  <a:pt x="186527" y="1508831"/>
                </a:lnTo>
                <a:lnTo>
                  <a:pt x="233261" y="1510392"/>
                </a:lnTo>
                <a:lnTo>
                  <a:pt x="291211" y="1510615"/>
                </a:lnTo>
                <a:lnTo>
                  <a:pt x="2715461" y="1510615"/>
                </a:lnTo>
                <a:lnTo>
                  <a:pt x="2773410" y="1510392"/>
                </a:lnTo>
                <a:lnTo>
                  <a:pt x="2820144" y="1508831"/>
                </a:lnTo>
                <a:lnTo>
                  <a:pt x="2886372" y="1496344"/>
                </a:lnTo>
                <a:lnTo>
                  <a:pt x="2921206" y="1479140"/>
                </a:lnTo>
                <a:lnTo>
                  <a:pt x="2951142" y="1455083"/>
                </a:lnTo>
                <a:lnTo>
                  <a:pt x="2975201" y="1425149"/>
                </a:lnTo>
                <a:lnTo>
                  <a:pt x="2992404" y="1390315"/>
                </a:lnTo>
                <a:lnTo>
                  <a:pt x="3004883" y="1324087"/>
                </a:lnTo>
                <a:lnTo>
                  <a:pt x="3006443" y="1277354"/>
                </a:lnTo>
                <a:lnTo>
                  <a:pt x="3006666" y="1219404"/>
                </a:lnTo>
                <a:lnTo>
                  <a:pt x="3006666" y="291211"/>
                </a:lnTo>
                <a:lnTo>
                  <a:pt x="3006443" y="233261"/>
                </a:lnTo>
                <a:lnTo>
                  <a:pt x="3004883" y="186528"/>
                </a:lnTo>
                <a:lnTo>
                  <a:pt x="2992404" y="120300"/>
                </a:lnTo>
                <a:lnTo>
                  <a:pt x="2975201" y="85466"/>
                </a:lnTo>
                <a:lnTo>
                  <a:pt x="2951142" y="55532"/>
                </a:lnTo>
                <a:lnTo>
                  <a:pt x="2921206" y="31474"/>
                </a:lnTo>
                <a:lnTo>
                  <a:pt x="2886372" y="14270"/>
                </a:lnTo>
                <a:lnTo>
                  <a:pt x="2820144" y="1783"/>
                </a:lnTo>
                <a:lnTo>
                  <a:pt x="2773410" y="222"/>
                </a:lnTo>
                <a:lnTo>
                  <a:pt x="2715461" y="0"/>
                </a:lnTo>
                <a:close/>
              </a:path>
            </a:pathLst>
          </a:custGeom>
          <a:solidFill>
            <a:srgbClr val="00A2FF"/>
          </a:solidFill>
        </p:spPr>
        <p:txBody>
          <a:bodyPr wrap="square" lIns="0" tIns="0" rIns="0" bIns="0" rtlCol="0"/>
          <a:lstStyle/>
          <a:p>
            <a:endParaRPr/>
          </a:p>
        </p:txBody>
      </p:sp>
      <p:sp>
        <p:nvSpPr>
          <p:cNvPr id="12" name="object 12"/>
          <p:cNvSpPr txBox="1"/>
          <p:nvPr/>
        </p:nvSpPr>
        <p:spPr>
          <a:xfrm>
            <a:off x="8584484" y="4554482"/>
            <a:ext cx="1751112" cy="446484"/>
          </a:xfrm>
          <a:prstGeom prst="rect">
            <a:avLst/>
          </a:prstGeom>
        </p:spPr>
        <p:txBody>
          <a:bodyPr vert="horz" wrap="square" lIns="0" tIns="8930" rIns="0" bIns="0" rtlCol="0">
            <a:spAutoFit/>
          </a:bodyPr>
          <a:lstStyle/>
          <a:p>
            <a:pPr marL="8929">
              <a:lnSpc>
                <a:spcPct val="100000"/>
              </a:lnSpc>
              <a:spcBef>
                <a:spcPts val="70"/>
              </a:spcBef>
            </a:pPr>
            <a:r>
              <a:rPr sz="2812" spc="63">
                <a:solidFill>
                  <a:srgbClr val="FFFFFF"/>
                </a:solidFill>
                <a:latin typeface="Arial MT"/>
                <a:cs typeface="Arial MT"/>
              </a:rPr>
              <a:t>Apartment</a:t>
            </a:r>
            <a:endParaRPr sz="2812">
              <a:latin typeface="Arial MT"/>
              <a:cs typeface="Arial MT"/>
            </a:endParaRPr>
          </a:p>
        </p:txBody>
      </p:sp>
      <p:sp>
        <p:nvSpPr>
          <p:cNvPr id="13" name="object 13"/>
          <p:cNvSpPr txBox="1"/>
          <p:nvPr/>
        </p:nvSpPr>
        <p:spPr>
          <a:xfrm>
            <a:off x="7913589" y="1936824"/>
            <a:ext cx="1181844" cy="446484"/>
          </a:xfrm>
          <a:prstGeom prst="rect">
            <a:avLst/>
          </a:prstGeom>
        </p:spPr>
        <p:txBody>
          <a:bodyPr vert="horz" wrap="square" lIns="0" tIns="8930" rIns="0" bIns="0" rtlCol="0">
            <a:spAutoFit/>
          </a:bodyPr>
          <a:lstStyle/>
          <a:p>
            <a:pPr marL="8929">
              <a:lnSpc>
                <a:spcPct val="100000"/>
              </a:lnSpc>
              <a:spcBef>
                <a:spcPts val="70"/>
              </a:spcBef>
            </a:pPr>
            <a:r>
              <a:rPr sz="2812" b="1">
                <a:solidFill>
                  <a:srgbClr val="FFFFFF"/>
                </a:solidFill>
                <a:latin typeface="Arial"/>
                <a:cs typeface="Arial"/>
              </a:rPr>
              <a:t>draw( </a:t>
            </a:r>
            <a:r>
              <a:rPr sz="2812" b="1" spc="-35">
                <a:solidFill>
                  <a:srgbClr val="FFFFFF"/>
                </a:solidFill>
                <a:latin typeface="Arial"/>
                <a:cs typeface="Arial"/>
              </a:rPr>
              <a:t>)</a:t>
            </a:r>
            <a:endParaRPr sz="2812">
              <a:latin typeface="Arial"/>
              <a:cs typeface="Arial"/>
            </a:endParaRPr>
          </a:p>
        </p:txBody>
      </p:sp>
      <p:grpSp>
        <p:nvGrpSpPr>
          <p:cNvPr id="14" name="object 14"/>
          <p:cNvGrpSpPr/>
          <p:nvPr/>
        </p:nvGrpSpPr>
        <p:grpSpPr>
          <a:xfrm>
            <a:off x="2813881" y="2189177"/>
            <a:ext cx="6777633" cy="2046238"/>
            <a:chOff x="1834498" y="3113496"/>
            <a:chExt cx="9639300" cy="2910205"/>
          </a:xfrm>
        </p:grpSpPr>
        <p:sp>
          <p:nvSpPr>
            <p:cNvPr id="15" name="object 15"/>
            <p:cNvSpPr/>
            <p:nvPr/>
          </p:nvSpPr>
          <p:spPr>
            <a:xfrm>
              <a:off x="1834498" y="5499100"/>
              <a:ext cx="9639300" cy="0"/>
            </a:xfrm>
            <a:custGeom>
              <a:avLst/>
              <a:gdLst/>
              <a:ahLst/>
              <a:cxnLst/>
              <a:rect l="l" t="t" r="r" b="b"/>
              <a:pathLst>
                <a:path w="9639300">
                  <a:moveTo>
                    <a:pt x="0" y="0"/>
                  </a:moveTo>
                  <a:lnTo>
                    <a:pt x="9638938" y="0"/>
                  </a:lnTo>
                </a:path>
              </a:pathLst>
            </a:custGeom>
            <a:ln w="63500">
              <a:solidFill>
                <a:srgbClr val="FFFFFF"/>
              </a:solidFill>
            </a:ln>
          </p:spPr>
          <p:txBody>
            <a:bodyPr wrap="square" lIns="0" tIns="0" rIns="0" bIns="0" rtlCol="0"/>
            <a:lstStyle/>
            <a:p>
              <a:endParaRPr/>
            </a:p>
          </p:txBody>
        </p:sp>
        <p:sp>
          <p:nvSpPr>
            <p:cNvPr id="16" name="object 16"/>
            <p:cNvSpPr/>
            <p:nvPr/>
          </p:nvSpPr>
          <p:spPr>
            <a:xfrm>
              <a:off x="6242911" y="4155631"/>
              <a:ext cx="0" cy="1296670"/>
            </a:xfrm>
            <a:custGeom>
              <a:avLst/>
              <a:gdLst/>
              <a:ahLst/>
              <a:cxnLst/>
              <a:rect l="l" t="t" r="r" b="b"/>
              <a:pathLst>
                <a:path h="1296670">
                  <a:moveTo>
                    <a:pt x="0" y="1296669"/>
                  </a:moveTo>
                  <a:lnTo>
                    <a:pt x="0" y="31749"/>
                  </a:lnTo>
                  <a:lnTo>
                    <a:pt x="0" y="0"/>
                  </a:lnTo>
                </a:path>
              </a:pathLst>
            </a:custGeom>
            <a:ln w="63500">
              <a:solidFill>
                <a:srgbClr val="FFFFFF"/>
              </a:solidFill>
            </a:ln>
          </p:spPr>
          <p:txBody>
            <a:bodyPr wrap="square" lIns="0" tIns="0" rIns="0" bIns="0" rtlCol="0"/>
            <a:lstStyle/>
            <a:p>
              <a:endParaRPr/>
            </a:p>
          </p:txBody>
        </p:sp>
        <p:sp>
          <p:nvSpPr>
            <p:cNvPr id="17" name="object 17"/>
            <p:cNvSpPr/>
            <p:nvPr/>
          </p:nvSpPr>
          <p:spPr>
            <a:xfrm>
              <a:off x="6113371" y="3928301"/>
              <a:ext cx="259079" cy="259079"/>
            </a:xfrm>
            <a:custGeom>
              <a:avLst/>
              <a:gdLst/>
              <a:ahLst/>
              <a:cxnLst/>
              <a:rect l="l" t="t" r="r" b="b"/>
              <a:pathLst>
                <a:path w="259079" h="259079">
                  <a:moveTo>
                    <a:pt x="129539" y="0"/>
                  </a:moveTo>
                  <a:lnTo>
                    <a:pt x="0" y="259080"/>
                  </a:lnTo>
                  <a:lnTo>
                    <a:pt x="259080" y="259080"/>
                  </a:lnTo>
                  <a:lnTo>
                    <a:pt x="129539" y="0"/>
                  </a:lnTo>
                  <a:close/>
                </a:path>
              </a:pathLst>
            </a:custGeom>
            <a:solidFill>
              <a:srgbClr val="FFFFFF"/>
            </a:solidFill>
          </p:spPr>
          <p:txBody>
            <a:bodyPr wrap="square" lIns="0" tIns="0" rIns="0" bIns="0" rtlCol="0"/>
            <a:lstStyle/>
            <a:p>
              <a:endParaRPr/>
            </a:p>
          </p:txBody>
        </p:sp>
        <p:sp>
          <p:nvSpPr>
            <p:cNvPr id="18" name="object 18"/>
            <p:cNvSpPr/>
            <p:nvPr/>
          </p:nvSpPr>
          <p:spPr>
            <a:xfrm>
              <a:off x="1872533" y="5501620"/>
              <a:ext cx="0" cy="478155"/>
            </a:xfrm>
            <a:custGeom>
              <a:avLst/>
              <a:gdLst/>
              <a:ahLst/>
              <a:cxnLst/>
              <a:rect l="l" t="t" r="r" b="b"/>
              <a:pathLst>
                <a:path h="478154">
                  <a:moveTo>
                    <a:pt x="0" y="477558"/>
                  </a:moveTo>
                  <a:lnTo>
                    <a:pt x="0" y="0"/>
                  </a:lnTo>
                </a:path>
              </a:pathLst>
            </a:custGeom>
            <a:ln w="63500">
              <a:solidFill>
                <a:srgbClr val="FFFFFF"/>
              </a:solidFill>
            </a:ln>
          </p:spPr>
          <p:txBody>
            <a:bodyPr wrap="square" lIns="0" tIns="0" rIns="0" bIns="0" rtlCol="0"/>
            <a:lstStyle/>
            <a:p>
              <a:endParaRPr/>
            </a:p>
          </p:txBody>
        </p:sp>
        <p:sp>
          <p:nvSpPr>
            <p:cNvPr id="19" name="object 19"/>
            <p:cNvSpPr/>
            <p:nvPr/>
          </p:nvSpPr>
          <p:spPr>
            <a:xfrm>
              <a:off x="4961924" y="5545897"/>
              <a:ext cx="0" cy="478155"/>
            </a:xfrm>
            <a:custGeom>
              <a:avLst/>
              <a:gdLst/>
              <a:ahLst/>
              <a:cxnLst/>
              <a:rect l="l" t="t" r="r" b="b"/>
              <a:pathLst>
                <a:path h="478154">
                  <a:moveTo>
                    <a:pt x="0" y="477558"/>
                  </a:moveTo>
                  <a:lnTo>
                    <a:pt x="0" y="0"/>
                  </a:lnTo>
                </a:path>
              </a:pathLst>
            </a:custGeom>
            <a:ln w="63500">
              <a:solidFill>
                <a:srgbClr val="FFFFFF"/>
              </a:solidFill>
            </a:ln>
          </p:spPr>
          <p:txBody>
            <a:bodyPr wrap="square" lIns="0" tIns="0" rIns="0" bIns="0" rtlCol="0"/>
            <a:lstStyle/>
            <a:p>
              <a:endParaRPr/>
            </a:p>
          </p:txBody>
        </p:sp>
        <p:sp>
          <p:nvSpPr>
            <p:cNvPr id="20" name="object 20"/>
            <p:cNvSpPr/>
            <p:nvPr/>
          </p:nvSpPr>
          <p:spPr>
            <a:xfrm>
              <a:off x="8079162" y="5514109"/>
              <a:ext cx="0" cy="478155"/>
            </a:xfrm>
            <a:custGeom>
              <a:avLst/>
              <a:gdLst/>
              <a:ahLst/>
              <a:cxnLst/>
              <a:rect l="l" t="t" r="r" b="b"/>
              <a:pathLst>
                <a:path h="478154">
                  <a:moveTo>
                    <a:pt x="0" y="477558"/>
                  </a:moveTo>
                  <a:lnTo>
                    <a:pt x="0" y="0"/>
                  </a:lnTo>
                </a:path>
              </a:pathLst>
            </a:custGeom>
            <a:ln w="63500">
              <a:solidFill>
                <a:srgbClr val="FFFFFF"/>
              </a:solidFill>
            </a:ln>
          </p:spPr>
          <p:txBody>
            <a:bodyPr wrap="square" lIns="0" tIns="0" rIns="0" bIns="0" rtlCol="0"/>
            <a:lstStyle/>
            <a:p>
              <a:endParaRPr/>
            </a:p>
          </p:txBody>
        </p:sp>
        <p:sp>
          <p:nvSpPr>
            <p:cNvPr id="21" name="object 21"/>
            <p:cNvSpPr/>
            <p:nvPr/>
          </p:nvSpPr>
          <p:spPr>
            <a:xfrm>
              <a:off x="11435252" y="5528034"/>
              <a:ext cx="0" cy="478155"/>
            </a:xfrm>
            <a:custGeom>
              <a:avLst/>
              <a:gdLst/>
              <a:ahLst/>
              <a:cxnLst/>
              <a:rect l="l" t="t" r="r" b="b"/>
              <a:pathLst>
                <a:path h="478154">
                  <a:moveTo>
                    <a:pt x="0" y="477558"/>
                  </a:moveTo>
                  <a:lnTo>
                    <a:pt x="0" y="0"/>
                  </a:lnTo>
                </a:path>
              </a:pathLst>
            </a:custGeom>
            <a:ln w="63500">
              <a:solidFill>
                <a:srgbClr val="FFFFFF"/>
              </a:solidFill>
            </a:ln>
          </p:spPr>
          <p:txBody>
            <a:bodyPr wrap="square" lIns="0" tIns="0" rIns="0" bIns="0" rtlCol="0"/>
            <a:lstStyle/>
            <a:p>
              <a:endParaRPr/>
            </a:p>
          </p:txBody>
        </p:sp>
        <p:sp>
          <p:nvSpPr>
            <p:cNvPr id="22" name="object 22"/>
            <p:cNvSpPr/>
            <p:nvPr/>
          </p:nvSpPr>
          <p:spPr>
            <a:xfrm>
              <a:off x="7746678" y="3145246"/>
              <a:ext cx="1187450" cy="0"/>
            </a:xfrm>
            <a:custGeom>
              <a:avLst/>
              <a:gdLst/>
              <a:ahLst/>
              <a:cxnLst/>
              <a:rect l="l" t="t" r="r" b="b"/>
              <a:pathLst>
                <a:path w="1187450">
                  <a:moveTo>
                    <a:pt x="0" y="0"/>
                  </a:moveTo>
                  <a:lnTo>
                    <a:pt x="1187156" y="0"/>
                  </a:lnTo>
                </a:path>
              </a:pathLst>
            </a:custGeom>
            <a:ln w="63500">
              <a:solidFill>
                <a:srgbClr val="FFFFFF"/>
              </a:solidFill>
            </a:ln>
          </p:spPr>
          <p:txBody>
            <a:bodyPr wrap="square" lIns="0" tIns="0" rIns="0" bIns="0" rtlCol="0"/>
            <a:lstStyle/>
            <a:p>
              <a:endParaRPr/>
            </a:p>
          </p:txBody>
        </p:sp>
      </p:grpSp>
      <p:sp>
        <p:nvSpPr>
          <p:cNvPr id="23" name="object 23"/>
          <p:cNvSpPr txBox="1"/>
          <p:nvPr/>
        </p:nvSpPr>
        <p:spPr>
          <a:xfrm>
            <a:off x="2070054" y="5518571"/>
            <a:ext cx="1181844" cy="446484"/>
          </a:xfrm>
          <a:prstGeom prst="rect">
            <a:avLst/>
          </a:prstGeom>
        </p:spPr>
        <p:txBody>
          <a:bodyPr vert="horz" wrap="square" lIns="0" tIns="8930" rIns="0" bIns="0" rtlCol="0">
            <a:spAutoFit/>
          </a:bodyPr>
          <a:lstStyle/>
          <a:p>
            <a:pPr marL="8929">
              <a:lnSpc>
                <a:spcPct val="100000"/>
              </a:lnSpc>
              <a:spcBef>
                <a:spcPts val="70"/>
              </a:spcBef>
            </a:pPr>
            <a:r>
              <a:rPr sz="2812" b="1">
                <a:solidFill>
                  <a:srgbClr val="16E7CF"/>
                </a:solidFill>
                <a:latin typeface="Arial"/>
                <a:cs typeface="Arial"/>
              </a:rPr>
              <a:t>draw( </a:t>
            </a:r>
            <a:r>
              <a:rPr sz="2812" b="1" spc="-35">
                <a:solidFill>
                  <a:srgbClr val="16E7CF"/>
                </a:solidFill>
                <a:latin typeface="Arial"/>
                <a:cs typeface="Arial"/>
              </a:rPr>
              <a:t>)</a:t>
            </a:r>
            <a:endParaRPr sz="2812">
              <a:latin typeface="Arial"/>
              <a:cs typeface="Arial"/>
            </a:endParaRPr>
          </a:p>
        </p:txBody>
      </p:sp>
      <p:sp>
        <p:nvSpPr>
          <p:cNvPr id="24" name="object 24"/>
          <p:cNvSpPr txBox="1"/>
          <p:nvPr/>
        </p:nvSpPr>
        <p:spPr>
          <a:xfrm>
            <a:off x="4303394" y="5539336"/>
            <a:ext cx="1181844" cy="446484"/>
          </a:xfrm>
          <a:prstGeom prst="rect">
            <a:avLst/>
          </a:prstGeom>
        </p:spPr>
        <p:txBody>
          <a:bodyPr vert="horz" wrap="square" lIns="0" tIns="8930" rIns="0" bIns="0" rtlCol="0">
            <a:spAutoFit/>
          </a:bodyPr>
          <a:lstStyle/>
          <a:p>
            <a:pPr marL="8929">
              <a:lnSpc>
                <a:spcPct val="100000"/>
              </a:lnSpc>
              <a:spcBef>
                <a:spcPts val="70"/>
              </a:spcBef>
            </a:pPr>
            <a:r>
              <a:rPr sz="2812" b="1">
                <a:solidFill>
                  <a:srgbClr val="FF9300"/>
                </a:solidFill>
                <a:latin typeface="Arial"/>
                <a:cs typeface="Arial"/>
              </a:rPr>
              <a:t>draw( </a:t>
            </a:r>
            <a:r>
              <a:rPr sz="2812" b="1" spc="-35">
                <a:solidFill>
                  <a:srgbClr val="FF9300"/>
                </a:solidFill>
                <a:latin typeface="Arial"/>
                <a:cs typeface="Arial"/>
              </a:rPr>
              <a:t>)</a:t>
            </a:r>
            <a:endParaRPr sz="2812">
              <a:latin typeface="Arial"/>
              <a:cs typeface="Arial"/>
            </a:endParaRPr>
          </a:p>
        </p:txBody>
      </p:sp>
      <p:sp>
        <p:nvSpPr>
          <p:cNvPr id="25" name="object 25"/>
          <p:cNvSpPr txBox="1"/>
          <p:nvPr/>
        </p:nvSpPr>
        <p:spPr>
          <a:xfrm>
            <a:off x="6645614" y="5539336"/>
            <a:ext cx="1181844" cy="446484"/>
          </a:xfrm>
          <a:prstGeom prst="rect">
            <a:avLst/>
          </a:prstGeom>
        </p:spPr>
        <p:txBody>
          <a:bodyPr vert="horz" wrap="square" lIns="0" tIns="8930" rIns="0" bIns="0" rtlCol="0">
            <a:spAutoFit/>
          </a:bodyPr>
          <a:lstStyle/>
          <a:p>
            <a:pPr marL="8929">
              <a:lnSpc>
                <a:spcPct val="100000"/>
              </a:lnSpc>
              <a:spcBef>
                <a:spcPts val="70"/>
              </a:spcBef>
            </a:pPr>
            <a:r>
              <a:rPr sz="2812" b="1">
                <a:solidFill>
                  <a:srgbClr val="EE220C"/>
                </a:solidFill>
                <a:latin typeface="Arial"/>
                <a:cs typeface="Arial"/>
              </a:rPr>
              <a:t>draw( </a:t>
            </a:r>
            <a:r>
              <a:rPr sz="2812" b="1" spc="-35">
                <a:solidFill>
                  <a:srgbClr val="EE220C"/>
                </a:solidFill>
                <a:latin typeface="Arial"/>
                <a:cs typeface="Arial"/>
              </a:rPr>
              <a:t>)</a:t>
            </a:r>
            <a:endParaRPr sz="2812">
              <a:latin typeface="Arial"/>
              <a:cs typeface="Arial"/>
            </a:endParaRPr>
          </a:p>
        </p:txBody>
      </p:sp>
      <p:sp>
        <p:nvSpPr>
          <p:cNvPr id="26" name="object 26"/>
          <p:cNvSpPr txBox="1"/>
          <p:nvPr/>
        </p:nvSpPr>
        <p:spPr>
          <a:xfrm>
            <a:off x="8973624" y="5539336"/>
            <a:ext cx="1181844" cy="446484"/>
          </a:xfrm>
          <a:prstGeom prst="rect">
            <a:avLst/>
          </a:prstGeom>
        </p:spPr>
        <p:txBody>
          <a:bodyPr vert="horz" wrap="square" lIns="0" tIns="8930" rIns="0" bIns="0" rtlCol="0">
            <a:spAutoFit/>
          </a:bodyPr>
          <a:lstStyle/>
          <a:p>
            <a:pPr marL="8929">
              <a:lnSpc>
                <a:spcPct val="100000"/>
              </a:lnSpc>
              <a:spcBef>
                <a:spcPts val="70"/>
              </a:spcBef>
            </a:pPr>
            <a:r>
              <a:rPr sz="2812" b="1">
                <a:solidFill>
                  <a:srgbClr val="EF5FA7"/>
                </a:solidFill>
                <a:latin typeface="Arial"/>
                <a:cs typeface="Arial"/>
              </a:rPr>
              <a:t>draw( </a:t>
            </a:r>
            <a:r>
              <a:rPr sz="2812" b="1" spc="-35">
                <a:solidFill>
                  <a:srgbClr val="EF5FA7"/>
                </a:solidFill>
                <a:latin typeface="Arial"/>
                <a:cs typeface="Arial"/>
              </a:rPr>
              <a:t>)</a:t>
            </a:r>
            <a:endParaRPr sz="2812">
              <a:latin typeface="Arial"/>
              <a:cs typeface="Arial"/>
            </a:endParaRPr>
          </a:p>
        </p:txBody>
      </p:sp>
      <p:sp>
        <p:nvSpPr>
          <p:cNvPr id="27" name="Footer Placeholder 26">
            <a:extLst>
              <a:ext uri="{FF2B5EF4-FFF2-40B4-BE49-F238E27FC236}">
                <a16:creationId xmlns:a16="http://schemas.microsoft.com/office/drawing/2014/main" id="{D84076C6-BC95-5ED4-B907-2E8C1DCAC995}"/>
              </a:ext>
            </a:extLst>
          </p:cNvPr>
          <p:cNvSpPr>
            <a:spLocks noGrp="1"/>
          </p:cNvSpPr>
          <p:nvPr>
            <p:ph type="ftr" sz="quarter" idx="11"/>
          </p:nvPr>
        </p:nvSpPr>
        <p:spPr/>
        <p:txBody>
          <a:bodyPr/>
          <a:lstStyle/>
          <a:p>
            <a:r>
              <a:rPr lang="en-US"/>
              <a:t>Ms. ALF. Sajeetha</a:t>
            </a:r>
          </a:p>
        </p:txBody>
      </p:sp>
      <p:sp>
        <p:nvSpPr>
          <p:cNvPr id="28" name="Slide Number Placeholder 27">
            <a:extLst>
              <a:ext uri="{FF2B5EF4-FFF2-40B4-BE49-F238E27FC236}">
                <a16:creationId xmlns:a16="http://schemas.microsoft.com/office/drawing/2014/main" id="{9FCB34B0-C060-F1F6-7713-74F4C70476D2}"/>
              </a:ext>
            </a:extLst>
          </p:cNvPr>
          <p:cNvSpPr>
            <a:spLocks noGrp="1"/>
          </p:cNvSpPr>
          <p:nvPr>
            <p:ph type="sldNum" sz="quarter" idx="12"/>
          </p:nvPr>
        </p:nvSpPr>
        <p:spPr/>
        <p:txBody>
          <a:bodyPr/>
          <a:lstStyle/>
          <a:p>
            <a:fld id="{48F63A3B-78C7-47BE-AE5E-E10140E04643}" type="slidenum">
              <a:rPr lang="en-US" dirty="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CFD79-EB4F-62BF-18A2-43DC358BABA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1E17B7-4070-4738-3896-78264479B21F}"/>
              </a:ext>
            </a:extLst>
          </p:cNvPr>
          <p:cNvSpPr>
            <a:spLocks noGrp="1"/>
          </p:cNvSpPr>
          <p:nvPr>
            <p:ph idx="1"/>
          </p:nvPr>
        </p:nvSpPr>
        <p:spPr/>
        <p:txBody>
          <a:bodyPr vert="horz" lIns="91440" tIns="45720" rIns="91440" bIns="45720" rtlCol="0" anchor="t">
            <a:normAutofit/>
          </a:bodyPr>
          <a:lstStyle/>
          <a:p>
            <a:r>
              <a:rPr lang="en-US"/>
              <a:t>Polymorphism is an ability (in OOP) to use a common interface for multiple forms (data types).</a:t>
            </a:r>
          </a:p>
          <a:p>
            <a:r>
              <a:rPr lang="en-US"/>
              <a:t>Example 1: The student can act as a student in college, act as a player on the ground, and as a daughter/brother in the home.</a:t>
            </a:r>
          </a:p>
          <a:p>
            <a:r>
              <a:rPr lang="en-US"/>
              <a:t>Example 2: In the programming language, the + operator, acts as a concatenation and arithmetic addition.</a:t>
            </a:r>
          </a:p>
          <a:p>
            <a:r>
              <a:rPr lang="en-US"/>
              <a:t>Example 3: If we need to color a shape, there are multiple shape options (rectangle, square, circle). However we could use the same method to color any shape.</a:t>
            </a:r>
          </a:p>
          <a:p>
            <a:endParaRPr lang="en-US"/>
          </a:p>
        </p:txBody>
      </p:sp>
      <p:sp>
        <p:nvSpPr>
          <p:cNvPr id="4" name="Footer Placeholder 3">
            <a:extLst>
              <a:ext uri="{FF2B5EF4-FFF2-40B4-BE49-F238E27FC236}">
                <a16:creationId xmlns:a16="http://schemas.microsoft.com/office/drawing/2014/main" id="{D7B1C3FA-A476-3067-B734-05372307E1AC}"/>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15191595-C0F0-7F49-8614-F24C5290C351}"/>
              </a:ext>
            </a:extLst>
          </p:cNvPr>
          <p:cNvSpPr>
            <a:spLocks noGrp="1"/>
          </p:cNvSpPr>
          <p:nvPr>
            <p:ph type="sldNum" sz="quarter" idx="12"/>
          </p:nvPr>
        </p:nvSpPr>
        <p:spPr/>
        <p:txBody>
          <a:bodyPr/>
          <a:lstStyle/>
          <a:p>
            <a:fld id="{48F63A3B-78C7-47BE-AE5E-E10140E04643}" type="slidenum">
              <a:rPr lang="en-US" dirty="0"/>
              <a:t>64</a:t>
            </a:fld>
            <a:endParaRPr lang="en-US"/>
          </a:p>
        </p:txBody>
      </p:sp>
    </p:spTree>
    <p:extLst>
      <p:ext uri="{BB962C8B-B14F-4D97-AF65-F5344CB8AC3E}">
        <p14:creationId xmlns:p14="http://schemas.microsoft.com/office/powerpoint/2010/main" val="7138882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CD1D8-CC17-1957-3021-3ADCAEF31DA7}"/>
              </a:ext>
            </a:extLst>
          </p:cNvPr>
          <p:cNvSpPr>
            <a:spLocks noGrp="1"/>
          </p:cNvSpPr>
          <p:nvPr>
            <p:ph type="title"/>
          </p:nvPr>
        </p:nvSpPr>
        <p:spPr/>
        <p:txBody>
          <a:bodyPr>
            <a:normAutofit/>
          </a:bodyPr>
          <a:lstStyle/>
          <a:p>
            <a:r>
              <a:rPr lang="en-US" b="1">
                <a:solidFill>
                  <a:srgbClr val="FF7B00"/>
                </a:solidFill>
                <a:ea typeface="+mj-lt"/>
                <a:cs typeface="+mj-lt"/>
              </a:rPr>
              <a:t>Dynamic binding</a:t>
            </a:r>
            <a:endParaRPr lang="en-US" b="1">
              <a:solidFill>
                <a:srgbClr val="FF7B00"/>
              </a:solidFill>
            </a:endParaRPr>
          </a:p>
        </p:txBody>
      </p:sp>
      <p:sp>
        <p:nvSpPr>
          <p:cNvPr id="3" name="Content Placeholder 2">
            <a:extLst>
              <a:ext uri="{FF2B5EF4-FFF2-40B4-BE49-F238E27FC236}">
                <a16:creationId xmlns:a16="http://schemas.microsoft.com/office/drawing/2014/main" id="{732CAED4-2493-8BA1-351B-02DB558D5E3E}"/>
              </a:ext>
            </a:extLst>
          </p:cNvPr>
          <p:cNvSpPr>
            <a:spLocks noGrp="1"/>
          </p:cNvSpPr>
          <p:nvPr>
            <p:ph idx="1"/>
          </p:nvPr>
        </p:nvSpPr>
        <p:spPr/>
        <p:txBody>
          <a:bodyPr vert="horz" lIns="91440" tIns="45720" rIns="91440" bIns="45720" rtlCol="0" anchor="t">
            <a:normAutofit/>
          </a:bodyPr>
          <a:lstStyle/>
          <a:p>
            <a:r>
              <a:rPr lang="en-US" sz="2400"/>
              <a:t>Dynamic binding means that issuing a request doesn't commit you to a particular implementation until run-time. Consequently, you can write programs that expect an object with a particular interface, knowing that any object that has the correct interface will accept the request. </a:t>
            </a:r>
            <a:endParaRPr lang="en-US"/>
          </a:p>
          <a:p>
            <a:r>
              <a:rPr lang="en-US" sz="2400"/>
              <a:t>Moreover, dynamic binding lets you substitute objects that have identical interfaces for each other at run-time. This substitutability is known as polymorphism, and it's a key concept in object-oriented systems. It lets a client object make few assumptions about other objects beyond supporting a particular interface. </a:t>
            </a:r>
            <a:endParaRPr lang="en-US"/>
          </a:p>
          <a:p>
            <a:r>
              <a:rPr lang="en-US" sz="2400"/>
              <a:t>Polymorphism simplifies the definitions of clients, decouples objects from each other, and lets them vary their relationships to each other at run-time.</a:t>
            </a:r>
            <a:endParaRPr lang="en-US"/>
          </a:p>
        </p:txBody>
      </p:sp>
      <p:sp>
        <p:nvSpPr>
          <p:cNvPr id="4" name="Footer Placeholder 3">
            <a:extLst>
              <a:ext uri="{FF2B5EF4-FFF2-40B4-BE49-F238E27FC236}">
                <a16:creationId xmlns:a16="http://schemas.microsoft.com/office/drawing/2014/main" id="{6B3BFDDE-9F37-6947-9224-93B46DDB4E45}"/>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6107DF3F-A9AD-7321-98D0-B6E6F6B1BD89}"/>
              </a:ext>
            </a:extLst>
          </p:cNvPr>
          <p:cNvSpPr>
            <a:spLocks noGrp="1"/>
          </p:cNvSpPr>
          <p:nvPr>
            <p:ph type="sldNum" sz="quarter" idx="12"/>
          </p:nvPr>
        </p:nvSpPr>
        <p:spPr/>
        <p:txBody>
          <a:bodyPr/>
          <a:lstStyle/>
          <a:p>
            <a:fld id="{48F63A3B-78C7-47BE-AE5E-E10140E04643}" type="slidenum">
              <a:rPr lang="en-US" dirty="0"/>
              <a:t>65</a:t>
            </a:fld>
            <a:endParaRPr lang="en-US"/>
          </a:p>
        </p:txBody>
      </p:sp>
    </p:spTree>
    <p:extLst>
      <p:ext uri="{BB962C8B-B14F-4D97-AF65-F5344CB8AC3E}">
        <p14:creationId xmlns:p14="http://schemas.microsoft.com/office/powerpoint/2010/main" val="38337421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vert="horz" lIns="91440" tIns="45720" rIns="91440" bIns="45720" rtlCol="0" anchor="t">
            <a:normAutofit/>
          </a:bodyPr>
          <a:lstStyle/>
          <a:p>
            <a:pPr marL="0" indent="0" algn="just">
              <a:buNone/>
            </a:pPr>
            <a:endParaRPr lang="en-US"/>
          </a:p>
          <a:p>
            <a:pPr algn="just"/>
            <a:endParaRPr lang="en-US"/>
          </a:p>
        </p:txBody>
      </p:sp>
      <p:pic>
        <p:nvPicPr>
          <p:cNvPr id="4" name="Picture 3" descr="A screen shot of a computer program&#10;&#10;Description automatically generated">
            <a:extLst>
              <a:ext uri="{FF2B5EF4-FFF2-40B4-BE49-F238E27FC236}">
                <a16:creationId xmlns:a16="http://schemas.microsoft.com/office/drawing/2014/main" id="{133D46EF-AEEA-D185-2DCC-3F89CEAE1F49}"/>
              </a:ext>
            </a:extLst>
          </p:cNvPr>
          <p:cNvPicPr>
            <a:picLocks noChangeAspect="1"/>
          </p:cNvPicPr>
          <p:nvPr/>
        </p:nvPicPr>
        <p:blipFill>
          <a:blip r:embed="rId2"/>
          <a:stretch>
            <a:fillRect/>
          </a:stretch>
        </p:blipFill>
        <p:spPr>
          <a:xfrm>
            <a:off x="455963" y="213275"/>
            <a:ext cx="4610100" cy="617220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99D67C12-0C80-0FAB-CF95-631E27555618}"/>
              </a:ext>
            </a:extLst>
          </p:cNvPr>
          <p:cNvPicPr>
            <a:picLocks noChangeAspect="1"/>
          </p:cNvPicPr>
          <p:nvPr/>
        </p:nvPicPr>
        <p:blipFill>
          <a:blip r:embed="rId3"/>
          <a:stretch>
            <a:fillRect/>
          </a:stretch>
        </p:blipFill>
        <p:spPr>
          <a:xfrm>
            <a:off x="5065754" y="208550"/>
            <a:ext cx="6677025" cy="6168117"/>
          </a:xfrm>
          <a:prstGeom prst="rect">
            <a:avLst/>
          </a:prstGeom>
        </p:spPr>
      </p:pic>
      <p:sp>
        <p:nvSpPr>
          <p:cNvPr id="6" name="Footer Placeholder 5">
            <a:extLst>
              <a:ext uri="{FF2B5EF4-FFF2-40B4-BE49-F238E27FC236}">
                <a16:creationId xmlns:a16="http://schemas.microsoft.com/office/drawing/2014/main" id="{454CCDDE-06C9-2EC5-6105-09ECCB27720E}"/>
              </a:ext>
            </a:extLst>
          </p:cNvPr>
          <p:cNvSpPr>
            <a:spLocks noGrp="1"/>
          </p:cNvSpPr>
          <p:nvPr>
            <p:ph type="ftr" sz="quarter" idx="11"/>
          </p:nvPr>
        </p:nvSpPr>
        <p:spPr/>
        <p:txBody>
          <a:bodyPr/>
          <a:lstStyle/>
          <a:p>
            <a:r>
              <a:rPr lang="en-US"/>
              <a:t>Ms. ALF. Sajeetha</a:t>
            </a:r>
          </a:p>
        </p:txBody>
      </p:sp>
      <p:sp>
        <p:nvSpPr>
          <p:cNvPr id="7" name="Slide Number Placeholder 6">
            <a:extLst>
              <a:ext uri="{FF2B5EF4-FFF2-40B4-BE49-F238E27FC236}">
                <a16:creationId xmlns:a16="http://schemas.microsoft.com/office/drawing/2014/main" id="{31BC383D-0162-20F4-7D20-C1E94764FBE7}"/>
              </a:ext>
            </a:extLst>
          </p:cNvPr>
          <p:cNvSpPr>
            <a:spLocks noGrp="1"/>
          </p:cNvSpPr>
          <p:nvPr>
            <p:ph type="sldNum" sz="quarter" idx="12"/>
          </p:nvPr>
        </p:nvSpPr>
        <p:spPr/>
        <p:txBody>
          <a:bodyPr/>
          <a:lstStyle/>
          <a:p>
            <a:fld id="{48F63A3B-78C7-47BE-AE5E-E10140E04643}" type="slidenum">
              <a:rPr lang="en-US" dirty="0"/>
              <a:t>66</a:t>
            </a:fld>
            <a:endParaRPr lang="en-US"/>
          </a:p>
        </p:txBody>
      </p:sp>
    </p:spTree>
    <p:extLst>
      <p:ext uri="{BB962C8B-B14F-4D97-AF65-F5344CB8AC3E}">
        <p14:creationId xmlns:p14="http://schemas.microsoft.com/office/powerpoint/2010/main" val="17355833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792604" y="1491478"/>
            <a:ext cx="5745130" cy="4000847"/>
          </a:xfrm>
          <a:prstGeom prst="rect">
            <a:avLst/>
          </a:prstGeom>
        </p:spPr>
      </p:pic>
      <p:pic>
        <p:nvPicPr>
          <p:cNvPr id="5" name="Picture 4"/>
          <p:cNvPicPr>
            <a:picLocks noChangeAspect="1"/>
          </p:cNvPicPr>
          <p:nvPr/>
        </p:nvPicPr>
        <p:blipFill rotWithShape="1">
          <a:blip r:embed="rId3"/>
          <a:srcRect r="6978"/>
          <a:stretch/>
        </p:blipFill>
        <p:spPr>
          <a:xfrm>
            <a:off x="6535229" y="1482081"/>
            <a:ext cx="5418646" cy="2747019"/>
          </a:xfrm>
          <a:prstGeom prst="rect">
            <a:avLst/>
          </a:prstGeom>
        </p:spPr>
      </p:pic>
      <p:sp>
        <p:nvSpPr>
          <p:cNvPr id="6" name="Footer Placeholder 5">
            <a:extLst>
              <a:ext uri="{FF2B5EF4-FFF2-40B4-BE49-F238E27FC236}">
                <a16:creationId xmlns:a16="http://schemas.microsoft.com/office/drawing/2014/main" id="{44CD552A-BC84-0BC3-629D-21A47CF77BD9}"/>
              </a:ext>
            </a:extLst>
          </p:cNvPr>
          <p:cNvSpPr>
            <a:spLocks noGrp="1"/>
          </p:cNvSpPr>
          <p:nvPr>
            <p:ph type="ftr" sz="quarter" idx="11"/>
          </p:nvPr>
        </p:nvSpPr>
        <p:spPr/>
        <p:txBody>
          <a:bodyPr/>
          <a:lstStyle/>
          <a:p>
            <a:r>
              <a:rPr lang="en-US"/>
              <a:t>Ms. ALF. Sajeetha</a:t>
            </a:r>
          </a:p>
        </p:txBody>
      </p:sp>
      <p:sp>
        <p:nvSpPr>
          <p:cNvPr id="7" name="Slide Number Placeholder 6">
            <a:extLst>
              <a:ext uri="{FF2B5EF4-FFF2-40B4-BE49-F238E27FC236}">
                <a16:creationId xmlns:a16="http://schemas.microsoft.com/office/drawing/2014/main" id="{CB233A27-FC71-2172-98BA-387C7FEF32C8}"/>
              </a:ext>
            </a:extLst>
          </p:cNvPr>
          <p:cNvSpPr>
            <a:spLocks noGrp="1"/>
          </p:cNvSpPr>
          <p:nvPr>
            <p:ph type="sldNum" sz="quarter" idx="12"/>
          </p:nvPr>
        </p:nvSpPr>
        <p:spPr/>
        <p:txBody>
          <a:bodyPr/>
          <a:lstStyle/>
          <a:p>
            <a:fld id="{48F63A3B-78C7-47BE-AE5E-E10140E04643}" type="slidenum">
              <a:rPr lang="en-US" dirty="0"/>
              <a:t>67</a:t>
            </a:fld>
            <a:endParaRPr lang="en-US"/>
          </a:p>
        </p:txBody>
      </p:sp>
    </p:spTree>
    <p:extLst>
      <p:ext uri="{BB962C8B-B14F-4D97-AF65-F5344CB8AC3E}">
        <p14:creationId xmlns:p14="http://schemas.microsoft.com/office/powerpoint/2010/main" val="42825867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rgbClr val="FF7B00"/>
                </a:solidFill>
              </a:rPr>
              <a:t>Interface </a:t>
            </a:r>
          </a:p>
        </p:txBody>
      </p:sp>
      <p:sp>
        <p:nvSpPr>
          <p:cNvPr id="3" name="Content Placeholder 2"/>
          <p:cNvSpPr>
            <a:spLocks noGrp="1"/>
          </p:cNvSpPr>
          <p:nvPr>
            <p:ph idx="1"/>
          </p:nvPr>
        </p:nvSpPr>
        <p:spPr/>
        <p:txBody>
          <a:bodyPr vert="horz" lIns="91440" tIns="45720" rIns="91440" bIns="45720" rtlCol="0" anchor="t">
            <a:normAutofit fontScale="92500"/>
          </a:bodyPr>
          <a:lstStyle/>
          <a:p>
            <a:pPr algn="just"/>
            <a:r>
              <a:rPr lang="en-US"/>
              <a:t>The interface in object-oriented languages like Python is a set of method signatures that the implementing class is expected to provide. </a:t>
            </a:r>
          </a:p>
          <a:p>
            <a:pPr algn="just"/>
            <a:r>
              <a:rPr lang="en-US"/>
              <a:t>Writing ordered code and achieving abstraction are both possible through interface implementation.</a:t>
            </a:r>
          </a:p>
          <a:p>
            <a:pPr algn="just"/>
            <a:r>
              <a:rPr lang="en-US"/>
              <a:t>Every operation declared by an object specifies the operation's name, the objects it takes as parameters, and the operation's return value. This is known as the operation's signature. The set of all signatures defined by an object's operations is called the interface to the object. An object's interface characterizes the complete set of requests that can be sent to the object. Any request that matches a signature in the object's interface may be sent to the object.</a:t>
            </a:r>
          </a:p>
        </p:txBody>
      </p:sp>
      <p:sp>
        <p:nvSpPr>
          <p:cNvPr id="4" name="Footer Placeholder 3">
            <a:extLst>
              <a:ext uri="{FF2B5EF4-FFF2-40B4-BE49-F238E27FC236}">
                <a16:creationId xmlns:a16="http://schemas.microsoft.com/office/drawing/2014/main" id="{EAAA3F31-1BAC-E087-EF61-AEF471008CFA}"/>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335CCC6D-5CDC-83F8-F10F-02CFC80402F9}"/>
              </a:ext>
            </a:extLst>
          </p:cNvPr>
          <p:cNvSpPr>
            <a:spLocks noGrp="1"/>
          </p:cNvSpPr>
          <p:nvPr>
            <p:ph type="sldNum" sz="quarter" idx="12"/>
          </p:nvPr>
        </p:nvSpPr>
        <p:spPr/>
        <p:txBody>
          <a:bodyPr/>
          <a:lstStyle/>
          <a:p>
            <a:fld id="{48F63A3B-78C7-47BE-AE5E-E10140E04643}" type="slidenum">
              <a:rPr lang="en-US" dirty="0"/>
              <a:t>68</a:t>
            </a:fld>
            <a:endParaRPr lang="en-US"/>
          </a:p>
        </p:txBody>
      </p:sp>
    </p:spTree>
    <p:extLst>
      <p:ext uri="{BB962C8B-B14F-4D97-AF65-F5344CB8AC3E}">
        <p14:creationId xmlns:p14="http://schemas.microsoft.com/office/powerpoint/2010/main" val="23910567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C47AE-A6C4-E0E2-BE68-D1B06BF4E7F8}"/>
              </a:ext>
            </a:extLst>
          </p:cNvPr>
          <p:cNvSpPr>
            <a:spLocks noGrp="1"/>
          </p:cNvSpPr>
          <p:nvPr>
            <p:ph type="title"/>
          </p:nvPr>
        </p:nvSpPr>
        <p:spPr/>
        <p:txBody>
          <a:bodyPr/>
          <a:lstStyle/>
          <a:p>
            <a:endParaRPr lang="en-US"/>
          </a:p>
        </p:txBody>
      </p:sp>
      <p:pic>
        <p:nvPicPr>
          <p:cNvPr id="7" name="Content Placeholder 6" descr="A screenshot of a computer program&#10;&#10;Description automatically generated">
            <a:extLst>
              <a:ext uri="{FF2B5EF4-FFF2-40B4-BE49-F238E27FC236}">
                <a16:creationId xmlns:a16="http://schemas.microsoft.com/office/drawing/2014/main" id="{E2AB0F17-B6FF-4167-CECF-08FA5C5D2B2C}"/>
              </a:ext>
            </a:extLst>
          </p:cNvPr>
          <p:cNvPicPr>
            <a:picLocks noGrp="1" noChangeAspect="1"/>
          </p:cNvPicPr>
          <p:nvPr>
            <p:ph idx="1"/>
          </p:nvPr>
        </p:nvPicPr>
        <p:blipFill>
          <a:blip r:embed="rId2"/>
          <a:stretch>
            <a:fillRect/>
          </a:stretch>
        </p:blipFill>
        <p:spPr>
          <a:xfrm>
            <a:off x="3046812" y="1118"/>
            <a:ext cx="5626465" cy="6850249"/>
          </a:xfrm>
        </p:spPr>
      </p:pic>
      <p:sp>
        <p:nvSpPr>
          <p:cNvPr id="3" name="Footer Placeholder 2">
            <a:extLst>
              <a:ext uri="{FF2B5EF4-FFF2-40B4-BE49-F238E27FC236}">
                <a16:creationId xmlns:a16="http://schemas.microsoft.com/office/drawing/2014/main" id="{409E53E4-16A0-1CB0-25DF-81EECC85DC14}"/>
              </a:ext>
            </a:extLst>
          </p:cNvPr>
          <p:cNvSpPr>
            <a:spLocks noGrp="1"/>
          </p:cNvSpPr>
          <p:nvPr>
            <p:ph type="ftr" sz="quarter" idx="11"/>
          </p:nvPr>
        </p:nvSpPr>
        <p:spPr/>
        <p:txBody>
          <a:bodyPr/>
          <a:lstStyle/>
          <a:p>
            <a:r>
              <a:rPr lang="en-US"/>
              <a:t>Ms. ALF. Sajeetha</a:t>
            </a:r>
          </a:p>
        </p:txBody>
      </p:sp>
      <p:sp>
        <p:nvSpPr>
          <p:cNvPr id="4" name="Slide Number Placeholder 3">
            <a:extLst>
              <a:ext uri="{FF2B5EF4-FFF2-40B4-BE49-F238E27FC236}">
                <a16:creationId xmlns:a16="http://schemas.microsoft.com/office/drawing/2014/main" id="{C5862416-98D3-2B28-E44A-2F9C75294D2E}"/>
              </a:ext>
            </a:extLst>
          </p:cNvPr>
          <p:cNvSpPr>
            <a:spLocks noGrp="1"/>
          </p:cNvSpPr>
          <p:nvPr>
            <p:ph type="sldNum" sz="quarter" idx="12"/>
          </p:nvPr>
        </p:nvSpPr>
        <p:spPr/>
        <p:txBody>
          <a:bodyPr/>
          <a:lstStyle/>
          <a:p>
            <a:fld id="{48F63A3B-78C7-47BE-AE5E-E10140E04643}" type="slidenum">
              <a:rPr lang="en-US" dirty="0"/>
              <a:t>69</a:t>
            </a:fld>
            <a:endParaRPr lang="en-US"/>
          </a:p>
        </p:txBody>
      </p:sp>
    </p:spTree>
    <p:extLst>
      <p:ext uri="{BB962C8B-B14F-4D97-AF65-F5344CB8AC3E}">
        <p14:creationId xmlns:p14="http://schemas.microsoft.com/office/powerpoint/2010/main" val="36789240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F5EC0-F61B-27A5-CF27-9C63659BF8FA}"/>
              </a:ext>
            </a:extLst>
          </p:cNvPr>
          <p:cNvSpPr>
            <a:spLocks noGrp="1"/>
          </p:cNvSpPr>
          <p:nvPr>
            <p:ph type="title"/>
          </p:nvPr>
        </p:nvSpPr>
        <p:spPr/>
        <p:txBody>
          <a:bodyPr/>
          <a:lstStyle/>
          <a:p>
            <a:r>
              <a:rPr lang="en-US" b="1">
                <a:solidFill>
                  <a:srgbClr val="FF7B00"/>
                </a:solidFill>
              </a:rPr>
              <a:t>Behavior Oriented or Data Oriented</a:t>
            </a:r>
          </a:p>
        </p:txBody>
      </p:sp>
      <p:pic>
        <p:nvPicPr>
          <p:cNvPr id="6" name="Content Placeholder 5" descr="A computer screen with text and numbers&#10;&#10;Description automatically generated">
            <a:extLst>
              <a:ext uri="{FF2B5EF4-FFF2-40B4-BE49-F238E27FC236}">
                <a16:creationId xmlns:a16="http://schemas.microsoft.com/office/drawing/2014/main" id="{FC5D2544-6D3A-1CC9-C977-9C6467A67549}"/>
              </a:ext>
            </a:extLst>
          </p:cNvPr>
          <p:cNvPicPr>
            <a:picLocks noGrp="1" noChangeAspect="1"/>
          </p:cNvPicPr>
          <p:nvPr>
            <p:ph idx="1"/>
          </p:nvPr>
        </p:nvPicPr>
        <p:blipFill>
          <a:blip r:embed="rId2"/>
          <a:stretch>
            <a:fillRect/>
          </a:stretch>
        </p:blipFill>
        <p:spPr>
          <a:xfrm>
            <a:off x="-1099" y="1683837"/>
            <a:ext cx="6752735" cy="3112477"/>
          </a:xfrm>
        </p:spPr>
      </p:pic>
      <p:sp>
        <p:nvSpPr>
          <p:cNvPr id="4" name="Footer Placeholder 3">
            <a:extLst>
              <a:ext uri="{FF2B5EF4-FFF2-40B4-BE49-F238E27FC236}">
                <a16:creationId xmlns:a16="http://schemas.microsoft.com/office/drawing/2014/main" id="{46BC08F7-74B6-8334-8B7A-26C9AD31C39C}"/>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CD0DB21C-6536-6004-1480-5B6EF1FE2B15}"/>
              </a:ext>
            </a:extLst>
          </p:cNvPr>
          <p:cNvSpPr>
            <a:spLocks noGrp="1"/>
          </p:cNvSpPr>
          <p:nvPr>
            <p:ph type="sldNum" sz="quarter" idx="12"/>
          </p:nvPr>
        </p:nvSpPr>
        <p:spPr/>
        <p:txBody>
          <a:bodyPr/>
          <a:lstStyle/>
          <a:p>
            <a:fld id="{48F63A3B-78C7-47BE-AE5E-E10140E04643}" type="slidenum">
              <a:rPr lang="en-US" dirty="0"/>
              <a:t>70</a:t>
            </a:fld>
            <a:endParaRPr lang="en-US"/>
          </a:p>
        </p:txBody>
      </p:sp>
      <p:pic>
        <p:nvPicPr>
          <p:cNvPr id="7" name="Picture 6" descr="A computer screen shot of numbers and digits&#10;&#10;Description automatically generated">
            <a:extLst>
              <a:ext uri="{FF2B5EF4-FFF2-40B4-BE49-F238E27FC236}">
                <a16:creationId xmlns:a16="http://schemas.microsoft.com/office/drawing/2014/main" id="{7919CC29-19FD-D36C-B301-E334CBE6FCA2}"/>
              </a:ext>
            </a:extLst>
          </p:cNvPr>
          <p:cNvPicPr>
            <a:picLocks noChangeAspect="1"/>
          </p:cNvPicPr>
          <p:nvPr/>
        </p:nvPicPr>
        <p:blipFill>
          <a:blip r:embed="rId3"/>
          <a:stretch>
            <a:fillRect/>
          </a:stretch>
        </p:blipFill>
        <p:spPr>
          <a:xfrm>
            <a:off x="6666963" y="3136950"/>
            <a:ext cx="5429250" cy="3219450"/>
          </a:xfrm>
          <a:prstGeom prst="rect">
            <a:avLst/>
          </a:prstGeom>
        </p:spPr>
      </p:pic>
      <p:pic>
        <p:nvPicPr>
          <p:cNvPr id="8" name="Picture 7" descr="A screen shot of a computer code&#10;&#10;Description automatically generated">
            <a:extLst>
              <a:ext uri="{FF2B5EF4-FFF2-40B4-BE49-F238E27FC236}">
                <a16:creationId xmlns:a16="http://schemas.microsoft.com/office/drawing/2014/main" id="{B001D315-B778-A49E-E589-E83B0BFDF198}"/>
              </a:ext>
            </a:extLst>
          </p:cNvPr>
          <p:cNvPicPr>
            <a:picLocks noChangeAspect="1"/>
          </p:cNvPicPr>
          <p:nvPr/>
        </p:nvPicPr>
        <p:blipFill>
          <a:blip r:embed="rId4"/>
          <a:stretch>
            <a:fillRect/>
          </a:stretch>
        </p:blipFill>
        <p:spPr>
          <a:xfrm>
            <a:off x="6666352" y="1619885"/>
            <a:ext cx="2714625" cy="1504950"/>
          </a:xfrm>
          <a:prstGeom prst="rect">
            <a:avLst/>
          </a:prstGeom>
        </p:spPr>
      </p:pic>
    </p:spTree>
    <p:extLst>
      <p:ext uri="{BB962C8B-B14F-4D97-AF65-F5344CB8AC3E}">
        <p14:creationId xmlns:p14="http://schemas.microsoft.com/office/powerpoint/2010/main" val="27909766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rgbClr val="FF7B00"/>
                </a:solidFill>
              </a:rPr>
              <a:t>Method overriding and Redefinition, </a:t>
            </a:r>
          </a:p>
        </p:txBody>
      </p:sp>
      <p:sp>
        <p:nvSpPr>
          <p:cNvPr id="3" name="Content Placeholder 2"/>
          <p:cNvSpPr>
            <a:spLocks noGrp="1"/>
          </p:cNvSpPr>
          <p:nvPr>
            <p:ph idx="1"/>
          </p:nvPr>
        </p:nvSpPr>
        <p:spPr/>
        <p:txBody>
          <a:bodyPr vert="horz" lIns="91440" tIns="45720" rIns="91440" bIns="45720" rtlCol="0" anchor="t">
            <a:normAutofit/>
          </a:bodyPr>
          <a:lstStyle/>
          <a:p>
            <a:r>
              <a:rPr lang="en-US"/>
              <a:t>In object-oriented programming (OOP), method overriding and method redefinition refer to the ability of a subclass to provide a specific implementation for a method that is already defined in its superclass. </a:t>
            </a:r>
          </a:p>
          <a:p>
            <a:r>
              <a:rPr lang="en-US"/>
              <a:t>Both concepts are essential in achieving polymorphism and facilitating code reuse</a:t>
            </a:r>
          </a:p>
        </p:txBody>
      </p:sp>
      <p:sp>
        <p:nvSpPr>
          <p:cNvPr id="4" name="Footer Placeholder 3">
            <a:extLst>
              <a:ext uri="{FF2B5EF4-FFF2-40B4-BE49-F238E27FC236}">
                <a16:creationId xmlns:a16="http://schemas.microsoft.com/office/drawing/2014/main" id="{845EB96C-3CE0-7E14-D425-127528DD101E}"/>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9C780A25-1A85-EF6B-8213-B0AAAB6D1FB6}"/>
              </a:ext>
            </a:extLst>
          </p:cNvPr>
          <p:cNvSpPr>
            <a:spLocks noGrp="1"/>
          </p:cNvSpPr>
          <p:nvPr>
            <p:ph type="sldNum" sz="quarter" idx="12"/>
          </p:nvPr>
        </p:nvSpPr>
        <p:spPr/>
        <p:txBody>
          <a:bodyPr/>
          <a:lstStyle/>
          <a:p>
            <a:fld id="{48F63A3B-78C7-47BE-AE5E-E10140E04643}" type="slidenum">
              <a:rPr lang="en-US" dirty="0"/>
              <a:t>71</a:t>
            </a:fld>
            <a:endParaRPr lang="en-US"/>
          </a:p>
        </p:txBody>
      </p:sp>
    </p:spTree>
    <p:extLst>
      <p:ext uri="{BB962C8B-B14F-4D97-AF65-F5344CB8AC3E}">
        <p14:creationId xmlns:p14="http://schemas.microsoft.com/office/powerpoint/2010/main" val="10601665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rgbClr val="FF7B00"/>
                </a:solidFill>
              </a:rPr>
              <a:t>Method overriding</a:t>
            </a:r>
          </a:p>
        </p:txBody>
      </p:sp>
      <p:sp>
        <p:nvSpPr>
          <p:cNvPr id="3" name="Content Placeholder 2"/>
          <p:cNvSpPr>
            <a:spLocks noGrp="1"/>
          </p:cNvSpPr>
          <p:nvPr>
            <p:ph idx="1"/>
          </p:nvPr>
        </p:nvSpPr>
        <p:spPr/>
        <p:txBody>
          <a:bodyPr vert="horz" lIns="91440" tIns="45720" rIns="91440" bIns="45720" rtlCol="0" anchor="t">
            <a:normAutofit/>
          </a:bodyPr>
          <a:lstStyle/>
          <a:p>
            <a:r>
              <a:rPr lang="en-US" b="1"/>
              <a:t>Method overriding</a:t>
            </a:r>
            <a:r>
              <a:rPr lang="en-US"/>
              <a:t> occurs when a subclass provides a specific implementation for a method that is already defined in its superclass. </a:t>
            </a:r>
          </a:p>
          <a:p>
            <a:r>
              <a:rPr lang="en-US"/>
              <a:t>The overridden method in the subclass must have the same signature (name, return type, and parameters) as the method in the superclass</a:t>
            </a:r>
          </a:p>
        </p:txBody>
      </p:sp>
      <p:sp>
        <p:nvSpPr>
          <p:cNvPr id="4" name="Footer Placeholder 3">
            <a:extLst>
              <a:ext uri="{FF2B5EF4-FFF2-40B4-BE49-F238E27FC236}">
                <a16:creationId xmlns:a16="http://schemas.microsoft.com/office/drawing/2014/main" id="{70190E61-C8CB-9219-5B40-D4B0A658D84A}"/>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4758A3F8-C164-C07B-2E0F-4B5C11987835}"/>
              </a:ext>
            </a:extLst>
          </p:cNvPr>
          <p:cNvSpPr>
            <a:spLocks noGrp="1"/>
          </p:cNvSpPr>
          <p:nvPr>
            <p:ph type="sldNum" sz="quarter" idx="12"/>
          </p:nvPr>
        </p:nvSpPr>
        <p:spPr/>
        <p:txBody>
          <a:bodyPr/>
          <a:lstStyle/>
          <a:p>
            <a:fld id="{48F63A3B-78C7-47BE-AE5E-E10140E04643}" type="slidenum">
              <a:rPr lang="en-US" dirty="0"/>
              <a:t>72</a:t>
            </a:fld>
            <a:endParaRPr lang="en-US"/>
          </a:p>
        </p:txBody>
      </p:sp>
    </p:spTree>
    <p:extLst>
      <p:ext uri="{BB962C8B-B14F-4D97-AF65-F5344CB8AC3E}">
        <p14:creationId xmlns:p14="http://schemas.microsoft.com/office/powerpoint/2010/main" val="30510450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rgbClr val="FF7B00"/>
                </a:solidFill>
              </a:rPr>
              <a:t>Redefinition </a:t>
            </a:r>
          </a:p>
        </p:txBody>
      </p:sp>
      <p:sp>
        <p:nvSpPr>
          <p:cNvPr id="3" name="Content Placeholder 2"/>
          <p:cNvSpPr>
            <a:spLocks noGrp="1"/>
          </p:cNvSpPr>
          <p:nvPr>
            <p:ph idx="1"/>
          </p:nvPr>
        </p:nvSpPr>
        <p:spPr/>
        <p:txBody>
          <a:bodyPr vert="horz" lIns="91440" tIns="45720" rIns="91440" bIns="45720" rtlCol="0" anchor="t">
            <a:normAutofit/>
          </a:bodyPr>
          <a:lstStyle/>
          <a:p>
            <a:r>
              <a:rPr lang="en-US" b="1"/>
              <a:t>Method redefinition</a:t>
            </a:r>
            <a:r>
              <a:rPr lang="en-US"/>
              <a:t> is a broader term that encompasses both method overriding and where a subclass redefines a method that is not present in its superclass. </a:t>
            </a:r>
          </a:p>
          <a:p>
            <a:r>
              <a:rPr lang="en-US"/>
              <a:t>It includes situations where a subclass introduces a new method with the same name as a method in the superclass</a:t>
            </a:r>
          </a:p>
        </p:txBody>
      </p:sp>
      <p:sp>
        <p:nvSpPr>
          <p:cNvPr id="4" name="Footer Placeholder 3">
            <a:extLst>
              <a:ext uri="{FF2B5EF4-FFF2-40B4-BE49-F238E27FC236}">
                <a16:creationId xmlns:a16="http://schemas.microsoft.com/office/drawing/2014/main" id="{81325759-0C0F-6E4A-202E-0145E9C3F2EA}"/>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ECACE758-EB1A-757E-ABB5-6AE2C80A1FBE}"/>
              </a:ext>
            </a:extLst>
          </p:cNvPr>
          <p:cNvSpPr>
            <a:spLocks noGrp="1"/>
          </p:cNvSpPr>
          <p:nvPr>
            <p:ph type="sldNum" sz="quarter" idx="12"/>
          </p:nvPr>
        </p:nvSpPr>
        <p:spPr/>
        <p:txBody>
          <a:bodyPr/>
          <a:lstStyle/>
          <a:p>
            <a:fld id="{48F63A3B-78C7-47BE-AE5E-E10140E04643}" type="slidenum">
              <a:rPr lang="en-US" dirty="0"/>
              <a:t>73</a:t>
            </a:fld>
            <a:endParaRPr lang="en-US"/>
          </a:p>
        </p:txBody>
      </p:sp>
    </p:spTree>
    <p:extLst>
      <p:ext uri="{BB962C8B-B14F-4D97-AF65-F5344CB8AC3E}">
        <p14:creationId xmlns:p14="http://schemas.microsoft.com/office/powerpoint/2010/main" val="37711763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rgbClr val="FF7B00"/>
                </a:solidFill>
              </a:rPr>
              <a:t>Templates</a:t>
            </a:r>
          </a:p>
        </p:txBody>
      </p:sp>
      <p:sp>
        <p:nvSpPr>
          <p:cNvPr id="5" name="Content Placeholder 4"/>
          <p:cNvSpPr>
            <a:spLocks noGrp="1"/>
          </p:cNvSpPr>
          <p:nvPr>
            <p:ph idx="1"/>
          </p:nvPr>
        </p:nvSpPr>
        <p:spPr/>
        <p:txBody>
          <a:bodyPr vert="horz" lIns="91440" tIns="45720" rIns="91440" bIns="45720" rtlCol="0" anchor="t">
            <a:normAutofit lnSpcReduction="10000"/>
          </a:bodyPr>
          <a:lstStyle/>
          <a:p>
            <a:pPr algn="just"/>
            <a:r>
              <a:rPr lang="en-US"/>
              <a:t>Templates help in reducing code redundancy and increase type safety, making them an essential tool in modern software development, particularly in systems programming, game development, and real-time applications.</a:t>
            </a:r>
          </a:p>
          <a:p>
            <a:pPr algn="just"/>
            <a:r>
              <a:rPr lang="en-US"/>
              <a:t>The concept of "templates" is crucial in the context of generic programming, especially as implemented in languages like C++ and somewhat similarly with "generics" in languages like Java and C#. </a:t>
            </a:r>
          </a:p>
          <a:p>
            <a:pPr algn="just"/>
            <a:r>
              <a:rPr lang="en-US"/>
              <a:t>Templates enable classes and functions to operate with generic types, allowing code to be more flexible and reusable without losing the benefits of type safety.</a:t>
            </a:r>
          </a:p>
        </p:txBody>
      </p:sp>
      <p:sp>
        <p:nvSpPr>
          <p:cNvPr id="3" name="Footer Placeholder 2">
            <a:extLst>
              <a:ext uri="{FF2B5EF4-FFF2-40B4-BE49-F238E27FC236}">
                <a16:creationId xmlns:a16="http://schemas.microsoft.com/office/drawing/2014/main" id="{B394A6D1-2171-0E19-2713-CD8797A51010}"/>
              </a:ext>
            </a:extLst>
          </p:cNvPr>
          <p:cNvSpPr>
            <a:spLocks noGrp="1"/>
          </p:cNvSpPr>
          <p:nvPr>
            <p:ph type="ftr" sz="quarter" idx="11"/>
          </p:nvPr>
        </p:nvSpPr>
        <p:spPr/>
        <p:txBody>
          <a:bodyPr/>
          <a:lstStyle/>
          <a:p>
            <a:r>
              <a:rPr lang="en-US"/>
              <a:t>Ms. ALF. Sajeetha</a:t>
            </a:r>
          </a:p>
        </p:txBody>
      </p:sp>
      <p:sp>
        <p:nvSpPr>
          <p:cNvPr id="4" name="Slide Number Placeholder 3">
            <a:extLst>
              <a:ext uri="{FF2B5EF4-FFF2-40B4-BE49-F238E27FC236}">
                <a16:creationId xmlns:a16="http://schemas.microsoft.com/office/drawing/2014/main" id="{7D402E84-1CF9-5EF4-823C-51A56D05BCC3}"/>
              </a:ext>
            </a:extLst>
          </p:cNvPr>
          <p:cNvSpPr>
            <a:spLocks noGrp="1"/>
          </p:cNvSpPr>
          <p:nvPr>
            <p:ph type="sldNum" sz="quarter" idx="12"/>
          </p:nvPr>
        </p:nvSpPr>
        <p:spPr/>
        <p:txBody>
          <a:bodyPr/>
          <a:lstStyle/>
          <a:p>
            <a:fld id="{48F63A3B-78C7-47BE-AE5E-E10140E04643}" type="slidenum">
              <a:rPr lang="en-US" dirty="0"/>
              <a:t>74</a:t>
            </a:fld>
            <a:endParaRPr lang="en-US"/>
          </a:p>
        </p:txBody>
      </p:sp>
    </p:spTree>
    <p:extLst>
      <p:ext uri="{BB962C8B-B14F-4D97-AF65-F5344CB8AC3E}">
        <p14:creationId xmlns:p14="http://schemas.microsoft.com/office/powerpoint/2010/main" val="8227957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C95F7-E908-6DE4-A94E-CEF05D26262A}"/>
              </a:ext>
            </a:extLst>
          </p:cNvPr>
          <p:cNvSpPr>
            <a:spLocks noGrp="1"/>
          </p:cNvSpPr>
          <p:nvPr>
            <p:ph type="title"/>
          </p:nvPr>
        </p:nvSpPr>
        <p:spPr/>
        <p:txBody>
          <a:bodyPr/>
          <a:lstStyle/>
          <a:p>
            <a:r>
              <a:rPr lang="en-US" b="1">
                <a:solidFill>
                  <a:srgbClr val="FF7B00"/>
                </a:solidFill>
                <a:ea typeface="+mj-lt"/>
                <a:cs typeface="+mj-lt"/>
              </a:rPr>
              <a:t>Containers</a:t>
            </a:r>
          </a:p>
        </p:txBody>
      </p:sp>
      <p:sp>
        <p:nvSpPr>
          <p:cNvPr id="3" name="Content Placeholder 2">
            <a:extLst>
              <a:ext uri="{FF2B5EF4-FFF2-40B4-BE49-F238E27FC236}">
                <a16:creationId xmlns:a16="http://schemas.microsoft.com/office/drawing/2014/main" id="{A72D3CE1-C696-A0C6-AA9D-F7BC3714CAF8}"/>
              </a:ext>
            </a:extLst>
          </p:cNvPr>
          <p:cNvSpPr>
            <a:spLocks noGrp="1"/>
          </p:cNvSpPr>
          <p:nvPr>
            <p:ph idx="1"/>
          </p:nvPr>
        </p:nvSpPr>
        <p:spPr/>
        <p:txBody>
          <a:bodyPr vert="horz" lIns="91440" tIns="45720" rIns="91440" bIns="45720" rtlCol="0" anchor="t">
            <a:normAutofit/>
          </a:bodyPr>
          <a:lstStyle/>
          <a:p>
            <a:r>
              <a:rPr lang="en-US"/>
              <a:t>In the context of object-oriented programming (OOP), "containers" refer to data structures or objects designed to store, organize, and manage collections of other objects or primitive types. </a:t>
            </a:r>
          </a:p>
          <a:p>
            <a:r>
              <a:rPr lang="en-US"/>
              <a:t>These containers are important for handling various types of data efficiently and effectively in software applications. </a:t>
            </a:r>
          </a:p>
          <a:p>
            <a:r>
              <a:rPr lang="en-US"/>
              <a:t>They can encapsulate different data structures such as arrays, linked lists, trees, hash tables, and more, providing a high level of abstraction over the complexities of these data structures.</a:t>
            </a:r>
          </a:p>
        </p:txBody>
      </p:sp>
      <p:sp>
        <p:nvSpPr>
          <p:cNvPr id="4" name="Footer Placeholder 3">
            <a:extLst>
              <a:ext uri="{FF2B5EF4-FFF2-40B4-BE49-F238E27FC236}">
                <a16:creationId xmlns:a16="http://schemas.microsoft.com/office/drawing/2014/main" id="{2850ADE9-2A90-851D-E5B3-692DCAD89C20}"/>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0E880BA6-4403-8BCC-CD2F-9C4CF4F52055}"/>
              </a:ext>
            </a:extLst>
          </p:cNvPr>
          <p:cNvSpPr>
            <a:spLocks noGrp="1"/>
          </p:cNvSpPr>
          <p:nvPr>
            <p:ph type="sldNum" sz="quarter" idx="12"/>
          </p:nvPr>
        </p:nvSpPr>
        <p:spPr/>
        <p:txBody>
          <a:bodyPr/>
          <a:lstStyle/>
          <a:p>
            <a:fld id="{48F63A3B-78C7-47BE-AE5E-E10140E04643}" type="slidenum">
              <a:rPr lang="en-US" dirty="0"/>
              <a:t>75</a:t>
            </a:fld>
            <a:endParaRPr lang="en-US"/>
          </a:p>
        </p:txBody>
      </p:sp>
    </p:spTree>
    <p:extLst>
      <p:ext uri="{BB962C8B-B14F-4D97-AF65-F5344CB8AC3E}">
        <p14:creationId xmlns:p14="http://schemas.microsoft.com/office/powerpoint/2010/main" val="37487376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Application>Microsoft Office PowerPoint</Application>
  <PresentationFormat>Widescreen</PresentationFormat>
  <Slides>75</Slides>
  <Notes>8</Notes>
  <HiddenSlides>0</HiddenSlides>
  <ScaleCrop>false</ScaleCrop>
  <HeadingPairs>
    <vt:vector size="4" baseType="variant">
      <vt:variant>
        <vt:lpstr>Theme</vt:lpstr>
      </vt:variant>
      <vt:variant>
        <vt:i4>1</vt:i4>
      </vt:variant>
      <vt:variant>
        <vt:lpstr>Slide Titles</vt:lpstr>
      </vt:variant>
      <vt:variant>
        <vt:i4>75</vt:i4>
      </vt:variant>
    </vt:vector>
  </HeadingPairs>
  <TitlesOfParts>
    <vt:vector size="76" baseType="lpstr">
      <vt:lpstr>Office Theme</vt:lpstr>
      <vt:lpstr>Applied Programming &amp; Design Principles S - 03 </vt:lpstr>
      <vt:lpstr>Object-oriented programming (OOP) in Python follows the four fundamental principles known as the "Four Pillars of OOP</vt:lpstr>
      <vt:lpstr>Abstraction</vt:lpstr>
      <vt:lpstr>Abstraction</vt:lpstr>
      <vt:lpstr>Data Abstraction</vt:lpstr>
      <vt:lpstr>Data Abstraction</vt:lpstr>
      <vt:lpstr>Process Abstraction</vt:lpstr>
      <vt:lpstr>Abstraction Example</vt:lpstr>
      <vt:lpstr>Abstraction &amp; Encapsulation - Exercises</vt:lpstr>
      <vt:lpstr>Abstraction - Answers</vt:lpstr>
      <vt:lpstr>Abstraction - Answers</vt:lpstr>
      <vt:lpstr>Abstraction - Answers</vt:lpstr>
      <vt:lpstr>Abstract Data Types (ADT)</vt:lpstr>
      <vt:lpstr>Software Reuse and ADTs</vt:lpstr>
      <vt:lpstr>Software Reuse and ADTs</vt:lpstr>
      <vt:lpstr>Software Reuse and Inheritance</vt:lpstr>
      <vt:lpstr>Abstraction</vt:lpstr>
      <vt:lpstr>Example</vt:lpstr>
      <vt:lpstr>PowerPoint Presentation</vt:lpstr>
      <vt:lpstr>Abstract Classes</vt:lpstr>
      <vt:lpstr>Encapsulation</vt:lpstr>
      <vt:lpstr>Encapsulation</vt:lpstr>
      <vt:lpstr>Encapsulation</vt:lpstr>
      <vt:lpstr> Encapsulation</vt:lpstr>
      <vt:lpstr>Consider a real-life example of encapsulation</vt:lpstr>
      <vt:lpstr>Protected members</vt:lpstr>
      <vt:lpstr>PowerPoint Presentation</vt:lpstr>
      <vt:lpstr>Private members</vt:lpstr>
      <vt:lpstr>PowerPoint Presentation</vt:lpstr>
      <vt:lpstr>PowerPoint Presentation</vt:lpstr>
      <vt:lpstr>PowerPoint Presentation</vt:lpstr>
      <vt:lpstr>PowerPoint Presentation</vt:lpstr>
      <vt:lpstr>Example</vt:lpstr>
      <vt:lpstr>Naming Encapsulations</vt:lpstr>
      <vt:lpstr>Naming Encapsulations</vt:lpstr>
      <vt:lpstr>Naming Encapsulations</vt:lpstr>
      <vt:lpstr>Naming Encapsulations - C++</vt:lpstr>
      <vt:lpstr>Naming Encapsulations - Java</vt:lpstr>
      <vt:lpstr>Inheritance </vt:lpstr>
      <vt:lpstr>Inheritance</vt:lpstr>
      <vt:lpstr>Inheritance</vt:lpstr>
      <vt:lpstr>Inheritance</vt:lpstr>
      <vt:lpstr>Types of Inheritances </vt:lpstr>
      <vt:lpstr>Python Inheritance Syntax</vt:lpstr>
      <vt:lpstr>Creating a Parent Class</vt:lpstr>
      <vt:lpstr>Creating a Child Class</vt:lpstr>
      <vt:lpstr>PowerPoint Presentation</vt:lpstr>
      <vt:lpstr>PowerPoint Presentation</vt:lpstr>
      <vt:lpstr>PowerPoint Presentation</vt:lpstr>
      <vt:lpstr>Explanation</vt:lpstr>
      <vt:lpstr>PowerPoint Presentation</vt:lpstr>
      <vt:lpstr>PowerPoint Presentation</vt:lpstr>
      <vt:lpstr>Class Relationship Composition Vs Inheritance </vt:lpstr>
      <vt:lpstr>Composition</vt:lpstr>
      <vt:lpstr>PowerPoint Presentation</vt:lpstr>
      <vt:lpstr>PowerPoint Presentation</vt:lpstr>
      <vt:lpstr>Polymorphism</vt:lpstr>
      <vt:lpstr>Polymorphism </vt:lpstr>
      <vt:lpstr>Polymorphism - Dynamic Binding</vt:lpstr>
      <vt:lpstr>PowerPoint Presentation</vt:lpstr>
      <vt:lpstr>Polymorphism - Dynamic Binding</vt:lpstr>
      <vt:lpstr>Polymorphism - Dynamic Binding</vt:lpstr>
      <vt:lpstr>Polymorphism - Dynamic Binding</vt:lpstr>
      <vt:lpstr>PowerPoint Presentation</vt:lpstr>
      <vt:lpstr>Dynamic binding</vt:lpstr>
      <vt:lpstr>PowerPoint Presentation</vt:lpstr>
      <vt:lpstr>Example</vt:lpstr>
      <vt:lpstr>Interface </vt:lpstr>
      <vt:lpstr>PowerPoint Presentation</vt:lpstr>
      <vt:lpstr>Behavior Oriented or Data Oriented</vt:lpstr>
      <vt:lpstr>Method overriding and Redefinition, </vt:lpstr>
      <vt:lpstr>Method overriding</vt:lpstr>
      <vt:lpstr>Redefinition </vt:lpstr>
      <vt:lpstr>Templates</vt:lpstr>
      <vt:lpstr>Containers</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revision>23</cp:revision>
  <dcterms:created xsi:type="dcterms:W3CDTF">2023-12-04T06:16:55Z</dcterms:created>
  <dcterms:modified xsi:type="dcterms:W3CDTF">2025-06-22T13:57:59Z</dcterms:modified>
</cp:coreProperties>
</file>