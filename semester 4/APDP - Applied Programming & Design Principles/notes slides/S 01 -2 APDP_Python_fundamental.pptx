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8" r:id="rId1"/>
  </p:sldMasterIdLst>
  <p:notesMasterIdLst>
    <p:notesMasterId r:id="rId22"/>
  </p:notesMasterIdLst>
  <p:sldIdLst>
    <p:sldId id="256" r:id="rId2"/>
    <p:sldId id="434" r:id="rId3"/>
    <p:sldId id="435" r:id="rId4"/>
    <p:sldId id="421" r:id="rId5"/>
    <p:sldId id="422" r:id="rId6"/>
    <p:sldId id="423" r:id="rId7"/>
    <p:sldId id="426" r:id="rId8"/>
    <p:sldId id="436" r:id="rId9"/>
    <p:sldId id="437" r:id="rId10"/>
    <p:sldId id="424" r:id="rId11"/>
    <p:sldId id="438" r:id="rId12"/>
    <p:sldId id="439" r:id="rId13"/>
    <p:sldId id="433" r:id="rId14"/>
    <p:sldId id="419" r:id="rId15"/>
    <p:sldId id="427" r:id="rId16"/>
    <p:sldId id="432" r:id="rId17"/>
    <p:sldId id="440" r:id="rId18"/>
    <p:sldId id="441" r:id="rId19"/>
    <p:sldId id="425" r:id="rId20"/>
    <p:sldId id="44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B00"/>
    <a:srgbClr val="D19D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452790-827D-A37F-B8CB-93800C09CB80}" v="31" dt="2024-09-17T06:20:07.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5A34D0-BD93-4862-A5BE-DC48A32A008C}" type="datetimeFigureOut">
              <a:rPr lang="en-US" smtClean="0"/>
              <a:t>6/22/2025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12C6D-F6F1-4F7B-8B98-CEB96C06A8CB}" type="slidenum">
              <a:rPr lang="en-US" smtClean="0"/>
              <a:t>‹#›</a:t>
            </a:fld>
            <a:endParaRPr lang="en-US"/>
          </a:p>
        </p:txBody>
      </p:sp>
    </p:spTree>
    <p:extLst>
      <p:ext uri="{BB962C8B-B14F-4D97-AF65-F5344CB8AC3E}">
        <p14:creationId xmlns:p14="http://schemas.microsoft.com/office/powerpoint/2010/main" val="4223435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Linting</a:t>
            </a:r>
            <a:r>
              <a:rPr lang="en-US"/>
              <a:t> is the process of analyzing source code to detect potential errors, bugs, style violations, or suspicious constructs before runtime. Linting tools help developers maintain code quality and consistency by identifying issues like:</a:t>
            </a:r>
          </a:p>
          <a:p>
            <a:pPr marL="285750" indent="-285750">
              <a:buFont typeface="Arial"/>
              <a:buChar char="•"/>
            </a:pPr>
            <a:r>
              <a:rPr lang="en-US"/>
              <a:t>Syntax errors</a:t>
            </a:r>
          </a:p>
          <a:p>
            <a:pPr marL="285750" indent="-285750">
              <a:buFont typeface="Arial"/>
              <a:buChar char="•"/>
            </a:pPr>
            <a:r>
              <a:rPr lang="en-US"/>
              <a:t>Code that doesn't follow language best practices</a:t>
            </a:r>
          </a:p>
          <a:p>
            <a:pPr marL="285750" indent="-285750">
              <a:buFont typeface="Arial"/>
              <a:buChar char="•"/>
            </a:pPr>
            <a:r>
              <a:rPr lang="en-US"/>
              <a:t>Potential bugs or logical errors</a:t>
            </a:r>
          </a:p>
          <a:p>
            <a:pPr marL="285750" indent="-285750">
              <a:buFont typeface="Arial"/>
              <a:buChar char="•"/>
            </a:pPr>
            <a:r>
              <a:rPr lang="en-US"/>
              <a:t>Unused variables, imports, or code</a:t>
            </a:r>
          </a:p>
          <a:p>
            <a:pPr marL="285750" indent="-285750">
              <a:buFont typeface="Arial"/>
              <a:buChar char="•"/>
            </a:pPr>
            <a:r>
              <a:rPr lang="en-US"/>
              <a:t>Violations of code style (e.g., PEP 8 in Python)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DD12C6D-F6F1-4F7B-8B98-CEB96C06A8CB}" type="slidenum">
              <a:rPr lang="en-US" smtClean="0"/>
              <a:t>9</a:t>
            </a:fld>
            <a:endParaRPr lang="en-US"/>
          </a:p>
        </p:txBody>
      </p:sp>
    </p:spTree>
    <p:extLst>
      <p:ext uri="{BB962C8B-B14F-4D97-AF65-F5344CB8AC3E}">
        <p14:creationId xmlns:p14="http://schemas.microsoft.com/office/powerpoint/2010/main" val="2653412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int, str, float, bool: Basic data types.</a:t>
            </a:r>
          </a:p>
          <a:p>
            <a:pPr marL="285750" indent="-285750">
              <a:buFont typeface="Arial"/>
              <a:buChar char="•"/>
            </a:pPr>
            <a:r>
              <a:rPr lang="en-US"/>
              <a:t>List[type]: A list containing elements of a specific type.</a:t>
            </a:r>
            <a:endParaRPr lang="en-US">
              <a:ea typeface="Calibri"/>
              <a:cs typeface="Calibri"/>
            </a:endParaRPr>
          </a:p>
          <a:p>
            <a:pPr marL="285750" indent="-285750">
              <a:buFont typeface="Arial"/>
              <a:buChar char="•"/>
            </a:pPr>
            <a:r>
              <a:rPr lang="en-US" err="1"/>
              <a:t>Dict</a:t>
            </a:r>
            <a:r>
              <a:rPr lang="en-US"/>
              <a:t>[</a:t>
            </a:r>
            <a:r>
              <a:rPr lang="en-US" err="1"/>
              <a:t>key_type</a:t>
            </a:r>
            <a:r>
              <a:rPr lang="en-US"/>
              <a:t>, </a:t>
            </a:r>
            <a:r>
              <a:rPr lang="en-US" err="1"/>
              <a:t>value_type</a:t>
            </a:r>
            <a:r>
              <a:rPr lang="en-US"/>
              <a:t>]: A dictionary with specific types for keys and values.</a:t>
            </a:r>
            <a:endParaRPr lang="en-US">
              <a:ea typeface="Calibri"/>
              <a:cs typeface="Calibri"/>
            </a:endParaRPr>
          </a:p>
          <a:p>
            <a:pPr marL="285750" indent="-285750">
              <a:buFont typeface="Arial"/>
              <a:buChar char="•"/>
            </a:pPr>
            <a:r>
              <a:rPr lang="en-US"/>
              <a:t>Tuple[type1, type2, ...]: A tuple containing specific types.</a:t>
            </a:r>
            <a:endParaRPr lang="en-US">
              <a:ea typeface="Calibri"/>
              <a:cs typeface="Calibri"/>
            </a:endParaRPr>
          </a:p>
          <a:p>
            <a:pPr marL="285750" indent="-285750">
              <a:buFont typeface="Arial"/>
              <a:buChar char="•"/>
            </a:pPr>
            <a:r>
              <a:rPr lang="en-US"/>
              <a:t>Optional[type]: A type that can either be the specified type or None.</a:t>
            </a:r>
            <a:endParaRPr lang="en-US">
              <a:ea typeface="Calibri"/>
              <a:cs typeface="Calibri"/>
            </a:endParaRPr>
          </a:p>
          <a:p>
            <a:pPr marL="285750" indent="-285750">
              <a:buFont typeface="Arial"/>
              <a:buChar char="•"/>
            </a:pPr>
            <a:r>
              <a:rPr lang="en-US"/>
              <a:t>Union[type1, type2, ...]: Accepts multiple possible types.</a:t>
            </a:r>
            <a:endParaRPr lang="en-US">
              <a:ea typeface="Calibri"/>
              <a:cs typeface="Calibri"/>
            </a:endParaRPr>
          </a:p>
          <a:p>
            <a:pPr marL="285750" indent="-285750">
              <a:buFont typeface="Arial"/>
              <a:buChar char="•"/>
            </a:pPr>
            <a:r>
              <a:rPr lang="en-US"/>
              <a:t>Any: Used when any type is acceptable.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DD12C6D-F6F1-4F7B-8B98-CEB96C06A8CB}" type="slidenum">
              <a:rPr lang="en-US" smtClean="0"/>
              <a:t>10</a:t>
            </a:fld>
            <a:endParaRPr lang="en-US"/>
          </a:p>
        </p:txBody>
      </p:sp>
    </p:spTree>
    <p:extLst>
      <p:ext uri="{BB962C8B-B14F-4D97-AF65-F5344CB8AC3E}">
        <p14:creationId xmlns:p14="http://schemas.microsoft.com/office/powerpoint/2010/main" val="2955064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wraps function from the </a:t>
            </a:r>
            <a:r>
              <a:rPr lang="en-US" dirty="0" err="1"/>
              <a:t>functools</a:t>
            </a:r>
            <a:r>
              <a:rPr lang="en-US" dirty="0"/>
              <a:t> module is used as a decorator within decorators to preserve the original function’s metadata, such as its name, docstring, and other attributes, when a decorator is applied to it. Without wraps, the decorated function's metadata would be replaced by the wrapper function's metadata, making it difficult to access information about the original function</a:t>
            </a:r>
          </a:p>
        </p:txBody>
      </p:sp>
      <p:sp>
        <p:nvSpPr>
          <p:cNvPr id="4" name="Slide Number Placeholder 3"/>
          <p:cNvSpPr>
            <a:spLocks noGrp="1"/>
          </p:cNvSpPr>
          <p:nvPr>
            <p:ph type="sldNum" sz="quarter" idx="5"/>
          </p:nvPr>
        </p:nvSpPr>
        <p:spPr/>
        <p:txBody>
          <a:bodyPr/>
          <a:lstStyle/>
          <a:p>
            <a:fld id="{BDD12C6D-F6F1-4F7B-8B98-CEB96C06A8CB}" type="slidenum">
              <a:rPr lang="en-US" smtClean="0"/>
              <a:t>15</a:t>
            </a:fld>
            <a:endParaRPr lang="en-US"/>
          </a:p>
        </p:txBody>
      </p:sp>
    </p:spTree>
    <p:extLst>
      <p:ext uri="{BB962C8B-B14F-4D97-AF65-F5344CB8AC3E}">
        <p14:creationId xmlns:p14="http://schemas.microsoft.com/office/powerpoint/2010/main" val="3105449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err="1"/>
              <a:t>log_and_apply_discount</a:t>
            </a:r>
            <a:r>
              <a:rPr lang="en-US" b="1"/>
              <a:t> Decorator</a:t>
            </a:r>
            <a:r>
              <a:rPr lang="en-US"/>
              <a:t>:</a:t>
            </a:r>
          </a:p>
          <a:p>
            <a:pPr marL="285750" indent="-285750">
              <a:buFont typeface="Arial"/>
              <a:buChar char="•"/>
            </a:pPr>
            <a:r>
              <a:rPr lang="en-US"/>
              <a:t>The decorator </a:t>
            </a:r>
            <a:r>
              <a:rPr lang="en-US" err="1"/>
              <a:t>log_and_apply_discount</a:t>
            </a:r>
            <a:r>
              <a:rPr lang="en-US"/>
              <a:t> logs information about the sale, including the discount if applicable.</a:t>
            </a:r>
          </a:p>
          <a:p>
            <a:pPr marL="285750" indent="-285750">
              <a:buFont typeface="Arial"/>
              <a:buChar char="•"/>
            </a:pPr>
            <a:r>
              <a:rPr lang="en-US"/>
              <a:t>It wraps the </a:t>
            </a:r>
            <a:r>
              <a:rPr lang="en-US" err="1"/>
              <a:t>sale_order</a:t>
            </a:r>
            <a:r>
              <a:rPr lang="en-US"/>
              <a:t> function, processes the arguments, applies a discount, and then returns the final total cost.</a:t>
            </a:r>
          </a:p>
          <a:p>
            <a:pPr marL="285750" indent="-285750">
              <a:buFont typeface="Arial"/>
              <a:buChar char="•"/>
            </a:pPr>
            <a:r>
              <a:rPr lang="en-US" b="1"/>
              <a:t>Decorated </a:t>
            </a:r>
            <a:r>
              <a:rPr lang="en-US" b="1" err="1"/>
              <a:t>sale_order</a:t>
            </a:r>
            <a:r>
              <a:rPr lang="en-US" b="1"/>
              <a:t> Function</a:t>
            </a:r>
            <a:r>
              <a:rPr lang="en-US"/>
              <a:t>:</a:t>
            </a:r>
          </a:p>
          <a:p>
            <a:pPr marL="285750" indent="-285750">
              <a:buFont typeface="Arial"/>
              <a:buChar char="•"/>
            </a:pPr>
            <a:r>
              <a:rPr lang="en-US"/>
              <a:t>The </a:t>
            </a:r>
            <a:r>
              <a:rPr lang="en-US" err="1"/>
              <a:t>sale_order</a:t>
            </a:r>
            <a:r>
              <a:rPr lang="en-US"/>
              <a:t> function calculates the total cost based on the price, quantity, and discount.</a:t>
            </a:r>
          </a:p>
          <a:p>
            <a:pPr marL="285750" indent="-285750">
              <a:buFont typeface="Arial"/>
              <a:buChar char="•"/>
            </a:pPr>
            <a:r>
              <a:rPr lang="en-US" dirty="0"/>
              <a:t>The decorator is applied to the </a:t>
            </a:r>
            <a:r>
              <a:rPr lang="en-US" dirty="0" err="1"/>
              <a:t>sale_order</a:t>
            </a:r>
            <a:r>
              <a:rPr lang="en-US" dirty="0"/>
              <a:t> function using @log_and_apply_discount, so every time </a:t>
            </a:r>
            <a:r>
              <a:rPr lang="en-US" dirty="0" err="1"/>
              <a:t>sale_order</a:t>
            </a:r>
            <a:r>
              <a:rPr lang="en-US" dirty="0"/>
              <a:t> is called, the additional functionality (logging, discount application) is added.</a:t>
            </a:r>
            <a:endParaRPr lang="en-US" dirty="0">
              <a:ea typeface="Calibri"/>
              <a:cs typeface="Calibri"/>
            </a:endParaRPr>
          </a:p>
          <a:p>
            <a:pPr marL="285750" indent="-285750">
              <a:buFont typeface="Arial"/>
              <a:buChar char="•"/>
            </a:pPr>
            <a:r>
              <a:rPr lang="en-US" b="1" dirty="0"/>
              <a:t>Error Handling</a:t>
            </a:r>
            <a:r>
              <a:rPr lang="en-US" dirty="0"/>
              <a:t>:</a:t>
            </a:r>
            <a:endParaRPr lang="en-US" dirty="0">
              <a:ea typeface="Calibri"/>
              <a:cs typeface="Calibri"/>
            </a:endParaRPr>
          </a:p>
          <a:p>
            <a:pPr marL="285750" indent="-285750">
              <a:buFont typeface="Arial"/>
              <a:buChar char="•"/>
            </a:pPr>
            <a:r>
              <a:rPr lang="en-US" dirty="0"/>
              <a:t>The function checks if the price or quantity is negative and raises a </a:t>
            </a:r>
            <a:r>
              <a:rPr lang="en-US" dirty="0" err="1"/>
              <a:t>ValueError</a:t>
            </a:r>
            <a:r>
              <a:rPr lang="en-US" dirty="0"/>
              <a:t> if the input is invalid.</a:t>
            </a:r>
            <a:endParaRPr lang="en-US" dirty="0">
              <a:ea typeface="Calibri"/>
              <a:cs typeface="Calibri"/>
            </a:endParaRPr>
          </a:p>
          <a:p>
            <a:pPr marL="285750" indent="-285750">
              <a:buFont typeface="Arial"/>
              <a:buChar char="•"/>
            </a:pPr>
            <a:r>
              <a:rPr lang="en-US" b="1" dirty="0"/>
              <a:t>Usage</a:t>
            </a:r>
            <a:r>
              <a:rPr lang="en-US" dirty="0"/>
              <a:t>:</a:t>
            </a:r>
            <a:endParaRPr lang="en-US" dirty="0">
              <a:ea typeface="Calibri"/>
              <a:cs typeface="Calibri"/>
            </a:endParaRPr>
          </a:p>
          <a:p>
            <a:pPr marL="285750" indent="-285750">
              <a:buFont typeface="Arial"/>
              <a:buChar char="•"/>
            </a:pPr>
            <a:r>
              <a:rPr lang="en-US" dirty="0"/>
              <a:t>The example shows a sale order for a customer named "Alice", where a 10% discount is applied to a product that costs $100 and a quantity of 3 is ordered.</a:t>
            </a:r>
            <a:endParaRPr lang="en-US" dirty="0">
              <a:ea typeface="Calibri"/>
              <a:cs typeface="Calibri"/>
            </a:endParaRPr>
          </a:p>
          <a:p>
            <a:pPr marL="285750" indent="-285750">
              <a:buFont typeface="Arial"/>
              <a:buChar char="•"/>
            </a:pPr>
            <a:r>
              <a:rPr lang="en-US" dirty="0"/>
              <a:t>The final output shows the total cost with logging information.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DD12C6D-F6F1-4F7B-8B98-CEB96C06A8CB}" type="slidenum">
              <a:rPr lang="en-US" smtClean="0"/>
              <a:t>16</a:t>
            </a:fld>
            <a:endParaRPr lang="en-US"/>
          </a:p>
        </p:txBody>
      </p:sp>
    </p:spTree>
    <p:extLst>
      <p:ext uri="{BB962C8B-B14F-4D97-AF65-F5344CB8AC3E}">
        <p14:creationId xmlns:p14="http://schemas.microsoft.com/office/powerpoint/2010/main" val="3021260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Boilerplate code is a piece of repetitive code that can be used over and over with little to no changes. </a:t>
            </a:r>
          </a:p>
        </p:txBody>
      </p:sp>
      <p:sp>
        <p:nvSpPr>
          <p:cNvPr id="4" name="Slide Number Placeholder 3"/>
          <p:cNvSpPr>
            <a:spLocks noGrp="1"/>
          </p:cNvSpPr>
          <p:nvPr>
            <p:ph type="sldNum" sz="quarter" idx="5"/>
          </p:nvPr>
        </p:nvSpPr>
        <p:spPr/>
        <p:txBody>
          <a:bodyPr/>
          <a:lstStyle/>
          <a:p>
            <a:fld id="{BDD12C6D-F6F1-4F7B-8B98-CEB96C06A8CB}" type="slidenum">
              <a:rPr lang="en-US" smtClean="0"/>
              <a:t>17</a:t>
            </a:fld>
            <a:endParaRPr lang="en-US"/>
          </a:p>
        </p:txBody>
      </p:sp>
    </p:spTree>
    <p:extLst>
      <p:ext uri="{BB962C8B-B14F-4D97-AF65-F5344CB8AC3E}">
        <p14:creationId xmlns:p14="http://schemas.microsoft.com/office/powerpoint/2010/main" val="1725550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421331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2047141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4684526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6/22/2025</a:t>
            </a:fld>
            <a:endParaRPr lang="en-US"/>
          </a:p>
        </p:txBody>
      </p:sp>
      <p:sp>
        <p:nvSpPr>
          <p:cNvPr id="6" name="Footer Placeholder 5"/>
          <p:cNvSpPr>
            <a:spLocks noGrp="1"/>
          </p:cNvSpPr>
          <p:nvPr>
            <p:ph type="ftr" sz="quarter" idx="11"/>
          </p:nvPr>
        </p:nvSpPr>
        <p:spPr/>
        <p:txBody>
          <a:bodyPr/>
          <a:lstStyle/>
          <a:p>
            <a:r>
              <a:rPr lang="en-US"/>
              <a:t>Ms. ALF. Sajeetha</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14388794"/>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6/22/2025</a:t>
            </a:fld>
            <a:endParaRPr lang="en-US"/>
          </a:p>
        </p:txBody>
      </p:sp>
      <p:sp>
        <p:nvSpPr>
          <p:cNvPr id="8" name="Footer Placeholder 7"/>
          <p:cNvSpPr>
            <a:spLocks noGrp="1"/>
          </p:cNvSpPr>
          <p:nvPr>
            <p:ph type="ftr" sz="quarter" idx="11"/>
          </p:nvPr>
        </p:nvSpPr>
        <p:spPr/>
        <p:txBody>
          <a:bodyPr/>
          <a:lstStyle/>
          <a:p>
            <a:r>
              <a:rPr lang="en-US"/>
              <a:t>Ms. ALF. Sajeetha</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5017226"/>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6/22/2025</a:t>
            </a:fld>
            <a:endParaRPr lang="en-US"/>
          </a:p>
        </p:txBody>
      </p:sp>
      <p:sp>
        <p:nvSpPr>
          <p:cNvPr id="4" name="Footer Placeholder 3"/>
          <p:cNvSpPr>
            <a:spLocks noGrp="1"/>
          </p:cNvSpPr>
          <p:nvPr>
            <p:ph type="ftr" sz="quarter" idx="11"/>
          </p:nvPr>
        </p:nvSpPr>
        <p:spPr/>
        <p:txBody>
          <a:bodyPr/>
          <a:lstStyle/>
          <a:p>
            <a:r>
              <a:rPr lang="en-US"/>
              <a:t>Ms. ALF. Sajeetha</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41816157"/>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6/22/2025</a:t>
            </a:fld>
            <a:endParaRPr lang="en-US"/>
          </a:p>
        </p:txBody>
      </p:sp>
      <p:sp>
        <p:nvSpPr>
          <p:cNvPr id="3" name="Footer Placeholder 2"/>
          <p:cNvSpPr>
            <a:spLocks noGrp="1"/>
          </p:cNvSpPr>
          <p:nvPr>
            <p:ph type="ftr" sz="quarter" idx="11"/>
          </p:nvPr>
        </p:nvSpPr>
        <p:spPr/>
        <p:txBody>
          <a:bodyPr/>
          <a:lstStyle/>
          <a:p>
            <a:r>
              <a:rPr lang="en-US"/>
              <a:t>Ms. ALF. Sajeetha</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69441520"/>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6/22/2025</a:t>
            </a:fld>
            <a:endParaRPr lang="en-US"/>
          </a:p>
        </p:txBody>
      </p:sp>
      <p:sp>
        <p:nvSpPr>
          <p:cNvPr id="6" name="Footer Placeholder 5"/>
          <p:cNvSpPr>
            <a:spLocks noGrp="1"/>
          </p:cNvSpPr>
          <p:nvPr>
            <p:ph type="ftr" sz="quarter" idx="11"/>
          </p:nvPr>
        </p:nvSpPr>
        <p:spPr/>
        <p:txBody>
          <a:bodyPr/>
          <a:lstStyle/>
          <a:p>
            <a:r>
              <a:rPr lang="en-US"/>
              <a:t>Ms. ALF. Sajeetha</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5705468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6/22/2025</a:t>
            </a:fld>
            <a:endParaRPr lang="en-US"/>
          </a:p>
        </p:txBody>
      </p:sp>
      <p:sp>
        <p:nvSpPr>
          <p:cNvPr id="6" name="Footer Placeholder 5"/>
          <p:cNvSpPr>
            <a:spLocks noGrp="1"/>
          </p:cNvSpPr>
          <p:nvPr>
            <p:ph type="ftr" sz="quarter" idx="11"/>
          </p:nvPr>
        </p:nvSpPr>
        <p:spPr/>
        <p:txBody>
          <a:bodyPr/>
          <a:lstStyle/>
          <a:p>
            <a:r>
              <a:rPr lang="en-US"/>
              <a:t>Ms. ALF. Sajeetha</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38953272"/>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00955170"/>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6/22/2025</a:t>
            </a:fld>
            <a:endParaRPr lang="en-US"/>
          </a:p>
        </p:txBody>
      </p:sp>
      <p:sp>
        <p:nvSpPr>
          <p:cNvPr id="5" name="Footer Placeholder 4"/>
          <p:cNvSpPr>
            <a:spLocks noGrp="1"/>
          </p:cNvSpPr>
          <p:nvPr>
            <p:ph type="ftr" sz="quarter" idx="11"/>
          </p:nvPr>
        </p:nvSpPr>
        <p:spPr/>
        <p:txBody>
          <a:bodyPr/>
          <a:lstStyle/>
          <a:p>
            <a:r>
              <a:rPr lang="en-US"/>
              <a:t>Ms. ALF. Sajeetha</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256686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3004800" h="9753600">
                <a:moveTo>
                  <a:pt x="13004800" y="0"/>
                </a:moveTo>
                <a:lnTo>
                  <a:pt x="0" y="0"/>
                </a:lnTo>
                <a:lnTo>
                  <a:pt x="0" y="9753600"/>
                </a:lnTo>
                <a:lnTo>
                  <a:pt x="13004800" y="9753600"/>
                </a:lnTo>
                <a:lnTo>
                  <a:pt x="13004800" y="0"/>
                </a:lnTo>
                <a:close/>
              </a:path>
            </a:pathLst>
          </a:custGeom>
          <a:solidFill>
            <a:srgbClr val="000000"/>
          </a:solidFill>
        </p:spPr>
        <p:txBody>
          <a:bodyPr wrap="square" lIns="0" tIns="0" rIns="0" bIns="0" rtlCol="0"/>
          <a:lstStyle/>
          <a:p>
            <a:endParaRPr/>
          </a:p>
        </p:txBody>
      </p:sp>
      <p:sp>
        <p:nvSpPr>
          <p:cNvPr id="17" name="bg object 17"/>
          <p:cNvSpPr/>
          <p:nvPr/>
        </p:nvSpPr>
        <p:spPr>
          <a:xfrm>
            <a:off x="6884362" y="1504203"/>
            <a:ext cx="3303984" cy="3940225"/>
          </a:xfrm>
          <a:custGeom>
            <a:avLst/>
            <a:gdLst/>
            <a:ahLst/>
            <a:cxnLst/>
            <a:rect l="l" t="t" r="r" b="b"/>
            <a:pathLst>
              <a:path w="3524250" h="5603875">
                <a:moveTo>
                  <a:pt x="3523964" y="0"/>
                </a:moveTo>
                <a:lnTo>
                  <a:pt x="0" y="0"/>
                </a:lnTo>
                <a:lnTo>
                  <a:pt x="0" y="5603873"/>
                </a:lnTo>
                <a:lnTo>
                  <a:pt x="3523964" y="5603873"/>
                </a:lnTo>
                <a:lnTo>
                  <a:pt x="3523964" y="0"/>
                </a:lnTo>
                <a:close/>
              </a:path>
            </a:pathLst>
          </a:custGeom>
          <a:solidFill>
            <a:srgbClr val="F8BA00"/>
          </a:solidFill>
        </p:spPr>
        <p:txBody>
          <a:bodyPr wrap="square" lIns="0" tIns="0" rIns="0" bIns="0" rtlCol="0"/>
          <a:lstStyle/>
          <a:p>
            <a:endParaRPr/>
          </a:p>
        </p:txBody>
      </p:sp>
      <p:sp>
        <p:nvSpPr>
          <p:cNvPr id="18" name="bg object 18"/>
          <p:cNvSpPr/>
          <p:nvPr/>
        </p:nvSpPr>
        <p:spPr>
          <a:xfrm>
            <a:off x="7434190" y="2034057"/>
            <a:ext cx="2038350" cy="892969"/>
          </a:xfrm>
          <a:custGeom>
            <a:avLst/>
            <a:gdLst/>
            <a:ahLst/>
            <a:cxnLst/>
            <a:rect l="l" t="t" r="r" b="b"/>
            <a:pathLst>
              <a:path w="2174240" h="1270000">
                <a:moveTo>
                  <a:pt x="1882692" y="0"/>
                </a:moveTo>
                <a:lnTo>
                  <a:pt x="291210" y="0"/>
                </a:lnTo>
                <a:lnTo>
                  <a:pt x="233261" y="222"/>
                </a:lnTo>
                <a:lnTo>
                  <a:pt x="186527" y="1783"/>
                </a:lnTo>
                <a:lnTo>
                  <a:pt x="120299" y="14269"/>
                </a:lnTo>
                <a:lnTo>
                  <a:pt x="85465" y="31474"/>
                </a:lnTo>
                <a:lnTo>
                  <a:pt x="55531" y="55531"/>
                </a:lnTo>
                <a:lnTo>
                  <a:pt x="31474" y="85465"/>
                </a:lnTo>
                <a:lnTo>
                  <a:pt x="14270" y="120299"/>
                </a:lnTo>
                <a:lnTo>
                  <a:pt x="1783" y="186527"/>
                </a:lnTo>
                <a:lnTo>
                  <a:pt x="222" y="233260"/>
                </a:lnTo>
                <a:lnTo>
                  <a:pt x="0" y="291209"/>
                </a:lnTo>
                <a:lnTo>
                  <a:pt x="0" y="978789"/>
                </a:lnTo>
                <a:lnTo>
                  <a:pt x="222" y="1036738"/>
                </a:lnTo>
                <a:lnTo>
                  <a:pt x="1783" y="1083472"/>
                </a:lnTo>
                <a:lnTo>
                  <a:pt x="14270" y="1149700"/>
                </a:lnTo>
                <a:lnTo>
                  <a:pt x="31474" y="1184533"/>
                </a:lnTo>
                <a:lnTo>
                  <a:pt x="55531" y="1214467"/>
                </a:lnTo>
                <a:lnTo>
                  <a:pt x="85465" y="1238525"/>
                </a:lnTo>
                <a:lnTo>
                  <a:pt x="120299" y="1255729"/>
                </a:lnTo>
                <a:lnTo>
                  <a:pt x="186527" y="1268216"/>
                </a:lnTo>
                <a:lnTo>
                  <a:pt x="233261" y="1269777"/>
                </a:lnTo>
                <a:lnTo>
                  <a:pt x="291210" y="1270000"/>
                </a:lnTo>
                <a:lnTo>
                  <a:pt x="1882692" y="1270000"/>
                </a:lnTo>
                <a:lnTo>
                  <a:pt x="1940641" y="1269777"/>
                </a:lnTo>
                <a:lnTo>
                  <a:pt x="1987374" y="1268216"/>
                </a:lnTo>
                <a:lnTo>
                  <a:pt x="2053602" y="1255729"/>
                </a:lnTo>
                <a:lnTo>
                  <a:pt x="2088436" y="1238525"/>
                </a:lnTo>
                <a:lnTo>
                  <a:pt x="2118370" y="1214467"/>
                </a:lnTo>
                <a:lnTo>
                  <a:pt x="2142428" y="1184533"/>
                </a:lnTo>
                <a:lnTo>
                  <a:pt x="2159632" y="1149700"/>
                </a:lnTo>
                <a:lnTo>
                  <a:pt x="2172118" y="1083472"/>
                </a:lnTo>
                <a:lnTo>
                  <a:pt x="2173679" y="1036738"/>
                </a:lnTo>
                <a:lnTo>
                  <a:pt x="2173902" y="978789"/>
                </a:lnTo>
                <a:lnTo>
                  <a:pt x="2173902" y="291209"/>
                </a:lnTo>
                <a:lnTo>
                  <a:pt x="2173679" y="233260"/>
                </a:lnTo>
                <a:lnTo>
                  <a:pt x="2172118" y="186527"/>
                </a:lnTo>
                <a:lnTo>
                  <a:pt x="2159632" y="120299"/>
                </a:lnTo>
                <a:lnTo>
                  <a:pt x="2142428" y="85465"/>
                </a:lnTo>
                <a:lnTo>
                  <a:pt x="2118370" y="55531"/>
                </a:lnTo>
                <a:lnTo>
                  <a:pt x="2088436" y="31474"/>
                </a:lnTo>
                <a:lnTo>
                  <a:pt x="2053602" y="14269"/>
                </a:lnTo>
                <a:lnTo>
                  <a:pt x="1987374" y="1783"/>
                </a:lnTo>
                <a:lnTo>
                  <a:pt x="1940641" y="222"/>
                </a:lnTo>
                <a:lnTo>
                  <a:pt x="1882692" y="0"/>
                </a:lnTo>
                <a:close/>
              </a:path>
            </a:pathLst>
          </a:custGeom>
          <a:solidFill>
            <a:srgbClr val="1DB100"/>
          </a:solidFill>
        </p:spPr>
        <p:txBody>
          <a:bodyPr wrap="square" lIns="0" tIns="0" rIns="0" bIns="0" rtlCol="0"/>
          <a:lstStyle/>
          <a:p>
            <a:endParaRPr/>
          </a:p>
        </p:txBody>
      </p:sp>
      <p:sp>
        <p:nvSpPr>
          <p:cNvPr id="19" name="bg object 19"/>
          <p:cNvSpPr/>
          <p:nvPr/>
        </p:nvSpPr>
        <p:spPr>
          <a:xfrm>
            <a:off x="7487986" y="3425443"/>
            <a:ext cx="2038350" cy="1665387"/>
          </a:xfrm>
          <a:custGeom>
            <a:avLst/>
            <a:gdLst/>
            <a:ahLst/>
            <a:cxnLst/>
            <a:rect l="l" t="t" r="r" b="b"/>
            <a:pathLst>
              <a:path w="2174240" h="2368550">
                <a:moveTo>
                  <a:pt x="1882692" y="0"/>
                </a:moveTo>
                <a:lnTo>
                  <a:pt x="291211" y="0"/>
                </a:lnTo>
                <a:lnTo>
                  <a:pt x="233261" y="222"/>
                </a:lnTo>
                <a:lnTo>
                  <a:pt x="186528" y="1783"/>
                </a:lnTo>
                <a:lnTo>
                  <a:pt x="120299" y="14270"/>
                </a:lnTo>
                <a:lnTo>
                  <a:pt x="85466" y="31474"/>
                </a:lnTo>
                <a:lnTo>
                  <a:pt x="55532" y="55532"/>
                </a:lnTo>
                <a:lnTo>
                  <a:pt x="31474" y="85466"/>
                </a:lnTo>
                <a:lnTo>
                  <a:pt x="14270" y="120299"/>
                </a:lnTo>
                <a:lnTo>
                  <a:pt x="1783" y="186527"/>
                </a:lnTo>
                <a:lnTo>
                  <a:pt x="222" y="233261"/>
                </a:lnTo>
                <a:lnTo>
                  <a:pt x="0" y="291211"/>
                </a:lnTo>
                <a:lnTo>
                  <a:pt x="0" y="2076831"/>
                </a:lnTo>
                <a:lnTo>
                  <a:pt x="222" y="2134779"/>
                </a:lnTo>
                <a:lnTo>
                  <a:pt x="1783" y="2181513"/>
                </a:lnTo>
                <a:lnTo>
                  <a:pt x="14270" y="2247741"/>
                </a:lnTo>
                <a:lnTo>
                  <a:pt x="31474" y="2282574"/>
                </a:lnTo>
                <a:lnTo>
                  <a:pt x="55532" y="2312509"/>
                </a:lnTo>
                <a:lnTo>
                  <a:pt x="85466" y="2336566"/>
                </a:lnTo>
                <a:lnTo>
                  <a:pt x="120299" y="2353771"/>
                </a:lnTo>
                <a:lnTo>
                  <a:pt x="186528" y="2366257"/>
                </a:lnTo>
                <a:lnTo>
                  <a:pt x="233261" y="2367817"/>
                </a:lnTo>
                <a:lnTo>
                  <a:pt x="291211" y="2368040"/>
                </a:lnTo>
                <a:lnTo>
                  <a:pt x="1882692" y="2368040"/>
                </a:lnTo>
                <a:lnTo>
                  <a:pt x="1940642" y="2367817"/>
                </a:lnTo>
                <a:lnTo>
                  <a:pt x="1987375" y="2366257"/>
                </a:lnTo>
                <a:lnTo>
                  <a:pt x="2053603" y="2353771"/>
                </a:lnTo>
                <a:lnTo>
                  <a:pt x="2088437" y="2336566"/>
                </a:lnTo>
                <a:lnTo>
                  <a:pt x="2118371" y="2312509"/>
                </a:lnTo>
                <a:lnTo>
                  <a:pt x="2142428" y="2282574"/>
                </a:lnTo>
                <a:lnTo>
                  <a:pt x="2159632" y="2247741"/>
                </a:lnTo>
                <a:lnTo>
                  <a:pt x="2172119" y="2181513"/>
                </a:lnTo>
                <a:lnTo>
                  <a:pt x="2173680" y="2134779"/>
                </a:lnTo>
                <a:lnTo>
                  <a:pt x="2173903" y="2076831"/>
                </a:lnTo>
                <a:lnTo>
                  <a:pt x="2173903" y="291211"/>
                </a:lnTo>
                <a:lnTo>
                  <a:pt x="2173680" y="233261"/>
                </a:lnTo>
                <a:lnTo>
                  <a:pt x="2172119" y="186527"/>
                </a:lnTo>
                <a:lnTo>
                  <a:pt x="2159632" y="120299"/>
                </a:lnTo>
                <a:lnTo>
                  <a:pt x="2142428" y="85466"/>
                </a:lnTo>
                <a:lnTo>
                  <a:pt x="2118371" y="55532"/>
                </a:lnTo>
                <a:lnTo>
                  <a:pt x="2088437" y="31474"/>
                </a:lnTo>
                <a:lnTo>
                  <a:pt x="2053603" y="14270"/>
                </a:lnTo>
                <a:lnTo>
                  <a:pt x="1987375" y="1783"/>
                </a:lnTo>
                <a:lnTo>
                  <a:pt x="1940642" y="222"/>
                </a:lnTo>
                <a:lnTo>
                  <a:pt x="1882692" y="0"/>
                </a:lnTo>
                <a:close/>
              </a:path>
            </a:pathLst>
          </a:custGeom>
          <a:solidFill>
            <a:srgbClr val="00A2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219" b="0" i="0">
                <a:solidFill>
                  <a:srgbClr val="FF9300"/>
                </a:solidFill>
                <a:latin typeface="Arial MT"/>
                <a:cs typeface="Arial M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884362" y="1504203"/>
            <a:ext cx="3303984" cy="3940225"/>
          </a:xfrm>
          <a:prstGeom prst="rect">
            <a:avLst/>
          </a:prstGeom>
        </p:spPr>
        <p:txBody>
          <a:bodyPr wrap="square" lIns="0" tIns="0" rIns="0" bIns="0">
            <a:spAutoFit/>
          </a:bodyPr>
          <a:lstStyle>
            <a:lvl1pPr>
              <a:defRPr sz="1687" b="1" i="0">
                <a:solidFill>
                  <a:schemeClr val="bg1"/>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Ms. ALF. Sajeetha</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0152364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6/22/2025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r>
              <a:rPr lang="en-US"/>
              <a:t>Ms. ALF. Sajeetha</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790651473"/>
      </p:ext>
    </p:extLst>
  </p:cSld>
  <p:clrMap bg1="dk1" tx1="lt1" bg2="dk2" tx2="lt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1855" y="818984"/>
            <a:ext cx="11045125" cy="3178689"/>
          </a:xfrm>
        </p:spPr>
        <p:txBody>
          <a:bodyPr>
            <a:normAutofit/>
          </a:bodyPr>
          <a:lstStyle/>
          <a:p>
            <a:pPr algn="l"/>
            <a:r>
              <a:rPr lang="en-US" sz="4800" b="1">
                <a:solidFill>
                  <a:srgbClr val="FF7B00"/>
                </a:solidFill>
              </a:rPr>
              <a:t>Applied Programming &amp; Design Principles</a:t>
            </a:r>
            <a:br>
              <a:rPr lang="en-US" sz="4800" b="1">
                <a:solidFill>
                  <a:srgbClr val="FF7B00"/>
                </a:solidFill>
              </a:rPr>
            </a:br>
            <a:r>
              <a:rPr lang="en-US" sz="3600" b="1">
                <a:solidFill>
                  <a:srgbClr val="FF7B00"/>
                </a:solidFill>
              </a:rPr>
              <a:t>S - 02</a:t>
            </a:r>
            <a:r>
              <a:rPr lang="en-US" sz="4800" b="1">
                <a:solidFill>
                  <a:srgbClr val="FF7B00"/>
                </a:solidFill>
              </a:rPr>
              <a:t> </a:t>
            </a:r>
          </a:p>
        </p:txBody>
      </p:sp>
      <p:sp>
        <p:nvSpPr>
          <p:cNvPr id="3" name="Subtitle 2"/>
          <p:cNvSpPr>
            <a:spLocks noGrp="1"/>
          </p:cNvSpPr>
          <p:nvPr>
            <p:ph type="subTitle" idx="1"/>
          </p:nvPr>
        </p:nvSpPr>
        <p:spPr>
          <a:xfrm>
            <a:off x="8374995" y="5557737"/>
            <a:ext cx="3726058" cy="1078054"/>
          </a:xfrm>
        </p:spPr>
        <p:txBody>
          <a:bodyPr vert="horz" lIns="91440" tIns="45720" rIns="91440" bIns="45720" rtlCol="0" anchor="t">
            <a:normAutofit/>
          </a:bodyPr>
          <a:lstStyle/>
          <a:p>
            <a:pPr algn="l"/>
            <a:r>
              <a:rPr lang="en-US">
                <a:solidFill>
                  <a:srgbClr val="FFFFFF"/>
                </a:solidFill>
              </a:rPr>
              <a:t>Ms. ALF. Sajeetha</a:t>
            </a:r>
          </a:p>
          <a:p>
            <a:pPr algn="l"/>
            <a:r>
              <a:rPr lang="en-US">
                <a:solidFill>
                  <a:srgbClr val="FFFFFF"/>
                </a:solidFill>
              </a:rPr>
              <a:t>Lecturer - IT</a:t>
            </a:r>
          </a:p>
        </p:txBody>
      </p:sp>
    </p:spTree>
    <p:extLst>
      <p:ext uri="{BB962C8B-B14F-4D97-AF65-F5344CB8AC3E}">
        <p14:creationId xmlns:p14="http://schemas.microsoft.com/office/powerpoint/2010/main" val="1133751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F7E4-22B0-E95A-7241-AD303F09E933}"/>
              </a:ext>
            </a:extLst>
          </p:cNvPr>
          <p:cNvSpPr>
            <a:spLocks noGrp="1"/>
          </p:cNvSpPr>
          <p:nvPr>
            <p:ph type="title"/>
          </p:nvPr>
        </p:nvSpPr>
        <p:spPr/>
        <p:txBody>
          <a:bodyPr/>
          <a:lstStyle/>
          <a:p>
            <a:r>
              <a:rPr lang="en-US" dirty="0">
                <a:solidFill>
                  <a:srgbClr val="FF7B00"/>
                </a:solidFill>
              </a:rPr>
              <a:t>Binding of Attributes to Variable</a:t>
            </a:r>
            <a:endParaRPr lang="en-US" dirty="0"/>
          </a:p>
        </p:txBody>
      </p:sp>
      <p:sp>
        <p:nvSpPr>
          <p:cNvPr id="3" name="Content Placeholder 2">
            <a:extLst>
              <a:ext uri="{FF2B5EF4-FFF2-40B4-BE49-F238E27FC236}">
                <a16:creationId xmlns:a16="http://schemas.microsoft.com/office/drawing/2014/main" id="{EE5804DF-4755-CE62-13E4-5B4BDCE1A57A}"/>
              </a:ext>
            </a:extLst>
          </p:cNvPr>
          <p:cNvSpPr>
            <a:spLocks noGrp="1"/>
          </p:cNvSpPr>
          <p:nvPr>
            <p:ph idx="1"/>
          </p:nvPr>
        </p:nvSpPr>
        <p:spPr/>
        <p:txBody>
          <a:bodyPr vert="horz" lIns="91440" tIns="45720" rIns="91440" bIns="45720" rtlCol="0" anchor="t">
            <a:normAutofit/>
          </a:bodyPr>
          <a:lstStyle/>
          <a:p>
            <a:r>
              <a:rPr lang="en-US" b="1" dirty="0">
                <a:solidFill>
                  <a:srgbClr val="FF7B00"/>
                </a:solidFill>
              </a:rPr>
              <a:t>Static</a:t>
            </a:r>
            <a:r>
              <a:rPr lang="en-US" dirty="0"/>
              <a:t> - A binding is static if it first occurs before run time begins and remains unchanged throughout program execution. </a:t>
            </a:r>
          </a:p>
          <a:p>
            <a:r>
              <a:rPr lang="en-US" b="1" dirty="0">
                <a:solidFill>
                  <a:srgbClr val="FF7B00"/>
                </a:solidFill>
              </a:rPr>
              <a:t>Dynamic</a:t>
            </a:r>
            <a:r>
              <a:rPr lang="en-US" dirty="0"/>
              <a:t> - If the binding first occurs during run time or can change in the course of program execution, it is called dynamic. </a:t>
            </a:r>
          </a:p>
        </p:txBody>
      </p:sp>
      <p:sp>
        <p:nvSpPr>
          <p:cNvPr id="4" name="Footer Placeholder 3">
            <a:extLst>
              <a:ext uri="{FF2B5EF4-FFF2-40B4-BE49-F238E27FC236}">
                <a16:creationId xmlns:a16="http://schemas.microsoft.com/office/drawing/2014/main" id="{A89C8888-8FF1-0946-9C67-90F9924616F4}"/>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95DC0D2D-8FDA-95CB-E33A-D3012C4B8BF0}"/>
              </a:ext>
            </a:extLst>
          </p:cNvPr>
          <p:cNvSpPr>
            <a:spLocks noGrp="1"/>
          </p:cNvSpPr>
          <p:nvPr>
            <p:ph type="sldNum" sz="quarter" idx="12"/>
          </p:nvPr>
        </p:nvSpPr>
        <p:spPr/>
        <p:txBody>
          <a:bodyPr/>
          <a:lstStyle/>
          <a:p>
            <a:fld id="{48F63A3B-78C7-47BE-AE5E-E10140E04643}" type="slidenum">
              <a:rPr lang="en-US" dirty="0"/>
              <a:t>2</a:t>
            </a:fld>
            <a:endParaRPr lang="en-US"/>
          </a:p>
        </p:txBody>
      </p:sp>
    </p:spTree>
    <p:extLst>
      <p:ext uri="{BB962C8B-B14F-4D97-AF65-F5344CB8AC3E}">
        <p14:creationId xmlns:p14="http://schemas.microsoft.com/office/powerpoint/2010/main" val="2551411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7B70-5787-E52C-BC4B-A8DD5905FAB7}"/>
              </a:ext>
            </a:extLst>
          </p:cNvPr>
          <p:cNvSpPr>
            <a:spLocks noGrp="1"/>
          </p:cNvSpPr>
          <p:nvPr>
            <p:ph type="title"/>
          </p:nvPr>
        </p:nvSpPr>
        <p:spPr/>
        <p:txBody>
          <a:bodyPr/>
          <a:lstStyle/>
          <a:p>
            <a:r>
              <a:rPr lang="en-US" b="1" dirty="0">
                <a:solidFill>
                  <a:srgbClr val="FF7B00"/>
                </a:solidFill>
              </a:rPr>
              <a:t>Stack and Heap Memory</a:t>
            </a:r>
          </a:p>
        </p:txBody>
      </p:sp>
      <p:sp>
        <p:nvSpPr>
          <p:cNvPr id="3" name="Content Placeholder 2">
            <a:extLst>
              <a:ext uri="{FF2B5EF4-FFF2-40B4-BE49-F238E27FC236}">
                <a16:creationId xmlns:a16="http://schemas.microsoft.com/office/drawing/2014/main" id="{1B228D82-76D4-E98A-327F-931662C4CCB6}"/>
              </a:ext>
            </a:extLst>
          </p:cNvPr>
          <p:cNvSpPr>
            <a:spLocks noGrp="1"/>
          </p:cNvSpPr>
          <p:nvPr>
            <p:ph idx="1"/>
          </p:nvPr>
        </p:nvSpPr>
        <p:spPr/>
        <p:txBody>
          <a:bodyPr vert="horz" lIns="91440" tIns="45720" rIns="91440" bIns="45720" rtlCol="0" anchor="t">
            <a:normAutofit/>
          </a:bodyPr>
          <a:lstStyle/>
          <a:p>
            <a:r>
              <a:rPr lang="en-US" b="1" dirty="0">
                <a:solidFill>
                  <a:srgbClr val="FF7B00"/>
                </a:solidFill>
              </a:rPr>
              <a:t>Stack memory </a:t>
            </a:r>
            <a:r>
              <a:rPr lang="en-US" dirty="0"/>
              <a:t>is a sort of memory allocation that the OS continuously manages and uses to store local variables in a LIFO order.</a:t>
            </a:r>
          </a:p>
          <a:p>
            <a:r>
              <a:rPr lang="en-US" b="1" dirty="0">
                <a:solidFill>
                  <a:srgbClr val="FF7B00"/>
                </a:solidFill>
              </a:rPr>
              <a:t>Heap memory</a:t>
            </a:r>
            <a:r>
              <a:rPr lang="en-US" dirty="0"/>
              <a:t> is a type of dynamic memory allocation used for storing objects and data structures that require a longer lifespan than stack memory</a:t>
            </a:r>
          </a:p>
        </p:txBody>
      </p:sp>
      <p:sp>
        <p:nvSpPr>
          <p:cNvPr id="4" name="Footer Placeholder 3">
            <a:extLst>
              <a:ext uri="{FF2B5EF4-FFF2-40B4-BE49-F238E27FC236}">
                <a16:creationId xmlns:a16="http://schemas.microsoft.com/office/drawing/2014/main" id="{A85F92EE-3A05-9C20-51EB-A68591947C82}"/>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134E267F-7CE8-433B-DE09-BF98F15C7B26}"/>
              </a:ext>
            </a:extLst>
          </p:cNvPr>
          <p:cNvSpPr>
            <a:spLocks noGrp="1"/>
          </p:cNvSpPr>
          <p:nvPr>
            <p:ph type="sldNum" sz="quarter" idx="12"/>
          </p:nvPr>
        </p:nvSpPr>
        <p:spPr/>
        <p:txBody>
          <a:bodyPr/>
          <a:lstStyle/>
          <a:p>
            <a:fld id="{48F63A3B-78C7-47BE-AE5E-E10140E04643}" type="slidenum">
              <a:rPr lang="en-US" dirty="0"/>
              <a:t>3</a:t>
            </a:fld>
            <a:endParaRPr lang="en-US"/>
          </a:p>
        </p:txBody>
      </p:sp>
    </p:spTree>
    <p:extLst>
      <p:ext uri="{BB962C8B-B14F-4D97-AF65-F5344CB8AC3E}">
        <p14:creationId xmlns:p14="http://schemas.microsoft.com/office/powerpoint/2010/main" val="3304250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B7354-7360-C785-7B45-8B5160459BC5}"/>
              </a:ext>
            </a:extLst>
          </p:cNvPr>
          <p:cNvSpPr>
            <a:spLocks noGrp="1"/>
          </p:cNvSpPr>
          <p:nvPr>
            <p:ph type="title"/>
          </p:nvPr>
        </p:nvSpPr>
        <p:spPr/>
        <p:txBody>
          <a:bodyPr/>
          <a:lstStyle/>
          <a:p>
            <a:r>
              <a:rPr lang="en-US" b="1">
                <a:solidFill>
                  <a:srgbClr val="FF7B00"/>
                </a:solidFill>
              </a:rPr>
              <a:t>Exception handling</a:t>
            </a:r>
          </a:p>
        </p:txBody>
      </p:sp>
      <p:sp>
        <p:nvSpPr>
          <p:cNvPr id="3" name="Content Placeholder 2">
            <a:extLst>
              <a:ext uri="{FF2B5EF4-FFF2-40B4-BE49-F238E27FC236}">
                <a16:creationId xmlns:a16="http://schemas.microsoft.com/office/drawing/2014/main" id="{AD61A642-87B3-4634-BCC7-475C17562C4F}"/>
              </a:ext>
            </a:extLst>
          </p:cNvPr>
          <p:cNvSpPr>
            <a:spLocks noGrp="1"/>
          </p:cNvSpPr>
          <p:nvPr>
            <p:ph idx="1"/>
          </p:nvPr>
        </p:nvSpPr>
        <p:spPr/>
        <p:txBody>
          <a:bodyPr vert="horz" lIns="91440" tIns="45720" rIns="91440" bIns="45720" rtlCol="0" anchor="t">
            <a:normAutofit/>
          </a:bodyPr>
          <a:lstStyle/>
          <a:p>
            <a:pPr marL="0" indent="0" algn="just">
              <a:buNone/>
            </a:pPr>
            <a:r>
              <a:rPr lang="en-US" b="1">
                <a:ea typeface="+mn-lt"/>
                <a:cs typeface="+mn-lt"/>
              </a:rPr>
              <a:t>Exception handling</a:t>
            </a:r>
            <a:r>
              <a:rPr lang="en-US">
                <a:ea typeface="+mn-lt"/>
                <a:cs typeface="+mn-lt"/>
              </a:rPr>
              <a:t> in Python allows a program to deal with unexpected errors or exceptions gracefully, without crashing. When an error occurs during the execution of a program, Python will raise an exception, and with exception handling, you can manage these errors and execute code accordingly</a:t>
            </a:r>
            <a:endParaRPr lang="en-US"/>
          </a:p>
        </p:txBody>
      </p:sp>
      <p:sp>
        <p:nvSpPr>
          <p:cNvPr id="4" name="Footer Placeholder 3">
            <a:extLst>
              <a:ext uri="{FF2B5EF4-FFF2-40B4-BE49-F238E27FC236}">
                <a16:creationId xmlns:a16="http://schemas.microsoft.com/office/drawing/2014/main" id="{4B4C03E3-8FFA-884A-1DD4-A96CE75939D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EAA27669-E048-FE49-6C16-823378FF7FF6}"/>
              </a:ext>
            </a:extLst>
          </p:cNvPr>
          <p:cNvSpPr>
            <a:spLocks noGrp="1"/>
          </p:cNvSpPr>
          <p:nvPr>
            <p:ph type="sldNum" sz="quarter" idx="12"/>
          </p:nvPr>
        </p:nvSpPr>
        <p:spPr/>
        <p:txBody>
          <a:bodyPr/>
          <a:lstStyle/>
          <a:p>
            <a:fld id="{48F63A3B-78C7-47BE-AE5E-E10140E04643}" type="slidenum">
              <a:rPr lang="en-US" dirty="0"/>
              <a:t>4</a:t>
            </a:fld>
            <a:endParaRPr lang="en-US"/>
          </a:p>
        </p:txBody>
      </p:sp>
    </p:spTree>
    <p:extLst>
      <p:ext uri="{BB962C8B-B14F-4D97-AF65-F5344CB8AC3E}">
        <p14:creationId xmlns:p14="http://schemas.microsoft.com/office/powerpoint/2010/main" val="2593409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3579-6BC4-2FB7-5C68-662BFC49C420}"/>
              </a:ext>
            </a:extLst>
          </p:cNvPr>
          <p:cNvSpPr>
            <a:spLocks noGrp="1"/>
          </p:cNvSpPr>
          <p:nvPr>
            <p:ph type="title"/>
          </p:nvPr>
        </p:nvSpPr>
        <p:spPr/>
        <p:txBody>
          <a:bodyPr/>
          <a:lstStyle/>
          <a:p>
            <a:r>
              <a:rPr lang="en-US" b="1" dirty="0">
                <a:solidFill>
                  <a:srgbClr val="FF7B00"/>
                </a:solidFill>
              </a:rPr>
              <a:t>Elements/blocks</a:t>
            </a:r>
          </a:p>
        </p:txBody>
      </p:sp>
      <p:sp>
        <p:nvSpPr>
          <p:cNvPr id="3" name="Content Placeholder 2">
            <a:extLst>
              <a:ext uri="{FF2B5EF4-FFF2-40B4-BE49-F238E27FC236}">
                <a16:creationId xmlns:a16="http://schemas.microsoft.com/office/drawing/2014/main" id="{0FF66B89-8178-1EDF-3CE3-EDE90BDE3595}"/>
              </a:ext>
            </a:extLst>
          </p:cNvPr>
          <p:cNvSpPr>
            <a:spLocks noGrp="1"/>
          </p:cNvSpPr>
          <p:nvPr>
            <p:ph idx="1"/>
          </p:nvPr>
        </p:nvSpPr>
        <p:spPr/>
        <p:txBody>
          <a:bodyPr vert="horz" lIns="91440" tIns="45720" rIns="91440" bIns="45720" rtlCol="0" anchor="t">
            <a:normAutofit/>
          </a:bodyPr>
          <a:lstStyle/>
          <a:p>
            <a:pPr marL="342900" indent="-342900">
              <a:buAutoNum type="arabicPeriod"/>
            </a:pPr>
            <a:r>
              <a:rPr lang="en-US" b="1">
                <a:solidFill>
                  <a:srgbClr val="FF7B00"/>
                </a:solidFill>
              </a:rPr>
              <a:t>try block:</a:t>
            </a:r>
            <a:r>
              <a:rPr lang="en-US"/>
              <a:t> The code that may raise an exception is written inside the try block.</a:t>
            </a:r>
          </a:p>
          <a:p>
            <a:pPr>
              <a:buAutoNum type="arabicPeriod"/>
            </a:pPr>
            <a:r>
              <a:rPr lang="en-US" b="1">
                <a:solidFill>
                  <a:srgbClr val="FF7B00"/>
                </a:solidFill>
              </a:rPr>
              <a:t> except block:</a:t>
            </a:r>
            <a:r>
              <a:rPr lang="en-US"/>
              <a:t> This block catches and handles the exception that occurs in the try block.</a:t>
            </a:r>
          </a:p>
          <a:p>
            <a:pPr>
              <a:buAutoNum type="arabicPeriod"/>
            </a:pPr>
            <a:r>
              <a:rPr lang="en-US" b="1">
                <a:solidFill>
                  <a:srgbClr val="FF7B00"/>
                </a:solidFill>
              </a:rPr>
              <a:t> else block:</a:t>
            </a:r>
            <a:r>
              <a:rPr lang="en-US"/>
              <a:t> Code inside the else block runs if no exception is raised in the try block.</a:t>
            </a:r>
          </a:p>
          <a:p>
            <a:pPr>
              <a:buAutoNum type="arabicPeriod"/>
            </a:pPr>
            <a:r>
              <a:rPr lang="en-US" b="1">
                <a:solidFill>
                  <a:srgbClr val="FF7B00"/>
                </a:solidFill>
              </a:rPr>
              <a:t> finally block:</a:t>
            </a:r>
            <a:r>
              <a:rPr lang="en-US"/>
              <a:t> Code inside the finally block will always run, whether an exception occurs or not. It is typically used for cleanup actions (like closing files or releasing resources).</a:t>
            </a:r>
          </a:p>
          <a:p>
            <a:pPr>
              <a:buAutoNum type="arabicPeriod"/>
            </a:pPr>
            <a:endParaRPr lang="en-US"/>
          </a:p>
        </p:txBody>
      </p:sp>
      <p:sp>
        <p:nvSpPr>
          <p:cNvPr id="4" name="Footer Placeholder 3">
            <a:extLst>
              <a:ext uri="{FF2B5EF4-FFF2-40B4-BE49-F238E27FC236}">
                <a16:creationId xmlns:a16="http://schemas.microsoft.com/office/drawing/2014/main" id="{BE07DD98-DA11-7CA8-31D7-F91880333D14}"/>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61045853-CDB5-3F19-BA93-3ED92BAD67C4}"/>
              </a:ext>
            </a:extLst>
          </p:cNvPr>
          <p:cNvSpPr>
            <a:spLocks noGrp="1"/>
          </p:cNvSpPr>
          <p:nvPr>
            <p:ph type="sldNum" sz="quarter" idx="12"/>
          </p:nvPr>
        </p:nvSpPr>
        <p:spPr/>
        <p:txBody>
          <a:bodyPr/>
          <a:lstStyle/>
          <a:p>
            <a:fld id="{48F63A3B-78C7-47BE-AE5E-E10140E04643}" type="slidenum">
              <a:rPr lang="en-US" dirty="0"/>
              <a:t>5</a:t>
            </a:fld>
            <a:endParaRPr lang="en-US"/>
          </a:p>
        </p:txBody>
      </p:sp>
    </p:spTree>
    <p:extLst>
      <p:ext uri="{BB962C8B-B14F-4D97-AF65-F5344CB8AC3E}">
        <p14:creationId xmlns:p14="http://schemas.microsoft.com/office/powerpoint/2010/main" val="520469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B15C4-C22F-0BA6-C894-AE5570D3F721}"/>
              </a:ext>
            </a:extLst>
          </p:cNvPr>
          <p:cNvSpPr>
            <a:spLocks noGrp="1"/>
          </p:cNvSpPr>
          <p:nvPr>
            <p:ph type="title"/>
          </p:nvPr>
        </p:nvSpPr>
        <p:spPr/>
        <p:txBody>
          <a:bodyPr/>
          <a:lstStyle/>
          <a:p>
            <a:endParaRPr lang="en-US"/>
          </a:p>
        </p:txBody>
      </p:sp>
      <p:pic>
        <p:nvPicPr>
          <p:cNvPr id="6" name="Content Placeholder 5" descr="A computer screen shot of a black screen&#10;&#10;Description automatically generated">
            <a:extLst>
              <a:ext uri="{FF2B5EF4-FFF2-40B4-BE49-F238E27FC236}">
                <a16:creationId xmlns:a16="http://schemas.microsoft.com/office/drawing/2014/main" id="{8DB6E7B9-5D81-0A52-C556-0276EB631C11}"/>
              </a:ext>
            </a:extLst>
          </p:cNvPr>
          <p:cNvPicPr>
            <a:picLocks noGrp="1" noChangeAspect="1"/>
          </p:cNvPicPr>
          <p:nvPr>
            <p:ph idx="1"/>
          </p:nvPr>
        </p:nvPicPr>
        <p:blipFill>
          <a:blip r:embed="rId2"/>
          <a:stretch>
            <a:fillRect/>
          </a:stretch>
        </p:blipFill>
        <p:spPr>
          <a:xfrm>
            <a:off x="837101" y="3425398"/>
            <a:ext cx="5781675" cy="2324100"/>
          </a:xfrm>
        </p:spPr>
      </p:pic>
      <p:sp>
        <p:nvSpPr>
          <p:cNvPr id="4" name="Footer Placeholder 3">
            <a:extLst>
              <a:ext uri="{FF2B5EF4-FFF2-40B4-BE49-F238E27FC236}">
                <a16:creationId xmlns:a16="http://schemas.microsoft.com/office/drawing/2014/main" id="{FE12BDAF-374C-0F7C-31E2-0922161406AC}"/>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F27BFCBC-08E3-377F-50E7-B294E7DEEDC5}"/>
              </a:ext>
            </a:extLst>
          </p:cNvPr>
          <p:cNvSpPr>
            <a:spLocks noGrp="1"/>
          </p:cNvSpPr>
          <p:nvPr>
            <p:ph type="sldNum" sz="quarter" idx="12"/>
          </p:nvPr>
        </p:nvSpPr>
        <p:spPr/>
        <p:txBody>
          <a:bodyPr/>
          <a:lstStyle/>
          <a:p>
            <a:fld id="{48F63A3B-78C7-47BE-AE5E-E10140E04643}" type="slidenum">
              <a:rPr lang="en-US" dirty="0"/>
              <a:t>6</a:t>
            </a:fld>
            <a:endParaRPr lang="en-US"/>
          </a:p>
        </p:txBody>
      </p:sp>
      <p:pic>
        <p:nvPicPr>
          <p:cNvPr id="7" name="Picture 6" descr="A computer code on a black background&#10;&#10;Description automatically generated">
            <a:extLst>
              <a:ext uri="{FF2B5EF4-FFF2-40B4-BE49-F238E27FC236}">
                <a16:creationId xmlns:a16="http://schemas.microsoft.com/office/drawing/2014/main" id="{59DAF114-50F1-0C71-AB88-6FACBADE7B95}"/>
              </a:ext>
            </a:extLst>
          </p:cNvPr>
          <p:cNvPicPr>
            <a:picLocks noChangeAspect="1"/>
          </p:cNvPicPr>
          <p:nvPr/>
        </p:nvPicPr>
        <p:blipFill>
          <a:blip r:embed="rId3"/>
          <a:stretch>
            <a:fillRect/>
          </a:stretch>
        </p:blipFill>
        <p:spPr>
          <a:xfrm>
            <a:off x="841863" y="289047"/>
            <a:ext cx="5467350" cy="2809875"/>
          </a:xfrm>
          <a:prstGeom prst="rect">
            <a:avLst/>
          </a:prstGeom>
        </p:spPr>
      </p:pic>
      <p:pic>
        <p:nvPicPr>
          <p:cNvPr id="8" name="Picture 7" descr="A screen shot of a computer program&#10;&#10;Description automatically generated">
            <a:extLst>
              <a:ext uri="{FF2B5EF4-FFF2-40B4-BE49-F238E27FC236}">
                <a16:creationId xmlns:a16="http://schemas.microsoft.com/office/drawing/2014/main" id="{27D22409-5E46-0486-1886-6E23A86DA641}"/>
              </a:ext>
            </a:extLst>
          </p:cNvPr>
          <p:cNvPicPr>
            <a:picLocks noChangeAspect="1"/>
          </p:cNvPicPr>
          <p:nvPr/>
        </p:nvPicPr>
        <p:blipFill>
          <a:blip r:embed="rId4"/>
          <a:stretch>
            <a:fillRect/>
          </a:stretch>
        </p:blipFill>
        <p:spPr>
          <a:xfrm>
            <a:off x="6629034" y="365980"/>
            <a:ext cx="4772025" cy="1647825"/>
          </a:xfrm>
          <a:prstGeom prst="rect">
            <a:avLst/>
          </a:prstGeom>
        </p:spPr>
      </p:pic>
    </p:spTree>
    <p:extLst>
      <p:ext uri="{BB962C8B-B14F-4D97-AF65-F5344CB8AC3E}">
        <p14:creationId xmlns:p14="http://schemas.microsoft.com/office/powerpoint/2010/main" val="1427629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28A0A-BDDF-CA28-323E-B955B9C28136}"/>
              </a:ext>
            </a:extLst>
          </p:cNvPr>
          <p:cNvSpPr>
            <a:spLocks noGrp="1"/>
          </p:cNvSpPr>
          <p:nvPr>
            <p:ph type="title"/>
          </p:nvPr>
        </p:nvSpPr>
        <p:spPr/>
        <p:txBody>
          <a:bodyPr/>
          <a:lstStyle/>
          <a:p>
            <a:r>
              <a:rPr lang="en-US">
                <a:solidFill>
                  <a:srgbClr val="FF7B00"/>
                </a:solidFill>
              </a:rPr>
              <a:t>Exercise</a:t>
            </a:r>
          </a:p>
        </p:txBody>
      </p:sp>
      <p:sp>
        <p:nvSpPr>
          <p:cNvPr id="3" name="Content Placeholder 2">
            <a:extLst>
              <a:ext uri="{FF2B5EF4-FFF2-40B4-BE49-F238E27FC236}">
                <a16:creationId xmlns:a16="http://schemas.microsoft.com/office/drawing/2014/main" id="{1286DE55-4A66-16A4-783E-8542B2F54A84}"/>
              </a:ext>
            </a:extLst>
          </p:cNvPr>
          <p:cNvSpPr>
            <a:spLocks noGrp="1"/>
          </p:cNvSpPr>
          <p:nvPr>
            <p:ph idx="1"/>
          </p:nvPr>
        </p:nvSpPr>
        <p:spPr/>
        <p:txBody>
          <a:bodyPr vert="horz" lIns="91440" tIns="45720" rIns="91440" bIns="45720" rtlCol="0" anchor="t">
            <a:normAutofit/>
          </a:bodyPr>
          <a:lstStyle/>
          <a:p>
            <a:pPr marL="0" indent="0" algn="just">
              <a:buNone/>
            </a:pPr>
            <a:r>
              <a:rPr lang="en-US"/>
              <a:t>Create a </a:t>
            </a:r>
            <a:r>
              <a:rPr lang="en-US">
                <a:solidFill>
                  <a:srgbClr val="FF7B00"/>
                </a:solidFill>
              </a:rPr>
              <a:t>BankAccount</a:t>
            </a:r>
            <a:r>
              <a:rPr lang="en-US"/>
              <a:t> class with the following </a:t>
            </a:r>
            <a:r>
              <a:rPr lang="en-US">
                <a:solidFill>
                  <a:srgbClr val="FF7B00"/>
                </a:solidFill>
              </a:rPr>
              <a:t>attributes, account holder, balance</a:t>
            </a:r>
            <a:r>
              <a:rPr lang="en-US"/>
              <a:t>, Write methods for </a:t>
            </a:r>
            <a:r>
              <a:rPr lang="en-US">
                <a:solidFill>
                  <a:srgbClr val="FF7B00"/>
                </a:solidFill>
              </a:rPr>
              <a:t>deposit(amount)</a:t>
            </a:r>
            <a:r>
              <a:rPr lang="en-US"/>
              <a:t> and </a:t>
            </a:r>
            <a:r>
              <a:rPr lang="en-US">
                <a:solidFill>
                  <a:srgbClr val="FF7B00"/>
                </a:solidFill>
              </a:rPr>
              <a:t>withdraw(amount)</a:t>
            </a:r>
            <a:r>
              <a:rPr lang="en-US"/>
              <a:t>,  If the withdrawal amount exceeds the balance, raise an </a:t>
            </a:r>
            <a:r>
              <a:rPr lang="en-US" err="1">
                <a:solidFill>
                  <a:srgbClr val="FF7B00"/>
                </a:solidFill>
              </a:rPr>
              <a:t>InsufficientFundsError</a:t>
            </a:r>
            <a:r>
              <a:rPr lang="en-US"/>
              <a:t> (create this custom exception),  Handle the </a:t>
            </a:r>
            <a:r>
              <a:rPr lang="en-US" err="1">
                <a:solidFill>
                  <a:srgbClr val="FF7B00"/>
                </a:solidFill>
              </a:rPr>
              <a:t>InsufficientFundsError</a:t>
            </a:r>
            <a:r>
              <a:rPr lang="en-US"/>
              <a:t> when trying to withdraw more than the available balance, Implement exception handling for invalid deposit/withdrawal amounts (</a:t>
            </a:r>
            <a:r>
              <a:rPr lang="en-US" err="1"/>
              <a:t>eg</a:t>
            </a:r>
            <a:r>
              <a:rPr lang="en-US"/>
              <a:t>, non-numeric input) </a:t>
            </a:r>
          </a:p>
        </p:txBody>
      </p:sp>
      <p:sp>
        <p:nvSpPr>
          <p:cNvPr id="4" name="Footer Placeholder 3">
            <a:extLst>
              <a:ext uri="{FF2B5EF4-FFF2-40B4-BE49-F238E27FC236}">
                <a16:creationId xmlns:a16="http://schemas.microsoft.com/office/drawing/2014/main" id="{FC2503A5-A684-4DCE-5AE8-42B2FC47E95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1F34D207-7D30-1EC7-7FA4-557E47DA460D}"/>
              </a:ext>
            </a:extLst>
          </p:cNvPr>
          <p:cNvSpPr>
            <a:spLocks noGrp="1"/>
          </p:cNvSpPr>
          <p:nvPr>
            <p:ph type="sldNum" sz="quarter" idx="12"/>
          </p:nvPr>
        </p:nvSpPr>
        <p:spPr/>
        <p:txBody>
          <a:bodyPr/>
          <a:lstStyle/>
          <a:p>
            <a:fld id="{48F63A3B-78C7-47BE-AE5E-E10140E04643}" type="slidenum">
              <a:rPr lang="en-US" dirty="0"/>
              <a:t>7</a:t>
            </a:fld>
            <a:endParaRPr lang="en-US"/>
          </a:p>
        </p:txBody>
      </p:sp>
    </p:spTree>
    <p:extLst>
      <p:ext uri="{BB962C8B-B14F-4D97-AF65-F5344CB8AC3E}">
        <p14:creationId xmlns:p14="http://schemas.microsoft.com/office/powerpoint/2010/main" val="1289501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5BCF-F3EB-9BD2-F879-F0940FF2A58E}"/>
              </a:ext>
            </a:extLst>
          </p:cNvPr>
          <p:cNvSpPr>
            <a:spLocks noGrp="1"/>
          </p:cNvSpPr>
          <p:nvPr>
            <p:ph type="title"/>
          </p:nvPr>
        </p:nvSpPr>
        <p:spPr/>
        <p:txBody>
          <a:bodyPr/>
          <a:lstStyle/>
          <a:p>
            <a:r>
              <a:rPr lang="en-US" b="1" dirty="0">
                <a:solidFill>
                  <a:srgbClr val="FF7B00"/>
                </a:solidFill>
              </a:rPr>
              <a:t>Typing Module in python (for type hints)</a:t>
            </a:r>
          </a:p>
        </p:txBody>
      </p:sp>
      <p:sp>
        <p:nvSpPr>
          <p:cNvPr id="3" name="Content Placeholder 2">
            <a:extLst>
              <a:ext uri="{FF2B5EF4-FFF2-40B4-BE49-F238E27FC236}">
                <a16:creationId xmlns:a16="http://schemas.microsoft.com/office/drawing/2014/main" id="{9DE459AD-8286-B1D7-E97E-A622B59625CE}"/>
              </a:ext>
            </a:extLst>
          </p:cNvPr>
          <p:cNvSpPr>
            <a:spLocks noGrp="1"/>
          </p:cNvSpPr>
          <p:nvPr>
            <p:ph idx="1"/>
          </p:nvPr>
        </p:nvSpPr>
        <p:spPr/>
        <p:txBody>
          <a:bodyPr vert="horz" lIns="91440" tIns="45720" rIns="91440" bIns="45720" rtlCol="0" anchor="t">
            <a:normAutofit/>
          </a:bodyPr>
          <a:lstStyle/>
          <a:p>
            <a:r>
              <a:rPr lang="en-US" dirty="0"/>
              <a:t>The Python runtime does not enforce function and variable type annotations. They can be used by third party tools such as type checkers, IDEs, linters, etc.</a:t>
            </a:r>
          </a:p>
          <a:p>
            <a:r>
              <a:rPr lang="en-US" dirty="0"/>
              <a:t>int, float, str, bool  are the basic types  can be used for type hints, similar to regular Python types.</a:t>
            </a:r>
          </a:p>
        </p:txBody>
      </p:sp>
      <p:sp>
        <p:nvSpPr>
          <p:cNvPr id="4" name="Footer Placeholder 3">
            <a:extLst>
              <a:ext uri="{FF2B5EF4-FFF2-40B4-BE49-F238E27FC236}">
                <a16:creationId xmlns:a16="http://schemas.microsoft.com/office/drawing/2014/main" id="{6075D8D3-8623-0CDF-E4B8-AB7D43D259D3}"/>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79A90F02-D94B-34C2-AEED-C32066BD5E61}"/>
              </a:ext>
            </a:extLst>
          </p:cNvPr>
          <p:cNvSpPr>
            <a:spLocks noGrp="1"/>
          </p:cNvSpPr>
          <p:nvPr>
            <p:ph type="sldNum" sz="quarter" idx="12"/>
          </p:nvPr>
        </p:nvSpPr>
        <p:spPr/>
        <p:txBody>
          <a:bodyPr/>
          <a:lstStyle/>
          <a:p>
            <a:fld id="{48F63A3B-78C7-47BE-AE5E-E10140E04643}" type="slidenum">
              <a:rPr lang="en-US" dirty="0"/>
              <a:t>8</a:t>
            </a:fld>
            <a:endParaRPr lang="en-US"/>
          </a:p>
        </p:txBody>
      </p:sp>
    </p:spTree>
    <p:extLst>
      <p:ext uri="{BB962C8B-B14F-4D97-AF65-F5344CB8AC3E}">
        <p14:creationId xmlns:p14="http://schemas.microsoft.com/office/powerpoint/2010/main" val="790782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9A25-8FC5-FE40-A4F4-56134AB6C30A}"/>
              </a:ext>
            </a:extLst>
          </p:cNvPr>
          <p:cNvSpPr>
            <a:spLocks noGrp="1"/>
          </p:cNvSpPr>
          <p:nvPr>
            <p:ph type="title"/>
          </p:nvPr>
        </p:nvSpPr>
        <p:spPr/>
        <p:txBody>
          <a:bodyPr/>
          <a:lstStyle/>
          <a:p>
            <a:r>
              <a:rPr lang="en-US" b="1" err="1">
                <a:solidFill>
                  <a:srgbClr val="FF7B00"/>
                </a:solidFill>
              </a:rPr>
              <a:t>Typehint</a:t>
            </a:r>
            <a:r>
              <a:rPr lang="en-US" b="1">
                <a:solidFill>
                  <a:srgbClr val="FF7B00"/>
                </a:solidFill>
              </a:rPr>
              <a:t> in Python </a:t>
            </a:r>
          </a:p>
        </p:txBody>
      </p:sp>
      <p:sp>
        <p:nvSpPr>
          <p:cNvPr id="3" name="Content Placeholder 2">
            <a:extLst>
              <a:ext uri="{FF2B5EF4-FFF2-40B4-BE49-F238E27FC236}">
                <a16:creationId xmlns:a16="http://schemas.microsoft.com/office/drawing/2014/main" id="{23E89A2C-4340-001B-F8E3-59D04D468620}"/>
              </a:ext>
            </a:extLst>
          </p:cNvPr>
          <p:cNvSpPr>
            <a:spLocks noGrp="1"/>
          </p:cNvSpPr>
          <p:nvPr>
            <p:ph idx="1"/>
          </p:nvPr>
        </p:nvSpPr>
        <p:spPr/>
        <p:txBody>
          <a:bodyPr vert="horz" lIns="91440" tIns="45720" rIns="91440" bIns="45720" rtlCol="0" anchor="t">
            <a:normAutofit/>
          </a:bodyPr>
          <a:lstStyle/>
          <a:p>
            <a:pPr marL="0" indent="0" algn="just">
              <a:buNone/>
            </a:pPr>
            <a:r>
              <a:rPr lang="en-US">
                <a:solidFill>
                  <a:srgbClr val="FF7B00"/>
                </a:solidFill>
              </a:rPr>
              <a:t>Type hints in Python</a:t>
            </a:r>
            <a:r>
              <a:rPr lang="en-US"/>
              <a:t> provide a way to indicate the expected data types for function arguments, return values, and variables. They don't change the behavior of the code but are useful for documentation and static analysis tools like </a:t>
            </a:r>
            <a:r>
              <a:rPr lang="en-US" b="1" err="1"/>
              <a:t>mypy</a:t>
            </a:r>
            <a:r>
              <a:rPr lang="en-US"/>
              <a:t> or IDEs for better code hints and linting.</a:t>
            </a:r>
          </a:p>
          <a:p>
            <a:endParaRPr lang="en-US"/>
          </a:p>
        </p:txBody>
      </p:sp>
      <p:sp>
        <p:nvSpPr>
          <p:cNvPr id="4" name="Footer Placeholder 3">
            <a:extLst>
              <a:ext uri="{FF2B5EF4-FFF2-40B4-BE49-F238E27FC236}">
                <a16:creationId xmlns:a16="http://schemas.microsoft.com/office/drawing/2014/main" id="{BAE35B2A-5631-E4D1-B260-71CC1109CD1C}"/>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E06C6021-E2C1-C5CB-E568-FE45166071D1}"/>
              </a:ext>
            </a:extLst>
          </p:cNvPr>
          <p:cNvSpPr>
            <a:spLocks noGrp="1"/>
          </p:cNvSpPr>
          <p:nvPr>
            <p:ph type="sldNum" sz="quarter" idx="12"/>
          </p:nvPr>
        </p:nvSpPr>
        <p:spPr/>
        <p:txBody>
          <a:bodyPr/>
          <a:lstStyle/>
          <a:p>
            <a:fld id="{48F63A3B-78C7-47BE-AE5E-E10140E04643}" type="slidenum">
              <a:rPr lang="en-US" dirty="0"/>
              <a:t>9</a:t>
            </a:fld>
            <a:endParaRPr lang="en-US"/>
          </a:p>
        </p:txBody>
      </p:sp>
    </p:spTree>
    <p:extLst>
      <p:ext uri="{BB962C8B-B14F-4D97-AF65-F5344CB8AC3E}">
        <p14:creationId xmlns:p14="http://schemas.microsoft.com/office/powerpoint/2010/main" val="294606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763AE-B5A5-1FDC-26EB-E49164BAD1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3CF00C-433D-D4C1-946F-B96F1EC498E3}"/>
              </a:ext>
            </a:extLst>
          </p:cNvPr>
          <p:cNvSpPr>
            <a:spLocks noGrp="1"/>
          </p:cNvSpPr>
          <p:nvPr>
            <p:ph idx="1"/>
          </p:nvPr>
        </p:nvSpPr>
        <p:spPr/>
        <p:txBody>
          <a:bodyPr vert="horz" lIns="91440" tIns="45720" rIns="91440" bIns="45720" rtlCol="0" anchor="t">
            <a:normAutofit/>
          </a:bodyPr>
          <a:lstStyle/>
          <a:p>
            <a:pPr marL="514350" indent="-514350">
              <a:buAutoNum type="arabicPeriod"/>
            </a:pPr>
            <a:r>
              <a:rPr lang="en-US" b="1" dirty="0" err="1">
                <a:solidFill>
                  <a:srgbClr val="FF7B00"/>
                </a:solidFill>
                <a:ea typeface="+mn-lt"/>
                <a:cs typeface="+mn-lt"/>
              </a:rPr>
              <a:t>mypy</a:t>
            </a:r>
            <a:r>
              <a:rPr lang="en-US" dirty="0">
                <a:solidFill>
                  <a:srgbClr val="FF7B00"/>
                </a:solidFill>
                <a:ea typeface="+mn-lt"/>
                <a:cs typeface="+mn-lt"/>
              </a:rPr>
              <a:t>: </a:t>
            </a:r>
            <a:r>
              <a:rPr lang="en-US" dirty="0">
                <a:ea typeface="+mn-lt"/>
                <a:cs typeface="+mn-lt"/>
              </a:rPr>
              <a:t>Focuses primarily on static type checking.</a:t>
            </a:r>
          </a:p>
          <a:p>
            <a:pPr marL="514350" indent="-514350">
              <a:buAutoNum type="arabicPeriod"/>
            </a:pPr>
            <a:r>
              <a:rPr lang="en-US" b="1" err="1">
                <a:solidFill>
                  <a:srgbClr val="FF7B00"/>
                </a:solidFill>
                <a:ea typeface="+mn-lt"/>
                <a:cs typeface="+mn-lt"/>
              </a:rPr>
              <a:t>pylint</a:t>
            </a:r>
            <a:r>
              <a:rPr lang="en-US" dirty="0">
                <a:solidFill>
                  <a:srgbClr val="FF7B00"/>
                </a:solidFill>
                <a:ea typeface="+mn-lt"/>
                <a:cs typeface="+mn-lt"/>
              </a:rPr>
              <a:t>: </a:t>
            </a:r>
            <a:r>
              <a:rPr lang="en-US" dirty="0">
                <a:ea typeface="+mn-lt"/>
                <a:cs typeface="+mn-lt"/>
              </a:rPr>
              <a:t>Provides a more general-purpose linting and also checks for code quality.</a:t>
            </a:r>
          </a:p>
          <a:p>
            <a:pPr marL="514350" indent="-514350">
              <a:buAutoNum type="arabicPeriod"/>
            </a:pPr>
            <a:r>
              <a:rPr lang="en-US" b="1" dirty="0">
                <a:solidFill>
                  <a:srgbClr val="FF7B00"/>
                </a:solidFill>
                <a:ea typeface="+mn-lt"/>
                <a:cs typeface="+mn-lt"/>
              </a:rPr>
              <a:t>flake8</a:t>
            </a:r>
            <a:r>
              <a:rPr lang="en-US" dirty="0">
                <a:solidFill>
                  <a:srgbClr val="FF7B00"/>
                </a:solidFill>
                <a:ea typeface="+mn-lt"/>
                <a:cs typeface="+mn-lt"/>
              </a:rPr>
              <a:t>: </a:t>
            </a:r>
            <a:r>
              <a:rPr lang="en-US" dirty="0">
                <a:ea typeface="+mn-lt"/>
                <a:cs typeface="+mn-lt"/>
              </a:rPr>
              <a:t>Used for enforcing coding style (PEP8) but can be extended to check type hints with plugins.</a:t>
            </a:r>
          </a:p>
          <a:p>
            <a:pPr>
              <a:buAutoNum type="arabicPeriod"/>
            </a:pPr>
            <a:endParaRPr lang="en-US"/>
          </a:p>
          <a:p>
            <a:pPr marL="0" indent="0">
              <a:buNone/>
            </a:pPr>
            <a:r>
              <a:rPr lang="en-US" dirty="0">
                <a:ea typeface="+mn-lt"/>
                <a:cs typeface="+mn-lt"/>
              </a:rPr>
              <a:t>Linters in Python that support type checking.</a:t>
            </a:r>
          </a:p>
        </p:txBody>
      </p:sp>
      <p:sp>
        <p:nvSpPr>
          <p:cNvPr id="4" name="Footer Placeholder 3">
            <a:extLst>
              <a:ext uri="{FF2B5EF4-FFF2-40B4-BE49-F238E27FC236}">
                <a16:creationId xmlns:a16="http://schemas.microsoft.com/office/drawing/2014/main" id="{0842F2B9-F3EA-664C-D9F3-12C4B247BE20}"/>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BCC51DAA-01D4-DF89-0F16-DC05E5F23EBF}"/>
              </a:ext>
            </a:extLst>
          </p:cNvPr>
          <p:cNvSpPr>
            <a:spLocks noGrp="1"/>
          </p:cNvSpPr>
          <p:nvPr>
            <p:ph type="sldNum" sz="quarter" idx="12"/>
          </p:nvPr>
        </p:nvSpPr>
        <p:spPr/>
        <p:txBody>
          <a:bodyPr/>
          <a:lstStyle/>
          <a:p>
            <a:fld id="{48F63A3B-78C7-47BE-AE5E-E10140E04643}" type="slidenum">
              <a:rPr lang="en-US" dirty="0"/>
              <a:t>10</a:t>
            </a:fld>
            <a:endParaRPr lang="en-US"/>
          </a:p>
        </p:txBody>
      </p:sp>
    </p:spTree>
    <p:extLst>
      <p:ext uri="{BB962C8B-B14F-4D97-AF65-F5344CB8AC3E}">
        <p14:creationId xmlns:p14="http://schemas.microsoft.com/office/powerpoint/2010/main" val="1277003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F6C00-F07A-2E68-2655-0DB6CF911A43}"/>
              </a:ext>
            </a:extLst>
          </p:cNvPr>
          <p:cNvSpPr>
            <a:spLocks noGrp="1"/>
          </p:cNvSpPr>
          <p:nvPr>
            <p:ph type="title"/>
          </p:nvPr>
        </p:nvSpPr>
        <p:spPr/>
        <p:txBody>
          <a:bodyPr/>
          <a:lstStyle/>
          <a:p>
            <a:endParaRPr lang="en-US"/>
          </a:p>
        </p:txBody>
      </p:sp>
      <p:pic>
        <p:nvPicPr>
          <p:cNvPr id="6" name="Content Placeholder 5" descr="A black background with white text&#10;&#10;Description automatically generated">
            <a:extLst>
              <a:ext uri="{FF2B5EF4-FFF2-40B4-BE49-F238E27FC236}">
                <a16:creationId xmlns:a16="http://schemas.microsoft.com/office/drawing/2014/main" id="{537723AB-8CD3-4D3D-0E48-21260CADEC49}"/>
              </a:ext>
            </a:extLst>
          </p:cNvPr>
          <p:cNvPicPr>
            <a:picLocks noGrp="1" noChangeAspect="1"/>
          </p:cNvPicPr>
          <p:nvPr>
            <p:ph idx="1"/>
          </p:nvPr>
        </p:nvPicPr>
        <p:blipFill>
          <a:blip r:embed="rId2"/>
          <a:stretch>
            <a:fillRect/>
          </a:stretch>
        </p:blipFill>
        <p:spPr>
          <a:xfrm>
            <a:off x="1099771" y="704545"/>
            <a:ext cx="4999661" cy="714221"/>
          </a:xfrm>
        </p:spPr>
      </p:pic>
      <p:sp>
        <p:nvSpPr>
          <p:cNvPr id="4" name="Footer Placeholder 3">
            <a:extLst>
              <a:ext uri="{FF2B5EF4-FFF2-40B4-BE49-F238E27FC236}">
                <a16:creationId xmlns:a16="http://schemas.microsoft.com/office/drawing/2014/main" id="{22DE3603-ACE6-0A02-693D-15CBC09B7918}"/>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CA919418-73AF-3A1B-1631-128C337B6218}"/>
              </a:ext>
            </a:extLst>
          </p:cNvPr>
          <p:cNvSpPr>
            <a:spLocks noGrp="1"/>
          </p:cNvSpPr>
          <p:nvPr>
            <p:ph type="sldNum" sz="quarter" idx="12"/>
          </p:nvPr>
        </p:nvSpPr>
        <p:spPr/>
        <p:txBody>
          <a:bodyPr/>
          <a:lstStyle/>
          <a:p>
            <a:fld id="{48F63A3B-78C7-47BE-AE5E-E10140E04643}" type="slidenum">
              <a:rPr lang="en-US" dirty="0"/>
              <a:t>11</a:t>
            </a:fld>
            <a:endParaRPr lang="en-US"/>
          </a:p>
        </p:txBody>
      </p:sp>
      <p:pic>
        <p:nvPicPr>
          <p:cNvPr id="7" name="Picture 6" descr="A black background with white and blue text&#10;&#10;Description automatically generated">
            <a:extLst>
              <a:ext uri="{FF2B5EF4-FFF2-40B4-BE49-F238E27FC236}">
                <a16:creationId xmlns:a16="http://schemas.microsoft.com/office/drawing/2014/main" id="{087E2241-FF62-73B1-0E02-7F193ED3CF05}"/>
              </a:ext>
            </a:extLst>
          </p:cNvPr>
          <p:cNvPicPr>
            <a:picLocks noChangeAspect="1"/>
          </p:cNvPicPr>
          <p:nvPr/>
        </p:nvPicPr>
        <p:blipFill>
          <a:blip r:embed="rId3"/>
          <a:stretch>
            <a:fillRect/>
          </a:stretch>
        </p:blipFill>
        <p:spPr>
          <a:xfrm>
            <a:off x="1077886" y="1701832"/>
            <a:ext cx="5017670" cy="700492"/>
          </a:xfrm>
          <a:prstGeom prst="rect">
            <a:avLst/>
          </a:prstGeom>
        </p:spPr>
      </p:pic>
      <p:pic>
        <p:nvPicPr>
          <p:cNvPr id="8" name="Picture 7" descr="A black screen with pink and green text&#10;&#10;Description automatically generated">
            <a:extLst>
              <a:ext uri="{FF2B5EF4-FFF2-40B4-BE49-F238E27FC236}">
                <a16:creationId xmlns:a16="http://schemas.microsoft.com/office/drawing/2014/main" id="{647A56D9-2A10-405C-9B15-25CF04B63E19}"/>
              </a:ext>
            </a:extLst>
          </p:cNvPr>
          <p:cNvPicPr>
            <a:picLocks noChangeAspect="1"/>
          </p:cNvPicPr>
          <p:nvPr/>
        </p:nvPicPr>
        <p:blipFill>
          <a:blip r:embed="rId4"/>
          <a:stretch>
            <a:fillRect/>
          </a:stretch>
        </p:blipFill>
        <p:spPr>
          <a:xfrm>
            <a:off x="1077886" y="2782861"/>
            <a:ext cx="4104041" cy="854357"/>
          </a:xfrm>
          <a:prstGeom prst="rect">
            <a:avLst/>
          </a:prstGeom>
        </p:spPr>
      </p:pic>
      <p:pic>
        <p:nvPicPr>
          <p:cNvPr id="9" name="Picture 8" descr="A screen shot of a computer&#10;&#10;Description automatically generated">
            <a:extLst>
              <a:ext uri="{FF2B5EF4-FFF2-40B4-BE49-F238E27FC236}">
                <a16:creationId xmlns:a16="http://schemas.microsoft.com/office/drawing/2014/main" id="{C47E08CA-95C7-6A20-323D-DFCCE8B46CD5}"/>
              </a:ext>
            </a:extLst>
          </p:cNvPr>
          <p:cNvPicPr>
            <a:picLocks noChangeAspect="1"/>
          </p:cNvPicPr>
          <p:nvPr/>
        </p:nvPicPr>
        <p:blipFill>
          <a:blip r:embed="rId5"/>
          <a:stretch>
            <a:fillRect/>
          </a:stretch>
        </p:blipFill>
        <p:spPr>
          <a:xfrm>
            <a:off x="1078330" y="4002505"/>
            <a:ext cx="6686550" cy="1600200"/>
          </a:xfrm>
          <a:prstGeom prst="rect">
            <a:avLst/>
          </a:prstGeom>
        </p:spPr>
      </p:pic>
    </p:spTree>
    <p:extLst>
      <p:ext uri="{BB962C8B-B14F-4D97-AF65-F5344CB8AC3E}">
        <p14:creationId xmlns:p14="http://schemas.microsoft.com/office/powerpoint/2010/main" val="911239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C3317-D3D8-7CB5-F2AA-A0E3091C5CD3}"/>
              </a:ext>
            </a:extLst>
          </p:cNvPr>
          <p:cNvSpPr>
            <a:spLocks noGrp="1"/>
          </p:cNvSpPr>
          <p:nvPr>
            <p:ph type="title"/>
          </p:nvPr>
        </p:nvSpPr>
        <p:spPr/>
        <p:txBody>
          <a:bodyPr/>
          <a:lstStyle/>
          <a:p>
            <a:r>
              <a:rPr lang="en-US" b="1">
                <a:solidFill>
                  <a:srgbClr val="FF7B00"/>
                </a:solidFill>
              </a:rPr>
              <a:t>Python Decorators</a:t>
            </a:r>
          </a:p>
        </p:txBody>
      </p:sp>
      <p:sp>
        <p:nvSpPr>
          <p:cNvPr id="3" name="Content Placeholder 2">
            <a:extLst>
              <a:ext uri="{FF2B5EF4-FFF2-40B4-BE49-F238E27FC236}">
                <a16:creationId xmlns:a16="http://schemas.microsoft.com/office/drawing/2014/main" id="{AB6358C3-198D-AD61-2005-23E2E5ECB926}"/>
              </a:ext>
            </a:extLst>
          </p:cNvPr>
          <p:cNvSpPr>
            <a:spLocks noGrp="1"/>
          </p:cNvSpPr>
          <p:nvPr>
            <p:ph idx="1"/>
          </p:nvPr>
        </p:nvSpPr>
        <p:spPr/>
        <p:txBody>
          <a:bodyPr vert="horz" lIns="91440" tIns="45720" rIns="91440" bIns="45720" rtlCol="0" anchor="t">
            <a:normAutofit/>
          </a:bodyPr>
          <a:lstStyle/>
          <a:p>
            <a:pPr algn="just"/>
            <a:r>
              <a:rPr lang="en-US" b="1"/>
              <a:t>A decorator is a function</a:t>
            </a:r>
            <a:r>
              <a:rPr lang="en-US"/>
              <a:t> that takes another function as an argument, adds some kind of functionality, and returns a new function.</a:t>
            </a:r>
          </a:p>
          <a:p>
            <a:pPr algn="just"/>
            <a:r>
              <a:rPr lang="en-US"/>
              <a:t>A Python decorator is a design pattern that allows you to modify or enhance the behavior of a function or method without changing its actual code. Decorators are often used to add functionality like logging, timing, access control, or </a:t>
            </a:r>
            <a:r>
              <a:rPr lang="en-US" err="1"/>
              <a:t>memoization</a:t>
            </a:r>
            <a:r>
              <a:rPr lang="en-US"/>
              <a:t> in a clean and reusable way</a:t>
            </a:r>
          </a:p>
        </p:txBody>
      </p:sp>
      <p:sp>
        <p:nvSpPr>
          <p:cNvPr id="4" name="Footer Placeholder 3">
            <a:extLst>
              <a:ext uri="{FF2B5EF4-FFF2-40B4-BE49-F238E27FC236}">
                <a16:creationId xmlns:a16="http://schemas.microsoft.com/office/drawing/2014/main" id="{AD1C98E6-CC2B-D140-4CB6-B8A9020E57A2}"/>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6C3F44AC-085D-1131-102A-F1EE49BFD6D8}"/>
              </a:ext>
            </a:extLst>
          </p:cNvPr>
          <p:cNvSpPr>
            <a:spLocks noGrp="1"/>
          </p:cNvSpPr>
          <p:nvPr>
            <p:ph type="sldNum" sz="quarter" idx="12"/>
          </p:nvPr>
        </p:nvSpPr>
        <p:spPr/>
        <p:txBody>
          <a:bodyPr/>
          <a:lstStyle/>
          <a:p>
            <a:fld id="{48F63A3B-78C7-47BE-AE5E-E10140E04643}" type="slidenum">
              <a:rPr lang="en-US" dirty="0"/>
              <a:t>12</a:t>
            </a:fld>
            <a:endParaRPr lang="en-US"/>
          </a:p>
        </p:txBody>
      </p:sp>
    </p:spTree>
    <p:extLst>
      <p:ext uri="{BB962C8B-B14F-4D97-AF65-F5344CB8AC3E}">
        <p14:creationId xmlns:p14="http://schemas.microsoft.com/office/powerpoint/2010/main" val="1263494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1FF6D-3993-2115-D0EA-B6039C92C853}"/>
              </a:ext>
            </a:extLst>
          </p:cNvPr>
          <p:cNvSpPr>
            <a:spLocks noGrp="1"/>
          </p:cNvSpPr>
          <p:nvPr>
            <p:ph type="title"/>
          </p:nvPr>
        </p:nvSpPr>
        <p:spPr/>
        <p:txBody>
          <a:bodyPr/>
          <a:lstStyle/>
          <a:p>
            <a:endParaRPr lang="en-US"/>
          </a:p>
        </p:txBody>
      </p:sp>
      <p:pic>
        <p:nvPicPr>
          <p:cNvPr id="6" name="Content Placeholder 5" descr="A screen shot of a computer program&#10;&#10;Description automatically generated">
            <a:extLst>
              <a:ext uri="{FF2B5EF4-FFF2-40B4-BE49-F238E27FC236}">
                <a16:creationId xmlns:a16="http://schemas.microsoft.com/office/drawing/2014/main" id="{D6621106-286D-6E0F-341D-33BAA62CB427}"/>
              </a:ext>
            </a:extLst>
          </p:cNvPr>
          <p:cNvPicPr>
            <a:picLocks noGrp="1" noChangeAspect="1"/>
          </p:cNvPicPr>
          <p:nvPr>
            <p:ph idx="1"/>
          </p:nvPr>
        </p:nvPicPr>
        <p:blipFill>
          <a:blip r:embed="rId2"/>
          <a:stretch>
            <a:fillRect/>
          </a:stretch>
        </p:blipFill>
        <p:spPr>
          <a:xfrm>
            <a:off x="840398" y="523531"/>
            <a:ext cx="8966534" cy="5047748"/>
          </a:xfrm>
        </p:spPr>
      </p:pic>
      <p:sp>
        <p:nvSpPr>
          <p:cNvPr id="4" name="Footer Placeholder 3">
            <a:extLst>
              <a:ext uri="{FF2B5EF4-FFF2-40B4-BE49-F238E27FC236}">
                <a16:creationId xmlns:a16="http://schemas.microsoft.com/office/drawing/2014/main" id="{4097B866-CD96-2472-4528-15BC76532B7B}"/>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9E75557D-DE98-FEE2-BE88-7FFEC658369C}"/>
              </a:ext>
            </a:extLst>
          </p:cNvPr>
          <p:cNvSpPr>
            <a:spLocks noGrp="1"/>
          </p:cNvSpPr>
          <p:nvPr>
            <p:ph type="sldNum" sz="quarter" idx="12"/>
          </p:nvPr>
        </p:nvSpPr>
        <p:spPr/>
        <p:txBody>
          <a:bodyPr/>
          <a:lstStyle/>
          <a:p>
            <a:fld id="{48F63A3B-78C7-47BE-AE5E-E10140E04643}" type="slidenum">
              <a:rPr lang="en-US" dirty="0"/>
              <a:t>13</a:t>
            </a:fld>
            <a:endParaRPr lang="en-US"/>
          </a:p>
        </p:txBody>
      </p:sp>
    </p:spTree>
    <p:extLst>
      <p:ext uri="{BB962C8B-B14F-4D97-AF65-F5344CB8AC3E}">
        <p14:creationId xmlns:p14="http://schemas.microsoft.com/office/powerpoint/2010/main" val="2787060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descr="A screenshot of a computer code&#10;&#10;Description automatically generated">
            <a:extLst>
              <a:ext uri="{FF2B5EF4-FFF2-40B4-BE49-F238E27FC236}">
                <a16:creationId xmlns:a16="http://schemas.microsoft.com/office/drawing/2014/main" id="{06F9ECCB-D03C-4835-14EE-5B7829A31640}"/>
              </a:ext>
            </a:extLst>
          </p:cNvPr>
          <p:cNvPicPr>
            <a:picLocks noGrp="1" noChangeAspect="1"/>
          </p:cNvPicPr>
          <p:nvPr>
            <p:ph idx="1"/>
          </p:nvPr>
        </p:nvPicPr>
        <p:blipFill>
          <a:blip r:embed="rId2"/>
          <a:srcRect t="175" r="-1" b="20109"/>
          <a:stretch/>
        </p:blipFill>
        <p:spPr>
          <a:xfrm>
            <a:off x="680483" y="655576"/>
            <a:ext cx="10849145" cy="5503500"/>
          </a:xfrm>
          <a:prstGeom prst="rect">
            <a:avLst/>
          </a:prstGeom>
        </p:spPr>
      </p:pic>
      <p:sp>
        <p:nvSpPr>
          <p:cNvPr id="4" name="Footer Placeholder 3">
            <a:extLst>
              <a:ext uri="{FF2B5EF4-FFF2-40B4-BE49-F238E27FC236}">
                <a16:creationId xmlns:a16="http://schemas.microsoft.com/office/drawing/2014/main" id="{DDDCCA27-4501-EE21-B21D-62F1829533C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sz="1000" kern="1200">
                <a:solidFill>
                  <a:schemeClr val="tx1">
                    <a:tint val="75000"/>
                  </a:schemeClr>
                </a:solidFill>
                <a:latin typeface="+mn-lt"/>
                <a:ea typeface="+mn-ea"/>
                <a:cs typeface="+mn-cs"/>
              </a:rPr>
              <a:t>Ms. ALF. Sajeetha</a:t>
            </a:r>
          </a:p>
        </p:txBody>
      </p:sp>
      <p:sp>
        <p:nvSpPr>
          <p:cNvPr id="5" name="Slide Number Placeholder 4">
            <a:extLst>
              <a:ext uri="{FF2B5EF4-FFF2-40B4-BE49-F238E27FC236}">
                <a16:creationId xmlns:a16="http://schemas.microsoft.com/office/drawing/2014/main" id="{A473DFD1-C6D0-0394-1BC9-1B34D079E0C7}"/>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48F63A3B-78C7-47BE-AE5E-E10140E04643}" type="slidenum">
              <a:rPr lang="en-US" sz="1000">
                <a:solidFill>
                  <a:schemeClr val="tx1">
                    <a:tint val="75000"/>
                  </a:schemeClr>
                </a:solidFill>
              </a:rPr>
              <a:pPr>
                <a:spcAft>
                  <a:spcPts val="600"/>
                </a:spcAft>
              </a:pPr>
              <a:t>14</a:t>
            </a:fld>
            <a:endParaRPr lang="en-US" sz="1000">
              <a:solidFill>
                <a:schemeClr val="tx1">
                  <a:tint val="75000"/>
                </a:schemeClr>
              </a:solidFill>
            </a:endParaRPr>
          </a:p>
        </p:txBody>
      </p:sp>
    </p:spTree>
    <p:extLst>
      <p:ext uri="{BB962C8B-B14F-4D97-AF65-F5344CB8AC3E}">
        <p14:creationId xmlns:p14="http://schemas.microsoft.com/office/powerpoint/2010/main" val="1051614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29A20-4288-422A-3486-67CA4D5196E1}"/>
              </a:ext>
            </a:extLst>
          </p:cNvPr>
          <p:cNvSpPr>
            <a:spLocks noGrp="1"/>
          </p:cNvSpPr>
          <p:nvPr>
            <p:ph type="title"/>
          </p:nvPr>
        </p:nvSpPr>
        <p:spPr/>
        <p:txBody>
          <a:bodyPr/>
          <a:lstStyle/>
          <a:p>
            <a:endParaRPr lang="en-US"/>
          </a:p>
        </p:txBody>
      </p:sp>
      <p:pic>
        <p:nvPicPr>
          <p:cNvPr id="6" name="Content Placeholder 5" descr="A screen shot of a computer program&#10;&#10;Description automatically generated">
            <a:extLst>
              <a:ext uri="{FF2B5EF4-FFF2-40B4-BE49-F238E27FC236}">
                <a16:creationId xmlns:a16="http://schemas.microsoft.com/office/drawing/2014/main" id="{CB6E5C8D-2455-9848-BA92-3DB0E8784944}"/>
              </a:ext>
            </a:extLst>
          </p:cNvPr>
          <p:cNvPicPr>
            <a:picLocks noGrp="1" noChangeAspect="1"/>
          </p:cNvPicPr>
          <p:nvPr>
            <p:ph idx="1"/>
          </p:nvPr>
        </p:nvPicPr>
        <p:blipFill>
          <a:blip r:embed="rId3"/>
          <a:stretch>
            <a:fillRect/>
          </a:stretch>
        </p:blipFill>
        <p:spPr>
          <a:xfrm>
            <a:off x="2786067" y="43924"/>
            <a:ext cx="6619247" cy="6433724"/>
          </a:xfrm>
        </p:spPr>
      </p:pic>
      <p:sp>
        <p:nvSpPr>
          <p:cNvPr id="4" name="Footer Placeholder 3">
            <a:extLst>
              <a:ext uri="{FF2B5EF4-FFF2-40B4-BE49-F238E27FC236}">
                <a16:creationId xmlns:a16="http://schemas.microsoft.com/office/drawing/2014/main" id="{4BA8AD21-DFBD-F427-D5F0-E2F34986106F}"/>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0F60E6BD-9D81-0F82-365D-19E928803109}"/>
              </a:ext>
            </a:extLst>
          </p:cNvPr>
          <p:cNvSpPr>
            <a:spLocks noGrp="1"/>
          </p:cNvSpPr>
          <p:nvPr>
            <p:ph type="sldNum" sz="quarter" idx="12"/>
          </p:nvPr>
        </p:nvSpPr>
        <p:spPr/>
        <p:txBody>
          <a:bodyPr/>
          <a:lstStyle/>
          <a:p>
            <a:fld id="{48F63A3B-78C7-47BE-AE5E-E10140E04643}" type="slidenum">
              <a:rPr lang="en-US" dirty="0"/>
              <a:t>15</a:t>
            </a:fld>
            <a:endParaRPr lang="en-US"/>
          </a:p>
        </p:txBody>
      </p:sp>
    </p:spTree>
    <p:extLst>
      <p:ext uri="{BB962C8B-B14F-4D97-AF65-F5344CB8AC3E}">
        <p14:creationId xmlns:p14="http://schemas.microsoft.com/office/powerpoint/2010/main" val="1582387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DF27B-4070-5F94-1B07-2B6D6CB7DCA1}"/>
              </a:ext>
            </a:extLst>
          </p:cNvPr>
          <p:cNvSpPr>
            <a:spLocks noGrp="1"/>
          </p:cNvSpPr>
          <p:nvPr>
            <p:ph type="title"/>
          </p:nvPr>
        </p:nvSpPr>
        <p:spPr/>
        <p:txBody>
          <a:bodyPr/>
          <a:lstStyle/>
          <a:p>
            <a:r>
              <a:rPr lang="en-US" b="1" dirty="0">
                <a:solidFill>
                  <a:srgbClr val="FF7B00"/>
                </a:solidFill>
              </a:rPr>
              <a:t>Exercise</a:t>
            </a:r>
          </a:p>
        </p:txBody>
      </p:sp>
      <p:sp>
        <p:nvSpPr>
          <p:cNvPr id="3" name="Content Placeholder 2">
            <a:extLst>
              <a:ext uri="{FF2B5EF4-FFF2-40B4-BE49-F238E27FC236}">
                <a16:creationId xmlns:a16="http://schemas.microsoft.com/office/drawing/2014/main" id="{0AB47589-8BF9-A037-D357-642660BFDBDE}"/>
              </a:ext>
            </a:extLst>
          </p:cNvPr>
          <p:cNvSpPr>
            <a:spLocks noGrp="1"/>
          </p:cNvSpPr>
          <p:nvPr>
            <p:ph idx="1"/>
          </p:nvPr>
        </p:nvSpPr>
        <p:spPr/>
        <p:txBody>
          <a:bodyPr vert="horz" lIns="91440" tIns="45720" rIns="91440" bIns="45720" rtlCol="0" anchor="t">
            <a:normAutofit fontScale="70000" lnSpcReduction="20000"/>
          </a:bodyPr>
          <a:lstStyle/>
          <a:p>
            <a:pPr marL="514350" indent="-514350">
              <a:buAutoNum type="arabicPeriod"/>
            </a:pPr>
            <a:r>
              <a:rPr lang="en-US" sz="3100" dirty="0"/>
              <a:t>Create a decorator that will decorate a </a:t>
            </a:r>
            <a:r>
              <a:rPr lang="en-US" sz="3100" b="1" err="1">
                <a:solidFill>
                  <a:srgbClr val="FF7B00"/>
                </a:solidFill>
              </a:rPr>
              <a:t>sale_order</a:t>
            </a:r>
            <a:r>
              <a:rPr lang="en-US" sz="3100" dirty="0"/>
              <a:t> function</a:t>
            </a:r>
          </a:p>
          <a:p>
            <a:pPr marL="514350" indent="-514350">
              <a:buAutoNum type="arabicPeriod"/>
            </a:pPr>
            <a:r>
              <a:rPr lang="en-US" sz="3100" dirty="0"/>
              <a:t>Define a simple function that </a:t>
            </a:r>
            <a:r>
              <a:rPr lang="en-US" sz="3100" b="1" dirty="0">
                <a:solidFill>
                  <a:srgbClr val="FF7B00"/>
                </a:solidFill>
              </a:rPr>
              <a:t>wraps</a:t>
            </a:r>
            <a:r>
              <a:rPr lang="en-US" sz="3100" dirty="0"/>
              <a:t> the original </a:t>
            </a:r>
            <a:r>
              <a:rPr lang="en-US" sz="3100" b="1" err="1">
                <a:solidFill>
                  <a:srgbClr val="FF7B00"/>
                </a:solidFill>
              </a:rPr>
              <a:t>sale_order</a:t>
            </a:r>
            <a:r>
              <a:rPr lang="en-US" sz="3100" dirty="0"/>
              <a:t> function</a:t>
            </a:r>
          </a:p>
          <a:p>
            <a:pPr marL="514350" indent="-514350">
              <a:buAutoNum type="arabicPeriod"/>
            </a:pPr>
            <a:r>
              <a:rPr lang="en-US" sz="3100" dirty="0"/>
              <a:t>Add additional functionality, such as </a:t>
            </a:r>
            <a:r>
              <a:rPr lang="en-US" sz="3100" b="1" dirty="0">
                <a:solidFill>
                  <a:srgbClr val="FF7B00"/>
                </a:solidFill>
              </a:rPr>
              <a:t>logging, validation, or adding discounts</a:t>
            </a:r>
          </a:p>
          <a:p>
            <a:pPr marL="514350" indent="-514350">
              <a:buAutoNum type="arabicPeriod"/>
            </a:pPr>
            <a:endParaRPr lang="en-US" sz="3400" b="1" dirty="0">
              <a:solidFill>
                <a:srgbClr val="FF7B00"/>
              </a:solidFill>
              <a:latin typeface="Aptos" panose="02110004020202020204"/>
              <a:ea typeface="Calibri"/>
              <a:cs typeface="Calibri"/>
            </a:endParaRPr>
          </a:p>
          <a:p>
            <a:pPr marL="971550" lvl="1" indent="-514350">
              <a:buFont typeface="Courier New" panose="020B0604020202020204" pitchFamily="34" charset="0"/>
              <a:buChar char="o"/>
            </a:pPr>
            <a:r>
              <a:rPr lang="en-US" sz="2600" dirty="0">
                <a:latin typeface="Calibri"/>
                <a:ea typeface="Calibri"/>
                <a:cs typeface="Calibri"/>
              </a:rPr>
              <a:t>decorator </a:t>
            </a:r>
            <a:r>
              <a:rPr lang="en-US" sz="2600" b="1" dirty="0" err="1">
                <a:solidFill>
                  <a:srgbClr val="FF7B00"/>
                </a:solidFill>
                <a:latin typeface="Calibri"/>
                <a:ea typeface="Calibri"/>
                <a:cs typeface="Calibri"/>
              </a:rPr>
              <a:t>log_and_apply_discount</a:t>
            </a:r>
            <a:r>
              <a:rPr lang="en-US" sz="2600" dirty="0">
                <a:latin typeface="Calibri"/>
                <a:ea typeface="Calibri"/>
                <a:cs typeface="Calibri"/>
              </a:rPr>
              <a:t> logs information about the sale, including the discount</a:t>
            </a:r>
            <a:endParaRPr lang="en-US" sz="2600" b="1"/>
          </a:p>
          <a:p>
            <a:pPr marL="971550" lvl="1" indent="-514350">
              <a:buFont typeface="Courier New" panose="020B0604020202020204" pitchFamily="34" charset="0"/>
              <a:buChar char="o"/>
            </a:pPr>
            <a:r>
              <a:rPr lang="en-US" sz="2600" dirty="0">
                <a:solidFill>
                  <a:srgbClr val="FFFFFF"/>
                </a:solidFill>
                <a:latin typeface="Calibri"/>
                <a:ea typeface="Calibri"/>
                <a:cs typeface="Calibri"/>
              </a:rPr>
              <a:t>decorated </a:t>
            </a:r>
            <a:r>
              <a:rPr lang="en-US" sz="2600" b="1" dirty="0" err="1">
                <a:solidFill>
                  <a:srgbClr val="FF7B00"/>
                </a:solidFill>
                <a:latin typeface="Calibri"/>
                <a:ea typeface="Calibri"/>
                <a:cs typeface="Calibri"/>
              </a:rPr>
              <a:t>sale_order</a:t>
            </a:r>
            <a:r>
              <a:rPr lang="en-US" sz="2600" dirty="0">
                <a:solidFill>
                  <a:srgbClr val="FFFFFF"/>
                </a:solidFill>
                <a:latin typeface="Calibri"/>
                <a:ea typeface="Calibri"/>
                <a:cs typeface="Calibri"/>
              </a:rPr>
              <a:t> -  </a:t>
            </a:r>
            <a:r>
              <a:rPr lang="en-US" sz="2600" dirty="0" err="1">
                <a:solidFill>
                  <a:srgbClr val="FFFFFF"/>
                </a:solidFill>
                <a:latin typeface="Calibri"/>
                <a:ea typeface="Calibri"/>
                <a:cs typeface="Calibri"/>
              </a:rPr>
              <a:t>sale_order</a:t>
            </a:r>
            <a:r>
              <a:rPr lang="en-US" sz="2600" dirty="0">
                <a:solidFill>
                  <a:srgbClr val="FFFFFF"/>
                </a:solidFill>
                <a:latin typeface="Calibri"/>
                <a:ea typeface="Calibri"/>
                <a:cs typeface="Calibri"/>
              </a:rPr>
              <a:t> function calculates the </a:t>
            </a:r>
            <a:r>
              <a:rPr lang="en-US" sz="2600" b="1" dirty="0">
                <a:solidFill>
                  <a:srgbClr val="FF7B00"/>
                </a:solidFill>
                <a:latin typeface="Calibri"/>
                <a:ea typeface="Calibri"/>
                <a:cs typeface="Calibri"/>
              </a:rPr>
              <a:t>total cost</a:t>
            </a:r>
            <a:r>
              <a:rPr lang="en-US" sz="2600" dirty="0">
                <a:solidFill>
                  <a:srgbClr val="FFFFFF"/>
                </a:solidFill>
                <a:latin typeface="Calibri"/>
                <a:ea typeface="Calibri"/>
                <a:cs typeface="Calibri"/>
              </a:rPr>
              <a:t> based on </a:t>
            </a:r>
            <a:r>
              <a:rPr lang="en-US" sz="2600" dirty="0">
                <a:solidFill>
                  <a:srgbClr val="FF7B00"/>
                </a:solidFill>
                <a:latin typeface="Calibri"/>
                <a:ea typeface="Calibri"/>
                <a:cs typeface="Calibri"/>
              </a:rPr>
              <a:t>the </a:t>
            </a:r>
            <a:r>
              <a:rPr lang="en-US" sz="2600" b="1" dirty="0">
                <a:solidFill>
                  <a:srgbClr val="FF7B00"/>
                </a:solidFill>
                <a:latin typeface="Calibri"/>
                <a:ea typeface="Calibri"/>
                <a:cs typeface="Calibri"/>
              </a:rPr>
              <a:t>price, quantity, and discount</a:t>
            </a:r>
          </a:p>
          <a:p>
            <a:pPr marL="971550" lvl="1" indent="-514350">
              <a:buFont typeface="Courier New" panose="020B0604020202020204" pitchFamily="34" charset="0"/>
              <a:buChar char="o"/>
            </a:pPr>
            <a:r>
              <a:rPr lang="en-US" sz="2600" dirty="0">
                <a:solidFill>
                  <a:srgbClr val="FFFFFF"/>
                </a:solidFill>
                <a:latin typeface="Calibri"/>
                <a:ea typeface="Calibri"/>
                <a:cs typeface="Calibri"/>
              </a:rPr>
              <a:t>The decorator is applied to the </a:t>
            </a:r>
            <a:r>
              <a:rPr lang="en-US" sz="2600" dirty="0" err="1">
                <a:solidFill>
                  <a:srgbClr val="FFFFFF"/>
                </a:solidFill>
                <a:latin typeface="Calibri"/>
                <a:ea typeface="Calibri"/>
                <a:cs typeface="Calibri"/>
              </a:rPr>
              <a:t>sale_order</a:t>
            </a:r>
            <a:r>
              <a:rPr lang="en-US" sz="2600" dirty="0">
                <a:solidFill>
                  <a:srgbClr val="FFFFFF"/>
                </a:solidFill>
                <a:latin typeface="Calibri"/>
                <a:ea typeface="Calibri"/>
                <a:cs typeface="Calibri"/>
              </a:rPr>
              <a:t> function using @log_and_apply_discount, so every time </a:t>
            </a:r>
            <a:r>
              <a:rPr lang="en-US" sz="2600" dirty="0" err="1">
                <a:solidFill>
                  <a:srgbClr val="FFFFFF"/>
                </a:solidFill>
                <a:latin typeface="Calibri"/>
                <a:ea typeface="Calibri"/>
                <a:cs typeface="Calibri"/>
              </a:rPr>
              <a:t>sale_order</a:t>
            </a:r>
            <a:r>
              <a:rPr lang="en-US" sz="2600" dirty="0">
                <a:solidFill>
                  <a:srgbClr val="FFFFFF"/>
                </a:solidFill>
                <a:latin typeface="Calibri"/>
                <a:ea typeface="Calibri"/>
                <a:cs typeface="Calibri"/>
              </a:rPr>
              <a:t> is called, the additional functionality (logging, discount application) is added</a:t>
            </a:r>
          </a:p>
          <a:p>
            <a:pPr marL="457200" lvl="1" indent="0">
              <a:buNone/>
            </a:pPr>
            <a:endParaRPr lang="en-US" sz="2300" dirty="0">
              <a:solidFill>
                <a:srgbClr val="FFFFFF"/>
              </a:solidFill>
              <a:latin typeface="Calibri"/>
              <a:ea typeface="Calibri"/>
              <a:cs typeface="Calibri"/>
            </a:endParaRPr>
          </a:p>
          <a:p>
            <a:pPr marL="514350" indent="-514350">
              <a:buAutoNum type="arabicPeriod"/>
            </a:pPr>
            <a:r>
              <a:rPr lang="en-US" sz="3100" dirty="0"/>
              <a:t>Error Handling</a:t>
            </a:r>
          </a:p>
          <a:p>
            <a:pPr marL="971550" lvl="1">
              <a:buFont typeface="Courier New" panose="020B0604020202020204" pitchFamily="34" charset="0"/>
              <a:buChar char="o"/>
            </a:pPr>
            <a:r>
              <a:rPr lang="en-US" sz="2600" dirty="0">
                <a:solidFill>
                  <a:srgbClr val="FFFFFF"/>
                </a:solidFill>
              </a:rPr>
              <a:t>checks if the price or quantity is negative and raises a </a:t>
            </a:r>
            <a:r>
              <a:rPr lang="en-US" sz="2600" err="1">
                <a:solidFill>
                  <a:srgbClr val="FFFFFF"/>
                </a:solidFill>
              </a:rPr>
              <a:t>ValueError</a:t>
            </a:r>
            <a:r>
              <a:rPr lang="en-US" sz="2600" dirty="0">
                <a:solidFill>
                  <a:srgbClr val="FFFFFF"/>
                </a:solidFill>
              </a:rPr>
              <a:t> if the input is invalid</a:t>
            </a:r>
          </a:p>
          <a:p>
            <a:pPr marL="971550" lvl="1">
              <a:buFont typeface="Courier New" panose="020B0604020202020204" pitchFamily="34" charset="0"/>
              <a:buChar char="o"/>
            </a:pPr>
            <a:endParaRPr lang="en-US" sz="2200" dirty="0">
              <a:solidFill>
                <a:srgbClr val="FFFFFF"/>
              </a:solidFill>
            </a:endParaRPr>
          </a:p>
          <a:p>
            <a:pPr marL="0" indent="0">
              <a:buNone/>
            </a:pPr>
            <a:r>
              <a:rPr lang="en-US" dirty="0">
                <a:solidFill>
                  <a:srgbClr val="FF7B00"/>
                </a:solidFill>
              </a:rPr>
              <a:t> </a:t>
            </a:r>
            <a:endParaRPr lang="en-US" dirty="0"/>
          </a:p>
        </p:txBody>
      </p:sp>
      <p:sp>
        <p:nvSpPr>
          <p:cNvPr id="4" name="Footer Placeholder 3">
            <a:extLst>
              <a:ext uri="{FF2B5EF4-FFF2-40B4-BE49-F238E27FC236}">
                <a16:creationId xmlns:a16="http://schemas.microsoft.com/office/drawing/2014/main" id="{8416C55B-1E97-3504-B739-149CE516EA8E}"/>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57E3E163-D665-4DCF-D92F-38AAC3F05A2C}"/>
              </a:ext>
            </a:extLst>
          </p:cNvPr>
          <p:cNvSpPr>
            <a:spLocks noGrp="1"/>
          </p:cNvSpPr>
          <p:nvPr>
            <p:ph type="sldNum" sz="quarter" idx="12"/>
          </p:nvPr>
        </p:nvSpPr>
        <p:spPr/>
        <p:txBody>
          <a:bodyPr/>
          <a:lstStyle/>
          <a:p>
            <a:fld id="{48F63A3B-78C7-47BE-AE5E-E10140E04643}" type="slidenum">
              <a:rPr lang="en-US" dirty="0"/>
              <a:t>16</a:t>
            </a:fld>
            <a:endParaRPr lang="en-US"/>
          </a:p>
        </p:txBody>
      </p:sp>
    </p:spTree>
    <p:extLst>
      <p:ext uri="{BB962C8B-B14F-4D97-AF65-F5344CB8AC3E}">
        <p14:creationId xmlns:p14="http://schemas.microsoft.com/office/powerpoint/2010/main" val="268202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83FB6-43FE-70D8-D56B-F8171A14EA86}"/>
              </a:ext>
            </a:extLst>
          </p:cNvPr>
          <p:cNvSpPr>
            <a:spLocks noGrp="1"/>
          </p:cNvSpPr>
          <p:nvPr>
            <p:ph type="title"/>
          </p:nvPr>
        </p:nvSpPr>
        <p:spPr/>
        <p:txBody>
          <a:bodyPr/>
          <a:lstStyle/>
          <a:p>
            <a:r>
              <a:rPr lang="en-US">
                <a:solidFill>
                  <a:srgbClr val="FF7B00"/>
                </a:solidFill>
              </a:rPr>
              <a:t>Python Data Classes</a:t>
            </a:r>
          </a:p>
        </p:txBody>
      </p:sp>
      <p:sp>
        <p:nvSpPr>
          <p:cNvPr id="3" name="Content Placeholder 2">
            <a:extLst>
              <a:ext uri="{FF2B5EF4-FFF2-40B4-BE49-F238E27FC236}">
                <a16:creationId xmlns:a16="http://schemas.microsoft.com/office/drawing/2014/main" id="{AC695DBD-8045-9E2C-1F7A-EA9746D8B3FF}"/>
              </a:ext>
            </a:extLst>
          </p:cNvPr>
          <p:cNvSpPr>
            <a:spLocks noGrp="1"/>
          </p:cNvSpPr>
          <p:nvPr>
            <p:ph idx="1"/>
          </p:nvPr>
        </p:nvSpPr>
        <p:spPr/>
        <p:txBody>
          <a:bodyPr vert="horz" lIns="91440" tIns="45720" rIns="91440" bIns="45720" rtlCol="0" anchor="t">
            <a:normAutofit/>
          </a:bodyPr>
          <a:lstStyle/>
          <a:p>
            <a:r>
              <a:rPr lang="en-US" dirty="0"/>
              <a:t>Python data classes are a feature introduced in </a:t>
            </a:r>
            <a:r>
              <a:rPr lang="en-US" b="1" dirty="0">
                <a:solidFill>
                  <a:srgbClr val="FF7B00"/>
                </a:solidFill>
              </a:rPr>
              <a:t>Python 3.7</a:t>
            </a:r>
            <a:r>
              <a:rPr lang="en-US" b="1" dirty="0"/>
              <a:t> </a:t>
            </a:r>
            <a:r>
              <a:rPr lang="en-US" dirty="0"/>
              <a:t>via the </a:t>
            </a:r>
            <a:r>
              <a:rPr lang="en-US" b="1" dirty="0" err="1">
                <a:solidFill>
                  <a:srgbClr val="FF7B00"/>
                </a:solidFill>
              </a:rPr>
              <a:t>dataclasses</a:t>
            </a:r>
            <a:r>
              <a:rPr lang="en-US" dirty="0">
                <a:solidFill>
                  <a:srgbClr val="FF7B00"/>
                </a:solidFill>
              </a:rPr>
              <a:t> </a:t>
            </a:r>
            <a:r>
              <a:rPr lang="en-US" dirty="0"/>
              <a:t>module</a:t>
            </a:r>
          </a:p>
          <a:p>
            <a:r>
              <a:rPr lang="en-US" dirty="0"/>
              <a:t>They provide a convenient way to create classes that are primarily used to store data without having to write boilerplate code for methods like </a:t>
            </a:r>
            <a:r>
              <a:rPr lang="en-US" b="1" dirty="0">
                <a:solidFill>
                  <a:srgbClr val="FF7B00"/>
                </a:solidFill>
              </a:rPr>
              <a:t>__</a:t>
            </a:r>
            <a:r>
              <a:rPr lang="en-US" b="1" dirty="0" err="1">
                <a:solidFill>
                  <a:srgbClr val="FF7B00"/>
                </a:solidFill>
              </a:rPr>
              <a:t>init</a:t>
            </a:r>
            <a:r>
              <a:rPr lang="en-US" b="1" dirty="0">
                <a:solidFill>
                  <a:srgbClr val="FF7B00"/>
                </a:solidFill>
              </a:rPr>
              <a:t>__, __</a:t>
            </a:r>
            <a:r>
              <a:rPr lang="en-US" b="1" dirty="0" err="1">
                <a:solidFill>
                  <a:srgbClr val="FF7B00"/>
                </a:solidFill>
              </a:rPr>
              <a:t>repr</a:t>
            </a:r>
            <a:r>
              <a:rPr lang="en-US" b="1" dirty="0">
                <a:solidFill>
                  <a:srgbClr val="FF7B00"/>
                </a:solidFill>
              </a:rPr>
              <a:t>__, __eq__, and __hash__</a:t>
            </a:r>
            <a:endParaRPr lang="en-US" b="1" dirty="0"/>
          </a:p>
          <a:p>
            <a:r>
              <a:rPr lang="en-US" dirty="0"/>
              <a:t>Data classes are essential for creating classes that mainly act as containers for attributes</a:t>
            </a:r>
          </a:p>
          <a:p>
            <a:endParaRPr lang="en-US" dirty="0"/>
          </a:p>
        </p:txBody>
      </p:sp>
      <p:sp>
        <p:nvSpPr>
          <p:cNvPr id="4" name="Footer Placeholder 3">
            <a:extLst>
              <a:ext uri="{FF2B5EF4-FFF2-40B4-BE49-F238E27FC236}">
                <a16:creationId xmlns:a16="http://schemas.microsoft.com/office/drawing/2014/main" id="{13400CE7-5BF9-AD3F-4CD0-35CF55D6F5E6}"/>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84B8910D-9606-D766-09CB-919FFE4823BD}"/>
              </a:ext>
            </a:extLst>
          </p:cNvPr>
          <p:cNvSpPr>
            <a:spLocks noGrp="1"/>
          </p:cNvSpPr>
          <p:nvPr>
            <p:ph type="sldNum" sz="quarter" idx="12"/>
          </p:nvPr>
        </p:nvSpPr>
        <p:spPr/>
        <p:txBody>
          <a:bodyPr/>
          <a:lstStyle/>
          <a:p>
            <a:fld id="{48F63A3B-78C7-47BE-AE5E-E10140E04643}" type="slidenum">
              <a:rPr lang="en-US" dirty="0"/>
              <a:t>17</a:t>
            </a:fld>
            <a:endParaRPr lang="en-US"/>
          </a:p>
        </p:txBody>
      </p:sp>
    </p:spTree>
    <p:extLst>
      <p:ext uri="{BB962C8B-B14F-4D97-AF65-F5344CB8AC3E}">
        <p14:creationId xmlns:p14="http://schemas.microsoft.com/office/powerpoint/2010/main" val="455213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760CF-C60F-7590-8BF4-6B0DDE6D369B}"/>
              </a:ext>
            </a:extLst>
          </p:cNvPr>
          <p:cNvSpPr>
            <a:spLocks noGrp="1"/>
          </p:cNvSpPr>
          <p:nvPr>
            <p:ph type="title"/>
          </p:nvPr>
        </p:nvSpPr>
        <p:spPr/>
        <p:txBody>
          <a:bodyPr/>
          <a:lstStyle/>
          <a:p>
            <a:r>
              <a:rPr lang="en-US">
                <a:solidFill>
                  <a:srgbClr val="FF7B00"/>
                </a:solidFill>
              </a:rPr>
              <a:t>Features of Data Classes</a:t>
            </a:r>
          </a:p>
        </p:txBody>
      </p:sp>
      <p:sp>
        <p:nvSpPr>
          <p:cNvPr id="3" name="Content Placeholder 2">
            <a:extLst>
              <a:ext uri="{FF2B5EF4-FFF2-40B4-BE49-F238E27FC236}">
                <a16:creationId xmlns:a16="http://schemas.microsoft.com/office/drawing/2014/main" id="{29D14E69-5A0E-467A-5F9C-256D63763C91}"/>
              </a:ext>
            </a:extLst>
          </p:cNvPr>
          <p:cNvSpPr>
            <a:spLocks noGrp="1"/>
          </p:cNvSpPr>
          <p:nvPr>
            <p:ph idx="1"/>
          </p:nvPr>
        </p:nvSpPr>
        <p:spPr/>
        <p:txBody>
          <a:bodyPr vert="horz" lIns="91440" tIns="45720" rIns="91440" bIns="45720" rtlCol="0" anchor="t">
            <a:normAutofit fontScale="85000" lnSpcReduction="20000"/>
          </a:bodyPr>
          <a:lstStyle/>
          <a:p>
            <a:pPr marL="514350" indent="-514350" algn="just">
              <a:buAutoNum type="arabicPeriod"/>
            </a:pPr>
            <a:r>
              <a:rPr lang="en-US">
                <a:solidFill>
                  <a:srgbClr val="FF7B00"/>
                </a:solidFill>
              </a:rPr>
              <a:t>Automatic __</a:t>
            </a:r>
            <a:r>
              <a:rPr lang="en-US" err="1">
                <a:solidFill>
                  <a:srgbClr val="FF7B00"/>
                </a:solidFill>
              </a:rPr>
              <a:t>init</a:t>
            </a:r>
            <a:r>
              <a:rPr lang="en-US">
                <a:solidFill>
                  <a:srgbClr val="FF7B00"/>
                </a:solidFill>
              </a:rPr>
              <a:t>__ Method: </a:t>
            </a:r>
            <a:r>
              <a:rPr lang="en-US"/>
              <a:t>You don’t need to write an __</a:t>
            </a:r>
            <a:r>
              <a:rPr lang="en-US" err="1"/>
              <a:t>init</a:t>
            </a:r>
            <a:r>
              <a:rPr lang="en-US"/>
              <a:t>__ method; it’s automatically created based on the fields defined in the class.</a:t>
            </a:r>
          </a:p>
          <a:p>
            <a:pPr marL="514350" indent="-514350" algn="just">
              <a:buAutoNum type="arabicPeriod"/>
            </a:pPr>
            <a:r>
              <a:rPr lang="en-US">
                <a:solidFill>
                  <a:srgbClr val="FF7B00"/>
                </a:solidFill>
              </a:rPr>
              <a:t>Readable __</a:t>
            </a:r>
            <a:r>
              <a:rPr lang="en-US" err="1">
                <a:solidFill>
                  <a:srgbClr val="FF7B00"/>
                </a:solidFill>
              </a:rPr>
              <a:t>repr</a:t>
            </a:r>
            <a:r>
              <a:rPr lang="en-US">
                <a:solidFill>
                  <a:srgbClr val="FF7B00"/>
                </a:solidFill>
              </a:rPr>
              <a:t>__: </a:t>
            </a:r>
            <a:r>
              <a:rPr lang="en-US"/>
              <a:t>Provides a readable string representation of the instance, making debugging easier.</a:t>
            </a:r>
          </a:p>
          <a:p>
            <a:pPr marL="514350" indent="-514350" algn="just">
              <a:buAutoNum type="arabicPeriod"/>
            </a:pPr>
            <a:r>
              <a:rPr lang="en-US">
                <a:solidFill>
                  <a:srgbClr val="FF7B00"/>
                </a:solidFill>
              </a:rPr>
              <a:t>Equality Comparison: </a:t>
            </a:r>
            <a:r>
              <a:rPr lang="en-US"/>
              <a:t>The __eq__ method is automatically implemented to compare instances based on their field values.</a:t>
            </a:r>
          </a:p>
          <a:p>
            <a:pPr marL="514350" indent="-514350" algn="just">
              <a:buAutoNum type="arabicPeriod"/>
            </a:pPr>
            <a:r>
              <a:rPr lang="en-US">
                <a:solidFill>
                  <a:srgbClr val="FF7B00"/>
                </a:solidFill>
              </a:rPr>
              <a:t>Order Comparison: </a:t>
            </a:r>
            <a:r>
              <a:rPr lang="en-US"/>
              <a:t>You can add order=True to the @dataclass decorator to automatically generate ordering methods (__</a:t>
            </a:r>
            <a:r>
              <a:rPr lang="en-US" err="1"/>
              <a:t>lt</a:t>
            </a:r>
            <a:r>
              <a:rPr lang="en-US"/>
              <a:t>__, __le__, __</a:t>
            </a:r>
            <a:r>
              <a:rPr lang="en-US" err="1"/>
              <a:t>gt</a:t>
            </a:r>
            <a:r>
              <a:rPr lang="en-US"/>
              <a:t>__, __</a:t>
            </a:r>
            <a:r>
              <a:rPr lang="en-US" err="1"/>
              <a:t>ge</a:t>
            </a:r>
            <a:r>
              <a:rPr lang="en-US"/>
              <a:t>__).</a:t>
            </a:r>
          </a:p>
          <a:p>
            <a:pPr marL="514350" indent="-514350" algn="just">
              <a:buAutoNum type="arabicPeriod"/>
            </a:pPr>
            <a:r>
              <a:rPr lang="en-US">
                <a:solidFill>
                  <a:srgbClr val="FF7B00"/>
                </a:solidFill>
              </a:rPr>
              <a:t>Immutability: </a:t>
            </a:r>
            <a:r>
              <a:rPr lang="en-US"/>
              <a:t>Adding frozen=True to the @dataclass decorator makes the instances immutable (like </a:t>
            </a:r>
            <a:r>
              <a:rPr lang="en-US" err="1"/>
              <a:t>namedtuples</a:t>
            </a:r>
            <a:r>
              <a:rPr lang="en-US"/>
              <a:t>).</a:t>
            </a:r>
          </a:p>
          <a:p>
            <a:pPr marL="514350" indent="-514350" algn="just">
              <a:buAutoNum type="arabicPeriod"/>
            </a:pPr>
            <a:r>
              <a:rPr lang="en-US">
                <a:solidFill>
                  <a:srgbClr val="FF7B00"/>
                </a:solidFill>
              </a:rPr>
              <a:t>Customizability:</a:t>
            </a:r>
            <a:r>
              <a:rPr lang="en-US">
                <a:solidFill>
                  <a:srgbClr val="FFFFFF"/>
                </a:solidFill>
              </a:rPr>
              <a:t> You can still define your own methods and provide default values and additional metadata using the field() function,</a:t>
            </a:r>
            <a:r>
              <a:rPr lang="en-US"/>
              <a:t> just like with normal class attributes.</a:t>
            </a:r>
          </a:p>
          <a:p>
            <a:pPr marL="514350" indent="-514350" algn="just">
              <a:buAutoNum type="arabicPeriod"/>
            </a:pPr>
            <a:endParaRPr lang="en-US"/>
          </a:p>
        </p:txBody>
      </p:sp>
      <p:sp>
        <p:nvSpPr>
          <p:cNvPr id="4" name="Footer Placeholder 3">
            <a:extLst>
              <a:ext uri="{FF2B5EF4-FFF2-40B4-BE49-F238E27FC236}">
                <a16:creationId xmlns:a16="http://schemas.microsoft.com/office/drawing/2014/main" id="{D2953734-1F36-FC82-FB67-0998F3103B6A}"/>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8BC4AEA4-C24F-48C5-7FA5-ACD86223D9D7}"/>
              </a:ext>
            </a:extLst>
          </p:cNvPr>
          <p:cNvSpPr>
            <a:spLocks noGrp="1"/>
          </p:cNvSpPr>
          <p:nvPr>
            <p:ph type="sldNum" sz="quarter" idx="12"/>
          </p:nvPr>
        </p:nvSpPr>
        <p:spPr/>
        <p:txBody>
          <a:bodyPr/>
          <a:lstStyle/>
          <a:p>
            <a:fld id="{48F63A3B-78C7-47BE-AE5E-E10140E04643}" type="slidenum">
              <a:rPr lang="en-US" dirty="0"/>
              <a:t>18</a:t>
            </a:fld>
            <a:endParaRPr lang="en-US"/>
          </a:p>
        </p:txBody>
      </p:sp>
    </p:spTree>
    <p:extLst>
      <p:ext uri="{BB962C8B-B14F-4D97-AF65-F5344CB8AC3E}">
        <p14:creationId xmlns:p14="http://schemas.microsoft.com/office/powerpoint/2010/main" val="2780592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7FE4-3B88-D331-262B-8A715D485F86}"/>
              </a:ext>
            </a:extLst>
          </p:cNvPr>
          <p:cNvSpPr>
            <a:spLocks noGrp="1"/>
          </p:cNvSpPr>
          <p:nvPr>
            <p:ph type="title"/>
          </p:nvPr>
        </p:nvSpPr>
        <p:spPr/>
        <p:txBody>
          <a:bodyPr/>
          <a:lstStyle/>
          <a:p>
            <a:endParaRPr lang="en-US"/>
          </a:p>
        </p:txBody>
      </p:sp>
      <p:pic>
        <p:nvPicPr>
          <p:cNvPr id="6" name="Content Placeholder 5" descr="A screen shot of a computer code&#10;&#10;Description automatically generated">
            <a:extLst>
              <a:ext uri="{FF2B5EF4-FFF2-40B4-BE49-F238E27FC236}">
                <a16:creationId xmlns:a16="http://schemas.microsoft.com/office/drawing/2014/main" id="{84CACA62-D4F8-5971-0EF8-CD5AEE1BE53F}"/>
              </a:ext>
            </a:extLst>
          </p:cNvPr>
          <p:cNvPicPr>
            <a:picLocks noGrp="1" noChangeAspect="1"/>
          </p:cNvPicPr>
          <p:nvPr>
            <p:ph idx="1"/>
          </p:nvPr>
        </p:nvPicPr>
        <p:blipFill>
          <a:blip r:embed="rId2"/>
          <a:stretch>
            <a:fillRect/>
          </a:stretch>
        </p:blipFill>
        <p:spPr>
          <a:xfrm>
            <a:off x="2228838" y="804841"/>
            <a:ext cx="7334982" cy="5098072"/>
          </a:xfrm>
        </p:spPr>
      </p:pic>
      <p:sp>
        <p:nvSpPr>
          <p:cNvPr id="4" name="Footer Placeholder 3">
            <a:extLst>
              <a:ext uri="{FF2B5EF4-FFF2-40B4-BE49-F238E27FC236}">
                <a16:creationId xmlns:a16="http://schemas.microsoft.com/office/drawing/2014/main" id="{C8B26205-BF72-5371-774B-36C301E49785}"/>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7B0772BB-93FE-D55D-1D5E-C994576AE005}"/>
              </a:ext>
            </a:extLst>
          </p:cNvPr>
          <p:cNvSpPr>
            <a:spLocks noGrp="1"/>
          </p:cNvSpPr>
          <p:nvPr>
            <p:ph type="sldNum" sz="quarter" idx="12"/>
          </p:nvPr>
        </p:nvSpPr>
        <p:spPr/>
        <p:txBody>
          <a:bodyPr/>
          <a:lstStyle/>
          <a:p>
            <a:fld id="{48F63A3B-78C7-47BE-AE5E-E10140E04643}" type="slidenum">
              <a:rPr lang="en-US" dirty="0"/>
              <a:t>19</a:t>
            </a:fld>
            <a:endParaRPr lang="en-US"/>
          </a:p>
        </p:txBody>
      </p:sp>
    </p:spTree>
    <p:extLst>
      <p:ext uri="{BB962C8B-B14F-4D97-AF65-F5344CB8AC3E}">
        <p14:creationId xmlns:p14="http://schemas.microsoft.com/office/powerpoint/2010/main" val="1929363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E0EB1-7F91-B728-DFA4-F197111B320C}"/>
              </a:ext>
            </a:extLst>
          </p:cNvPr>
          <p:cNvSpPr>
            <a:spLocks noGrp="1"/>
          </p:cNvSpPr>
          <p:nvPr>
            <p:ph type="title"/>
          </p:nvPr>
        </p:nvSpPr>
        <p:spPr/>
        <p:txBody>
          <a:bodyPr/>
          <a:lstStyle/>
          <a:p>
            <a:r>
              <a:rPr lang="en-US">
                <a:solidFill>
                  <a:srgbClr val="FF7B00"/>
                </a:solidFill>
              </a:rPr>
              <a:t>Exercise</a:t>
            </a:r>
          </a:p>
        </p:txBody>
      </p:sp>
      <p:sp>
        <p:nvSpPr>
          <p:cNvPr id="3" name="Content Placeholder 2">
            <a:extLst>
              <a:ext uri="{FF2B5EF4-FFF2-40B4-BE49-F238E27FC236}">
                <a16:creationId xmlns:a16="http://schemas.microsoft.com/office/drawing/2014/main" id="{6DF9708B-5473-A477-A7E9-227CB0008E6D}"/>
              </a:ext>
            </a:extLst>
          </p:cNvPr>
          <p:cNvSpPr>
            <a:spLocks noGrp="1"/>
          </p:cNvSpPr>
          <p:nvPr>
            <p:ph idx="1"/>
          </p:nvPr>
        </p:nvSpPr>
        <p:spPr/>
        <p:txBody>
          <a:bodyPr vert="horz" lIns="91440" tIns="45720" rIns="91440" bIns="45720" rtlCol="0" anchor="t">
            <a:normAutofit/>
          </a:bodyPr>
          <a:lstStyle/>
          <a:p>
            <a:pPr algn="just"/>
            <a:r>
              <a:rPr lang="en-US"/>
              <a:t>Create  data classes to analyze best-selling products based on sales data. This exercise should involve defining </a:t>
            </a:r>
            <a:r>
              <a:rPr lang="en-US">
                <a:solidFill>
                  <a:srgbClr val="FF7B00"/>
                </a:solidFill>
              </a:rPr>
              <a:t>classes </a:t>
            </a:r>
            <a:r>
              <a:rPr lang="en-US"/>
              <a:t>for </a:t>
            </a:r>
            <a:r>
              <a:rPr lang="en-US">
                <a:solidFill>
                  <a:srgbClr val="FF7B00"/>
                </a:solidFill>
              </a:rPr>
              <a:t>Product, Sale, and </a:t>
            </a:r>
            <a:r>
              <a:rPr lang="en-US" err="1">
                <a:solidFill>
                  <a:srgbClr val="FF7B00"/>
                </a:solidFill>
              </a:rPr>
              <a:t>SalesAnalysis</a:t>
            </a:r>
            <a:r>
              <a:rPr lang="en-US"/>
              <a:t> to help identify the top-selling products in a supermarket.</a:t>
            </a:r>
          </a:p>
          <a:p>
            <a:pPr algn="just"/>
            <a:r>
              <a:rPr lang="en-US"/>
              <a:t>Provide the path to your current tentative Sales Data, which is including </a:t>
            </a:r>
            <a:r>
              <a:rPr lang="en-US" err="1">
                <a:solidFill>
                  <a:srgbClr val="FF7B00"/>
                </a:solidFill>
              </a:rPr>
              <a:t>transaction_id</a:t>
            </a:r>
            <a:r>
              <a:rPr lang="en-US">
                <a:solidFill>
                  <a:srgbClr val="FF7B00"/>
                </a:solidFill>
              </a:rPr>
              <a:t>, </a:t>
            </a:r>
            <a:r>
              <a:rPr lang="en-US" err="1">
                <a:solidFill>
                  <a:srgbClr val="FF7B00"/>
                </a:solidFill>
              </a:rPr>
              <a:t>product_id</a:t>
            </a:r>
            <a:r>
              <a:rPr lang="en-US">
                <a:solidFill>
                  <a:srgbClr val="FF7B00"/>
                </a:solidFill>
              </a:rPr>
              <a:t>, quantity,  </a:t>
            </a:r>
            <a:r>
              <a:rPr lang="en-US" err="1">
                <a:solidFill>
                  <a:srgbClr val="FF7B00"/>
                </a:solidFill>
              </a:rPr>
              <a:t>sale_date</a:t>
            </a:r>
            <a:r>
              <a:rPr lang="en-US">
                <a:solidFill>
                  <a:srgbClr val="FF7B00"/>
                </a:solidFill>
              </a:rPr>
              <a:t> </a:t>
            </a:r>
            <a:r>
              <a:rPr lang="en-US"/>
              <a:t>etc.</a:t>
            </a:r>
          </a:p>
        </p:txBody>
      </p:sp>
      <p:sp>
        <p:nvSpPr>
          <p:cNvPr id="4" name="Footer Placeholder 3">
            <a:extLst>
              <a:ext uri="{FF2B5EF4-FFF2-40B4-BE49-F238E27FC236}">
                <a16:creationId xmlns:a16="http://schemas.microsoft.com/office/drawing/2014/main" id="{A1919E9E-034E-DF43-F7A7-62BE8DBA73D7}"/>
              </a:ext>
            </a:extLst>
          </p:cNvPr>
          <p:cNvSpPr>
            <a:spLocks noGrp="1"/>
          </p:cNvSpPr>
          <p:nvPr>
            <p:ph type="ftr" sz="quarter" idx="11"/>
          </p:nvPr>
        </p:nvSpPr>
        <p:spPr/>
        <p:txBody>
          <a:bodyPr/>
          <a:lstStyle/>
          <a:p>
            <a:r>
              <a:rPr lang="en-US"/>
              <a:t>Ms. ALF. Sajeetha</a:t>
            </a:r>
          </a:p>
        </p:txBody>
      </p:sp>
      <p:sp>
        <p:nvSpPr>
          <p:cNvPr id="5" name="Slide Number Placeholder 4">
            <a:extLst>
              <a:ext uri="{FF2B5EF4-FFF2-40B4-BE49-F238E27FC236}">
                <a16:creationId xmlns:a16="http://schemas.microsoft.com/office/drawing/2014/main" id="{424C2441-530A-92E0-1580-095B121CAE08}"/>
              </a:ext>
            </a:extLst>
          </p:cNvPr>
          <p:cNvSpPr>
            <a:spLocks noGrp="1"/>
          </p:cNvSpPr>
          <p:nvPr>
            <p:ph type="sldNum" sz="quarter" idx="12"/>
          </p:nvPr>
        </p:nvSpPr>
        <p:spPr/>
        <p:txBody>
          <a:bodyPr/>
          <a:lstStyle/>
          <a:p>
            <a:fld id="{48F63A3B-78C7-47BE-AE5E-E10140E04643}" type="slidenum">
              <a:rPr lang="en-US" dirty="0"/>
              <a:t>20</a:t>
            </a:fld>
            <a:endParaRPr lang="en-US"/>
          </a:p>
        </p:txBody>
      </p:sp>
    </p:spTree>
    <p:extLst>
      <p:ext uri="{BB962C8B-B14F-4D97-AF65-F5344CB8AC3E}">
        <p14:creationId xmlns:p14="http://schemas.microsoft.com/office/powerpoint/2010/main" val="35507415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Application>Microsoft Office PowerPoint</Application>
  <PresentationFormat>Widescreen</PresentationFormat>
  <Slides>20</Slides>
  <Notes>5</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Applied Programming &amp; Design Principles S - 02 </vt:lpstr>
      <vt:lpstr>Binding of Attributes to Variable</vt:lpstr>
      <vt:lpstr>Stack and Heap Memory</vt:lpstr>
      <vt:lpstr>Exception handling</vt:lpstr>
      <vt:lpstr>Elements/blocks</vt:lpstr>
      <vt:lpstr>PowerPoint Presentation</vt:lpstr>
      <vt:lpstr>Exercise</vt:lpstr>
      <vt:lpstr>Typing Module in python (for type hints)</vt:lpstr>
      <vt:lpstr>Typehint in Python </vt:lpstr>
      <vt:lpstr>PowerPoint Presentation</vt:lpstr>
      <vt:lpstr>PowerPoint Presentation</vt:lpstr>
      <vt:lpstr>Python Decorators</vt:lpstr>
      <vt:lpstr>PowerPoint Presentation</vt:lpstr>
      <vt:lpstr>PowerPoint Presentation</vt:lpstr>
      <vt:lpstr>PowerPoint Presentation</vt:lpstr>
      <vt:lpstr>Exercise</vt:lpstr>
      <vt:lpstr>Python Data Classes</vt:lpstr>
      <vt:lpstr>Features of Data Classes</vt:lpstr>
      <vt:lpstr>PowerPoint Presentation</vt:lpstr>
      <vt:lpstr>Exercise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revision>66</cp:revision>
  <dcterms:created xsi:type="dcterms:W3CDTF">2023-12-04T06:16:55Z</dcterms:created>
  <dcterms:modified xsi:type="dcterms:W3CDTF">2025-06-22T13:58:08Z</dcterms:modified>
</cp:coreProperties>
</file>